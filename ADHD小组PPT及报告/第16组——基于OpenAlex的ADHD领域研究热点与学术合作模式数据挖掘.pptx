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6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ags/tag43.xml" ContentType="application/vnd.openxmlformats-officedocument.presentationml.tags+xml"/>
  <Override PartName="/ppt/notesSlides/notesSlide3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5" r:id="rId3"/>
  </p:sldMasterIdLst>
  <p:notesMasterIdLst>
    <p:notesMasterId r:id="rId39"/>
  </p:notesMasterIdLst>
  <p:handoutMasterIdLst>
    <p:handoutMasterId r:id="rId40"/>
  </p:handoutMasterIdLst>
  <p:sldIdLst>
    <p:sldId id="400" r:id="rId4"/>
    <p:sldId id="403" r:id="rId5"/>
    <p:sldId id="411" r:id="rId6"/>
    <p:sldId id="410" r:id="rId7"/>
    <p:sldId id="463" r:id="rId8"/>
    <p:sldId id="455" r:id="rId9"/>
    <p:sldId id="433" r:id="rId10"/>
    <p:sldId id="638" r:id="rId11"/>
    <p:sldId id="462" r:id="rId12"/>
    <p:sldId id="456" r:id="rId13"/>
    <p:sldId id="628" r:id="rId14"/>
    <p:sldId id="631" r:id="rId15"/>
    <p:sldId id="632" r:id="rId16"/>
    <p:sldId id="630" r:id="rId17"/>
    <p:sldId id="633" r:id="rId18"/>
    <p:sldId id="634" r:id="rId19"/>
    <p:sldId id="635" r:id="rId20"/>
    <p:sldId id="457" r:id="rId21"/>
    <p:sldId id="441" r:id="rId22"/>
    <p:sldId id="636" r:id="rId23"/>
    <p:sldId id="639" r:id="rId24"/>
    <p:sldId id="629" r:id="rId25"/>
    <p:sldId id="640" r:id="rId26"/>
    <p:sldId id="641" r:id="rId27"/>
    <p:sldId id="458" r:id="rId28"/>
    <p:sldId id="643" r:id="rId29"/>
    <p:sldId id="644" r:id="rId30"/>
    <p:sldId id="645" r:id="rId31"/>
    <p:sldId id="646" r:id="rId32"/>
    <p:sldId id="459" r:id="rId33"/>
    <p:sldId id="626" r:id="rId34"/>
    <p:sldId id="648" r:id="rId35"/>
    <p:sldId id="637" r:id="rId36"/>
    <p:sldId id="448" r:id="rId37"/>
    <p:sldId id="452" r:id="rId38"/>
  </p:sldIdLst>
  <p:sldSz cx="9144000" cy="5143500" type="screen16x9"/>
  <p:notesSz cx="7104063" cy="10234613"/>
  <p:custDataLst>
    <p:tags r:id="rId4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374EE"/>
    <a:srgbClr val="FFC164"/>
    <a:srgbClr val="33D6AD"/>
    <a:srgbClr val="FF3D6D"/>
    <a:srgbClr val="1070FF"/>
    <a:srgbClr val="1B87F7"/>
    <a:srgbClr val="DBE8FB"/>
    <a:srgbClr val="EBEFFC"/>
    <a:srgbClr val="0EAB26"/>
    <a:srgbClr val="0960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150" autoAdjust="0"/>
    <p:restoredTop sz="83484" autoAdjust="0"/>
  </p:normalViewPr>
  <p:slideViewPr>
    <p:cSldViewPr snapToGrid="0">
      <p:cViewPr varScale="1">
        <p:scale>
          <a:sx n="101" d="100"/>
          <a:sy n="101" d="100"/>
        </p:scale>
        <p:origin x="1190" y="6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21127F-0A1D-4382-9145-FC1D982402BA}" type="doc">
      <dgm:prSet loTypeId="urn:microsoft.com/office/officeart/2005/8/layout/hProcess6" loCatId="process" qsTypeId="urn:microsoft.com/office/officeart/2005/8/quickstyle/simple2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F89F34C0-2A53-46A0-9D35-AD21E3B9B339}">
      <dgm:prSet phldrT="[文本]"/>
      <dgm:spPr/>
      <dgm:t>
        <a:bodyPr/>
        <a:lstStyle/>
        <a:p>
          <a:r>
            <a:rPr lang="zh-CN" altLang="en-US" dirty="0"/>
            <a:t>保存模型</a:t>
          </a:r>
        </a:p>
      </dgm:t>
    </dgm:pt>
    <dgm:pt modelId="{F5474BF5-F9F6-4D51-8BB4-6493716AC002}" type="parTrans" cxnId="{FF3E9E3D-66AA-47FC-B8DC-7744149774A3}">
      <dgm:prSet/>
      <dgm:spPr/>
      <dgm:t>
        <a:bodyPr/>
        <a:lstStyle/>
        <a:p>
          <a:endParaRPr lang="zh-CN" altLang="en-US"/>
        </a:p>
      </dgm:t>
    </dgm:pt>
    <dgm:pt modelId="{CCE39F18-AF5C-41D9-8164-6979F0371F2B}" type="sibTrans" cxnId="{FF3E9E3D-66AA-47FC-B8DC-7744149774A3}">
      <dgm:prSet/>
      <dgm:spPr/>
      <dgm:t>
        <a:bodyPr/>
        <a:lstStyle/>
        <a:p>
          <a:endParaRPr lang="zh-CN" altLang="en-US"/>
        </a:p>
      </dgm:t>
    </dgm:pt>
    <dgm:pt modelId="{DC4101B0-9EEA-42D2-8047-0022D51E9CBA}">
      <dgm:prSet phldrT="[文本]"/>
      <dgm:spPr/>
      <dgm:t>
        <a:bodyPr/>
        <a:lstStyle/>
        <a:p>
          <a:r>
            <a:rPr lang="zh-CN" altLang="en-US" dirty="0"/>
            <a:t>训练好的模型</a:t>
          </a:r>
        </a:p>
      </dgm:t>
    </dgm:pt>
    <dgm:pt modelId="{53BADB62-E29B-4091-8BA1-D120586A6A69}" type="parTrans" cxnId="{0D28D29E-199C-417F-A5DA-B4E59112E184}">
      <dgm:prSet/>
      <dgm:spPr/>
      <dgm:t>
        <a:bodyPr/>
        <a:lstStyle/>
        <a:p>
          <a:endParaRPr lang="zh-CN" altLang="en-US"/>
        </a:p>
      </dgm:t>
    </dgm:pt>
    <dgm:pt modelId="{1EE3047F-4468-4A0C-91A0-25F2C662AF11}" type="sibTrans" cxnId="{0D28D29E-199C-417F-A5DA-B4E59112E184}">
      <dgm:prSet/>
      <dgm:spPr/>
      <dgm:t>
        <a:bodyPr/>
        <a:lstStyle/>
        <a:p>
          <a:endParaRPr lang="zh-CN" altLang="en-US"/>
        </a:p>
      </dgm:t>
    </dgm:pt>
    <dgm:pt modelId="{5160D397-AF25-4328-85BB-BA3644656399}">
      <dgm:prSet phldrT="[文本]"/>
      <dgm:spPr/>
      <dgm:t>
        <a:bodyPr/>
        <a:lstStyle/>
        <a:p>
          <a:r>
            <a:rPr lang="zh-CN" altLang="en-US" dirty="0"/>
            <a:t>封装预测函数</a:t>
          </a:r>
        </a:p>
      </dgm:t>
    </dgm:pt>
    <dgm:pt modelId="{71D3624F-DC1A-4C30-BFDD-B60220C41F4E}" type="parTrans" cxnId="{2D4B5F16-5A20-4882-80DC-A2272BEB128D}">
      <dgm:prSet/>
      <dgm:spPr/>
      <dgm:t>
        <a:bodyPr/>
        <a:lstStyle/>
        <a:p>
          <a:endParaRPr lang="zh-CN" altLang="en-US"/>
        </a:p>
      </dgm:t>
    </dgm:pt>
    <dgm:pt modelId="{E3480CE8-1DB1-4CCE-9B07-76ADCB8D93EB}" type="sibTrans" cxnId="{2D4B5F16-5A20-4882-80DC-A2272BEB128D}">
      <dgm:prSet/>
      <dgm:spPr/>
      <dgm:t>
        <a:bodyPr/>
        <a:lstStyle/>
        <a:p>
          <a:endParaRPr lang="zh-CN" altLang="en-US"/>
        </a:p>
      </dgm:t>
    </dgm:pt>
    <dgm:pt modelId="{7E26638D-5902-4824-BE62-C5D4AED53890}">
      <dgm:prSet phldrT="[文本]"/>
      <dgm:spPr/>
      <dgm:t>
        <a:bodyPr/>
        <a:lstStyle/>
        <a:p>
          <a:r>
            <a:rPr lang="zh-CN" altLang="en-US" dirty="0"/>
            <a:t>输入→预处理→预测→输出</a:t>
          </a:r>
        </a:p>
      </dgm:t>
    </dgm:pt>
    <dgm:pt modelId="{838EB30B-8B3D-41E4-958B-8DE4A6CA1C62}" type="parTrans" cxnId="{0206E7BB-32D8-4681-91C9-56FBC0631ADD}">
      <dgm:prSet/>
      <dgm:spPr/>
      <dgm:t>
        <a:bodyPr/>
        <a:lstStyle/>
        <a:p>
          <a:endParaRPr lang="zh-CN" altLang="en-US"/>
        </a:p>
      </dgm:t>
    </dgm:pt>
    <dgm:pt modelId="{88493BAB-B590-450E-949C-3BE8B7D4A34C}" type="sibTrans" cxnId="{0206E7BB-32D8-4681-91C9-56FBC0631ADD}">
      <dgm:prSet/>
      <dgm:spPr/>
      <dgm:t>
        <a:bodyPr/>
        <a:lstStyle/>
        <a:p>
          <a:endParaRPr lang="zh-CN" altLang="en-US"/>
        </a:p>
      </dgm:t>
    </dgm:pt>
    <dgm:pt modelId="{D254174B-21B5-472F-BB81-7002949CF3D9}">
      <dgm:prSet phldrT="[文本]"/>
      <dgm:spPr/>
      <dgm:t>
        <a:bodyPr/>
        <a:lstStyle/>
        <a:p>
          <a:r>
            <a:rPr lang="zh-CN" altLang="en-US" dirty="0"/>
            <a:t>提供服务</a:t>
          </a:r>
        </a:p>
      </dgm:t>
    </dgm:pt>
    <dgm:pt modelId="{B5B26204-F9A3-411B-A362-9E7188B7C9D8}" type="parTrans" cxnId="{FD439734-C652-4851-AF5C-9111A69398DE}">
      <dgm:prSet/>
      <dgm:spPr/>
      <dgm:t>
        <a:bodyPr/>
        <a:lstStyle/>
        <a:p>
          <a:endParaRPr lang="zh-CN" altLang="en-US"/>
        </a:p>
      </dgm:t>
    </dgm:pt>
    <dgm:pt modelId="{0FF687BF-B12B-4DB8-B535-13B688399DAB}" type="sibTrans" cxnId="{FD439734-C652-4851-AF5C-9111A69398DE}">
      <dgm:prSet/>
      <dgm:spPr/>
      <dgm:t>
        <a:bodyPr/>
        <a:lstStyle/>
        <a:p>
          <a:endParaRPr lang="zh-CN" altLang="en-US"/>
        </a:p>
      </dgm:t>
    </dgm:pt>
    <dgm:pt modelId="{4D04F8BC-15E5-4DD0-95E1-3F4C30731629}">
      <dgm:prSet phldrT="[文本]"/>
      <dgm:spPr/>
      <dgm:t>
        <a:bodyPr/>
        <a:lstStyle/>
        <a:p>
          <a:r>
            <a:rPr lang="zh-CN" altLang="en-US" dirty="0"/>
            <a:t>网页</a:t>
          </a:r>
          <a:r>
            <a:rPr lang="en-US" altLang="en-US" dirty="0"/>
            <a:t>/API/</a:t>
          </a:r>
          <a:r>
            <a:rPr lang="zh-CN" altLang="en-US" dirty="0"/>
            <a:t>本地脚本</a:t>
          </a:r>
        </a:p>
      </dgm:t>
    </dgm:pt>
    <dgm:pt modelId="{9A88223D-1C76-404F-84CE-FB105FECD81B}" type="parTrans" cxnId="{5A4EE6CF-2779-4C86-94A1-1384EBBEF1CD}">
      <dgm:prSet/>
      <dgm:spPr/>
      <dgm:t>
        <a:bodyPr/>
        <a:lstStyle/>
        <a:p>
          <a:endParaRPr lang="zh-CN" altLang="en-US"/>
        </a:p>
      </dgm:t>
    </dgm:pt>
    <dgm:pt modelId="{BB28757F-E28B-4E58-8DF5-04EE3A936454}" type="sibTrans" cxnId="{5A4EE6CF-2779-4C86-94A1-1384EBBEF1CD}">
      <dgm:prSet/>
      <dgm:spPr/>
      <dgm:t>
        <a:bodyPr/>
        <a:lstStyle/>
        <a:p>
          <a:endParaRPr lang="zh-CN" altLang="en-US"/>
        </a:p>
      </dgm:t>
    </dgm:pt>
    <dgm:pt modelId="{3188F776-8837-43A3-8AFB-120478A1035C}">
      <dgm:prSet/>
      <dgm:spPr/>
      <dgm:t>
        <a:bodyPr/>
        <a:lstStyle/>
        <a:p>
          <a:r>
            <a:rPr lang="en-US" altLang="en-US"/>
            <a:t>+ </a:t>
          </a:r>
          <a:r>
            <a:rPr lang="zh-CN" altLang="en-US"/>
            <a:t>特征选择器</a:t>
          </a:r>
        </a:p>
      </dgm:t>
    </dgm:pt>
    <dgm:pt modelId="{BE2ECDEB-FC18-4FC0-9253-801152061A39}" type="parTrans" cxnId="{E6A8FD4E-7DF5-4F11-99EF-60F782EA45A6}">
      <dgm:prSet/>
      <dgm:spPr/>
      <dgm:t>
        <a:bodyPr/>
        <a:lstStyle/>
        <a:p>
          <a:endParaRPr lang="zh-CN" altLang="en-US"/>
        </a:p>
      </dgm:t>
    </dgm:pt>
    <dgm:pt modelId="{B331ED49-6757-444E-A233-348B6AEB9D23}" type="sibTrans" cxnId="{E6A8FD4E-7DF5-4F11-99EF-60F782EA45A6}">
      <dgm:prSet/>
      <dgm:spPr/>
      <dgm:t>
        <a:bodyPr/>
        <a:lstStyle/>
        <a:p>
          <a:endParaRPr lang="zh-CN" altLang="en-US"/>
        </a:p>
      </dgm:t>
    </dgm:pt>
    <dgm:pt modelId="{A27336B4-9687-451C-85BC-D422A7420AF6}">
      <dgm:prSet/>
      <dgm:spPr/>
      <dgm:t>
        <a:bodyPr/>
        <a:lstStyle/>
        <a:p>
          <a:r>
            <a:rPr lang="en-US" altLang="en-US" dirty="0"/>
            <a:t>+ </a:t>
          </a:r>
          <a:r>
            <a:rPr lang="zh-CN" altLang="en-US" dirty="0"/>
            <a:t>最优阈值</a:t>
          </a:r>
        </a:p>
      </dgm:t>
    </dgm:pt>
    <dgm:pt modelId="{F2CFDB47-96BC-4E16-BCF5-7BFBBE23DAE8}" type="parTrans" cxnId="{F2930E02-8D31-4F37-9AFF-CA586AECAA3D}">
      <dgm:prSet/>
      <dgm:spPr/>
      <dgm:t>
        <a:bodyPr/>
        <a:lstStyle/>
        <a:p>
          <a:endParaRPr lang="zh-CN" altLang="en-US"/>
        </a:p>
      </dgm:t>
    </dgm:pt>
    <dgm:pt modelId="{40896DC0-2053-4663-AAE6-F741320FCDAE}" type="sibTrans" cxnId="{F2930E02-8D31-4F37-9AFF-CA586AECAA3D}">
      <dgm:prSet/>
      <dgm:spPr/>
      <dgm:t>
        <a:bodyPr/>
        <a:lstStyle/>
        <a:p>
          <a:endParaRPr lang="zh-CN" altLang="en-US"/>
        </a:p>
      </dgm:t>
    </dgm:pt>
    <dgm:pt modelId="{BB116AEC-38B3-4027-B882-2BA10CD85B65}">
      <dgm:prSet phldrT="[文本]"/>
      <dgm:spPr/>
      <dgm:t>
        <a:bodyPr/>
        <a:lstStyle/>
        <a:p>
          <a:r>
            <a:rPr lang="en-US" altLang="en-US" dirty="0"/>
            <a:t>+ </a:t>
          </a:r>
          <a:r>
            <a:rPr lang="zh-CN" altLang="en-US" dirty="0"/>
            <a:t>标准化器</a:t>
          </a:r>
        </a:p>
      </dgm:t>
    </dgm:pt>
    <dgm:pt modelId="{9C27C1F1-27EB-4129-9CB9-C636081BF8BC}" type="parTrans" cxnId="{FD845136-980C-4ACD-BC7F-A2CE0AA5D51D}">
      <dgm:prSet/>
      <dgm:spPr/>
      <dgm:t>
        <a:bodyPr/>
        <a:lstStyle/>
        <a:p>
          <a:endParaRPr lang="zh-CN" altLang="en-US"/>
        </a:p>
      </dgm:t>
    </dgm:pt>
    <dgm:pt modelId="{94857A5E-AF7D-41EF-82A8-BE28ED872BA6}" type="sibTrans" cxnId="{FD845136-980C-4ACD-BC7F-A2CE0AA5D51D}">
      <dgm:prSet/>
      <dgm:spPr/>
      <dgm:t>
        <a:bodyPr/>
        <a:lstStyle/>
        <a:p>
          <a:endParaRPr lang="zh-CN" altLang="en-US"/>
        </a:p>
      </dgm:t>
    </dgm:pt>
    <dgm:pt modelId="{B997E5B1-6AA4-486B-9312-DD6331C76ABD}" type="pres">
      <dgm:prSet presAssocID="{8421127F-0A1D-4382-9145-FC1D982402BA}" presName="theList" presStyleCnt="0">
        <dgm:presLayoutVars>
          <dgm:dir/>
          <dgm:animLvl val="lvl"/>
          <dgm:resizeHandles val="exact"/>
        </dgm:presLayoutVars>
      </dgm:prSet>
      <dgm:spPr/>
    </dgm:pt>
    <dgm:pt modelId="{75E148FF-0957-4A5C-9D02-3EE6EF98CE6D}" type="pres">
      <dgm:prSet presAssocID="{F89F34C0-2A53-46A0-9D35-AD21E3B9B339}" presName="compNode" presStyleCnt="0"/>
      <dgm:spPr/>
    </dgm:pt>
    <dgm:pt modelId="{9FC7A913-1002-4CFF-AD7E-3668F82F92D2}" type="pres">
      <dgm:prSet presAssocID="{F89F34C0-2A53-46A0-9D35-AD21E3B9B339}" presName="noGeometry" presStyleCnt="0"/>
      <dgm:spPr/>
    </dgm:pt>
    <dgm:pt modelId="{158B4947-640F-4675-BFA5-2C8C290F74C1}" type="pres">
      <dgm:prSet presAssocID="{F89F34C0-2A53-46A0-9D35-AD21E3B9B339}" presName="childTextVisible" presStyleLbl="bgAccFollowNode1" presStyleIdx="0" presStyleCnt="3">
        <dgm:presLayoutVars>
          <dgm:bulletEnabled val="1"/>
        </dgm:presLayoutVars>
      </dgm:prSet>
      <dgm:spPr/>
    </dgm:pt>
    <dgm:pt modelId="{D96ECE8C-072C-444A-88FE-411E116B00B4}" type="pres">
      <dgm:prSet presAssocID="{F89F34C0-2A53-46A0-9D35-AD21E3B9B339}" presName="childTextHidden" presStyleLbl="bgAccFollowNode1" presStyleIdx="0" presStyleCnt="3"/>
      <dgm:spPr/>
    </dgm:pt>
    <dgm:pt modelId="{E6B22C02-A58C-4D1F-8ECA-C64D052B8FEF}" type="pres">
      <dgm:prSet presAssocID="{F89F34C0-2A53-46A0-9D35-AD21E3B9B339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8228A20-F5F0-4455-9C15-32E1347160FF}" type="pres">
      <dgm:prSet presAssocID="{F89F34C0-2A53-46A0-9D35-AD21E3B9B339}" presName="aSpace" presStyleCnt="0"/>
      <dgm:spPr/>
    </dgm:pt>
    <dgm:pt modelId="{3A16FF26-E5D9-4B1F-8AEF-8C0D2D726C84}" type="pres">
      <dgm:prSet presAssocID="{5160D397-AF25-4328-85BB-BA3644656399}" presName="compNode" presStyleCnt="0"/>
      <dgm:spPr/>
    </dgm:pt>
    <dgm:pt modelId="{70E6A2E1-4810-4451-BFCC-319ACB90CB24}" type="pres">
      <dgm:prSet presAssocID="{5160D397-AF25-4328-85BB-BA3644656399}" presName="noGeometry" presStyleCnt="0"/>
      <dgm:spPr/>
    </dgm:pt>
    <dgm:pt modelId="{BC27A0BE-F502-4A4C-ACBF-FEE94D2C245A}" type="pres">
      <dgm:prSet presAssocID="{5160D397-AF25-4328-85BB-BA3644656399}" presName="childTextVisible" presStyleLbl="bgAccFollowNode1" presStyleIdx="1" presStyleCnt="3">
        <dgm:presLayoutVars>
          <dgm:bulletEnabled val="1"/>
        </dgm:presLayoutVars>
      </dgm:prSet>
      <dgm:spPr/>
    </dgm:pt>
    <dgm:pt modelId="{59F7E4C8-B1CF-4A1F-AA0B-4EF8FC842F7D}" type="pres">
      <dgm:prSet presAssocID="{5160D397-AF25-4328-85BB-BA3644656399}" presName="childTextHidden" presStyleLbl="bgAccFollowNode1" presStyleIdx="1" presStyleCnt="3"/>
      <dgm:spPr/>
    </dgm:pt>
    <dgm:pt modelId="{CB3777CE-2ED2-4278-92E0-1D79C0E16AAE}" type="pres">
      <dgm:prSet presAssocID="{5160D397-AF25-4328-85BB-BA364465639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E12AB2F-FE69-42D5-A174-BEBBE5170C9E}" type="pres">
      <dgm:prSet presAssocID="{5160D397-AF25-4328-85BB-BA3644656399}" presName="aSpace" presStyleCnt="0"/>
      <dgm:spPr/>
    </dgm:pt>
    <dgm:pt modelId="{3620A879-A446-4C9B-9402-596153C3DE2E}" type="pres">
      <dgm:prSet presAssocID="{D254174B-21B5-472F-BB81-7002949CF3D9}" presName="compNode" presStyleCnt="0"/>
      <dgm:spPr/>
    </dgm:pt>
    <dgm:pt modelId="{D5A29FBC-ED15-4760-8B0F-65F37E2A3917}" type="pres">
      <dgm:prSet presAssocID="{D254174B-21B5-472F-BB81-7002949CF3D9}" presName="noGeometry" presStyleCnt="0"/>
      <dgm:spPr/>
    </dgm:pt>
    <dgm:pt modelId="{8736A76F-20C9-4E68-BE32-4E30C463396B}" type="pres">
      <dgm:prSet presAssocID="{D254174B-21B5-472F-BB81-7002949CF3D9}" presName="childTextVisible" presStyleLbl="bgAccFollowNode1" presStyleIdx="2" presStyleCnt="3">
        <dgm:presLayoutVars>
          <dgm:bulletEnabled val="1"/>
        </dgm:presLayoutVars>
      </dgm:prSet>
      <dgm:spPr/>
    </dgm:pt>
    <dgm:pt modelId="{00B71D39-BA28-41AB-B75F-EB32C94B1348}" type="pres">
      <dgm:prSet presAssocID="{D254174B-21B5-472F-BB81-7002949CF3D9}" presName="childTextHidden" presStyleLbl="bgAccFollowNode1" presStyleIdx="2" presStyleCnt="3"/>
      <dgm:spPr/>
    </dgm:pt>
    <dgm:pt modelId="{80E3CCD7-7FE3-4D73-ACBC-83CCC7AA7DE4}" type="pres">
      <dgm:prSet presAssocID="{D254174B-21B5-472F-BB81-7002949CF3D9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F2930E02-8D31-4F37-9AFF-CA586AECAA3D}" srcId="{F89F34C0-2A53-46A0-9D35-AD21E3B9B339}" destId="{A27336B4-9687-451C-85BC-D422A7420AF6}" srcOrd="3" destOrd="0" parTransId="{F2CFDB47-96BC-4E16-BCF5-7BFBBE23DAE8}" sibTransId="{40896DC0-2053-4663-AAE6-F741320FCDAE}"/>
    <dgm:cxn modelId="{91F30404-12DC-4734-ACBC-0FF1195C8937}" type="presOf" srcId="{F89F34C0-2A53-46A0-9D35-AD21E3B9B339}" destId="{E6B22C02-A58C-4D1F-8ECA-C64D052B8FEF}" srcOrd="0" destOrd="0" presId="urn:microsoft.com/office/officeart/2005/8/layout/hProcess6"/>
    <dgm:cxn modelId="{1E5BD909-D67F-418D-8FF7-473E3AD9FB85}" type="presOf" srcId="{3188F776-8837-43A3-8AFB-120478A1035C}" destId="{158B4947-640F-4675-BFA5-2C8C290F74C1}" srcOrd="0" destOrd="2" presId="urn:microsoft.com/office/officeart/2005/8/layout/hProcess6"/>
    <dgm:cxn modelId="{5508000A-CE49-4237-A955-C23A7426D4E1}" type="presOf" srcId="{A27336B4-9687-451C-85BC-D422A7420AF6}" destId="{D96ECE8C-072C-444A-88FE-411E116B00B4}" srcOrd="1" destOrd="3" presId="urn:microsoft.com/office/officeart/2005/8/layout/hProcess6"/>
    <dgm:cxn modelId="{2D4B5F16-5A20-4882-80DC-A2272BEB128D}" srcId="{8421127F-0A1D-4382-9145-FC1D982402BA}" destId="{5160D397-AF25-4328-85BB-BA3644656399}" srcOrd="1" destOrd="0" parTransId="{71D3624F-DC1A-4C30-BFDD-B60220C41F4E}" sibTransId="{E3480CE8-1DB1-4CCE-9B07-76ADCB8D93EB}"/>
    <dgm:cxn modelId="{0D05EC18-5C4E-4FC2-A8E3-12EB309AAE0A}" type="presOf" srcId="{DC4101B0-9EEA-42D2-8047-0022D51E9CBA}" destId="{D96ECE8C-072C-444A-88FE-411E116B00B4}" srcOrd="1" destOrd="0" presId="urn:microsoft.com/office/officeart/2005/8/layout/hProcess6"/>
    <dgm:cxn modelId="{FD439734-C652-4851-AF5C-9111A69398DE}" srcId="{8421127F-0A1D-4382-9145-FC1D982402BA}" destId="{D254174B-21B5-472F-BB81-7002949CF3D9}" srcOrd="2" destOrd="0" parTransId="{B5B26204-F9A3-411B-A362-9E7188B7C9D8}" sibTransId="{0FF687BF-B12B-4DB8-B535-13B688399DAB}"/>
    <dgm:cxn modelId="{FD845136-980C-4ACD-BC7F-A2CE0AA5D51D}" srcId="{F89F34C0-2A53-46A0-9D35-AD21E3B9B339}" destId="{BB116AEC-38B3-4027-B882-2BA10CD85B65}" srcOrd="1" destOrd="0" parTransId="{9C27C1F1-27EB-4129-9CB9-C636081BF8BC}" sibTransId="{94857A5E-AF7D-41EF-82A8-BE28ED872BA6}"/>
    <dgm:cxn modelId="{FF3E9E3D-66AA-47FC-B8DC-7744149774A3}" srcId="{8421127F-0A1D-4382-9145-FC1D982402BA}" destId="{F89F34C0-2A53-46A0-9D35-AD21E3B9B339}" srcOrd="0" destOrd="0" parTransId="{F5474BF5-F9F6-4D51-8BB4-6493716AC002}" sibTransId="{CCE39F18-AF5C-41D9-8164-6979F0371F2B}"/>
    <dgm:cxn modelId="{0EC1A160-2A31-488B-AAED-8165BFDFE69E}" type="presOf" srcId="{7E26638D-5902-4824-BE62-C5D4AED53890}" destId="{59F7E4C8-B1CF-4A1F-AA0B-4EF8FC842F7D}" srcOrd="1" destOrd="0" presId="urn:microsoft.com/office/officeart/2005/8/layout/hProcess6"/>
    <dgm:cxn modelId="{8B451E47-8FAD-4425-81E2-1C21E9A13921}" type="presOf" srcId="{4D04F8BC-15E5-4DD0-95E1-3F4C30731629}" destId="{8736A76F-20C9-4E68-BE32-4E30C463396B}" srcOrd="0" destOrd="0" presId="urn:microsoft.com/office/officeart/2005/8/layout/hProcess6"/>
    <dgm:cxn modelId="{1E15A54A-BE9B-4EBD-9F54-B82EBB48133E}" type="presOf" srcId="{BB116AEC-38B3-4027-B882-2BA10CD85B65}" destId="{D96ECE8C-072C-444A-88FE-411E116B00B4}" srcOrd="1" destOrd="1" presId="urn:microsoft.com/office/officeart/2005/8/layout/hProcess6"/>
    <dgm:cxn modelId="{E6A8FD4E-7DF5-4F11-99EF-60F782EA45A6}" srcId="{F89F34C0-2A53-46A0-9D35-AD21E3B9B339}" destId="{3188F776-8837-43A3-8AFB-120478A1035C}" srcOrd="2" destOrd="0" parTransId="{BE2ECDEB-FC18-4FC0-9253-801152061A39}" sibTransId="{B331ED49-6757-444E-A233-348B6AEB9D23}"/>
    <dgm:cxn modelId="{51F51780-B2F9-4460-B0E5-44ADE2403CC7}" type="presOf" srcId="{DC4101B0-9EEA-42D2-8047-0022D51E9CBA}" destId="{158B4947-640F-4675-BFA5-2C8C290F74C1}" srcOrd="0" destOrd="0" presId="urn:microsoft.com/office/officeart/2005/8/layout/hProcess6"/>
    <dgm:cxn modelId="{EE81BD8A-FA0F-4ECF-A5A2-4EACB10F4B41}" type="presOf" srcId="{7E26638D-5902-4824-BE62-C5D4AED53890}" destId="{BC27A0BE-F502-4A4C-ACBF-FEE94D2C245A}" srcOrd="0" destOrd="0" presId="urn:microsoft.com/office/officeart/2005/8/layout/hProcess6"/>
    <dgm:cxn modelId="{0FA9C48B-520A-4090-9BE1-0328FEC87CF3}" type="presOf" srcId="{3188F776-8837-43A3-8AFB-120478A1035C}" destId="{D96ECE8C-072C-444A-88FE-411E116B00B4}" srcOrd="1" destOrd="2" presId="urn:microsoft.com/office/officeart/2005/8/layout/hProcess6"/>
    <dgm:cxn modelId="{7C787799-D3EE-4FA1-8899-040B912DEDB9}" type="presOf" srcId="{D254174B-21B5-472F-BB81-7002949CF3D9}" destId="{80E3CCD7-7FE3-4D73-ACBC-83CCC7AA7DE4}" srcOrd="0" destOrd="0" presId="urn:microsoft.com/office/officeart/2005/8/layout/hProcess6"/>
    <dgm:cxn modelId="{0D28D29E-199C-417F-A5DA-B4E59112E184}" srcId="{F89F34C0-2A53-46A0-9D35-AD21E3B9B339}" destId="{DC4101B0-9EEA-42D2-8047-0022D51E9CBA}" srcOrd="0" destOrd="0" parTransId="{53BADB62-E29B-4091-8BA1-D120586A6A69}" sibTransId="{1EE3047F-4468-4A0C-91A0-25F2C662AF11}"/>
    <dgm:cxn modelId="{B109A2AA-0ED0-4583-8FF5-3262E7367857}" type="presOf" srcId="{A27336B4-9687-451C-85BC-D422A7420AF6}" destId="{158B4947-640F-4675-BFA5-2C8C290F74C1}" srcOrd="0" destOrd="3" presId="urn:microsoft.com/office/officeart/2005/8/layout/hProcess6"/>
    <dgm:cxn modelId="{8B085FAC-5F4E-430D-903B-952AC030098E}" type="presOf" srcId="{5160D397-AF25-4328-85BB-BA3644656399}" destId="{CB3777CE-2ED2-4278-92E0-1D79C0E16AAE}" srcOrd="0" destOrd="0" presId="urn:microsoft.com/office/officeart/2005/8/layout/hProcess6"/>
    <dgm:cxn modelId="{3E43CCB8-9190-4000-85B4-038E162F86B3}" type="presOf" srcId="{BB116AEC-38B3-4027-B882-2BA10CD85B65}" destId="{158B4947-640F-4675-BFA5-2C8C290F74C1}" srcOrd="0" destOrd="1" presId="urn:microsoft.com/office/officeart/2005/8/layout/hProcess6"/>
    <dgm:cxn modelId="{0206E7BB-32D8-4681-91C9-56FBC0631ADD}" srcId="{5160D397-AF25-4328-85BB-BA3644656399}" destId="{7E26638D-5902-4824-BE62-C5D4AED53890}" srcOrd="0" destOrd="0" parTransId="{838EB30B-8B3D-41E4-958B-8DE4A6CA1C62}" sibTransId="{88493BAB-B590-450E-949C-3BE8B7D4A34C}"/>
    <dgm:cxn modelId="{2752B7C5-161A-41A0-A1E3-783C54A787EB}" type="presOf" srcId="{4D04F8BC-15E5-4DD0-95E1-3F4C30731629}" destId="{00B71D39-BA28-41AB-B75F-EB32C94B1348}" srcOrd="1" destOrd="0" presId="urn:microsoft.com/office/officeart/2005/8/layout/hProcess6"/>
    <dgm:cxn modelId="{5A4EE6CF-2779-4C86-94A1-1384EBBEF1CD}" srcId="{D254174B-21B5-472F-BB81-7002949CF3D9}" destId="{4D04F8BC-15E5-4DD0-95E1-3F4C30731629}" srcOrd="0" destOrd="0" parTransId="{9A88223D-1C76-404F-84CE-FB105FECD81B}" sibTransId="{BB28757F-E28B-4E58-8DF5-04EE3A936454}"/>
    <dgm:cxn modelId="{6DA655EC-2BA8-4582-B3A4-177BC766C494}" type="presOf" srcId="{8421127F-0A1D-4382-9145-FC1D982402BA}" destId="{B997E5B1-6AA4-486B-9312-DD6331C76ABD}" srcOrd="0" destOrd="0" presId="urn:microsoft.com/office/officeart/2005/8/layout/hProcess6"/>
    <dgm:cxn modelId="{4FB3C665-0AFE-48C3-A0D0-06C7A5EFEC79}" type="presParOf" srcId="{B997E5B1-6AA4-486B-9312-DD6331C76ABD}" destId="{75E148FF-0957-4A5C-9D02-3EE6EF98CE6D}" srcOrd="0" destOrd="0" presId="urn:microsoft.com/office/officeart/2005/8/layout/hProcess6"/>
    <dgm:cxn modelId="{93446FAE-FDD9-489C-820C-3BF3B1BBDF14}" type="presParOf" srcId="{75E148FF-0957-4A5C-9D02-3EE6EF98CE6D}" destId="{9FC7A913-1002-4CFF-AD7E-3668F82F92D2}" srcOrd="0" destOrd="0" presId="urn:microsoft.com/office/officeart/2005/8/layout/hProcess6"/>
    <dgm:cxn modelId="{F63A49C5-6E81-43D8-A283-006EB781C41D}" type="presParOf" srcId="{75E148FF-0957-4A5C-9D02-3EE6EF98CE6D}" destId="{158B4947-640F-4675-BFA5-2C8C290F74C1}" srcOrd="1" destOrd="0" presId="urn:microsoft.com/office/officeart/2005/8/layout/hProcess6"/>
    <dgm:cxn modelId="{D2175CC7-681C-4E0E-87E6-99D2CB0B59DA}" type="presParOf" srcId="{75E148FF-0957-4A5C-9D02-3EE6EF98CE6D}" destId="{D96ECE8C-072C-444A-88FE-411E116B00B4}" srcOrd="2" destOrd="0" presId="urn:microsoft.com/office/officeart/2005/8/layout/hProcess6"/>
    <dgm:cxn modelId="{97CB0C5B-0507-49AC-BDFE-7EE7D0DD2893}" type="presParOf" srcId="{75E148FF-0957-4A5C-9D02-3EE6EF98CE6D}" destId="{E6B22C02-A58C-4D1F-8ECA-C64D052B8FEF}" srcOrd="3" destOrd="0" presId="urn:microsoft.com/office/officeart/2005/8/layout/hProcess6"/>
    <dgm:cxn modelId="{3E003FD9-0168-4725-A97D-D87239BA81FD}" type="presParOf" srcId="{B997E5B1-6AA4-486B-9312-DD6331C76ABD}" destId="{F8228A20-F5F0-4455-9C15-32E1347160FF}" srcOrd="1" destOrd="0" presId="urn:microsoft.com/office/officeart/2005/8/layout/hProcess6"/>
    <dgm:cxn modelId="{601580AF-2CB0-49E0-8976-C9303C88E528}" type="presParOf" srcId="{B997E5B1-6AA4-486B-9312-DD6331C76ABD}" destId="{3A16FF26-E5D9-4B1F-8AEF-8C0D2D726C84}" srcOrd="2" destOrd="0" presId="urn:microsoft.com/office/officeart/2005/8/layout/hProcess6"/>
    <dgm:cxn modelId="{DE674BD2-A28D-442F-86C1-41CD864E858C}" type="presParOf" srcId="{3A16FF26-E5D9-4B1F-8AEF-8C0D2D726C84}" destId="{70E6A2E1-4810-4451-BFCC-319ACB90CB24}" srcOrd="0" destOrd="0" presId="urn:microsoft.com/office/officeart/2005/8/layout/hProcess6"/>
    <dgm:cxn modelId="{131A4A7E-919B-49FF-907E-8EFAE455F595}" type="presParOf" srcId="{3A16FF26-E5D9-4B1F-8AEF-8C0D2D726C84}" destId="{BC27A0BE-F502-4A4C-ACBF-FEE94D2C245A}" srcOrd="1" destOrd="0" presId="urn:microsoft.com/office/officeart/2005/8/layout/hProcess6"/>
    <dgm:cxn modelId="{B99080DB-C8D4-44A5-9384-CFDF3FBA4F78}" type="presParOf" srcId="{3A16FF26-E5D9-4B1F-8AEF-8C0D2D726C84}" destId="{59F7E4C8-B1CF-4A1F-AA0B-4EF8FC842F7D}" srcOrd="2" destOrd="0" presId="urn:microsoft.com/office/officeart/2005/8/layout/hProcess6"/>
    <dgm:cxn modelId="{D8539CDB-AC7E-40C9-B375-A154CA22A4F6}" type="presParOf" srcId="{3A16FF26-E5D9-4B1F-8AEF-8C0D2D726C84}" destId="{CB3777CE-2ED2-4278-92E0-1D79C0E16AAE}" srcOrd="3" destOrd="0" presId="urn:microsoft.com/office/officeart/2005/8/layout/hProcess6"/>
    <dgm:cxn modelId="{B9AF90C3-1EE2-4F96-91B4-2AECE6F3A330}" type="presParOf" srcId="{B997E5B1-6AA4-486B-9312-DD6331C76ABD}" destId="{0E12AB2F-FE69-42D5-A174-BEBBE5170C9E}" srcOrd="3" destOrd="0" presId="urn:microsoft.com/office/officeart/2005/8/layout/hProcess6"/>
    <dgm:cxn modelId="{28A73381-FC7A-4B59-A35E-FEA8EA229359}" type="presParOf" srcId="{B997E5B1-6AA4-486B-9312-DD6331C76ABD}" destId="{3620A879-A446-4C9B-9402-596153C3DE2E}" srcOrd="4" destOrd="0" presId="urn:microsoft.com/office/officeart/2005/8/layout/hProcess6"/>
    <dgm:cxn modelId="{14178246-48DF-4EAF-AFCE-08F96C02690E}" type="presParOf" srcId="{3620A879-A446-4C9B-9402-596153C3DE2E}" destId="{D5A29FBC-ED15-4760-8B0F-65F37E2A3917}" srcOrd="0" destOrd="0" presId="urn:microsoft.com/office/officeart/2005/8/layout/hProcess6"/>
    <dgm:cxn modelId="{AF332FF1-20DA-4599-810A-C6E97D987C22}" type="presParOf" srcId="{3620A879-A446-4C9B-9402-596153C3DE2E}" destId="{8736A76F-20C9-4E68-BE32-4E30C463396B}" srcOrd="1" destOrd="0" presId="urn:microsoft.com/office/officeart/2005/8/layout/hProcess6"/>
    <dgm:cxn modelId="{C3F9E059-67B9-40B7-BD18-D1E2CF88ED3E}" type="presParOf" srcId="{3620A879-A446-4C9B-9402-596153C3DE2E}" destId="{00B71D39-BA28-41AB-B75F-EB32C94B1348}" srcOrd="2" destOrd="0" presId="urn:microsoft.com/office/officeart/2005/8/layout/hProcess6"/>
    <dgm:cxn modelId="{59A64B8B-F7BF-4C05-8056-24926A00A8A2}" type="presParOf" srcId="{3620A879-A446-4C9B-9402-596153C3DE2E}" destId="{80E3CCD7-7FE3-4D73-ACBC-83CCC7AA7DE4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8B4947-640F-4675-BFA5-2C8C290F74C1}">
      <dsp:nvSpPr>
        <dsp:cNvPr id="0" name=""/>
        <dsp:cNvSpPr/>
      </dsp:nvSpPr>
      <dsp:spPr>
        <a:xfrm>
          <a:off x="413450" y="1027282"/>
          <a:ext cx="1641365" cy="143476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11430" bIns="5715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900" kern="1200" dirty="0"/>
            <a:t>训练好的模型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900" kern="1200" dirty="0"/>
            <a:t>+ </a:t>
          </a:r>
          <a:r>
            <a:rPr lang="zh-CN" altLang="en-US" sz="900" kern="1200" dirty="0"/>
            <a:t>标准化器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900" kern="1200"/>
            <a:t>+ </a:t>
          </a:r>
          <a:r>
            <a:rPr lang="zh-CN" altLang="en-US" sz="900" kern="1200"/>
            <a:t>特征选择器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900" kern="1200" dirty="0"/>
            <a:t>+ </a:t>
          </a:r>
          <a:r>
            <a:rPr lang="zh-CN" altLang="en-US" sz="900" kern="1200" dirty="0"/>
            <a:t>最优阈值</a:t>
          </a:r>
        </a:p>
      </dsp:txBody>
      <dsp:txXfrm>
        <a:off x="823791" y="1242496"/>
        <a:ext cx="800166" cy="1004332"/>
      </dsp:txXfrm>
    </dsp:sp>
    <dsp:sp modelId="{E6B22C02-A58C-4D1F-8ECA-C64D052B8FEF}">
      <dsp:nvSpPr>
        <dsp:cNvPr id="0" name=""/>
        <dsp:cNvSpPr/>
      </dsp:nvSpPr>
      <dsp:spPr>
        <a:xfrm>
          <a:off x="3108" y="1334321"/>
          <a:ext cx="820682" cy="820682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101600" dist="50800" dir="5400000" algn="ctr" rotWithShape="0">
            <a:schemeClr val="accent1">
              <a:alpha val="90000"/>
              <a:hueOff val="0"/>
              <a:satOff val="0"/>
              <a:lumOff val="0"/>
              <a:alphaOff val="0"/>
              <a:alpha val="60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保存模型</a:t>
          </a:r>
        </a:p>
      </dsp:txBody>
      <dsp:txXfrm>
        <a:off x="123294" y="1454507"/>
        <a:ext cx="580310" cy="580310"/>
      </dsp:txXfrm>
    </dsp:sp>
    <dsp:sp modelId="{BC27A0BE-F502-4A4C-ACBF-FEE94D2C245A}">
      <dsp:nvSpPr>
        <dsp:cNvPr id="0" name=""/>
        <dsp:cNvSpPr/>
      </dsp:nvSpPr>
      <dsp:spPr>
        <a:xfrm>
          <a:off x="2567742" y="1027282"/>
          <a:ext cx="1641365" cy="143476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1143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输入→预处理→预测→输出</a:t>
          </a:r>
        </a:p>
      </dsp:txBody>
      <dsp:txXfrm>
        <a:off x="2978084" y="1242496"/>
        <a:ext cx="800166" cy="1004332"/>
      </dsp:txXfrm>
    </dsp:sp>
    <dsp:sp modelId="{CB3777CE-2ED2-4278-92E0-1D79C0E16AAE}">
      <dsp:nvSpPr>
        <dsp:cNvPr id="0" name=""/>
        <dsp:cNvSpPr/>
      </dsp:nvSpPr>
      <dsp:spPr>
        <a:xfrm>
          <a:off x="2157401" y="1334321"/>
          <a:ext cx="820682" cy="820682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101600" dist="50800" dir="5400000" algn="ctr" rotWithShape="0">
            <a:schemeClr val="accent1">
              <a:alpha val="90000"/>
              <a:hueOff val="0"/>
              <a:satOff val="0"/>
              <a:lumOff val="0"/>
              <a:alphaOff val="-20000"/>
              <a:alpha val="60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封装预测函数</a:t>
          </a:r>
        </a:p>
      </dsp:txBody>
      <dsp:txXfrm>
        <a:off x="2277587" y="1454507"/>
        <a:ext cx="580310" cy="580310"/>
      </dsp:txXfrm>
    </dsp:sp>
    <dsp:sp modelId="{8736A76F-20C9-4E68-BE32-4E30C463396B}">
      <dsp:nvSpPr>
        <dsp:cNvPr id="0" name=""/>
        <dsp:cNvSpPr/>
      </dsp:nvSpPr>
      <dsp:spPr>
        <a:xfrm>
          <a:off x="4722035" y="1027282"/>
          <a:ext cx="1641365" cy="1434760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1143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网页</a:t>
          </a:r>
          <a:r>
            <a:rPr lang="en-US" altLang="en-US" sz="900" kern="1200" dirty="0"/>
            <a:t>/API/</a:t>
          </a:r>
          <a:r>
            <a:rPr lang="zh-CN" altLang="en-US" sz="900" kern="1200" dirty="0"/>
            <a:t>本地脚本</a:t>
          </a:r>
        </a:p>
      </dsp:txBody>
      <dsp:txXfrm>
        <a:off x="5132376" y="1242496"/>
        <a:ext cx="800166" cy="1004332"/>
      </dsp:txXfrm>
    </dsp:sp>
    <dsp:sp modelId="{80E3CCD7-7FE3-4D73-ACBC-83CCC7AA7DE4}">
      <dsp:nvSpPr>
        <dsp:cNvPr id="0" name=""/>
        <dsp:cNvSpPr/>
      </dsp:nvSpPr>
      <dsp:spPr>
        <a:xfrm>
          <a:off x="4311694" y="1334321"/>
          <a:ext cx="820682" cy="820682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101600" dist="50800" dir="5400000" algn="ctr" rotWithShape="0">
            <a:schemeClr val="accent1">
              <a:alpha val="90000"/>
              <a:hueOff val="0"/>
              <a:satOff val="0"/>
              <a:lumOff val="0"/>
              <a:alphaOff val="-40000"/>
              <a:alpha val="60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提供服务</a:t>
          </a:r>
        </a:p>
      </dsp:txBody>
      <dsp:txXfrm>
        <a:off x="4431880" y="1454507"/>
        <a:ext cx="580310" cy="580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2026/6/5</a:t>
            </a:fld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‹#›</a:t>
            </a:fld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 Heavy" panose="02020900000000000000" pitchFamily="18" charset="-122"/>
                <a:ea typeface="思源宋体 CN Light" panose="020203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 Heavy" panose="02020900000000000000" pitchFamily="18" charset="-122"/>
                <a:ea typeface="思源宋体 CN Light" panose="02020300000000000000" pitchFamily="18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pPr/>
              <a:t>2026/6/5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121" y="1279287"/>
            <a:ext cx="6139502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 Heavy" panose="02020900000000000000" pitchFamily="18" charset="-122"/>
                <a:ea typeface="思源宋体 CN Light" panose="020203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 Heavy" panose="02020900000000000000" pitchFamily="18" charset="-122"/>
                <a:ea typeface="思源宋体 CN Light" panose="02020300000000000000" pitchFamily="18" charset="-122"/>
              </a:defRPr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 Heavy" panose="02020900000000000000" pitchFamily="18" charset="-122"/>
        <a:ea typeface="思源宋体 CN Light" panose="02020300000000000000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 Heavy" panose="02020900000000000000" pitchFamily="18" charset="-122"/>
        <a:ea typeface="思源宋体 CN Light" panose="02020300000000000000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 Heavy" panose="02020900000000000000" pitchFamily="18" charset="-122"/>
        <a:ea typeface="思源宋体 CN Light" panose="02020300000000000000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 Heavy" panose="02020900000000000000" pitchFamily="18" charset="-122"/>
        <a:ea typeface="思源宋体 CN Light" panose="02020300000000000000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 Heavy" panose="02020900000000000000" pitchFamily="18" charset="-122"/>
        <a:ea typeface="思源宋体 CN Light" panose="020203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982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652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83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896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9919D-AE99-6F64-6F64-8B23E9EF0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ED56B8-8745-AF79-7EC8-8C4BC89B0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D669DD-F445-0D54-F6B5-EDA94505E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310CD7-9CFB-EAB7-7747-2CF2084EC3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748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5FA1A-40D8-EA80-2671-2EEAACA5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3EC396E-5954-4E49-60E1-A04C853CF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F75945-8BCE-083F-5472-DEF2B963C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098659-AD76-28E6-C3FA-82DDAF111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358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929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64AE6-B67F-68ED-6371-DC1474F95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5F0293-D42C-E954-AC55-AF0E7AD35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843F27-3733-91DD-D4D8-8D26A8139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659FAD-57CE-1225-8DA4-7109FA7A1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宋体 CN Light" panose="02020300000000000000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思源宋体 CN Light" panose="020203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35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01DF-3EB1-A1F9-1C72-D9561CD7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142585-6436-38E9-D2B1-042C9A95D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5512F2-7877-3A49-5CC1-332CA9CCC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E32B5F-DD19-7712-99CD-D3971E473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245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EC31E-875A-F8A4-3931-891A1025F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4EE335-88DC-BB4B-865B-AA3F2B5D1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6EECEB-7C65-3E42-3E80-EA3BB0A46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B0203B-97AD-F6E2-742D-535C90CD9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8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3D3C-E447-FAF4-D9CA-3889129D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12949E-274C-6A67-777C-5E21635C2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DC091F-B3DC-248E-425A-44061107D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8CA631-A4DD-BDFA-3D9E-9994CCBDC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068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C96C8-0EB0-F2DC-6E85-83825E9D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49461B-36F8-DF27-6ED1-35C03B885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CC5FD9-E9DE-DC62-53A1-414A1E175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CF1D25-86B8-33BD-B85F-02FF91A85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434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9CE3F-CE0D-EFE0-9815-12177BE5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6BA6F5-BE4D-9C32-642E-3CA6BB223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A351E8-0C60-9B80-FD10-4F86BE813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kern="1200" dirty="0">
              <a:solidFill>
                <a:schemeClr val="tx1"/>
              </a:solidFill>
              <a:effectLst/>
              <a:latin typeface="思源宋体 CN Heavy" panose="02020900000000000000" pitchFamily="18" charset="-122"/>
              <a:ea typeface="思源宋体 CN Light" panose="02020300000000000000" pitchFamily="18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094CBA-9B70-B14A-F42D-BF08CC374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1618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E6809-EA52-CC5B-9E0F-AA5551F8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0430ABE-CA22-DABD-BF0F-EE177E1A5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253E41-446C-0729-77D0-1592C5B12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DE7119-FCFD-D9D0-373E-FD9E1C12DD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994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D5E67-70F8-E3DF-1106-4A132ABE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9924E9-86F0-3706-EAF1-3322F170A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7AEDE3-08B8-2982-20F3-1B13CBEAB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kern="1200" dirty="0">
              <a:solidFill>
                <a:schemeClr val="tx1"/>
              </a:solidFill>
              <a:effectLst/>
              <a:latin typeface="思源宋体 CN Heavy" panose="02020900000000000000" pitchFamily="18" charset="-122"/>
              <a:ea typeface="思源宋体 CN Light" panose="02020300000000000000" pitchFamily="18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F39935-C02B-D2ED-A5DF-C6940996BB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701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BF63-3F87-EBD2-D032-7F6433539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AD781D-318F-279A-B64E-1B2845AA2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17F02F-7B2C-71C7-3CE9-2EB17D926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kern="1200" dirty="0">
              <a:solidFill>
                <a:schemeClr val="tx1"/>
              </a:solidFill>
              <a:effectLst/>
              <a:latin typeface="思源宋体 CN Heavy" panose="02020900000000000000" pitchFamily="18" charset="-122"/>
              <a:ea typeface="思源宋体 CN Light" panose="02020300000000000000" pitchFamily="18" charset="-122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F4D8B3-3758-93F4-D821-6B0FC33C0F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724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9AEC5-AA1E-5F01-E38D-E29FA1E7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2CC1A6-8E97-CFB2-FDFE-9D8F50A7F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0310E6-78D0-2DE3-BFE1-E586DBD6D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D6910D-02E4-3397-29B2-0A7CF6AF9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727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155C3-7F55-3465-4FCA-2053F580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6E61B6-CE12-137D-8E05-3FAE4B074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5DE97D-0A84-7C34-9EAD-4DCEBF7F1F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8B3AFD-F591-A514-F182-BF17C27BE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4742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kern="1200" dirty="0">
              <a:solidFill>
                <a:schemeClr val="tx1"/>
              </a:solidFill>
              <a:effectLst/>
              <a:latin typeface="思源宋体 CN Heavy" panose="02020900000000000000" pitchFamily="18" charset="-122"/>
              <a:ea typeface="思源宋体 CN Light" panose="02020300000000000000" pitchFamily="18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0947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16D20-9EE0-3C8D-DA9F-81E8CAE6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B85D37-326B-AAD0-352A-C8E596CE1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2CD19D-68EA-BA16-6013-ACE7F6B76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C9DF6D-4E44-8C36-0A13-90C3BE47A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327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92DD-70C4-C2F8-321F-E4EF62B9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29B665-FB85-3A11-8DB0-D6B151A5C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175BB4-0B66-BF08-8A72-BD3001470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646FF4-F822-FBD9-4772-9DFA74E09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2986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92DD-70C4-C2F8-321F-E4EF62B9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29B665-FB85-3A11-8DB0-D6B151A5C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175BB4-0B66-BF08-8A72-BD3001470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646FF4-F822-FBD9-4772-9DFA74E09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2986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A21BF-1F1F-F525-9A56-4CD6181C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4A4071-8716-BFAF-375A-B3E287DA1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D54B7C-E903-9BA1-9B17-8CF21187F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8A1680-F81D-45B2-B600-6602C44FA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59325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144CD-C6A0-C61C-206F-76400781A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A2A06A-4632-9487-3F31-BA41B5998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C714ED-F219-A034-868E-EBB7A8F71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7D6F89-9338-3384-C233-5EE5803A4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95424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8A71-65E7-73EF-CDB9-C181FCEB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889E47-AB15-85EF-C663-A84C48486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869EC9-4A78-78CB-205D-B970F4E42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5907F0-A6A4-7BFF-9E11-F4E3CEA2E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5963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1AC4C-98EB-9942-663A-6A613BFC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552CBA-25B9-F387-FA09-8380146DD8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3768E2-B264-B14E-AE23-7599C31D8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9D5AA2-27BF-6151-03FA-1DCCA2529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思源宋体 CN Light" panose="02020300000000000000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思源宋体 CN Light" panose="020203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3712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131FD-45DF-0AD6-2BC9-E44C9A143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B9AD49-4D7C-CB10-8E39-6662B53F2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8994C9-D398-12BA-6649-975926865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057A7-179F-4059-37FF-6EC18E9FC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思源宋体 CN Light" panose="02020300000000000000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思源宋体 CN Light" panose="020203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0189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FD478-DBEF-6FD5-2AC1-9A8864E4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0C0129-6DC3-FC7E-ACA5-AA5BECFE8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7AAC540-B7A3-1B1F-6DAA-C3CDC8232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F2A37F-9553-B063-AAD1-AF3B55F92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思源宋体 CN Light" panose="02020300000000000000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思源宋体 CN Light" panose="020203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235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E3516-FDF9-E9D4-34A8-3C9C94E35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45A5D0-86F0-07B9-D7ED-0A88F6288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45F00C-E7E2-13A2-E296-32CEF39C6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3632D4-8C85-AF98-CA05-F174C710F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思源宋体 CN Light" panose="02020300000000000000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思源宋体 CN Light" panose="020203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23353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D864-02B6-E8D3-AB33-1B2E3E175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358A45-E522-3E71-CA9B-1D34085E6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F566DB-8A21-9FF8-369E-6FAFF2D3A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E522F3-12A0-2662-B746-666A02084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9248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58A09-5DD9-8290-6EC8-7D3EA41E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53ECB8-D8F1-F9E2-1EF3-395E643D9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4DD718-6C50-CB76-57CF-C52CC397E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E55AE4-AB7D-C0E5-4251-ACB1DCF22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思源宋体 CN Light" panose="02020300000000000000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思源宋体 CN Light" panose="020203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4611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5A43-D05D-C677-99AC-6E58821A4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34FDEE-ACA4-4475-F8CF-734884142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46FEECA-E04A-8993-A124-E653350AF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800" dirty="0">
              <a:ea typeface="思源宋体 CN Light" panose="0202030000000000000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D2A041-0A6F-3B95-6F8C-86AAB3B95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思源宋体 CN Light" panose="02020300000000000000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思源宋体 CN Light" panose="020203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40516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3514-C105-1C72-11DE-70FE2E9E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710195-887F-E370-3635-EDD11D1D4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43C1ED-9781-772D-942E-BDC39B85B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BBDECE-E05F-FD0F-9F27-8AA1B5437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2466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思源宋体 CN Light" panose="02020300000000000000" pitchFamily="18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思源宋体 CN Light" panose="020203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69337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38863" cy="3454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616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9">
            <a:extLst>
              <a:ext uri="{FF2B5EF4-FFF2-40B4-BE49-F238E27FC236}">
                <a16:creationId xmlns:a16="http://schemas.microsoft.com/office/drawing/2014/main" id="{3F94BA36-CDD9-86C6-99CC-8383B7677642}"/>
              </a:ext>
            </a:extLst>
          </p:cNvPr>
          <p:cNvSpPr txBox="1"/>
          <p:nvPr userDrawn="1"/>
        </p:nvSpPr>
        <p:spPr>
          <a:xfrm>
            <a:off x="8711951" y="58889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1302034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363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041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470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267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760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012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707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536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007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679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5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91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617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156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667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</p:sldLayoutIdLst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思源宋体 CN Heavy" panose="02020900000000000000" pitchFamily="18" charset="-122"/>
          <a:ea typeface="思源宋体 CN Light" panose="02020300000000000000" pitchFamily="18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思源宋体 CN Heavy" panose="02020900000000000000" pitchFamily="18" charset="-122"/>
          <a:ea typeface="思源宋体 CN Light" panose="02020300000000000000" pitchFamily="18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 Heavy" panose="02020900000000000000" pitchFamily="18" charset="-122"/>
          <a:ea typeface="思源宋体 CN Light" panose="02020300000000000000" pitchFamily="18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思源宋体 CN Heavy" panose="02020900000000000000" pitchFamily="18" charset="-122"/>
          <a:ea typeface="思源宋体 CN Light" panose="02020300000000000000" pitchFamily="18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宋体 CN Heavy" panose="02020900000000000000" pitchFamily="18" charset="-122"/>
          <a:ea typeface="思源宋体 CN Light" panose="02020300000000000000" pitchFamily="18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宋体 CN Heavy" panose="02020900000000000000" pitchFamily="18" charset="-122"/>
          <a:ea typeface="思源宋体 CN Light" panose="02020300000000000000" pitchFamily="18" charset="-122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7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5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sv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7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21.xml"/><Relationship Id="rId7" Type="http://schemas.openxmlformats.org/officeDocument/2006/relationships/image" Target="../media/image6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4.png"/><Relationship Id="rId4" Type="http://schemas.openxmlformats.org/officeDocument/2006/relationships/tags" Target="../tags/tag22.xml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27.xml"/><Relationship Id="rId7" Type="http://schemas.openxmlformats.org/officeDocument/2006/relationships/image" Target="../media/image18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notesSlide" Target="../notesSlides/notesSlide13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6.png"/><Relationship Id="rId4" Type="http://schemas.openxmlformats.org/officeDocument/2006/relationships/tags" Target="../tags/tag28.xml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7" Type="http://schemas.openxmlformats.org/officeDocument/2006/relationships/image" Target="../media/image40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;p3">
            <a:extLst>
              <a:ext uri="{FF2B5EF4-FFF2-40B4-BE49-F238E27FC236}">
                <a16:creationId xmlns:a16="http://schemas.microsoft.com/office/drawing/2014/main" id="{9AD3FB53-64F2-BC76-EB33-EFDB4518EF1F}"/>
              </a:ext>
            </a:extLst>
          </p:cNvPr>
          <p:cNvSpPr/>
          <p:nvPr/>
        </p:nvSpPr>
        <p:spPr>
          <a:xfrm rot="10800000">
            <a:off x="5518762" y="2125153"/>
            <a:ext cx="3625238" cy="3018346"/>
          </a:xfrm>
          <a:custGeom>
            <a:avLst/>
            <a:gdLst/>
            <a:ahLst/>
            <a:cxnLst/>
            <a:rect l="l" t="t" r="r" b="b"/>
            <a:pathLst>
              <a:path w="70451" h="60603" extrusionOk="0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9C89312-B029-A4CC-5578-F96369382568}"/>
              </a:ext>
            </a:extLst>
          </p:cNvPr>
          <p:cNvGrpSpPr/>
          <p:nvPr/>
        </p:nvGrpSpPr>
        <p:grpSpPr>
          <a:xfrm>
            <a:off x="5148532" y="851419"/>
            <a:ext cx="3414971" cy="3414971"/>
            <a:chOff x="5148532" y="851419"/>
            <a:chExt cx="3414971" cy="3414971"/>
          </a:xfrm>
        </p:grpSpPr>
        <p:sp>
          <p:nvSpPr>
            <p:cNvPr id="6" name="不完整圆 5">
              <a:extLst>
                <a:ext uri="{FF2B5EF4-FFF2-40B4-BE49-F238E27FC236}">
                  <a16:creationId xmlns:a16="http://schemas.microsoft.com/office/drawing/2014/main" id="{F357F13D-18A4-C3F7-3597-D46FBA3D4119}"/>
                </a:ext>
              </a:extLst>
            </p:cNvPr>
            <p:cNvSpPr/>
            <p:nvPr/>
          </p:nvSpPr>
          <p:spPr>
            <a:xfrm>
              <a:off x="5148532" y="851419"/>
              <a:ext cx="3414971" cy="3414971"/>
            </a:xfrm>
            <a:prstGeom prst="pie">
              <a:avLst>
                <a:gd name="adj1" fmla="val 5357718"/>
                <a:gd name="adj2" fmla="val 16200000"/>
              </a:avLst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F02A1E02-BF41-B947-A341-838E677ACA60}"/>
                </a:ext>
              </a:extLst>
            </p:cNvPr>
            <p:cNvSpPr/>
            <p:nvPr/>
          </p:nvSpPr>
          <p:spPr>
            <a:xfrm>
              <a:off x="5488631" y="1148125"/>
              <a:ext cx="2821557" cy="2821557"/>
            </a:xfrm>
            <a:prstGeom prst="ellipse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8" name="Google Shape;58;p3">
            <a:extLst>
              <a:ext uri="{FF2B5EF4-FFF2-40B4-BE49-F238E27FC236}">
                <a16:creationId xmlns:a16="http://schemas.microsoft.com/office/drawing/2014/main" id="{0EC34596-2897-2EC2-BAAF-01BA149AD2B4}"/>
              </a:ext>
            </a:extLst>
          </p:cNvPr>
          <p:cNvSpPr/>
          <p:nvPr/>
        </p:nvSpPr>
        <p:spPr>
          <a:xfrm rot="10800000" flipH="1" flipV="1">
            <a:off x="-5818" y="0"/>
            <a:ext cx="1246222" cy="1072019"/>
          </a:xfrm>
          <a:custGeom>
            <a:avLst/>
            <a:gdLst/>
            <a:ahLst/>
            <a:cxnLst/>
            <a:rect l="l" t="t" r="r" b="b"/>
            <a:pathLst>
              <a:path w="70451" h="60603" extrusionOk="0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27BF4C-E0E5-7A50-CCC2-E8DD596F5A3C}"/>
              </a:ext>
            </a:extLst>
          </p:cNvPr>
          <p:cNvSpPr txBox="1"/>
          <p:nvPr/>
        </p:nvSpPr>
        <p:spPr>
          <a:xfrm rot="5400000">
            <a:off x="5509579" y="1071750"/>
            <a:ext cx="3133540" cy="2974307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6535376"/>
              </a:avLst>
            </a:prstTxWarp>
            <a:spAutoFit/>
          </a:bodyPr>
          <a:lstStyle/>
          <a:p>
            <a:pPr algn="ctr"/>
            <a:r>
              <a:rPr lang="en-US" altLang="zh-CN" sz="1200" dirty="0">
                <a:gradFill>
                  <a:gsLst>
                    <a:gs pos="54000">
                      <a:srgbClr val="0960E5"/>
                    </a:gs>
                    <a:gs pos="0">
                      <a:srgbClr val="2091FB"/>
                    </a:gs>
                  </a:gsLst>
                  <a:lin ang="10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A                       D                    H                   D</a:t>
            </a:r>
            <a:endParaRPr lang="zh-CN" altLang="en-US" sz="1200" dirty="0"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86738806-A6C2-6206-B513-417CB5216069}"/>
              </a:ext>
            </a:extLst>
          </p:cNvPr>
          <p:cNvSpPr/>
          <p:nvPr/>
        </p:nvSpPr>
        <p:spPr>
          <a:xfrm rot="19800000">
            <a:off x="7300743" y="284091"/>
            <a:ext cx="1370002" cy="1370002"/>
          </a:xfrm>
          <a:custGeom>
            <a:avLst/>
            <a:gdLst>
              <a:gd name="connsiteX0" fmla="*/ 265144 w 1370002"/>
              <a:gd name="connsiteY0" fmla="*/ 1222597 h 1370002"/>
              <a:gd name="connsiteX1" fmla="*/ 1104858 w 1370002"/>
              <a:gd name="connsiteY1" fmla="*/ 1222597 h 1370002"/>
              <a:gd name="connsiteX2" fmla="*/ 1067992 w 1370002"/>
              <a:gd name="connsiteY2" fmla="*/ 1253015 h 1370002"/>
              <a:gd name="connsiteX3" fmla="*/ 685001 w 1370002"/>
              <a:gd name="connsiteY3" fmla="*/ 1370002 h 1370002"/>
              <a:gd name="connsiteX4" fmla="*/ 302011 w 1370002"/>
              <a:gd name="connsiteY4" fmla="*/ 1253015 h 1370002"/>
              <a:gd name="connsiteX5" fmla="*/ 118807 w 1370002"/>
              <a:gd name="connsiteY5" fmla="*/ 1070197 h 1370002"/>
              <a:gd name="connsiteX6" fmla="*/ 1251195 w 1370002"/>
              <a:gd name="connsiteY6" fmla="*/ 1070197 h 1370002"/>
              <a:gd name="connsiteX7" fmla="*/ 1169370 w 1370002"/>
              <a:gd name="connsiteY7" fmla="*/ 1169370 h 1370002"/>
              <a:gd name="connsiteX8" fmla="*/ 1160270 w 1370002"/>
              <a:gd name="connsiteY8" fmla="*/ 1176878 h 1370002"/>
              <a:gd name="connsiteX9" fmla="*/ 209732 w 1370002"/>
              <a:gd name="connsiteY9" fmla="*/ 1176878 h 1370002"/>
              <a:gd name="connsiteX10" fmla="*/ 200632 w 1370002"/>
              <a:gd name="connsiteY10" fmla="*/ 1169370 h 1370002"/>
              <a:gd name="connsiteX11" fmla="*/ 43327 w 1370002"/>
              <a:gd name="connsiteY11" fmla="*/ 917797 h 1370002"/>
              <a:gd name="connsiteX12" fmla="*/ 1326675 w 1370002"/>
              <a:gd name="connsiteY12" fmla="*/ 917797 h 1370002"/>
              <a:gd name="connsiteX13" fmla="*/ 1316171 w 1370002"/>
              <a:gd name="connsiteY13" fmla="*/ 951635 h 1370002"/>
              <a:gd name="connsiteX14" fmla="*/ 1276633 w 1370002"/>
              <a:gd name="connsiteY14" fmla="*/ 1024478 h 1370002"/>
              <a:gd name="connsiteX15" fmla="*/ 93369 w 1370002"/>
              <a:gd name="connsiteY15" fmla="*/ 1024478 h 1370002"/>
              <a:gd name="connsiteX16" fmla="*/ 53831 w 1370002"/>
              <a:gd name="connsiteY16" fmla="*/ 951635 h 1370002"/>
              <a:gd name="connsiteX17" fmla="*/ 8105 w 1370002"/>
              <a:gd name="connsiteY17" fmla="*/ 765397 h 1370002"/>
              <a:gd name="connsiteX18" fmla="*/ 1361897 w 1370002"/>
              <a:gd name="connsiteY18" fmla="*/ 765397 h 1370002"/>
              <a:gd name="connsiteX19" fmla="*/ 1356085 w 1370002"/>
              <a:gd name="connsiteY19" fmla="*/ 823053 h 1370002"/>
              <a:gd name="connsiteX20" fmla="*/ 1340867 w 1370002"/>
              <a:gd name="connsiteY20" fmla="*/ 872078 h 1370002"/>
              <a:gd name="connsiteX21" fmla="*/ 29135 w 1370002"/>
              <a:gd name="connsiteY21" fmla="*/ 872078 h 1370002"/>
              <a:gd name="connsiteX22" fmla="*/ 13917 w 1370002"/>
              <a:gd name="connsiteY22" fmla="*/ 823053 h 1370002"/>
              <a:gd name="connsiteX23" fmla="*/ 7259 w 1370002"/>
              <a:gd name="connsiteY23" fmla="*/ 612997 h 1370002"/>
              <a:gd name="connsiteX24" fmla="*/ 1362743 w 1370002"/>
              <a:gd name="connsiteY24" fmla="*/ 612997 h 1370002"/>
              <a:gd name="connsiteX25" fmla="*/ 1370002 w 1370002"/>
              <a:gd name="connsiteY25" fmla="*/ 685001 h 1370002"/>
              <a:gd name="connsiteX26" fmla="*/ 1366506 w 1370002"/>
              <a:gd name="connsiteY26" fmla="*/ 719678 h 1370002"/>
              <a:gd name="connsiteX27" fmla="*/ 3496 w 1370002"/>
              <a:gd name="connsiteY27" fmla="*/ 719678 h 1370002"/>
              <a:gd name="connsiteX28" fmla="*/ 0 w 1370002"/>
              <a:gd name="connsiteY28" fmla="*/ 685001 h 1370002"/>
              <a:gd name="connsiteX29" fmla="*/ 40722 w 1370002"/>
              <a:gd name="connsiteY29" fmla="*/ 460597 h 1370002"/>
              <a:gd name="connsiteX30" fmla="*/ 1329280 w 1370002"/>
              <a:gd name="connsiteY30" fmla="*/ 460597 h 1370002"/>
              <a:gd name="connsiteX31" fmla="*/ 1356085 w 1370002"/>
              <a:gd name="connsiteY31" fmla="*/ 546949 h 1370002"/>
              <a:gd name="connsiteX32" fmla="*/ 1358135 w 1370002"/>
              <a:gd name="connsiteY32" fmla="*/ 567278 h 1370002"/>
              <a:gd name="connsiteX33" fmla="*/ 11868 w 1370002"/>
              <a:gd name="connsiteY33" fmla="*/ 567278 h 1370002"/>
              <a:gd name="connsiteX34" fmla="*/ 13917 w 1370002"/>
              <a:gd name="connsiteY34" fmla="*/ 546949 h 1370002"/>
              <a:gd name="connsiteX35" fmla="*/ 113630 w 1370002"/>
              <a:gd name="connsiteY35" fmla="*/ 308197 h 1370002"/>
              <a:gd name="connsiteX36" fmla="*/ 1256373 w 1370002"/>
              <a:gd name="connsiteY36" fmla="*/ 308197 h 1370002"/>
              <a:gd name="connsiteX37" fmla="*/ 1314277 w 1370002"/>
              <a:gd name="connsiteY37" fmla="*/ 414878 h 1370002"/>
              <a:gd name="connsiteX38" fmla="*/ 55725 w 1370002"/>
              <a:gd name="connsiteY38" fmla="*/ 414878 h 1370002"/>
              <a:gd name="connsiteX39" fmla="*/ 254973 w 1370002"/>
              <a:gd name="connsiteY39" fmla="*/ 155797 h 1370002"/>
              <a:gd name="connsiteX40" fmla="*/ 1115030 w 1370002"/>
              <a:gd name="connsiteY40" fmla="*/ 155797 h 1370002"/>
              <a:gd name="connsiteX41" fmla="*/ 1169370 w 1370002"/>
              <a:gd name="connsiteY41" fmla="*/ 200632 h 1370002"/>
              <a:gd name="connsiteX42" fmla="*/ 1220398 w 1370002"/>
              <a:gd name="connsiteY42" fmla="*/ 262478 h 1370002"/>
              <a:gd name="connsiteX43" fmla="*/ 149605 w 1370002"/>
              <a:gd name="connsiteY43" fmla="*/ 262478 h 1370002"/>
              <a:gd name="connsiteX44" fmla="*/ 200632 w 1370002"/>
              <a:gd name="connsiteY44" fmla="*/ 200632 h 1370002"/>
              <a:gd name="connsiteX45" fmla="*/ 685001 w 1370002"/>
              <a:gd name="connsiteY45" fmla="*/ 0 h 1370002"/>
              <a:gd name="connsiteX46" fmla="*/ 951635 w 1370002"/>
              <a:gd name="connsiteY46" fmla="*/ 53831 h 1370002"/>
              <a:gd name="connsiteX47" fmla="*/ 1055263 w 1370002"/>
              <a:gd name="connsiteY47" fmla="*/ 110078 h 1370002"/>
              <a:gd name="connsiteX48" fmla="*/ 314740 w 1370002"/>
              <a:gd name="connsiteY48" fmla="*/ 110078 h 1370002"/>
              <a:gd name="connsiteX49" fmla="*/ 418368 w 1370002"/>
              <a:gd name="connsiteY49" fmla="*/ 53831 h 1370002"/>
              <a:gd name="connsiteX50" fmla="*/ 685001 w 1370002"/>
              <a:gd name="connsiteY50" fmla="*/ 0 h 137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370002" h="1370002">
                <a:moveTo>
                  <a:pt x="265144" y="1222597"/>
                </a:moveTo>
                <a:lnTo>
                  <a:pt x="1104858" y="1222597"/>
                </a:lnTo>
                <a:lnTo>
                  <a:pt x="1067992" y="1253015"/>
                </a:lnTo>
                <a:cubicBezTo>
                  <a:pt x="958665" y="1326874"/>
                  <a:pt x="826870" y="1370002"/>
                  <a:pt x="685001" y="1370002"/>
                </a:cubicBezTo>
                <a:cubicBezTo>
                  <a:pt x="543133" y="1370002"/>
                  <a:pt x="411337" y="1326874"/>
                  <a:pt x="302011" y="1253015"/>
                </a:cubicBezTo>
                <a:close/>
                <a:moveTo>
                  <a:pt x="118807" y="1070197"/>
                </a:moveTo>
                <a:lnTo>
                  <a:pt x="1251195" y="1070197"/>
                </a:lnTo>
                <a:lnTo>
                  <a:pt x="1169370" y="1169370"/>
                </a:lnTo>
                <a:lnTo>
                  <a:pt x="1160270" y="1176878"/>
                </a:lnTo>
                <a:lnTo>
                  <a:pt x="209732" y="1176878"/>
                </a:lnTo>
                <a:lnTo>
                  <a:pt x="200632" y="1169370"/>
                </a:lnTo>
                <a:close/>
                <a:moveTo>
                  <a:pt x="43327" y="917797"/>
                </a:moveTo>
                <a:lnTo>
                  <a:pt x="1326675" y="917797"/>
                </a:lnTo>
                <a:lnTo>
                  <a:pt x="1316171" y="951635"/>
                </a:lnTo>
                <a:lnTo>
                  <a:pt x="1276633" y="1024478"/>
                </a:lnTo>
                <a:lnTo>
                  <a:pt x="93369" y="1024478"/>
                </a:lnTo>
                <a:lnTo>
                  <a:pt x="53831" y="951635"/>
                </a:lnTo>
                <a:close/>
                <a:moveTo>
                  <a:pt x="8105" y="765397"/>
                </a:moveTo>
                <a:lnTo>
                  <a:pt x="1361897" y="765397"/>
                </a:lnTo>
                <a:lnTo>
                  <a:pt x="1356085" y="823053"/>
                </a:lnTo>
                <a:lnTo>
                  <a:pt x="1340867" y="872078"/>
                </a:lnTo>
                <a:lnTo>
                  <a:pt x="29135" y="872078"/>
                </a:lnTo>
                <a:lnTo>
                  <a:pt x="13917" y="823053"/>
                </a:lnTo>
                <a:close/>
                <a:moveTo>
                  <a:pt x="7259" y="612997"/>
                </a:moveTo>
                <a:lnTo>
                  <a:pt x="1362743" y="612997"/>
                </a:lnTo>
                <a:lnTo>
                  <a:pt x="1370002" y="685001"/>
                </a:lnTo>
                <a:lnTo>
                  <a:pt x="1366506" y="719678"/>
                </a:lnTo>
                <a:lnTo>
                  <a:pt x="3496" y="719678"/>
                </a:lnTo>
                <a:lnTo>
                  <a:pt x="0" y="685001"/>
                </a:lnTo>
                <a:close/>
                <a:moveTo>
                  <a:pt x="40722" y="460597"/>
                </a:moveTo>
                <a:lnTo>
                  <a:pt x="1329280" y="460597"/>
                </a:lnTo>
                <a:lnTo>
                  <a:pt x="1356085" y="546949"/>
                </a:lnTo>
                <a:lnTo>
                  <a:pt x="1358135" y="567278"/>
                </a:lnTo>
                <a:lnTo>
                  <a:pt x="11868" y="567278"/>
                </a:lnTo>
                <a:lnTo>
                  <a:pt x="13917" y="546949"/>
                </a:lnTo>
                <a:close/>
                <a:moveTo>
                  <a:pt x="113630" y="308197"/>
                </a:moveTo>
                <a:lnTo>
                  <a:pt x="1256373" y="308197"/>
                </a:lnTo>
                <a:lnTo>
                  <a:pt x="1314277" y="414878"/>
                </a:lnTo>
                <a:lnTo>
                  <a:pt x="55725" y="414878"/>
                </a:lnTo>
                <a:close/>
                <a:moveTo>
                  <a:pt x="254973" y="155797"/>
                </a:moveTo>
                <a:lnTo>
                  <a:pt x="1115030" y="155797"/>
                </a:lnTo>
                <a:lnTo>
                  <a:pt x="1169370" y="200632"/>
                </a:lnTo>
                <a:lnTo>
                  <a:pt x="1220398" y="262478"/>
                </a:lnTo>
                <a:lnTo>
                  <a:pt x="149605" y="262478"/>
                </a:lnTo>
                <a:lnTo>
                  <a:pt x="200632" y="200632"/>
                </a:lnTo>
                <a:close/>
                <a:moveTo>
                  <a:pt x="685001" y="0"/>
                </a:moveTo>
                <a:cubicBezTo>
                  <a:pt x="779580" y="0"/>
                  <a:pt x="869682" y="19168"/>
                  <a:pt x="951635" y="53831"/>
                </a:cubicBezTo>
                <a:lnTo>
                  <a:pt x="1055263" y="110078"/>
                </a:lnTo>
                <a:lnTo>
                  <a:pt x="314740" y="110078"/>
                </a:lnTo>
                <a:lnTo>
                  <a:pt x="418368" y="53831"/>
                </a:lnTo>
                <a:cubicBezTo>
                  <a:pt x="500320" y="19168"/>
                  <a:pt x="590422" y="0"/>
                  <a:pt x="685001" y="0"/>
                </a:cubicBez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2B11C8F-8AB9-1F23-3096-376F98A29BB7}"/>
              </a:ext>
            </a:extLst>
          </p:cNvPr>
          <p:cNvSpPr/>
          <p:nvPr/>
        </p:nvSpPr>
        <p:spPr>
          <a:xfrm rot="19800000">
            <a:off x="4793040" y="3549042"/>
            <a:ext cx="587982" cy="587982"/>
          </a:xfrm>
          <a:custGeom>
            <a:avLst/>
            <a:gdLst>
              <a:gd name="connsiteX0" fmla="*/ 265144 w 1370002"/>
              <a:gd name="connsiteY0" fmla="*/ 1222597 h 1370002"/>
              <a:gd name="connsiteX1" fmla="*/ 1104858 w 1370002"/>
              <a:gd name="connsiteY1" fmla="*/ 1222597 h 1370002"/>
              <a:gd name="connsiteX2" fmla="*/ 1067992 w 1370002"/>
              <a:gd name="connsiteY2" fmla="*/ 1253015 h 1370002"/>
              <a:gd name="connsiteX3" fmla="*/ 685001 w 1370002"/>
              <a:gd name="connsiteY3" fmla="*/ 1370002 h 1370002"/>
              <a:gd name="connsiteX4" fmla="*/ 302011 w 1370002"/>
              <a:gd name="connsiteY4" fmla="*/ 1253015 h 1370002"/>
              <a:gd name="connsiteX5" fmla="*/ 118807 w 1370002"/>
              <a:gd name="connsiteY5" fmla="*/ 1070197 h 1370002"/>
              <a:gd name="connsiteX6" fmla="*/ 1251195 w 1370002"/>
              <a:gd name="connsiteY6" fmla="*/ 1070197 h 1370002"/>
              <a:gd name="connsiteX7" fmla="*/ 1169370 w 1370002"/>
              <a:gd name="connsiteY7" fmla="*/ 1169370 h 1370002"/>
              <a:gd name="connsiteX8" fmla="*/ 1160270 w 1370002"/>
              <a:gd name="connsiteY8" fmla="*/ 1176878 h 1370002"/>
              <a:gd name="connsiteX9" fmla="*/ 209732 w 1370002"/>
              <a:gd name="connsiteY9" fmla="*/ 1176878 h 1370002"/>
              <a:gd name="connsiteX10" fmla="*/ 200632 w 1370002"/>
              <a:gd name="connsiteY10" fmla="*/ 1169370 h 1370002"/>
              <a:gd name="connsiteX11" fmla="*/ 43327 w 1370002"/>
              <a:gd name="connsiteY11" fmla="*/ 917797 h 1370002"/>
              <a:gd name="connsiteX12" fmla="*/ 1326675 w 1370002"/>
              <a:gd name="connsiteY12" fmla="*/ 917797 h 1370002"/>
              <a:gd name="connsiteX13" fmla="*/ 1316171 w 1370002"/>
              <a:gd name="connsiteY13" fmla="*/ 951635 h 1370002"/>
              <a:gd name="connsiteX14" fmla="*/ 1276633 w 1370002"/>
              <a:gd name="connsiteY14" fmla="*/ 1024478 h 1370002"/>
              <a:gd name="connsiteX15" fmla="*/ 93369 w 1370002"/>
              <a:gd name="connsiteY15" fmla="*/ 1024478 h 1370002"/>
              <a:gd name="connsiteX16" fmla="*/ 53831 w 1370002"/>
              <a:gd name="connsiteY16" fmla="*/ 951635 h 1370002"/>
              <a:gd name="connsiteX17" fmla="*/ 8105 w 1370002"/>
              <a:gd name="connsiteY17" fmla="*/ 765397 h 1370002"/>
              <a:gd name="connsiteX18" fmla="*/ 1361897 w 1370002"/>
              <a:gd name="connsiteY18" fmla="*/ 765397 h 1370002"/>
              <a:gd name="connsiteX19" fmla="*/ 1356085 w 1370002"/>
              <a:gd name="connsiteY19" fmla="*/ 823053 h 1370002"/>
              <a:gd name="connsiteX20" fmla="*/ 1340867 w 1370002"/>
              <a:gd name="connsiteY20" fmla="*/ 872078 h 1370002"/>
              <a:gd name="connsiteX21" fmla="*/ 29135 w 1370002"/>
              <a:gd name="connsiteY21" fmla="*/ 872078 h 1370002"/>
              <a:gd name="connsiteX22" fmla="*/ 13917 w 1370002"/>
              <a:gd name="connsiteY22" fmla="*/ 823053 h 1370002"/>
              <a:gd name="connsiteX23" fmla="*/ 7259 w 1370002"/>
              <a:gd name="connsiteY23" fmla="*/ 612997 h 1370002"/>
              <a:gd name="connsiteX24" fmla="*/ 1362743 w 1370002"/>
              <a:gd name="connsiteY24" fmla="*/ 612997 h 1370002"/>
              <a:gd name="connsiteX25" fmla="*/ 1370002 w 1370002"/>
              <a:gd name="connsiteY25" fmla="*/ 685001 h 1370002"/>
              <a:gd name="connsiteX26" fmla="*/ 1366506 w 1370002"/>
              <a:gd name="connsiteY26" fmla="*/ 719678 h 1370002"/>
              <a:gd name="connsiteX27" fmla="*/ 3496 w 1370002"/>
              <a:gd name="connsiteY27" fmla="*/ 719678 h 1370002"/>
              <a:gd name="connsiteX28" fmla="*/ 0 w 1370002"/>
              <a:gd name="connsiteY28" fmla="*/ 685001 h 1370002"/>
              <a:gd name="connsiteX29" fmla="*/ 40722 w 1370002"/>
              <a:gd name="connsiteY29" fmla="*/ 460597 h 1370002"/>
              <a:gd name="connsiteX30" fmla="*/ 1329280 w 1370002"/>
              <a:gd name="connsiteY30" fmla="*/ 460597 h 1370002"/>
              <a:gd name="connsiteX31" fmla="*/ 1356085 w 1370002"/>
              <a:gd name="connsiteY31" fmla="*/ 546949 h 1370002"/>
              <a:gd name="connsiteX32" fmla="*/ 1358135 w 1370002"/>
              <a:gd name="connsiteY32" fmla="*/ 567278 h 1370002"/>
              <a:gd name="connsiteX33" fmla="*/ 11868 w 1370002"/>
              <a:gd name="connsiteY33" fmla="*/ 567278 h 1370002"/>
              <a:gd name="connsiteX34" fmla="*/ 13917 w 1370002"/>
              <a:gd name="connsiteY34" fmla="*/ 546949 h 1370002"/>
              <a:gd name="connsiteX35" fmla="*/ 113630 w 1370002"/>
              <a:gd name="connsiteY35" fmla="*/ 308197 h 1370002"/>
              <a:gd name="connsiteX36" fmla="*/ 1256373 w 1370002"/>
              <a:gd name="connsiteY36" fmla="*/ 308197 h 1370002"/>
              <a:gd name="connsiteX37" fmla="*/ 1314277 w 1370002"/>
              <a:gd name="connsiteY37" fmla="*/ 414878 h 1370002"/>
              <a:gd name="connsiteX38" fmla="*/ 55725 w 1370002"/>
              <a:gd name="connsiteY38" fmla="*/ 414878 h 1370002"/>
              <a:gd name="connsiteX39" fmla="*/ 254973 w 1370002"/>
              <a:gd name="connsiteY39" fmla="*/ 155797 h 1370002"/>
              <a:gd name="connsiteX40" fmla="*/ 1115030 w 1370002"/>
              <a:gd name="connsiteY40" fmla="*/ 155797 h 1370002"/>
              <a:gd name="connsiteX41" fmla="*/ 1169370 w 1370002"/>
              <a:gd name="connsiteY41" fmla="*/ 200632 h 1370002"/>
              <a:gd name="connsiteX42" fmla="*/ 1220398 w 1370002"/>
              <a:gd name="connsiteY42" fmla="*/ 262478 h 1370002"/>
              <a:gd name="connsiteX43" fmla="*/ 149605 w 1370002"/>
              <a:gd name="connsiteY43" fmla="*/ 262478 h 1370002"/>
              <a:gd name="connsiteX44" fmla="*/ 200632 w 1370002"/>
              <a:gd name="connsiteY44" fmla="*/ 200632 h 1370002"/>
              <a:gd name="connsiteX45" fmla="*/ 685001 w 1370002"/>
              <a:gd name="connsiteY45" fmla="*/ 0 h 1370002"/>
              <a:gd name="connsiteX46" fmla="*/ 951635 w 1370002"/>
              <a:gd name="connsiteY46" fmla="*/ 53831 h 1370002"/>
              <a:gd name="connsiteX47" fmla="*/ 1055263 w 1370002"/>
              <a:gd name="connsiteY47" fmla="*/ 110078 h 1370002"/>
              <a:gd name="connsiteX48" fmla="*/ 314740 w 1370002"/>
              <a:gd name="connsiteY48" fmla="*/ 110078 h 1370002"/>
              <a:gd name="connsiteX49" fmla="*/ 418368 w 1370002"/>
              <a:gd name="connsiteY49" fmla="*/ 53831 h 1370002"/>
              <a:gd name="connsiteX50" fmla="*/ 685001 w 1370002"/>
              <a:gd name="connsiteY50" fmla="*/ 0 h 137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370002" h="1370002">
                <a:moveTo>
                  <a:pt x="265144" y="1222597"/>
                </a:moveTo>
                <a:lnTo>
                  <a:pt x="1104858" y="1222597"/>
                </a:lnTo>
                <a:lnTo>
                  <a:pt x="1067992" y="1253015"/>
                </a:lnTo>
                <a:cubicBezTo>
                  <a:pt x="958665" y="1326874"/>
                  <a:pt x="826870" y="1370002"/>
                  <a:pt x="685001" y="1370002"/>
                </a:cubicBezTo>
                <a:cubicBezTo>
                  <a:pt x="543133" y="1370002"/>
                  <a:pt x="411337" y="1326874"/>
                  <a:pt x="302011" y="1253015"/>
                </a:cubicBezTo>
                <a:close/>
                <a:moveTo>
                  <a:pt x="118807" y="1070197"/>
                </a:moveTo>
                <a:lnTo>
                  <a:pt x="1251195" y="1070197"/>
                </a:lnTo>
                <a:lnTo>
                  <a:pt x="1169370" y="1169370"/>
                </a:lnTo>
                <a:lnTo>
                  <a:pt x="1160270" y="1176878"/>
                </a:lnTo>
                <a:lnTo>
                  <a:pt x="209732" y="1176878"/>
                </a:lnTo>
                <a:lnTo>
                  <a:pt x="200632" y="1169370"/>
                </a:lnTo>
                <a:close/>
                <a:moveTo>
                  <a:pt x="43327" y="917797"/>
                </a:moveTo>
                <a:lnTo>
                  <a:pt x="1326675" y="917797"/>
                </a:lnTo>
                <a:lnTo>
                  <a:pt x="1316171" y="951635"/>
                </a:lnTo>
                <a:lnTo>
                  <a:pt x="1276633" y="1024478"/>
                </a:lnTo>
                <a:lnTo>
                  <a:pt x="93369" y="1024478"/>
                </a:lnTo>
                <a:lnTo>
                  <a:pt x="53831" y="951635"/>
                </a:lnTo>
                <a:close/>
                <a:moveTo>
                  <a:pt x="8105" y="765397"/>
                </a:moveTo>
                <a:lnTo>
                  <a:pt x="1361897" y="765397"/>
                </a:lnTo>
                <a:lnTo>
                  <a:pt x="1356085" y="823053"/>
                </a:lnTo>
                <a:lnTo>
                  <a:pt x="1340867" y="872078"/>
                </a:lnTo>
                <a:lnTo>
                  <a:pt x="29135" y="872078"/>
                </a:lnTo>
                <a:lnTo>
                  <a:pt x="13917" y="823053"/>
                </a:lnTo>
                <a:close/>
                <a:moveTo>
                  <a:pt x="7259" y="612997"/>
                </a:moveTo>
                <a:lnTo>
                  <a:pt x="1362743" y="612997"/>
                </a:lnTo>
                <a:lnTo>
                  <a:pt x="1370002" y="685001"/>
                </a:lnTo>
                <a:lnTo>
                  <a:pt x="1366506" y="719678"/>
                </a:lnTo>
                <a:lnTo>
                  <a:pt x="3496" y="719678"/>
                </a:lnTo>
                <a:lnTo>
                  <a:pt x="0" y="685001"/>
                </a:lnTo>
                <a:close/>
                <a:moveTo>
                  <a:pt x="40722" y="460597"/>
                </a:moveTo>
                <a:lnTo>
                  <a:pt x="1329280" y="460597"/>
                </a:lnTo>
                <a:lnTo>
                  <a:pt x="1356085" y="546949"/>
                </a:lnTo>
                <a:lnTo>
                  <a:pt x="1358135" y="567278"/>
                </a:lnTo>
                <a:lnTo>
                  <a:pt x="11868" y="567278"/>
                </a:lnTo>
                <a:lnTo>
                  <a:pt x="13917" y="546949"/>
                </a:lnTo>
                <a:close/>
                <a:moveTo>
                  <a:pt x="113630" y="308197"/>
                </a:moveTo>
                <a:lnTo>
                  <a:pt x="1256373" y="308197"/>
                </a:lnTo>
                <a:lnTo>
                  <a:pt x="1314277" y="414878"/>
                </a:lnTo>
                <a:lnTo>
                  <a:pt x="55725" y="414878"/>
                </a:lnTo>
                <a:close/>
                <a:moveTo>
                  <a:pt x="254973" y="155797"/>
                </a:moveTo>
                <a:lnTo>
                  <a:pt x="1115030" y="155797"/>
                </a:lnTo>
                <a:lnTo>
                  <a:pt x="1169370" y="200632"/>
                </a:lnTo>
                <a:lnTo>
                  <a:pt x="1220398" y="262478"/>
                </a:lnTo>
                <a:lnTo>
                  <a:pt x="149605" y="262478"/>
                </a:lnTo>
                <a:lnTo>
                  <a:pt x="200632" y="200632"/>
                </a:lnTo>
                <a:close/>
                <a:moveTo>
                  <a:pt x="685001" y="0"/>
                </a:moveTo>
                <a:cubicBezTo>
                  <a:pt x="779580" y="0"/>
                  <a:pt x="869682" y="19168"/>
                  <a:pt x="951635" y="53831"/>
                </a:cubicBezTo>
                <a:lnTo>
                  <a:pt x="1055263" y="110078"/>
                </a:lnTo>
                <a:lnTo>
                  <a:pt x="314740" y="110078"/>
                </a:lnTo>
                <a:lnTo>
                  <a:pt x="418368" y="53831"/>
                </a:lnTo>
                <a:cubicBezTo>
                  <a:pt x="500320" y="19168"/>
                  <a:pt x="590422" y="0"/>
                  <a:pt x="685001" y="0"/>
                </a:cubicBez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3" name="Google Shape;58;p3">
            <a:extLst>
              <a:ext uri="{FF2B5EF4-FFF2-40B4-BE49-F238E27FC236}">
                <a16:creationId xmlns:a16="http://schemas.microsoft.com/office/drawing/2014/main" id="{B712AA17-9E0E-4F00-AF94-7E475CED39B5}"/>
              </a:ext>
            </a:extLst>
          </p:cNvPr>
          <p:cNvSpPr/>
          <p:nvPr/>
        </p:nvSpPr>
        <p:spPr>
          <a:xfrm rot="10800000" flipH="1">
            <a:off x="0" y="4071481"/>
            <a:ext cx="1246222" cy="1072019"/>
          </a:xfrm>
          <a:custGeom>
            <a:avLst/>
            <a:gdLst/>
            <a:ahLst/>
            <a:cxnLst/>
            <a:rect l="l" t="t" r="r" b="b"/>
            <a:pathLst>
              <a:path w="70451" h="60603" extrusionOk="0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4D54941-09E9-0EEB-F846-147B1F5122D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25511" y="1939520"/>
            <a:ext cx="50854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基于</a:t>
            </a:r>
            <a:r>
              <a:rPr lang="en-US" altLang="zh-CN" sz="3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OpenAlex</a:t>
            </a:r>
            <a:r>
              <a:rPr lang="zh-CN" alt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的</a:t>
            </a:r>
            <a:r>
              <a:rPr lang="en-US" altLang="zh-CN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ADHD</a:t>
            </a:r>
            <a:r>
              <a:rPr lang="zh-CN" alt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领域</a:t>
            </a:r>
            <a:endParaRPr lang="en-US" altLang="zh-CN" sz="3000" dirty="0">
              <a:solidFill>
                <a:schemeClr val="tx1">
                  <a:lumMod val="85000"/>
                  <a:lumOff val="1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r>
              <a:rPr lang="zh-CN" altLang="en-US" sz="3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研究热点与学术合作模式数据挖掘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F5F9D5C-913A-78D9-1032-C3165F1644C7}"/>
              </a:ext>
            </a:extLst>
          </p:cNvPr>
          <p:cNvGrpSpPr/>
          <p:nvPr/>
        </p:nvGrpSpPr>
        <p:grpSpPr>
          <a:xfrm>
            <a:off x="394767" y="3487035"/>
            <a:ext cx="4173268" cy="382844"/>
            <a:chOff x="546813" y="2402625"/>
            <a:chExt cx="4727985" cy="40434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9FA50431-6AA3-3301-9AE3-EB065082CC7A}"/>
                </a:ext>
              </a:extLst>
            </p:cNvPr>
            <p:cNvSpPr/>
            <p:nvPr/>
          </p:nvSpPr>
          <p:spPr>
            <a:xfrm>
              <a:off x="546813" y="2605320"/>
              <a:ext cx="4727985" cy="154825"/>
            </a:xfrm>
            <a:prstGeom prst="roundRect">
              <a:avLst>
                <a:gd name="adj" fmla="val 50000"/>
              </a:avLst>
            </a:prstGeom>
            <a:gradFill>
              <a:gsLst>
                <a:gs pos="99000">
                  <a:srgbClr val="0960E5"/>
                </a:gs>
                <a:gs pos="0">
                  <a:schemeClr val="bg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62C7A44C-3D44-C192-D526-C21D5E9719D0}"/>
                </a:ext>
              </a:extLst>
            </p:cNvPr>
            <p:cNvSpPr/>
            <p:nvPr/>
          </p:nvSpPr>
          <p:spPr>
            <a:xfrm>
              <a:off x="576997" y="2402625"/>
              <a:ext cx="4626885" cy="40434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[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张苏芯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冯世欣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程一娇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]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CB71B65-B061-D9C4-31EC-280CE03AC208}"/>
              </a:ext>
            </a:extLst>
          </p:cNvPr>
          <p:cNvGrpSpPr/>
          <p:nvPr/>
        </p:nvGrpSpPr>
        <p:grpSpPr>
          <a:xfrm>
            <a:off x="468004" y="1226647"/>
            <a:ext cx="2590925" cy="612121"/>
            <a:chOff x="4026348" y="725823"/>
            <a:chExt cx="2590925" cy="612121"/>
          </a:xfrm>
          <a:solidFill>
            <a:srgbClr val="0EAB26"/>
          </a:solidFill>
          <a:effectLst>
            <a:reflection blurRad="6350" stA="50000" endA="300" endPos="23000" dir="5400000" sy="-100000" algn="bl" rotWithShape="0"/>
          </a:effectLst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DA1BDC66-DE80-E502-6F7E-F8DD9BC5D5CD}"/>
                </a:ext>
              </a:extLst>
            </p:cNvPr>
            <p:cNvSpPr/>
            <p:nvPr/>
          </p:nvSpPr>
          <p:spPr>
            <a:xfrm>
              <a:off x="4026348" y="725823"/>
              <a:ext cx="612121" cy="612121"/>
            </a:xfrm>
            <a:prstGeom prst="ellipse">
              <a:avLst/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A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D239195-8721-9AEF-D59B-E1DC2324DB63}"/>
                </a:ext>
              </a:extLst>
            </p:cNvPr>
            <p:cNvSpPr/>
            <p:nvPr/>
          </p:nvSpPr>
          <p:spPr>
            <a:xfrm>
              <a:off x="4685949" y="725823"/>
              <a:ext cx="612121" cy="612121"/>
            </a:xfrm>
            <a:prstGeom prst="ellipse">
              <a:avLst/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D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C48C3516-7903-0AE2-1231-BFF44F4F9EB4}"/>
                </a:ext>
              </a:extLst>
            </p:cNvPr>
            <p:cNvSpPr/>
            <p:nvPr/>
          </p:nvSpPr>
          <p:spPr>
            <a:xfrm>
              <a:off x="5345550" y="725823"/>
              <a:ext cx="612121" cy="612121"/>
            </a:xfrm>
            <a:prstGeom prst="ellipse">
              <a:avLst/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H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304E3672-FFF9-A5BD-DE97-D215C6E5B0B9}"/>
                </a:ext>
              </a:extLst>
            </p:cNvPr>
            <p:cNvSpPr/>
            <p:nvPr/>
          </p:nvSpPr>
          <p:spPr>
            <a:xfrm>
              <a:off x="6005152" y="725823"/>
              <a:ext cx="612121" cy="612121"/>
            </a:xfrm>
            <a:prstGeom prst="ellipse">
              <a:avLst/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D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57" name="任意多边形 7">
            <a:extLst>
              <a:ext uri="{FF2B5EF4-FFF2-40B4-BE49-F238E27FC236}">
                <a16:creationId xmlns:a16="http://schemas.microsoft.com/office/drawing/2014/main" id="{6D01BEAA-0275-E276-AC09-8B58419DFF1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2172" y="754925"/>
            <a:ext cx="702010" cy="3713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647" h="922">
                <a:moveTo>
                  <a:pt x="0" y="61"/>
                </a:moveTo>
                <a:cubicBezTo>
                  <a:pt x="0" y="27"/>
                  <a:pt x="26" y="0"/>
                  <a:pt x="58" y="0"/>
                </a:cubicBezTo>
                <a:cubicBezTo>
                  <a:pt x="89" y="0"/>
                  <a:pt x="115" y="27"/>
                  <a:pt x="115" y="61"/>
                </a:cubicBezTo>
                <a:cubicBezTo>
                  <a:pt x="115" y="94"/>
                  <a:pt x="89" y="121"/>
                  <a:pt x="58" y="121"/>
                </a:cubicBezTo>
                <a:cubicBezTo>
                  <a:pt x="26" y="121"/>
                  <a:pt x="0" y="94"/>
                  <a:pt x="0" y="61"/>
                </a:cubicBezTo>
                <a:close/>
                <a:moveTo>
                  <a:pt x="383" y="61"/>
                </a:moveTo>
                <a:cubicBezTo>
                  <a:pt x="383" y="27"/>
                  <a:pt x="409" y="0"/>
                  <a:pt x="441" y="0"/>
                </a:cubicBezTo>
                <a:cubicBezTo>
                  <a:pt x="472" y="0"/>
                  <a:pt x="498" y="27"/>
                  <a:pt x="498" y="61"/>
                </a:cubicBezTo>
                <a:cubicBezTo>
                  <a:pt x="498" y="94"/>
                  <a:pt x="472" y="121"/>
                  <a:pt x="441" y="121"/>
                </a:cubicBezTo>
                <a:cubicBezTo>
                  <a:pt x="409" y="121"/>
                  <a:pt x="383" y="94"/>
                  <a:pt x="383" y="61"/>
                </a:cubicBezTo>
                <a:close/>
                <a:moveTo>
                  <a:pt x="766" y="61"/>
                </a:moveTo>
                <a:cubicBezTo>
                  <a:pt x="766" y="27"/>
                  <a:pt x="792" y="0"/>
                  <a:pt x="824" y="0"/>
                </a:cubicBezTo>
                <a:cubicBezTo>
                  <a:pt x="855" y="0"/>
                  <a:pt x="881" y="27"/>
                  <a:pt x="881" y="61"/>
                </a:cubicBezTo>
                <a:cubicBezTo>
                  <a:pt x="881" y="94"/>
                  <a:pt x="855" y="121"/>
                  <a:pt x="824" y="121"/>
                </a:cubicBezTo>
                <a:cubicBezTo>
                  <a:pt x="792" y="121"/>
                  <a:pt x="766" y="94"/>
                  <a:pt x="766" y="61"/>
                </a:cubicBezTo>
                <a:close/>
                <a:moveTo>
                  <a:pt x="1149" y="61"/>
                </a:moveTo>
                <a:cubicBezTo>
                  <a:pt x="1149" y="27"/>
                  <a:pt x="1175" y="0"/>
                  <a:pt x="1207" y="0"/>
                </a:cubicBezTo>
                <a:cubicBezTo>
                  <a:pt x="1238" y="0"/>
                  <a:pt x="1264" y="27"/>
                  <a:pt x="1264" y="61"/>
                </a:cubicBezTo>
                <a:cubicBezTo>
                  <a:pt x="1264" y="94"/>
                  <a:pt x="1238" y="121"/>
                  <a:pt x="1207" y="121"/>
                </a:cubicBezTo>
                <a:cubicBezTo>
                  <a:pt x="1175" y="121"/>
                  <a:pt x="1149" y="94"/>
                  <a:pt x="1149" y="61"/>
                </a:cubicBezTo>
                <a:close/>
                <a:moveTo>
                  <a:pt x="1532" y="61"/>
                </a:moveTo>
                <a:cubicBezTo>
                  <a:pt x="1532" y="27"/>
                  <a:pt x="1558" y="0"/>
                  <a:pt x="1590" y="0"/>
                </a:cubicBezTo>
                <a:cubicBezTo>
                  <a:pt x="1621" y="0"/>
                  <a:pt x="1647" y="27"/>
                  <a:pt x="1647" y="61"/>
                </a:cubicBezTo>
                <a:cubicBezTo>
                  <a:pt x="1647" y="94"/>
                  <a:pt x="1621" y="121"/>
                  <a:pt x="1590" y="121"/>
                </a:cubicBezTo>
                <a:cubicBezTo>
                  <a:pt x="1558" y="121"/>
                  <a:pt x="1532" y="94"/>
                  <a:pt x="1532" y="61"/>
                </a:cubicBezTo>
                <a:close/>
                <a:moveTo>
                  <a:pt x="0" y="328"/>
                </a:moveTo>
                <a:cubicBezTo>
                  <a:pt x="0" y="294"/>
                  <a:pt x="26" y="267"/>
                  <a:pt x="58" y="267"/>
                </a:cubicBezTo>
                <a:cubicBezTo>
                  <a:pt x="89" y="267"/>
                  <a:pt x="115" y="294"/>
                  <a:pt x="115" y="328"/>
                </a:cubicBezTo>
                <a:cubicBezTo>
                  <a:pt x="115" y="361"/>
                  <a:pt x="89" y="388"/>
                  <a:pt x="58" y="388"/>
                </a:cubicBezTo>
                <a:cubicBezTo>
                  <a:pt x="26" y="388"/>
                  <a:pt x="0" y="361"/>
                  <a:pt x="0" y="328"/>
                </a:cubicBezTo>
                <a:close/>
                <a:moveTo>
                  <a:pt x="383" y="328"/>
                </a:moveTo>
                <a:cubicBezTo>
                  <a:pt x="383" y="294"/>
                  <a:pt x="409" y="267"/>
                  <a:pt x="441" y="267"/>
                </a:cubicBezTo>
                <a:cubicBezTo>
                  <a:pt x="472" y="267"/>
                  <a:pt x="498" y="294"/>
                  <a:pt x="498" y="328"/>
                </a:cubicBezTo>
                <a:cubicBezTo>
                  <a:pt x="498" y="361"/>
                  <a:pt x="472" y="388"/>
                  <a:pt x="441" y="388"/>
                </a:cubicBezTo>
                <a:cubicBezTo>
                  <a:pt x="409" y="388"/>
                  <a:pt x="383" y="361"/>
                  <a:pt x="383" y="328"/>
                </a:cubicBezTo>
                <a:close/>
                <a:moveTo>
                  <a:pt x="766" y="328"/>
                </a:moveTo>
                <a:cubicBezTo>
                  <a:pt x="766" y="294"/>
                  <a:pt x="792" y="267"/>
                  <a:pt x="824" y="267"/>
                </a:cubicBezTo>
                <a:cubicBezTo>
                  <a:pt x="855" y="267"/>
                  <a:pt x="881" y="294"/>
                  <a:pt x="881" y="328"/>
                </a:cubicBezTo>
                <a:cubicBezTo>
                  <a:pt x="881" y="361"/>
                  <a:pt x="855" y="388"/>
                  <a:pt x="824" y="388"/>
                </a:cubicBezTo>
                <a:cubicBezTo>
                  <a:pt x="792" y="388"/>
                  <a:pt x="766" y="361"/>
                  <a:pt x="766" y="328"/>
                </a:cubicBezTo>
                <a:close/>
                <a:moveTo>
                  <a:pt x="1149" y="328"/>
                </a:moveTo>
                <a:cubicBezTo>
                  <a:pt x="1149" y="294"/>
                  <a:pt x="1175" y="267"/>
                  <a:pt x="1207" y="267"/>
                </a:cubicBezTo>
                <a:cubicBezTo>
                  <a:pt x="1238" y="267"/>
                  <a:pt x="1264" y="294"/>
                  <a:pt x="1264" y="328"/>
                </a:cubicBezTo>
                <a:cubicBezTo>
                  <a:pt x="1264" y="361"/>
                  <a:pt x="1238" y="388"/>
                  <a:pt x="1207" y="388"/>
                </a:cubicBezTo>
                <a:cubicBezTo>
                  <a:pt x="1175" y="388"/>
                  <a:pt x="1149" y="361"/>
                  <a:pt x="1149" y="328"/>
                </a:cubicBezTo>
                <a:close/>
                <a:moveTo>
                  <a:pt x="1532" y="328"/>
                </a:moveTo>
                <a:cubicBezTo>
                  <a:pt x="1532" y="294"/>
                  <a:pt x="1558" y="267"/>
                  <a:pt x="1590" y="267"/>
                </a:cubicBezTo>
                <a:cubicBezTo>
                  <a:pt x="1621" y="267"/>
                  <a:pt x="1647" y="294"/>
                  <a:pt x="1647" y="328"/>
                </a:cubicBezTo>
                <a:cubicBezTo>
                  <a:pt x="1647" y="361"/>
                  <a:pt x="1621" y="388"/>
                  <a:pt x="1590" y="388"/>
                </a:cubicBezTo>
                <a:cubicBezTo>
                  <a:pt x="1558" y="388"/>
                  <a:pt x="1532" y="361"/>
                  <a:pt x="1532" y="328"/>
                </a:cubicBezTo>
                <a:close/>
                <a:moveTo>
                  <a:pt x="0" y="595"/>
                </a:moveTo>
                <a:cubicBezTo>
                  <a:pt x="0" y="561"/>
                  <a:pt x="26" y="534"/>
                  <a:pt x="58" y="534"/>
                </a:cubicBezTo>
                <a:cubicBezTo>
                  <a:pt x="89" y="534"/>
                  <a:pt x="115" y="561"/>
                  <a:pt x="115" y="595"/>
                </a:cubicBezTo>
                <a:cubicBezTo>
                  <a:pt x="115" y="628"/>
                  <a:pt x="89" y="655"/>
                  <a:pt x="58" y="655"/>
                </a:cubicBezTo>
                <a:cubicBezTo>
                  <a:pt x="26" y="655"/>
                  <a:pt x="0" y="628"/>
                  <a:pt x="0" y="595"/>
                </a:cubicBezTo>
                <a:close/>
                <a:moveTo>
                  <a:pt x="383" y="595"/>
                </a:moveTo>
                <a:cubicBezTo>
                  <a:pt x="383" y="561"/>
                  <a:pt x="409" y="534"/>
                  <a:pt x="441" y="534"/>
                </a:cubicBezTo>
                <a:cubicBezTo>
                  <a:pt x="472" y="534"/>
                  <a:pt x="498" y="561"/>
                  <a:pt x="498" y="595"/>
                </a:cubicBezTo>
                <a:cubicBezTo>
                  <a:pt x="498" y="628"/>
                  <a:pt x="472" y="655"/>
                  <a:pt x="441" y="655"/>
                </a:cubicBezTo>
                <a:cubicBezTo>
                  <a:pt x="409" y="655"/>
                  <a:pt x="383" y="628"/>
                  <a:pt x="383" y="595"/>
                </a:cubicBezTo>
                <a:close/>
                <a:moveTo>
                  <a:pt x="766" y="595"/>
                </a:moveTo>
                <a:cubicBezTo>
                  <a:pt x="766" y="561"/>
                  <a:pt x="792" y="534"/>
                  <a:pt x="824" y="534"/>
                </a:cubicBezTo>
                <a:cubicBezTo>
                  <a:pt x="855" y="534"/>
                  <a:pt x="881" y="561"/>
                  <a:pt x="881" y="595"/>
                </a:cubicBezTo>
                <a:cubicBezTo>
                  <a:pt x="881" y="628"/>
                  <a:pt x="855" y="655"/>
                  <a:pt x="824" y="655"/>
                </a:cubicBezTo>
                <a:cubicBezTo>
                  <a:pt x="792" y="655"/>
                  <a:pt x="766" y="628"/>
                  <a:pt x="766" y="595"/>
                </a:cubicBezTo>
                <a:close/>
                <a:moveTo>
                  <a:pt x="1149" y="595"/>
                </a:moveTo>
                <a:cubicBezTo>
                  <a:pt x="1149" y="561"/>
                  <a:pt x="1175" y="534"/>
                  <a:pt x="1207" y="534"/>
                </a:cubicBezTo>
                <a:cubicBezTo>
                  <a:pt x="1238" y="534"/>
                  <a:pt x="1264" y="561"/>
                  <a:pt x="1264" y="595"/>
                </a:cubicBezTo>
                <a:cubicBezTo>
                  <a:pt x="1264" y="628"/>
                  <a:pt x="1238" y="655"/>
                  <a:pt x="1207" y="655"/>
                </a:cubicBezTo>
                <a:cubicBezTo>
                  <a:pt x="1175" y="655"/>
                  <a:pt x="1149" y="628"/>
                  <a:pt x="1149" y="595"/>
                </a:cubicBezTo>
                <a:close/>
                <a:moveTo>
                  <a:pt x="1532" y="595"/>
                </a:moveTo>
                <a:cubicBezTo>
                  <a:pt x="1532" y="561"/>
                  <a:pt x="1558" y="534"/>
                  <a:pt x="1590" y="534"/>
                </a:cubicBezTo>
                <a:cubicBezTo>
                  <a:pt x="1621" y="534"/>
                  <a:pt x="1647" y="561"/>
                  <a:pt x="1647" y="595"/>
                </a:cubicBezTo>
                <a:cubicBezTo>
                  <a:pt x="1647" y="628"/>
                  <a:pt x="1621" y="655"/>
                  <a:pt x="1590" y="655"/>
                </a:cubicBezTo>
                <a:cubicBezTo>
                  <a:pt x="1558" y="655"/>
                  <a:pt x="1532" y="628"/>
                  <a:pt x="1532" y="595"/>
                </a:cubicBezTo>
                <a:close/>
                <a:moveTo>
                  <a:pt x="0" y="862"/>
                </a:moveTo>
                <a:cubicBezTo>
                  <a:pt x="0" y="828"/>
                  <a:pt x="26" y="801"/>
                  <a:pt x="58" y="801"/>
                </a:cubicBezTo>
                <a:cubicBezTo>
                  <a:pt x="89" y="801"/>
                  <a:pt x="115" y="828"/>
                  <a:pt x="115" y="862"/>
                </a:cubicBezTo>
                <a:cubicBezTo>
                  <a:pt x="115" y="895"/>
                  <a:pt x="89" y="922"/>
                  <a:pt x="58" y="922"/>
                </a:cubicBezTo>
                <a:cubicBezTo>
                  <a:pt x="26" y="922"/>
                  <a:pt x="0" y="895"/>
                  <a:pt x="0" y="862"/>
                </a:cubicBezTo>
                <a:close/>
                <a:moveTo>
                  <a:pt x="383" y="862"/>
                </a:moveTo>
                <a:cubicBezTo>
                  <a:pt x="383" y="828"/>
                  <a:pt x="409" y="801"/>
                  <a:pt x="441" y="801"/>
                </a:cubicBezTo>
                <a:cubicBezTo>
                  <a:pt x="472" y="801"/>
                  <a:pt x="498" y="828"/>
                  <a:pt x="498" y="862"/>
                </a:cubicBezTo>
                <a:cubicBezTo>
                  <a:pt x="498" y="895"/>
                  <a:pt x="472" y="922"/>
                  <a:pt x="441" y="922"/>
                </a:cubicBezTo>
                <a:cubicBezTo>
                  <a:pt x="409" y="922"/>
                  <a:pt x="383" y="895"/>
                  <a:pt x="383" y="862"/>
                </a:cubicBezTo>
                <a:close/>
                <a:moveTo>
                  <a:pt x="766" y="862"/>
                </a:moveTo>
                <a:cubicBezTo>
                  <a:pt x="766" y="828"/>
                  <a:pt x="792" y="801"/>
                  <a:pt x="824" y="801"/>
                </a:cubicBezTo>
                <a:cubicBezTo>
                  <a:pt x="855" y="801"/>
                  <a:pt x="881" y="828"/>
                  <a:pt x="881" y="862"/>
                </a:cubicBezTo>
                <a:cubicBezTo>
                  <a:pt x="881" y="895"/>
                  <a:pt x="855" y="922"/>
                  <a:pt x="824" y="922"/>
                </a:cubicBezTo>
                <a:cubicBezTo>
                  <a:pt x="792" y="922"/>
                  <a:pt x="766" y="895"/>
                  <a:pt x="766" y="862"/>
                </a:cubicBezTo>
                <a:close/>
                <a:moveTo>
                  <a:pt x="1149" y="862"/>
                </a:moveTo>
                <a:cubicBezTo>
                  <a:pt x="1149" y="828"/>
                  <a:pt x="1175" y="801"/>
                  <a:pt x="1207" y="801"/>
                </a:cubicBezTo>
                <a:cubicBezTo>
                  <a:pt x="1238" y="801"/>
                  <a:pt x="1264" y="828"/>
                  <a:pt x="1264" y="862"/>
                </a:cubicBezTo>
                <a:cubicBezTo>
                  <a:pt x="1264" y="895"/>
                  <a:pt x="1238" y="922"/>
                  <a:pt x="1207" y="922"/>
                </a:cubicBezTo>
                <a:cubicBezTo>
                  <a:pt x="1175" y="922"/>
                  <a:pt x="1149" y="895"/>
                  <a:pt x="1149" y="862"/>
                </a:cubicBezTo>
                <a:close/>
                <a:moveTo>
                  <a:pt x="1532" y="862"/>
                </a:moveTo>
                <a:cubicBezTo>
                  <a:pt x="1532" y="828"/>
                  <a:pt x="1558" y="801"/>
                  <a:pt x="1590" y="801"/>
                </a:cubicBezTo>
                <a:cubicBezTo>
                  <a:pt x="1621" y="801"/>
                  <a:pt x="1647" y="828"/>
                  <a:pt x="1647" y="862"/>
                </a:cubicBezTo>
                <a:cubicBezTo>
                  <a:pt x="1647" y="895"/>
                  <a:pt x="1621" y="922"/>
                  <a:pt x="1590" y="922"/>
                </a:cubicBezTo>
                <a:cubicBezTo>
                  <a:pt x="1558" y="922"/>
                  <a:pt x="1532" y="895"/>
                  <a:pt x="1532" y="862"/>
                </a:cubicBez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宋体 CN Light" panose="02020300000000000000" pitchFamily="18" charset="-122"/>
              <a:ea typeface="思源宋体 CN Light" panose="02020300000000000000" pitchFamily="18" charset="-122"/>
              <a:cs typeface="思源黑体 CN Light" panose="020B03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3104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: 空心 20">
            <a:extLst>
              <a:ext uri="{FF2B5EF4-FFF2-40B4-BE49-F238E27FC236}">
                <a16:creationId xmlns:a16="http://schemas.microsoft.com/office/drawing/2014/main" id="{A1C56EC0-CDBE-C5B1-9004-8A8F496054E6}"/>
              </a:ext>
            </a:extLst>
          </p:cNvPr>
          <p:cNvSpPr/>
          <p:nvPr/>
        </p:nvSpPr>
        <p:spPr>
          <a:xfrm>
            <a:off x="1203631" y="1262943"/>
            <a:ext cx="942194" cy="942194"/>
          </a:xfrm>
          <a:prstGeom prst="donut">
            <a:avLst/>
          </a:pr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7" name="Google Shape;58;p3">
            <a:extLst>
              <a:ext uri="{FF2B5EF4-FFF2-40B4-BE49-F238E27FC236}">
                <a16:creationId xmlns:a16="http://schemas.microsoft.com/office/drawing/2014/main" id="{21CDCFE0-9142-63C7-B5DF-09FA5E02FEC7}"/>
              </a:ext>
            </a:extLst>
          </p:cNvPr>
          <p:cNvSpPr/>
          <p:nvPr/>
        </p:nvSpPr>
        <p:spPr>
          <a:xfrm rot="10800000">
            <a:off x="7263834" y="3578087"/>
            <a:ext cx="1880166" cy="1565412"/>
          </a:xfrm>
          <a:custGeom>
            <a:avLst/>
            <a:gdLst/>
            <a:ahLst/>
            <a:cxnLst/>
            <a:rect l="l" t="t" r="r" b="b"/>
            <a:pathLst>
              <a:path w="70451" h="60603" extrusionOk="0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8" name="Google Shape;58;p3">
            <a:extLst>
              <a:ext uri="{FF2B5EF4-FFF2-40B4-BE49-F238E27FC236}">
                <a16:creationId xmlns:a16="http://schemas.microsoft.com/office/drawing/2014/main" id="{35C1495C-3FD4-A5C3-A7E5-93E369CCB1B8}"/>
              </a:ext>
            </a:extLst>
          </p:cNvPr>
          <p:cNvSpPr/>
          <p:nvPr/>
        </p:nvSpPr>
        <p:spPr>
          <a:xfrm rot="10800000" flipH="1" flipV="1">
            <a:off x="-5818" y="0"/>
            <a:ext cx="1381394" cy="1188296"/>
          </a:xfrm>
          <a:custGeom>
            <a:avLst/>
            <a:gdLst/>
            <a:ahLst/>
            <a:cxnLst/>
            <a:rect l="l" t="t" r="r" b="b"/>
            <a:pathLst>
              <a:path w="70451" h="60603" extrusionOk="0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4DF2849-0A74-FDC6-5F97-DD515747630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300074" y="1643260"/>
            <a:ext cx="9421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目</a:t>
            </a:r>
            <a:endParaRPr lang="en-US" altLang="zh-CN" sz="4800" dirty="0">
              <a:solidFill>
                <a:schemeClr val="tx1">
                  <a:lumMod val="85000"/>
                  <a:lumOff val="1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  <a:p>
            <a:pPr algn="ctr"/>
            <a:r>
              <a:rPr lang="zh-CN" altLang="en-US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2C706E-C3FC-FC26-12FC-82EBB3AE855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 rot="5400000">
            <a:off x="1600239" y="2768592"/>
            <a:ext cx="1429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CONTENTS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A6E863C-A7BA-6E55-F4E6-B5C205DE569C}"/>
              </a:ext>
            </a:extLst>
          </p:cNvPr>
          <p:cNvGrpSpPr/>
          <p:nvPr/>
        </p:nvGrpSpPr>
        <p:grpSpPr>
          <a:xfrm>
            <a:off x="1453585" y="3163462"/>
            <a:ext cx="538729" cy="538729"/>
            <a:chOff x="693516" y="1882545"/>
            <a:chExt cx="619812" cy="619812"/>
          </a:xfrm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2394D54D-44EB-7B03-E3E7-4480BBD4BC49}"/>
                </a:ext>
              </a:extLst>
            </p:cNvPr>
            <p:cNvSpPr/>
            <p:nvPr/>
          </p:nvSpPr>
          <p:spPr>
            <a:xfrm>
              <a:off x="693516" y="1882545"/>
              <a:ext cx="619812" cy="619812"/>
            </a:xfrm>
            <a:prstGeom prst="ellipse">
              <a:avLst/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5B8DD9A3-A0B3-3B4D-111D-946C636BBA74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3141" y="2022170"/>
              <a:ext cx="340562" cy="340562"/>
            </a:xfrm>
            <a:prstGeom prst="rect">
              <a:avLst/>
            </a:prstGeom>
          </p:spPr>
        </p:pic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DD735BD-E3A9-1CC7-5307-2EC09081506C}"/>
              </a:ext>
            </a:extLst>
          </p:cNvPr>
          <p:cNvGrpSpPr/>
          <p:nvPr/>
        </p:nvGrpSpPr>
        <p:grpSpPr>
          <a:xfrm>
            <a:off x="3858080" y="279107"/>
            <a:ext cx="3564777" cy="477078"/>
            <a:chOff x="3900470" y="1420855"/>
            <a:chExt cx="3112579" cy="477078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72005BF8-6E63-66E8-ED10-82EE5E84D54D}"/>
                </a:ext>
              </a:extLst>
            </p:cNvPr>
            <p:cNvGrpSpPr/>
            <p:nvPr/>
          </p:nvGrpSpPr>
          <p:grpSpPr>
            <a:xfrm>
              <a:off x="3948140" y="1420855"/>
              <a:ext cx="3064909" cy="477078"/>
              <a:chOff x="3164619" y="946205"/>
              <a:chExt cx="3476504" cy="477078"/>
            </a:xfrm>
          </p:grpSpPr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F9A17F1E-CCD3-3C2B-18E2-1779AA1CD581}"/>
                  </a:ext>
                </a:extLst>
              </p:cNvPr>
              <p:cNvSpPr/>
              <p:nvPr/>
            </p:nvSpPr>
            <p:spPr>
              <a:xfrm>
                <a:off x="3164619" y="946205"/>
                <a:ext cx="724062" cy="477078"/>
              </a:xfrm>
              <a:custGeom>
                <a:avLst/>
                <a:gdLst>
                  <a:gd name="connsiteX0" fmla="*/ 79515 w 724062"/>
                  <a:gd name="connsiteY0" fmla="*/ 0 h 477078"/>
                  <a:gd name="connsiteX1" fmla="*/ 724062 w 724062"/>
                  <a:gd name="connsiteY1" fmla="*/ 0 h 477078"/>
                  <a:gd name="connsiteX2" fmla="*/ 383122 w 724062"/>
                  <a:gd name="connsiteY2" fmla="*/ 477078 h 477078"/>
                  <a:gd name="connsiteX3" fmla="*/ 79515 w 724062"/>
                  <a:gd name="connsiteY3" fmla="*/ 477078 h 477078"/>
                  <a:gd name="connsiteX4" fmla="*/ 0 w 724062"/>
                  <a:gd name="connsiteY4" fmla="*/ 397563 h 477078"/>
                  <a:gd name="connsiteX5" fmla="*/ 0 w 724062"/>
                  <a:gd name="connsiteY5" fmla="*/ 79515 h 477078"/>
                  <a:gd name="connsiteX6" fmla="*/ 79515 w 724062"/>
                  <a:gd name="connsiteY6" fmla="*/ 0 h 47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4062" h="477078">
                    <a:moveTo>
                      <a:pt x="79515" y="0"/>
                    </a:moveTo>
                    <a:lnTo>
                      <a:pt x="724062" y="0"/>
                    </a:lnTo>
                    <a:lnTo>
                      <a:pt x="383122" y="477078"/>
                    </a:lnTo>
                    <a:lnTo>
                      <a:pt x="79515" y="477078"/>
                    </a:lnTo>
                    <a:cubicBezTo>
                      <a:pt x="35600" y="477078"/>
                      <a:pt x="0" y="441478"/>
                      <a:pt x="0" y="397563"/>
                    </a:cubicBezTo>
                    <a:lnTo>
                      <a:pt x="0" y="79515"/>
                    </a:lnTo>
                    <a:cubicBezTo>
                      <a:pt x="0" y="35600"/>
                      <a:pt x="35600" y="0"/>
                      <a:pt x="79515" y="0"/>
                    </a:cubicBez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5" name="矩形: 圆角 24">
                <a:extLst>
                  <a:ext uri="{FF2B5EF4-FFF2-40B4-BE49-F238E27FC236}">
                    <a16:creationId xmlns:a16="http://schemas.microsoft.com/office/drawing/2014/main" id="{4A7A03A1-CABE-D15A-F18A-0960B7FF0BC8}"/>
                  </a:ext>
                </a:extLst>
              </p:cNvPr>
              <p:cNvSpPr/>
              <p:nvPr/>
            </p:nvSpPr>
            <p:spPr>
              <a:xfrm>
                <a:off x="3164620" y="946205"/>
                <a:ext cx="3476503" cy="477078"/>
              </a:xfrm>
              <a:prstGeom prst="roundRect">
                <a:avLst/>
              </a:prstGeom>
              <a:noFill/>
              <a:ln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rgbClr val="0960E5"/>
                    </a:gs>
                  </a:gsLst>
                  <a:lin ang="2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25D2B6E-AA57-C81D-E910-93D7BAE5B9E6}"/>
                </a:ext>
              </a:extLst>
            </p:cNvPr>
            <p:cNvSpPr txBox="1"/>
            <p:nvPr/>
          </p:nvSpPr>
          <p:spPr>
            <a:xfrm>
              <a:off x="4586478" y="1454891"/>
              <a:ext cx="222107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挖掘目标的定义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002012D7-C51D-06CF-D0F5-91943F83BC66}"/>
                </a:ext>
              </a:extLst>
            </p:cNvPr>
            <p:cNvSpPr txBox="1"/>
            <p:nvPr/>
          </p:nvSpPr>
          <p:spPr>
            <a:xfrm>
              <a:off x="3900470" y="1454891"/>
              <a:ext cx="54434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kern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01</a:t>
              </a:r>
              <a:endParaRPr lang="zh-CN" altLang="en-US" sz="2000" kern="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4B2B14E-A370-7930-FEE7-493015F642DC}"/>
              </a:ext>
            </a:extLst>
          </p:cNvPr>
          <p:cNvGrpSpPr/>
          <p:nvPr/>
        </p:nvGrpSpPr>
        <p:grpSpPr>
          <a:xfrm>
            <a:off x="3849072" y="1042233"/>
            <a:ext cx="3573793" cy="477078"/>
            <a:chOff x="3892601" y="1420855"/>
            <a:chExt cx="3120448" cy="477078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1DD7D891-A832-2AD3-3F3C-663421D4D149}"/>
                </a:ext>
              </a:extLst>
            </p:cNvPr>
            <p:cNvGrpSpPr/>
            <p:nvPr/>
          </p:nvGrpSpPr>
          <p:grpSpPr>
            <a:xfrm>
              <a:off x="3948140" y="1420855"/>
              <a:ext cx="3064909" cy="477078"/>
              <a:chOff x="3164619" y="946205"/>
              <a:chExt cx="3476504" cy="477078"/>
            </a:xfrm>
          </p:grpSpPr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0996C469-2548-FC51-1770-72630745BDED}"/>
                  </a:ext>
                </a:extLst>
              </p:cNvPr>
              <p:cNvSpPr/>
              <p:nvPr/>
            </p:nvSpPr>
            <p:spPr>
              <a:xfrm>
                <a:off x="3164619" y="946205"/>
                <a:ext cx="724062" cy="477078"/>
              </a:xfrm>
              <a:custGeom>
                <a:avLst/>
                <a:gdLst>
                  <a:gd name="connsiteX0" fmla="*/ 79515 w 724062"/>
                  <a:gd name="connsiteY0" fmla="*/ 0 h 477078"/>
                  <a:gd name="connsiteX1" fmla="*/ 724062 w 724062"/>
                  <a:gd name="connsiteY1" fmla="*/ 0 h 477078"/>
                  <a:gd name="connsiteX2" fmla="*/ 383122 w 724062"/>
                  <a:gd name="connsiteY2" fmla="*/ 477078 h 477078"/>
                  <a:gd name="connsiteX3" fmla="*/ 79515 w 724062"/>
                  <a:gd name="connsiteY3" fmla="*/ 477078 h 477078"/>
                  <a:gd name="connsiteX4" fmla="*/ 0 w 724062"/>
                  <a:gd name="connsiteY4" fmla="*/ 397563 h 477078"/>
                  <a:gd name="connsiteX5" fmla="*/ 0 w 724062"/>
                  <a:gd name="connsiteY5" fmla="*/ 79515 h 477078"/>
                  <a:gd name="connsiteX6" fmla="*/ 79515 w 724062"/>
                  <a:gd name="connsiteY6" fmla="*/ 0 h 47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4062" h="477078">
                    <a:moveTo>
                      <a:pt x="79515" y="0"/>
                    </a:moveTo>
                    <a:lnTo>
                      <a:pt x="724062" y="0"/>
                    </a:lnTo>
                    <a:lnTo>
                      <a:pt x="383122" y="477078"/>
                    </a:lnTo>
                    <a:lnTo>
                      <a:pt x="79515" y="477078"/>
                    </a:lnTo>
                    <a:cubicBezTo>
                      <a:pt x="35600" y="477078"/>
                      <a:pt x="0" y="441478"/>
                      <a:pt x="0" y="397563"/>
                    </a:cubicBezTo>
                    <a:lnTo>
                      <a:pt x="0" y="79515"/>
                    </a:lnTo>
                    <a:cubicBezTo>
                      <a:pt x="0" y="35600"/>
                      <a:pt x="35600" y="0"/>
                      <a:pt x="79515" y="0"/>
                    </a:cubicBez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E1113BBB-4EC2-A1C3-0839-BA87F38EC34F}"/>
                  </a:ext>
                </a:extLst>
              </p:cNvPr>
              <p:cNvSpPr/>
              <p:nvPr/>
            </p:nvSpPr>
            <p:spPr>
              <a:xfrm>
                <a:off x="3164620" y="946205"/>
                <a:ext cx="3476503" cy="477078"/>
              </a:xfrm>
              <a:prstGeom prst="roundRect">
                <a:avLst/>
              </a:prstGeom>
              <a:noFill/>
              <a:ln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rgbClr val="0960E5"/>
                    </a:gs>
                  </a:gsLst>
                  <a:lin ang="2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99C59BD-1A34-014B-B4C8-4FE9510217E5}"/>
                </a:ext>
              </a:extLst>
            </p:cNvPr>
            <p:cNvSpPr txBox="1"/>
            <p:nvPr/>
          </p:nvSpPr>
          <p:spPr>
            <a:xfrm>
              <a:off x="4586478" y="1454891"/>
              <a:ext cx="222107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数据的准备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A130C2C0-D9F1-72D8-4200-904218321718}"/>
                </a:ext>
              </a:extLst>
            </p:cNvPr>
            <p:cNvSpPr txBox="1"/>
            <p:nvPr/>
          </p:nvSpPr>
          <p:spPr>
            <a:xfrm>
              <a:off x="3892601" y="1454891"/>
              <a:ext cx="54434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kern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02</a:t>
              </a:r>
              <a:endParaRPr lang="zh-CN" altLang="en-US" sz="2000" kern="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53918E1-5E4D-6A10-CCC0-96B598EDA456}"/>
              </a:ext>
            </a:extLst>
          </p:cNvPr>
          <p:cNvGrpSpPr/>
          <p:nvPr/>
        </p:nvGrpSpPr>
        <p:grpSpPr>
          <a:xfrm>
            <a:off x="3833172" y="1805359"/>
            <a:ext cx="3589695" cy="477078"/>
            <a:chOff x="3878717" y="1420855"/>
            <a:chExt cx="3134332" cy="47707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7D1ED7D2-BA33-4211-BB8E-98398A8CAB7B}"/>
                </a:ext>
              </a:extLst>
            </p:cNvPr>
            <p:cNvGrpSpPr/>
            <p:nvPr/>
          </p:nvGrpSpPr>
          <p:grpSpPr>
            <a:xfrm>
              <a:off x="3948140" y="1420855"/>
              <a:ext cx="3064909" cy="477078"/>
              <a:chOff x="3164619" y="946205"/>
              <a:chExt cx="3476504" cy="477078"/>
            </a:xfrm>
          </p:grpSpPr>
          <p:sp>
            <p:nvSpPr>
              <p:cNvPr id="45" name="任意多边形: 形状 44">
                <a:extLst>
                  <a:ext uri="{FF2B5EF4-FFF2-40B4-BE49-F238E27FC236}">
                    <a16:creationId xmlns:a16="http://schemas.microsoft.com/office/drawing/2014/main" id="{28441192-1448-8A34-88FC-6512831062A0}"/>
                  </a:ext>
                </a:extLst>
              </p:cNvPr>
              <p:cNvSpPr/>
              <p:nvPr/>
            </p:nvSpPr>
            <p:spPr>
              <a:xfrm>
                <a:off x="3164619" y="946205"/>
                <a:ext cx="724062" cy="477078"/>
              </a:xfrm>
              <a:custGeom>
                <a:avLst/>
                <a:gdLst>
                  <a:gd name="connsiteX0" fmla="*/ 79515 w 724062"/>
                  <a:gd name="connsiteY0" fmla="*/ 0 h 477078"/>
                  <a:gd name="connsiteX1" fmla="*/ 724062 w 724062"/>
                  <a:gd name="connsiteY1" fmla="*/ 0 h 477078"/>
                  <a:gd name="connsiteX2" fmla="*/ 383122 w 724062"/>
                  <a:gd name="connsiteY2" fmla="*/ 477078 h 477078"/>
                  <a:gd name="connsiteX3" fmla="*/ 79515 w 724062"/>
                  <a:gd name="connsiteY3" fmla="*/ 477078 h 477078"/>
                  <a:gd name="connsiteX4" fmla="*/ 0 w 724062"/>
                  <a:gd name="connsiteY4" fmla="*/ 397563 h 477078"/>
                  <a:gd name="connsiteX5" fmla="*/ 0 w 724062"/>
                  <a:gd name="connsiteY5" fmla="*/ 79515 h 477078"/>
                  <a:gd name="connsiteX6" fmla="*/ 79515 w 724062"/>
                  <a:gd name="connsiteY6" fmla="*/ 0 h 47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4062" h="477078">
                    <a:moveTo>
                      <a:pt x="79515" y="0"/>
                    </a:moveTo>
                    <a:lnTo>
                      <a:pt x="724062" y="0"/>
                    </a:lnTo>
                    <a:lnTo>
                      <a:pt x="383122" y="477078"/>
                    </a:lnTo>
                    <a:lnTo>
                      <a:pt x="79515" y="477078"/>
                    </a:lnTo>
                    <a:cubicBezTo>
                      <a:pt x="35600" y="477078"/>
                      <a:pt x="0" y="441478"/>
                      <a:pt x="0" y="397563"/>
                    </a:cubicBezTo>
                    <a:lnTo>
                      <a:pt x="0" y="79515"/>
                    </a:lnTo>
                    <a:cubicBezTo>
                      <a:pt x="0" y="35600"/>
                      <a:pt x="35600" y="0"/>
                      <a:pt x="79515" y="0"/>
                    </a:cubicBez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449D6571-275E-F0E1-68F0-CDE74534F1C8}"/>
                  </a:ext>
                </a:extLst>
              </p:cNvPr>
              <p:cNvSpPr/>
              <p:nvPr/>
            </p:nvSpPr>
            <p:spPr>
              <a:xfrm>
                <a:off x="3164620" y="946205"/>
                <a:ext cx="3476503" cy="477078"/>
              </a:xfrm>
              <a:prstGeom prst="roundRect">
                <a:avLst/>
              </a:prstGeom>
              <a:noFill/>
              <a:ln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rgbClr val="0960E5"/>
                    </a:gs>
                  </a:gsLst>
                  <a:lin ang="2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85FB343-2901-1093-9EEE-EFE753008E8D}"/>
                </a:ext>
              </a:extLst>
            </p:cNvPr>
            <p:cNvSpPr txBox="1"/>
            <p:nvPr/>
          </p:nvSpPr>
          <p:spPr>
            <a:xfrm>
              <a:off x="4586478" y="1454891"/>
              <a:ext cx="222107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数据的探索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2B30236-1D2A-5D69-A33E-A347EA2F77B6}"/>
                </a:ext>
              </a:extLst>
            </p:cNvPr>
            <p:cNvSpPr txBox="1"/>
            <p:nvPr/>
          </p:nvSpPr>
          <p:spPr>
            <a:xfrm>
              <a:off x="3878717" y="1454891"/>
              <a:ext cx="54434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kern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03</a:t>
              </a:r>
              <a:endParaRPr lang="zh-CN" altLang="en-US" sz="2000" kern="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3D4BC9B9-5E68-22CF-6537-AB3E1973FED2}"/>
              </a:ext>
            </a:extLst>
          </p:cNvPr>
          <p:cNvGrpSpPr/>
          <p:nvPr/>
        </p:nvGrpSpPr>
        <p:grpSpPr>
          <a:xfrm>
            <a:off x="3839161" y="2606063"/>
            <a:ext cx="3583698" cy="477078"/>
            <a:chOff x="3883950" y="1420855"/>
            <a:chExt cx="3129099" cy="477078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EFCEAC4A-5324-2ECF-8182-15D3E83003C6}"/>
                </a:ext>
              </a:extLst>
            </p:cNvPr>
            <p:cNvGrpSpPr/>
            <p:nvPr/>
          </p:nvGrpSpPr>
          <p:grpSpPr>
            <a:xfrm>
              <a:off x="3948140" y="1420855"/>
              <a:ext cx="3064909" cy="477078"/>
              <a:chOff x="3164619" y="946205"/>
              <a:chExt cx="3476504" cy="477078"/>
            </a:xfrm>
          </p:grpSpPr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D79A14B1-EF8E-E238-C217-B06C96610010}"/>
                  </a:ext>
                </a:extLst>
              </p:cNvPr>
              <p:cNvSpPr/>
              <p:nvPr/>
            </p:nvSpPr>
            <p:spPr>
              <a:xfrm>
                <a:off x="3164619" y="946205"/>
                <a:ext cx="724062" cy="477078"/>
              </a:xfrm>
              <a:custGeom>
                <a:avLst/>
                <a:gdLst>
                  <a:gd name="connsiteX0" fmla="*/ 79515 w 724062"/>
                  <a:gd name="connsiteY0" fmla="*/ 0 h 477078"/>
                  <a:gd name="connsiteX1" fmla="*/ 724062 w 724062"/>
                  <a:gd name="connsiteY1" fmla="*/ 0 h 477078"/>
                  <a:gd name="connsiteX2" fmla="*/ 383122 w 724062"/>
                  <a:gd name="connsiteY2" fmla="*/ 477078 h 477078"/>
                  <a:gd name="connsiteX3" fmla="*/ 79515 w 724062"/>
                  <a:gd name="connsiteY3" fmla="*/ 477078 h 477078"/>
                  <a:gd name="connsiteX4" fmla="*/ 0 w 724062"/>
                  <a:gd name="connsiteY4" fmla="*/ 397563 h 477078"/>
                  <a:gd name="connsiteX5" fmla="*/ 0 w 724062"/>
                  <a:gd name="connsiteY5" fmla="*/ 79515 h 477078"/>
                  <a:gd name="connsiteX6" fmla="*/ 79515 w 724062"/>
                  <a:gd name="connsiteY6" fmla="*/ 0 h 47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4062" h="477078">
                    <a:moveTo>
                      <a:pt x="79515" y="0"/>
                    </a:moveTo>
                    <a:lnTo>
                      <a:pt x="724062" y="0"/>
                    </a:lnTo>
                    <a:lnTo>
                      <a:pt x="383122" y="477078"/>
                    </a:lnTo>
                    <a:lnTo>
                      <a:pt x="79515" y="477078"/>
                    </a:lnTo>
                    <a:cubicBezTo>
                      <a:pt x="35600" y="477078"/>
                      <a:pt x="0" y="441478"/>
                      <a:pt x="0" y="397563"/>
                    </a:cubicBezTo>
                    <a:lnTo>
                      <a:pt x="0" y="79515"/>
                    </a:lnTo>
                    <a:cubicBezTo>
                      <a:pt x="0" y="35600"/>
                      <a:pt x="35600" y="0"/>
                      <a:pt x="79515" y="0"/>
                    </a:cubicBez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9935A364-6A92-22C8-4795-2B24CA1C54F0}"/>
                  </a:ext>
                </a:extLst>
              </p:cNvPr>
              <p:cNvSpPr/>
              <p:nvPr/>
            </p:nvSpPr>
            <p:spPr>
              <a:xfrm>
                <a:off x="3164620" y="946205"/>
                <a:ext cx="3476503" cy="477078"/>
              </a:xfrm>
              <a:prstGeom prst="roundRect">
                <a:avLst/>
              </a:prstGeom>
              <a:noFill/>
              <a:ln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rgbClr val="0960E5"/>
                    </a:gs>
                  </a:gsLst>
                  <a:lin ang="2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40FA36C3-C3B5-11E3-16EE-F4D8B685C6E5}"/>
                </a:ext>
              </a:extLst>
            </p:cNvPr>
            <p:cNvSpPr txBox="1"/>
            <p:nvPr/>
          </p:nvSpPr>
          <p:spPr>
            <a:xfrm>
              <a:off x="4586478" y="1454891"/>
              <a:ext cx="222107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模型的建立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162E67E3-B717-0F44-B214-B82DF52C3F2E}"/>
                </a:ext>
              </a:extLst>
            </p:cNvPr>
            <p:cNvSpPr txBox="1"/>
            <p:nvPr/>
          </p:nvSpPr>
          <p:spPr>
            <a:xfrm>
              <a:off x="3883950" y="1454891"/>
              <a:ext cx="54434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kern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04</a:t>
              </a:r>
              <a:endParaRPr lang="zh-CN" altLang="en-US" sz="2000" kern="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endParaRPr>
            </a:p>
          </p:txBody>
        </p:sp>
      </p:grp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69DCB988-1A64-DE81-A92B-5AAD8C7F83EB}"/>
              </a:ext>
            </a:extLst>
          </p:cNvPr>
          <p:cNvSpPr/>
          <p:nvPr/>
        </p:nvSpPr>
        <p:spPr>
          <a:xfrm rot="19800000">
            <a:off x="8555600" y="-74332"/>
            <a:ext cx="810734" cy="1176438"/>
          </a:xfrm>
          <a:custGeom>
            <a:avLst/>
            <a:gdLst>
              <a:gd name="connsiteX0" fmla="*/ 282805 w 810734"/>
              <a:gd name="connsiteY0" fmla="*/ 1166568 h 1176438"/>
              <a:gd name="connsiteX1" fmla="*/ 277107 w 810734"/>
              <a:gd name="connsiteY1" fmla="*/ 1176438 h 1176438"/>
              <a:gd name="connsiteX2" fmla="*/ 265144 w 810734"/>
              <a:gd name="connsiteY2" fmla="*/ 1166568 h 1176438"/>
              <a:gd name="connsiteX3" fmla="*/ 370793 w 810734"/>
              <a:gd name="connsiteY3" fmla="*/ 1014168 h 1176438"/>
              <a:gd name="connsiteX4" fmla="*/ 309201 w 810734"/>
              <a:gd name="connsiteY4" fmla="*/ 1120849 h 1176438"/>
              <a:gd name="connsiteX5" fmla="*/ 209732 w 810734"/>
              <a:gd name="connsiteY5" fmla="*/ 1120849 h 1176438"/>
              <a:gd name="connsiteX6" fmla="*/ 200632 w 810734"/>
              <a:gd name="connsiteY6" fmla="*/ 1113341 h 1176438"/>
              <a:gd name="connsiteX7" fmla="*/ 118807 w 810734"/>
              <a:gd name="connsiteY7" fmla="*/ 1014168 h 1176438"/>
              <a:gd name="connsiteX8" fmla="*/ 458781 w 810734"/>
              <a:gd name="connsiteY8" fmla="*/ 861768 h 1176438"/>
              <a:gd name="connsiteX9" fmla="*/ 397189 w 810734"/>
              <a:gd name="connsiteY9" fmla="*/ 968449 h 1176438"/>
              <a:gd name="connsiteX10" fmla="*/ 93369 w 810734"/>
              <a:gd name="connsiteY10" fmla="*/ 968449 h 1176438"/>
              <a:gd name="connsiteX11" fmla="*/ 53831 w 810734"/>
              <a:gd name="connsiteY11" fmla="*/ 895606 h 1176438"/>
              <a:gd name="connsiteX12" fmla="*/ 43327 w 810734"/>
              <a:gd name="connsiteY12" fmla="*/ 861768 h 1176438"/>
              <a:gd name="connsiteX13" fmla="*/ 546769 w 810734"/>
              <a:gd name="connsiteY13" fmla="*/ 709368 h 1176438"/>
              <a:gd name="connsiteX14" fmla="*/ 485177 w 810734"/>
              <a:gd name="connsiteY14" fmla="*/ 816049 h 1176438"/>
              <a:gd name="connsiteX15" fmla="*/ 29135 w 810734"/>
              <a:gd name="connsiteY15" fmla="*/ 816049 h 1176438"/>
              <a:gd name="connsiteX16" fmla="*/ 13917 w 810734"/>
              <a:gd name="connsiteY16" fmla="*/ 767024 h 1176438"/>
              <a:gd name="connsiteX17" fmla="*/ 8105 w 810734"/>
              <a:gd name="connsiteY17" fmla="*/ 709368 h 1176438"/>
              <a:gd name="connsiteX18" fmla="*/ 634758 w 810734"/>
              <a:gd name="connsiteY18" fmla="*/ 556968 h 1176438"/>
              <a:gd name="connsiteX19" fmla="*/ 573165 w 810734"/>
              <a:gd name="connsiteY19" fmla="*/ 663649 h 1176438"/>
              <a:gd name="connsiteX20" fmla="*/ 3496 w 810734"/>
              <a:gd name="connsiteY20" fmla="*/ 663649 h 1176438"/>
              <a:gd name="connsiteX21" fmla="*/ 0 w 810734"/>
              <a:gd name="connsiteY21" fmla="*/ 628972 h 1176438"/>
              <a:gd name="connsiteX22" fmla="*/ 7259 w 810734"/>
              <a:gd name="connsiteY22" fmla="*/ 556968 h 1176438"/>
              <a:gd name="connsiteX23" fmla="*/ 722746 w 810734"/>
              <a:gd name="connsiteY23" fmla="*/ 404568 h 1176438"/>
              <a:gd name="connsiteX24" fmla="*/ 661153 w 810734"/>
              <a:gd name="connsiteY24" fmla="*/ 511249 h 1176438"/>
              <a:gd name="connsiteX25" fmla="*/ 11868 w 810734"/>
              <a:gd name="connsiteY25" fmla="*/ 511249 h 1176438"/>
              <a:gd name="connsiteX26" fmla="*/ 13917 w 810734"/>
              <a:gd name="connsiteY26" fmla="*/ 490920 h 1176438"/>
              <a:gd name="connsiteX27" fmla="*/ 40722 w 810734"/>
              <a:gd name="connsiteY27" fmla="*/ 404568 h 1176438"/>
              <a:gd name="connsiteX28" fmla="*/ 810734 w 810734"/>
              <a:gd name="connsiteY28" fmla="*/ 252168 h 1176438"/>
              <a:gd name="connsiteX29" fmla="*/ 749142 w 810734"/>
              <a:gd name="connsiteY29" fmla="*/ 358849 h 1176438"/>
              <a:gd name="connsiteX30" fmla="*/ 55725 w 810734"/>
              <a:gd name="connsiteY30" fmla="*/ 358849 h 1176438"/>
              <a:gd name="connsiteX31" fmla="*/ 113630 w 810734"/>
              <a:gd name="connsiteY31" fmla="*/ 252168 h 1176438"/>
              <a:gd name="connsiteX32" fmla="*/ 587121 w 810734"/>
              <a:gd name="connsiteY32" fmla="*/ 99768 h 1176438"/>
              <a:gd name="connsiteX33" fmla="*/ 771897 w 810734"/>
              <a:gd name="connsiteY33" fmla="*/ 206449 h 1176438"/>
              <a:gd name="connsiteX34" fmla="*/ 149605 w 810734"/>
              <a:gd name="connsiteY34" fmla="*/ 206449 h 1176438"/>
              <a:gd name="connsiteX35" fmla="*/ 200632 w 810734"/>
              <a:gd name="connsiteY35" fmla="*/ 144603 h 1176438"/>
              <a:gd name="connsiteX36" fmla="*/ 254973 w 810734"/>
              <a:gd name="connsiteY36" fmla="*/ 99768 h 1176438"/>
              <a:gd name="connsiteX37" fmla="*/ 414318 w 810734"/>
              <a:gd name="connsiteY37" fmla="*/ 0 h 1176438"/>
              <a:gd name="connsiteX38" fmla="*/ 507933 w 810734"/>
              <a:gd name="connsiteY38" fmla="*/ 54049 h 1176438"/>
              <a:gd name="connsiteX39" fmla="*/ 314740 w 810734"/>
              <a:gd name="connsiteY39" fmla="*/ 54049 h 1176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10734" h="1176438">
                <a:moveTo>
                  <a:pt x="282805" y="1166568"/>
                </a:moveTo>
                <a:lnTo>
                  <a:pt x="277107" y="1176438"/>
                </a:lnTo>
                <a:lnTo>
                  <a:pt x="265144" y="1166568"/>
                </a:lnTo>
                <a:close/>
                <a:moveTo>
                  <a:pt x="370793" y="1014168"/>
                </a:moveTo>
                <a:lnTo>
                  <a:pt x="309201" y="1120849"/>
                </a:lnTo>
                <a:lnTo>
                  <a:pt x="209732" y="1120849"/>
                </a:lnTo>
                <a:lnTo>
                  <a:pt x="200632" y="1113341"/>
                </a:lnTo>
                <a:lnTo>
                  <a:pt x="118807" y="1014168"/>
                </a:lnTo>
                <a:close/>
                <a:moveTo>
                  <a:pt x="458781" y="861768"/>
                </a:moveTo>
                <a:lnTo>
                  <a:pt x="397189" y="968449"/>
                </a:lnTo>
                <a:lnTo>
                  <a:pt x="93369" y="968449"/>
                </a:lnTo>
                <a:lnTo>
                  <a:pt x="53831" y="895606"/>
                </a:lnTo>
                <a:lnTo>
                  <a:pt x="43327" y="861768"/>
                </a:lnTo>
                <a:close/>
                <a:moveTo>
                  <a:pt x="546769" y="709368"/>
                </a:moveTo>
                <a:lnTo>
                  <a:pt x="485177" y="816049"/>
                </a:lnTo>
                <a:lnTo>
                  <a:pt x="29135" y="816049"/>
                </a:lnTo>
                <a:lnTo>
                  <a:pt x="13917" y="767024"/>
                </a:lnTo>
                <a:lnTo>
                  <a:pt x="8105" y="709368"/>
                </a:lnTo>
                <a:close/>
                <a:moveTo>
                  <a:pt x="634758" y="556968"/>
                </a:moveTo>
                <a:lnTo>
                  <a:pt x="573165" y="663649"/>
                </a:lnTo>
                <a:lnTo>
                  <a:pt x="3496" y="663649"/>
                </a:lnTo>
                <a:lnTo>
                  <a:pt x="0" y="628972"/>
                </a:lnTo>
                <a:lnTo>
                  <a:pt x="7259" y="556968"/>
                </a:lnTo>
                <a:close/>
                <a:moveTo>
                  <a:pt x="722746" y="404568"/>
                </a:moveTo>
                <a:lnTo>
                  <a:pt x="661153" y="511249"/>
                </a:lnTo>
                <a:lnTo>
                  <a:pt x="11868" y="511249"/>
                </a:lnTo>
                <a:lnTo>
                  <a:pt x="13917" y="490920"/>
                </a:lnTo>
                <a:lnTo>
                  <a:pt x="40722" y="404568"/>
                </a:lnTo>
                <a:close/>
                <a:moveTo>
                  <a:pt x="810734" y="252168"/>
                </a:moveTo>
                <a:lnTo>
                  <a:pt x="749142" y="358849"/>
                </a:lnTo>
                <a:lnTo>
                  <a:pt x="55725" y="358849"/>
                </a:lnTo>
                <a:lnTo>
                  <a:pt x="113630" y="252168"/>
                </a:lnTo>
                <a:close/>
                <a:moveTo>
                  <a:pt x="587121" y="99768"/>
                </a:moveTo>
                <a:lnTo>
                  <a:pt x="771897" y="206449"/>
                </a:lnTo>
                <a:lnTo>
                  <a:pt x="149605" y="206449"/>
                </a:lnTo>
                <a:lnTo>
                  <a:pt x="200632" y="144603"/>
                </a:lnTo>
                <a:lnTo>
                  <a:pt x="254973" y="99768"/>
                </a:lnTo>
                <a:close/>
                <a:moveTo>
                  <a:pt x="414318" y="0"/>
                </a:moveTo>
                <a:lnTo>
                  <a:pt x="507933" y="54049"/>
                </a:lnTo>
                <a:lnTo>
                  <a:pt x="314740" y="54049"/>
                </a:ln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689E33F1-3FCD-44EA-7277-370558ACE586}"/>
              </a:ext>
            </a:extLst>
          </p:cNvPr>
          <p:cNvSpPr/>
          <p:nvPr/>
        </p:nvSpPr>
        <p:spPr>
          <a:xfrm flipH="1">
            <a:off x="1" y="4004218"/>
            <a:ext cx="798719" cy="1141733"/>
          </a:xfrm>
          <a:custGeom>
            <a:avLst/>
            <a:gdLst>
              <a:gd name="connsiteX0" fmla="*/ 798719 w 798719"/>
              <a:gd name="connsiteY0" fmla="*/ 0 h 1141733"/>
              <a:gd name="connsiteX1" fmla="*/ 775333 w 798719"/>
              <a:gd name="connsiteY1" fmla="*/ 3569 h 1141733"/>
              <a:gd name="connsiteX2" fmla="*/ 0 w 798719"/>
              <a:gd name="connsiteY2" fmla="*/ 954870 h 1141733"/>
              <a:gd name="connsiteX3" fmla="*/ 18837 w 798719"/>
              <a:gd name="connsiteY3" fmla="*/ 1141733 h 1141733"/>
              <a:gd name="connsiteX4" fmla="*/ 523010 w 798719"/>
              <a:gd name="connsiteY4" fmla="*/ 1141733 h 1141733"/>
              <a:gd name="connsiteX5" fmla="*/ 495379 w 798719"/>
              <a:gd name="connsiteY5" fmla="*/ 1052719 h 1141733"/>
              <a:gd name="connsiteX6" fmla="*/ 485515 w 798719"/>
              <a:gd name="connsiteY6" fmla="*/ 954870 h 1141733"/>
              <a:gd name="connsiteX7" fmla="*/ 782045 w 798719"/>
              <a:gd name="connsiteY7" fmla="*/ 507509 h 1141733"/>
              <a:gd name="connsiteX8" fmla="*/ 798719 w 798719"/>
              <a:gd name="connsiteY8" fmla="*/ 502334 h 1141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8719" h="1141733">
                <a:moveTo>
                  <a:pt x="798719" y="0"/>
                </a:moveTo>
                <a:lnTo>
                  <a:pt x="775333" y="3569"/>
                </a:lnTo>
                <a:cubicBezTo>
                  <a:pt x="332851" y="94114"/>
                  <a:pt x="0" y="485621"/>
                  <a:pt x="0" y="954870"/>
                </a:cubicBezTo>
                <a:lnTo>
                  <a:pt x="18837" y="1141733"/>
                </a:lnTo>
                <a:lnTo>
                  <a:pt x="523010" y="1141733"/>
                </a:lnTo>
                <a:lnTo>
                  <a:pt x="495379" y="1052719"/>
                </a:lnTo>
                <a:cubicBezTo>
                  <a:pt x="488911" y="1021113"/>
                  <a:pt x="485515" y="988388"/>
                  <a:pt x="485515" y="954870"/>
                </a:cubicBezTo>
                <a:cubicBezTo>
                  <a:pt x="485515" y="753763"/>
                  <a:pt x="607787" y="581214"/>
                  <a:pt x="782045" y="507509"/>
                </a:cubicBezTo>
                <a:lnTo>
                  <a:pt x="798719" y="502334"/>
                </a:ln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59" name="任意多边形 7">
            <a:extLst>
              <a:ext uri="{FF2B5EF4-FFF2-40B4-BE49-F238E27FC236}">
                <a16:creationId xmlns:a16="http://schemas.microsoft.com/office/drawing/2014/main" id="{0B79E654-3DA2-15D3-AB24-78F3BBCB4DE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550979" y="1130178"/>
            <a:ext cx="702010" cy="3713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647" h="922">
                <a:moveTo>
                  <a:pt x="0" y="61"/>
                </a:moveTo>
                <a:cubicBezTo>
                  <a:pt x="0" y="27"/>
                  <a:pt x="26" y="0"/>
                  <a:pt x="58" y="0"/>
                </a:cubicBezTo>
                <a:cubicBezTo>
                  <a:pt x="89" y="0"/>
                  <a:pt x="115" y="27"/>
                  <a:pt x="115" y="61"/>
                </a:cubicBezTo>
                <a:cubicBezTo>
                  <a:pt x="115" y="94"/>
                  <a:pt x="89" y="121"/>
                  <a:pt x="58" y="121"/>
                </a:cubicBezTo>
                <a:cubicBezTo>
                  <a:pt x="26" y="121"/>
                  <a:pt x="0" y="94"/>
                  <a:pt x="0" y="61"/>
                </a:cubicBezTo>
                <a:close/>
                <a:moveTo>
                  <a:pt x="383" y="61"/>
                </a:moveTo>
                <a:cubicBezTo>
                  <a:pt x="383" y="27"/>
                  <a:pt x="409" y="0"/>
                  <a:pt x="441" y="0"/>
                </a:cubicBezTo>
                <a:cubicBezTo>
                  <a:pt x="472" y="0"/>
                  <a:pt x="498" y="27"/>
                  <a:pt x="498" y="61"/>
                </a:cubicBezTo>
                <a:cubicBezTo>
                  <a:pt x="498" y="94"/>
                  <a:pt x="472" y="121"/>
                  <a:pt x="441" y="121"/>
                </a:cubicBezTo>
                <a:cubicBezTo>
                  <a:pt x="409" y="121"/>
                  <a:pt x="383" y="94"/>
                  <a:pt x="383" y="61"/>
                </a:cubicBezTo>
                <a:close/>
                <a:moveTo>
                  <a:pt x="766" y="61"/>
                </a:moveTo>
                <a:cubicBezTo>
                  <a:pt x="766" y="27"/>
                  <a:pt x="792" y="0"/>
                  <a:pt x="824" y="0"/>
                </a:cubicBezTo>
                <a:cubicBezTo>
                  <a:pt x="855" y="0"/>
                  <a:pt x="881" y="27"/>
                  <a:pt x="881" y="61"/>
                </a:cubicBezTo>
                <a:cubicBezTo>
                  <a:pt x="881" y="94"/>
                  <a:pt x="855" y="121"/>
                  <a:pt x="824" y="121"/>
                </a:cubicBezTo>
                <a:cubicBezTo>
                  <a:pt x="792" y="121"/>
                  <a:pt x="766" y="94"/>
                  <a:pt x="766" y="61"/>
                </a:cubicBezTo>
                <a:close/>
                <a:moveTo>
                  <a:pt x="1149" y="61"/>
                </a:moveTo>
                <a:cubicBezTo>
                  <a:pt x="1149" y="27"/>
                  <a:pt x="1175" y="0"/>
                  <a:pt x="1207" y="0"/>
                </a:cubicBezTo>
                <a:cubicBezTo>
                  <a:pt x="1238" y="0"/>
                  <a:pt x="1264" y="27"/>
                  <a:pt x="1264" y="61"/>
                </a:cubicBezTo>
                <a:cubicBezTo>
                  <a:pt x="1264" y="94"/>
                  <a:pt x="1238" y="121"/>
                  <a:pt x="1207" y="121"/>
                </a:cubicBezTo>
                <a:cubicBezTo>
                  <a:pt x="1175" y="121"/>
                  <a:pt x="1149" y="94"/>
                  <a:pt x="1149" y="61"/>
                </a:cubicBezTo>
                <a:close/>
                <a:moveTo>
                  <a:pt x="1532" y="61"/>
                </a:moveTo>
                <a:cubicBezTo>
                  <a:pt x="1532" y="27"/>
                  <a:pt x="1558" y="0"/>
                  <a:pt x="1590" y="0"/>
                </a:cubicBezTo>
                <a:cubicBezTo>
                  <a:pt x="1621" y="0"/>
                  <a:pt x="1647" y="27"/>
                  <a:pt x="1647" y="61"/>
                </a:cubicBezTo>
                <a:cubicBezTo>
                  <a:pt x="1647" y="94"/>
                  <a:pt x="1621" y="121"/>
                  <a:pt x="1590" y="121"/>
                </a:cubicBezTo>
                <a:cubicBezTo>
                  <a:pt x="1558" y="121"/>
                  <a:pt x="1532" y="94"/>
                  <a:pt x="1532" y="61"/>
                </a:cubicBezTo>
                <a:close/>
                <a:moveTo>
                  <a:pt x="0" y="328"/>
                </a:moveTo>
                <a:cubicBezTo>
                  <a:pt x="0" y="294"/>
                  <a:pt x="26" y="267"/>
                  <a:pt x="58" y="267"/>
                </a:cubicBezTo>
                <a:cubicBezTo>
                  <a:pt x="89" y="267"/>
                  <a:pt x="115" y="294"/>
                  <a:pt x="115" y="328"/>
                </a:cubicBezTo>
                <a:cubicBezTo>
                  <a:pt x="115" y="361"/>
                  <a:pt x="89" y="388"/>
                  <a:pt x="58" y="388"/>
                </a:cubicBezTo>
                <a:cubicBezTo>
                  <a:pt x="26" y="388"/>
                  <a:pt x="0" y="361"/>
                  <a:pt x="0" y="328"/>
                </a:cubicBezTo>
                <a:close/>
                <a:moveTo>
                  <a:pt x="383" y="328"/>
                </a:moveTo>
                <a:cubicBezTo>
                  <a:pt x="383" y="294"/>
                  <a:pt x="409" y="267"/>
                  <a:pt x="441" y="267"/>
                </a:cubicBezTo>
                <a:cubicBezTo>
                  <a:pt x="472" y="267"/>
                  <a:pt x="498" y="294"/>
                  <a:pt x="498" y="328"/>
                </a:cubicBezTo>
                <a:cubicBezTo>
                  <a:pt x="498" y="361"/>
                  <a:pt x="472" y="388"/>
                  <a:pt x="441" y="388"/>
                </a:cubicBezTo>
                <a:cubicBezTo>
                  <a:pt x="409" y="388"/>
                  <a:pt x="383" y="361"/>
                  <a:pt x="383" y="328"/>
                </a:cubicBezTo>
                <a:close/>
                <a:moveTo>
                  <a:pt x="766" y="328"/>
                </a:moveTo>
                <a:cubicBezTo>
                  <a:pt x="766" y="294"/>
                  <a:pt x="792" y="267"/>
                  <a:pt x="824" y="267"/>
                </a:cubicBezTo>
                <a:cubicBezTo>
                  <a:pt x="855" y="267"/>
                  <a:pt x="881" y="294"/>
                  <a:pt x="881" y="328"/>
                </a:cubicBezTo>
                <a:cubicBezTo>
                  <a:pt x="881" y="361"/>
                  <a:pt x="855" y="388"/>
                  <a:pt x="824" y="388"/>
                </a:cubicBezTo>
                <a:cubicBezTo>
                  <a:pt x="792" y="388"/>
                  <a:pt x="766" y="361"/>
                  <a:pt x="766" y="328"/>
                </a:cubicBezTo>
                <a:close/>
                <a:moveTo>
                  <a:pt x="1149" y="328"/>
                </a:moveTo>
                <a:cubicBezTo>
                  <a:pt x="1149" y="294"/>
                  <a:pt x="1175" y="267"/>
                  <a:pt x="1207" y="267"/>
                </a:cubicBezTo>
                <a:cubicBezTo>
                  <a:pt x="1238" y="267"/>
                  <a:pt x="1264" y="294"/>
                  <a:pt x="1264" y="328"/>
                </a:cubicBezTo>
                <a:cubicBezTo>
                  <a:pt x="1264" y="361"/>
                  <a:pt x="1238" y="388"/>
                  <a:pt x="1207" y="388"/>
                </a:cubicBezTo>
                <a:cubicBezTo>
                  <a:pt x="1175" y="388"/>
                  <a:pt x="1149" y="361"/>
                  <a:pt x="1149" y="328"/>
                </a:cubicBezTo>
                <a:close/>
                <a:moveTo>
                  <a:pt x="1532" y="328"/>
                </a:moveTo>
                <a:cubicBezTo>
                  <a:pt x="1532" y="294"/>
                  <a:pt x="1558" y="267"/>
                  <a:pt x="1590" y="267"/>
                </a:cubicBezTo>
                <a:cubicBezTo>
                  <a:pt x="1621" y="267"/>
                  <a:pt x="1647" y="294"/>
                  <a:pt x="1647" y="328"/>
                </a:cubicBezTo>
                <a:cubicBezTo>
                  <a:pt x="1647" y="361"/>
                  <a:pt x="1621" y="388"/>
                  <a:pt x="1590" y="388"/>
                </a:cubicBezTo>
                <a:cubicBezTo>
                  <a:pt x="1558" y="388"/>
                  <a:pt x="1532" y="361"/>
                  <a:pt x="1532" y="328"/>
                </a:cubicBezTo>
                <a:close/>
                <a:moveTo>
                  <a:pt x="0" y="595"/>
                </a:moveTo>
                <a:cubicBezTo>
                  <a:pt x="0" y="561"/>
                  <a:pt x="26" y="534"/>
                  <a:pt x="58" y="534"/>
                </a:cubicBezTo>
                <a:cubicBezTo>
                  <a:pt x="89" y="534"/>
                  <a:pt x="115" y="561"/>
                  <a:pt x="115" y="595"/>
                </a:cubicBezTo>
                <a:cubicBezTo>
                  <a:pt x="115" y="628"/>
                  <a:pt x="89" y="655"/>
                  <a:pt x="58" y="655"/>
                </a:cubicBezTo>
                <a:cubicBezTo>
                  <a:pt x="26" y="655"/>
                  <a:pt x="0" y="628"/>
                  <a:pt x="0" y="595"/>
                </a:cubicBezTo>
                <a:close/>
                <a:moveTo>
                  <a:pt x="383" y="595"/>
                </a:moveTo>
                <a:cubicBezTo>
                  <a:pt x="383" y="561"/>
                  <a:pt x="409" y="534"/>
                  <a:pt x="441" y="534"/>
                </a:cubicBezTo>
                <a:cubicBezTo>
                  <a:pt x="472" y="534"/>
                  <a:pt x="498" y="561"/>
                  <a:pt x="498" y="595"/>
                </a:cubicBezTo>
                <a:cubicBezTo>
                  <a:pt x="498" y="628"/>
                  <a:pt x="472" y="655"/>
                  <a:pt x="441" y="655"/>
                </a:cubicBezTo>
                <a:cubicBezTo>
                  <a:pt x="409" y="655"/>
                  <a:pt x="383" y="628"/>
                  <a:pt x="383" y="595"/>
                </a:cubicBezTo>
                <a:close/>
                <a:moveTo>
                  <a:pt x="766" y="595"/>
                </a:moveTo>
                <a:cubicBezTo>
                  <a:pt x="766" y="561"/>
                  <a:pt x="792" y="534"/>
                  <a:pt x="824" y="534"/>
                </a:cubicBezTo>
                <a:cubicBezTo>
                  <a:pt x="855" y="534"/>
                  <a:pt x="881" y="561"/>
                  <a:pt x="881" y="595"/>
                </a:cubicBezTo>
                <a:cubicBezTo>
                  <a:pt x="881" y="628"/>
                  <a:pt x="855" y="655"/>
                  <a:pt x="824" y="655"/>
                </a:cubicBezTo>
                <a:cubicBezTo>
                  <a:pt x="792" y="655"/>
                  <a:pt x="766" y="628"/>
                  <a:pt x="766" y="595"/>
                </a:cubicBezTo>
                <a:close/>
                <a:moveTo>
                  <a:pt x="1149" y="595"/>
                </a:moveTo>
                <a:cubicBezTo>
                  <a:pt x="1149" y="561"/>
                  <a:pt x="1175" y="534"/>
                  <a:pt x="1207" y="534"/>
                </a:cubicBezTo>
                <a:cubicBezTo>
                  <a:pt x="1238" y="534"/>
                  <a:pt x="1264" y="561"/>
                  <a:pt x="1264" y="595"/>
                </a:cubicBezTo>
                <a:cubicBezTo>
                  <a:pt x="1264" y="628"/>
                  <a:pt x="1238" y="655"/>
                  <a:pt x="1207" y="655"/>
                </a:cubicBezTo>
                <a:cubicBezTo>
                  <a:pt x="1175" y="655"/>
                  <a:pt x="1149" y="628"/>
                  <a:pt x="1149" y="595"/>
                </a:cubicBezTo>
                <a:close/>
                <a:moveTo>
                  <a:pt x="1532" y="595"/>
                </a:moveTo>
                <a:cubicBezTo>
                  <a:pt x="1532" y="561"/>
                  <a:pt x="1558" y="534"/>
                  <a:pt x="1590" y="534"/>
                </a:cubicBezTo>
                <a:cubicBezTo>
                  <a:pt x="1621" y="534"/>
                  <a:pt x="1647" y="561"/>
                  <a:pt x="1647" y="595"/>
                </a:cubicBezTo>
                <a:cubicBezTo>
                  <a:pt x="1647" y="628"/>
                  <a:pt x="1621" y="655"/>
                  <a:pt x="1590" y="655"/>
                </a:cubicBezTo>
                <a:cubicBezTo>
                  <a:pt x="1558" y="655"/>
                  <a:pt x="1532" y="628"/>
                  <a:pt x="1532" y="595"/>
                </a:cubicBezTo>
                <a:close/>
                <a:moveTo>
                  <a:pt x="0" y="862"/>
                </a:moveTo>
                <a:cubicBezTo>
                  <a:pt x="0" y="828"/>
                  <a:pt x="26" y="801"/>
                  <a:pt x="58" y="801"/>
                </a:cubicBezTo>
                <a:cubicBezTo>
                  <a:pt x="89" y="801"/>
                  <a:pt x="115" y="828"/>
                  <a:pt x="115" y="862"/>
                </a:cubicBezTo>
                <a:cubicBezTo>
                  <a:pt x="115" y="895"/>
                  <a:pt x="89" y="922"/>
                  <a:pt x="58" y="922"/>
                </a:cubicBezTo>
                <a:cubicBezTo>
                  <a:pt x="26" y="922"/>
                  <a:pt x="0" y="895"/>
                  <a:pt x="0" y="862"/>
                </a:cubicBezTo>
                <a:close/>
                <a:moveTo>
                  <a:pt x="383" y="862"/>
                </a:moveTo>
                <a:cubicBezTo>
                  <a:pt x="383" y="828"/>
                  <a:pt x="409" y="801"/>
                  <a:pt x="441" y="801"/>
                </a:cubicBezTo>
                <a:cubicBezTo>
                  <a:pt x="472" y="801"/>
                  <a:pt x="498" y="828"/>
                  <a:pt x="498" y="862"/>
                </a:cubicBezTo>
                <a:cubicBezTo>
                  <a:pt x="498" y="895"/>
                  <a:pt x="472" y="922"/>
                  <a:pt x="441" y="922"/>
                </a:cubicBezTo>
                <a:cubicBezTo>
                  <a:pt x="409" y="922"/>
                  <a:pt x="383" y="895"/>
                  <a:pt x="383" y="862"/>
                </a:cubicBezTo>
                <a:close/>
                <a:moveTo>
                  <a:pt x="766" y="862"/>
                </a:moveTo>
                <a:cubicBezTo>
                  <a:pt x="766" y="828"/>
                  <a:pt x="792" y="801"/>
                  <a:pt x="824" y="801"/>
                </a:cubicBezTo>
                <a:cubicBezTo>
                  <a:pt x="855" y="801"/>
                  <a:pt x="881" y="828"/>
                  <a:pt x="881" y="862"/>
                </a:cubicBezTo>
                <a:cubicBezTo>
                  <a:pt x="881" y="895"/>
                  <a:pt x="855" y="922"/>
                  <a:pt x="824" y="922"/>
                </a:cubicBezTo>
                <a:cubicBezTo>
                  <a:pt x="792" y="922"/>
                  <a:pt x="766" y="895"/>
                  <a:pt x="766" y="862"/>
                </a:cubicBezTo>
                <a:close/>
                <a:moveTo>
                  <a:pt x="1149" y="862"/>
                </a:moveTo>
                <a:cubicBezTo>
                  <a:pt x="1149" y="828"/>
                  <a:pt x="1175" y="801"/>
                  <a:pt x="1207" y="801"/>
                </a:cubicBezTo>
                <a:cubicBezTo>
                  <a:pt x="1238" y="801"/>
                  <a:pt x="1264" y="828"/>
                  <a:pt x="1264" y="862"/>
                </a:cubicBezTo>
                <a:cubicBezTo>
                  <a:pt x="1264" y="895"/>
                  <a:pt x="1238" y="922"/>
                  <a:pt x="1207" y="922"/>
                </a:cubicBezTo>
                <a:cubicBezTo>
                  <a:pt x="1175" y="922"/>
                  <a:pt x="1149" y="895"/>
                  <a:pt x="1149" y="862"/>
                </a:cubicBezTo>
                <a:close/>
                <a:moveTo>
                  <a:pt x="1532" y="862"/>
                </a:moveTo>
                <a:cubicBezTo>
                  <a:pt x="1532" y="828"/>
                  <a:pt x="1558" y="801"/>
                  <a:pt x="1590" y="801"/>
                </a:cubicBezTo>
                <a:cubicBezTo>
                  <a:pt x="1621" y="801"/>
                  <a:pt x="1647" y="828"/>
                  <a:pt x="1647" y="862"/>
                </a:cubicBezTo>
                <a:cubicBezTo>
                  <a:pt x="1647" y="895"/>
                  <a:pt x="1621" y="922"/>
                  <a:pt x="1590" y="922"/>
                </a:cubicBezTo>
                <a:cubicBezTo>
                  <a:pt x="1558" y="922"/>
                  <a:pt x="1532" y="895"/>
                  <a:pt x="1532" y="862"/>
                </a:cubicBez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宋体 CN Light" panose="02020300000000000000" pitchFamily="18" charset="-122"/>
              <a:ea typeface="思源宋体 CN Light" panose="02020300000000000000" pitchFamily="18" charset="-122"/>
              <a:cs typeface="思源黑体 CN Light" panose="020B0300000000000000" charset="-122"/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15F793E-07FA-D3BF-D7DE-3FC4ECB5BD75}"/>
              </a:ext>
            </a:extLst>
          </p:cNvPr>
          <p:cNvSpPr/>
          <p:nvPr/>
        </p:nvSpPr>
        <p:spPr>
          <a:xfrm rot="19800000">
            <a:off x="2934087" y="4281094"/>
            <a:ext cx="587982" cy="587982"/>
          </a:xfrm>
          <a:custGeom>
            <a:avLst/>
            <a:gdLst>
              <a:gd name="connsiteX0" fmla="*/ 265144 w 1370002"/>
              <a:gd name="connsiteY0" fmla="*/ 1222597 h 1370002"/>
              <a:gd name="connsiteX1" fmla="*/ 1104858 w 1370002"/>
              <a:gd name="connsiteY1" fmla="*/ 1222597 h 1370002"/>
              <a:gd name="connsiteX2" fmla="*/ 1067992 w 1370002"/>
              <a:gd name="connsiteY2" fmla="*/ 1253015 h 1370002"/>
              <a:gd name="connsiteX3" fmla="*/ 685001 w 1370002"/>
              <a:gd name="connsiteY3" fmla="*/ 1370002 h 1370002"/>
              <a:gd name="connsiteX4" fmla="*/ 302011 w 1370002"/>
              <a:gd name="connsiteY4" fmla="*/ 1253015 h 1370002"/>
              <a:gd name="connsiteX5" fmla="*/ 118807 w 1370002"/>
              <a:gd name="connsiteY5" fmla="*/ 1070197 h 1370002"/>
              <a:gd name="connsiteX6" fmla="*/ 1251195 w 1370002"/>
              <a:gd name="connsiteY6" fmla="*/ 1070197 h 1370002"/>
              <a:gd name="connsiteX7" fmla="*/ 1169370 w 1370002"/>
              <a:gd name="connsiteY7" fmla="*/ 1169370 h 1370002"/>
              <a:gd name="connsiteX8" fmla="*/ 1160270 w 1370002"/>
              <a:gd name="connsiteY8" fmla="*/ 1176878 h 1370002"/>
              <a:gd name="connsiteX9" fmla="*/ 209732 w 1370002"/>
              <a:gd name="connsiteY9" fmla="*/ 1176878 h 1370002"/>
              <a:gd name="connsiteX10" fmla="*/ 200632 w 1370002"/>
              <a:gd name="connsiteY10" fmla="*/ 1169370 h 1370002"/>
              <a:gd name="connsiteX11" fmla="*/ 43327 w 1370002"/>
              <a:gd name="connsiteY11" fmla="*/ 917797 h 1370002"/>
              <a:gd name="connsiteX12" fmla="*/ 1326675 w 1370002"/>
              <a:gd name="connsiteY12" fmla="*/ 917797 h 1370002"/>
              <a:gd name="connsiteX13" fmla="*/ 1316171 w 1370002"/>
              <a:gd name="connsiteY13" fmla="*/ 951635 h 1370002"/>
              <a:gd name="connsiteX14" fmla="*/ 1276633 w 1370002"/>
              <a:gd name="connsiteY14" fmla="*/ 1024478 h 1370002"/>
              <a:gd name="connsiteX15" fmla="*/ 93369 w 1370002"/>
              <a:gd name="connsiteY15" fmla="*/ 1024478 h 1370002"/>
              <a:gd name="connsiteX16" fmla="*/ 53831 w 1370002"/>
              <a:gd name="connsiteY16" fmla="*/ 951635 h 1370002"/>
              <a:gd name="connsiteX17" fmla="*/ 8105 w 1370002"/>
              <a:gd name="connsiteY17" fmla="*/ 765397 h 1370002"/>
              <a:gd name="connsiteX18" fmla="*/ 1361897 w 1370002"/>
              <a:gd name="connsiteY18" fmla="*/ 765397 h 1370002"/>
              <a:gd name="connsiteX19" fmla="*/ 1356085 w 1370002"/>
              <a:gd name="connsiteY19" fmla="*/ 823053 h 1370002"/>
              <a:gd name="connsiteX20" fmla="*/ 1340867 w 1370002"/>
              <a:gd name="connsiteY20" fmla="*/ 872078 h 1370002"/>
              <a:gd name="connsiteX21" fmla="*/ 29135 w 1370002"/>
              <a:gd name="connsiteY21" fmla="*/ 872078 h 1370002"/>
              <a:gd name="connsiteX22" fmla="*/ 13917 w 1370002"/>
              <a:gd name="connsiteY22" fmla="*/ 823053 h 1370002"/>
              <a:gd name="connsiteX23" fmla="*/ 7259 w 1370002"/>
              <a:gd name="connsiteY23" fmla="*/ 612997 h 1370002"/>
              <a:gd name="connsiteX24" fmla="*/ 1362743 w 1370002"/>
              <a:gd name="connsiteY24" fmla="*/ 612997 h 1370002"/>
              <a:gd name="connsiteX25" fmla="*/ 1370002 w 1370002"/>
              <a:gd name="connsiteY25" fmla="*/ 685001 h 1370002"/>
              <a:gd name="connsiteX26" fmla="*/ 1366506 w 1370002"/>
              <a:gd name="connsiteY26" fmla="*/ 719678 h 1370002"/>
              <a:gd name="connsiteX27" fmla="*/ 3496 w 1370002"/>
              <a:gd name="connsiteY27" fmla="*/ 719678 h 1370002"/>
              <a:gd name="connsiteX28" fmla="*/ 0 w 1370002"/>
              <a:gd name="connsiteY28" fmla="*/ 685001 h 1370002"/>
              <a:gd name="connsiteX29" fmla="*/ 40722 w 1370002"/>
              <a:gd name="connsiteY29" fmla="*/ 460597 h 1370002"/>
              <a:gd name="connsiteX30" fmla="*/ 1329280 w 1370002"/>
              <a:gd name="connsiteY30" fmla="*/ 460597 h 1370002"/>
              <a:gd name="connsiteX31" fmla="*/ 1356085 w 1370002"/>
              <a:gd name="connsiteY31" fmla="*/ 546949 h 1370002"/>
              <a:gd name="connsiteX32" fmla="*/ 1358135 w 1370002"/>
              <a:gd name="connsiteY32" fmla="*/ 567278 h 1370002"/>
              <a:gd name="connsiteX33" fmla="*/ 11868 w 1370002"/>
              <a:gd name="connsiteY33" fmla="*/ 567278 h 1370002"/>
              <a:gd name="connsiteX34" fmla="*/ 13917 w 1370002"/>
              <a:gd name="connsiteY34" fmla="*/ 546949 h 1370002"/>
              <a:gd name="connsiteX35" fmla="*/ 113630 w 1370002"/>
              <a:gd name="connsiteY35" fmla="*/ 308197 h 1370002"/>
              <a:gd name="connsiteX36" fmla="*/ 1256373 w 1370002"/>
              <a:gd name="connsiteY36" fmla="*/ 308197 h 1370002"/>
              <a:gd name="connsiteX37" fmla="*/ 1314277 w 1370002"/>
              <a:gd name="connsiteY37" fmla="*/ 414878 h 1370002"/>
              <a:gd name="connsiteX38" fmla="*/ 55725 w 1370002"/>
              <a:gd name="connsiteY38" fmla="*/ 414878 h 1370002"/>
              <a:gd name="connsiteX39" fmla="*/ 254973 w 1370002"/>
              <a:gd name="connsiteY39" fmla="*/ 155797 h 1370002"/>
              <a:gd name="connsiteX40" fmla="*/ 1115030 w 1370002"/>
              <a:gd name="connsiteY40" fmla="*/ 155797 h 1370002"/>
              <a:gd name="connsiteX41" fmla="*/ 1169370 w 1370002"/>
              <a:gd name="connsiteY41" fmla="*/ 200632 h 1370002"/>
              <a:gd name="connsiteX42" fmla="*/ 1220398 w 1370002"/>
              <a:gd name="connsiteY42" fmla="*/ 262478 h 1370002"/>
              <a:gd name="connsiteX43" fmla="*/ 149605 w 1370002"/>
              <a:gd name="connsiteY43" fmla="*/ 262478 h 1370002"/>
              <a:gd name="connsiteX44" fmla="*/ 200632 w 1370002"/>
              <a:gd name="connsiteY44" fmla="*/ 200632 h 1370002"/>
              <a:gd name="connsiteX45" fmla="*/ 685001 w 1370002"/>
              <a:gd name="connsiteY45" fmla="*/ 0 h 1370002"/>
              <a:gd name="connsiteX46" fmla="*/ 951635 w 1370002"/>
              <a:gd name="connsiteY46" fmla="*/ 53831 h 1370002"/>
              <a:gd name="connsiteX47" fmla="*/ 1055263 w 1370002"/>
              <a:gd name="connsiteY47" fmla="*/ 110078 h 1370002"/>
              <a:gd name="connsiteX48" fmla="*/ 314740 w 1370002"/>
              <a:gd name="connsiteY48" fmla="*/ 110078 h 1370002"/>
              <a:gd name="connsiteX49" fmla="*/ 418368 w 1370002"/>
              <a:gd name="connsiteY49" fmla="*/ 53831 h 1370002"/>
              <a:gd name="connsiteX50" fmla="*/ 685001 w 1370002"/>
              <a:gd name="connsiteY50" fmla="*/ 0 h 137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370002" h="1370002">
                <a:moveTo>
                  <a:pt x="265144" y="1222597"/>
                </a:moveTo>
                <a:lnTo>
                  <a:pt x="1104858" y="1222597"/>
                </a:lnTo>
                <a:lnTo>
                  <a:pt x="1067992" y="1253015"/>
                </a:lnTo>
                <a:cubicBezTo>
                  <a:pt x="958665" y="1326874"/>
                  <a:pt x="826870" y="1370002"/>
                  <a:pt x="685001" y="1370002"/>
                </a:cubicBezTo>
                <a:cubicBezTo>
                  <a:pt x="543133" y="1370002"/>
                  <a:pt x="411337" y="1326874"/>
                  <a:pt x="302011" y="1253015"/>
                </a:cubicBezTo>
                <a:close/>
                <a:moveTo>
                  <a:pt x="118807" y="1070197"/>
                </a:moveTo>
                <a:lnTo>
                  <a:pt x="1251195" y="1070197"/>
                </a:lnTo>
                <a:lnTo>
                  <a:pt x="1169370" y="1169370"/>
                </a:lnTo>
                <a:lnTo>
                  <a:pt x="1160270" y="1176878"/>
                </a:lnTo>
                <a:lnTo>
                  <a:pt x="209732" y="1176878"/>
                </a:lnTo>
                <a:lnTo>
                  <a:pt x="200632" y="1169370"/>
                </a:lnTo>
                <a:close/>
                <a:moveTo>
                  <a:pt x="43327" y="917797"/>
                </a:moveTo>
                <a:lnTo>
                  <a:pt x="1326675" y="917797"/>
                </a:lnTo>
                <a:lnTo>
                  <a:pt x="1316171" y="951635"/>
                </a:lnTo>
                <a:lnTo>
                  <a:pt x="1276633" y="1024478"/>
                </a:lnTo>
                <a:lnTo>
                  <a:pt x="93369" y="1024478"/>
                </a:lnTo>
                <a:lnTo>
                  <a:pt x="53831" y="951635"/>
                </a:lnTo>
                <a:close/>
                <a:moveTo>
                  <a:pt x="8105" y="765397"/>
                </a:moveTo>
                <a:lnTo>
                  <a:pt x="1361897" y="765397"/>
                </a:lnTo>
                <a:lnTo>
                  <a:pt x="1356085" y="823053"/>
                </a:lnTo>
                <a:lnTo>
                  <a:pt x="1340867" y="872078"/>
                </a:lnTo>
                <a:lnTo>
                  <a:pt x="29135" y="872078"/>
                </a:lnTo>
                <a:lnTo>
                  <a:pt x="13917" y="823053"/>
                </a:lnTo>
                <a:close/>
                <a:moveTo>
                  <a:pt x="7259" y="612997"/>
                </a:moveTo>
                <a:lnTo>
                  <a:pt x="1362743" y="612997"/>
                </a:lnTo>
                <a:lnTo>
                  <a:pt x="1370002" y="685001"/>
                </a:lnTo>
                <a:lnTo>
                  <a:pt x="1366506" y="719678"/>
                </a:lnTo>
                <a:lnTo>
                  <a:pt x="3496" y="719678"/>
                </a:lnTo>
                <a:lnTo>
                  <a:pt x="0" y="685001"/>
                </a:lnTo>
                <a:close/>
                <a:moveTo>
                  <a:pt x="40722" y="460597"/>
                </a:moveTo>
                <a:lnTo>
                  <a:pt x="1329280" y="460597"/>
                </a:lnTo>
                <a:lnTo>
                  <a:pt x="1356085" y="546949"/>
                </a:lnTo>
                <a:lnTo>
                  <a:pt x="1358135" y="567278"/>
                </a:lnTo>
                <a:lnTo>
                  <a:pt x="11868" y="567278"/>
                </a:lnTo>
                <a:lnTo>
                  <a:pt x="13917" y="546949"/>
                </a:lnTo>
                <a:close/>
                <a:moveTo>
                  <a:pt x="113630" y="308197"/>
                </a:moveTo>
                <a:lnTo>
                  <a:pt x="1256373" y="308197"/>
                </a:lnTo>
                <a:lnTo>
                  <a:pt x="1314277" y="414878"/>
                </a:lnTo>
                <a:lnTo>
                  <a:pt x="55725" y="414878"/>
                </a:lnTo>
                <a:close/>
                <a:moveTo>
                  <a:pt x="254973" y="155797"/>
                </a:moveTo>
                <a:lnTo>
                  <a:pt x="1115030" y="155797"/>
                </a:lnTo>
                <a:lnTo>
                  <a:pt x="1169370" y="200632"/>
                </a:lnTo>
                <a:lnTo>
                  <a:pt x="1220398" y="262478"/>
                </a:lnTo>
                <a:lnTo>
                  <a:pt x="149605" y="262478"/>
                </a:lnTo>
                <a:lnTo>
                  <a:pt x="200632" y="200632"/>
                </a:lnTo>
                <a:close/>
                <a:moveTo>
                  <a:pt x="685001" y="0"/>
                </a:moveTo>
                <a:cubicBezTo>
                  <a:pt x="779580" y="0"/>
                  <a:pt x="869682" y="19168"/>
                  <a:pt x="951635" y="53831"/>
                </a:cubicBezTo>
                <a:lnTo>
                  <a:pt x="1055263" y="110078"/>
                </a:lnTo>
                <a:lnTo>
                  <a:pt x="314740" y="110078"/>
                </a:lnTo>
                <a:lnTo>
                  <a:pt x="418368" y="53831"/>
                </a:lnTo>
                <a:cubicBezTo>
                  <a:pt x="500320" y="19168"/>
                  <a:pt x="590422" y="0"/>
                  <a:pt x="685001" y="0"/>
                </a:cubicBez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E6448BFC-80E3-144F-9F2A-54FF524B1705}"/>
              </a:ext>
            </a:extLst>
          </p:cNvPr>
          <p:cNvSpPr txBox="1"/>
          <p:nvPr/>
        </p:nvSpPr>
        <p:spPr>
          <a:xfrm>
            <a:off x="-5819" y="11896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C75AA4B-46CD-9542-49D4-62BA196FEA61}"/>
              </a:ext>
            </a:extLst>
          </p:cNvPr>
          <p:cNvGrpSpPr/>
          <p:nvPr/>
        </p:nvGrpSpPr>
        <p:grpSpPr>
          <a:xfrm>
            <a:off x="3833172" y="3438251"/>
            <a:ext cx="3589695" cy="477078"/>
            <a:chOff x="3878717" y="1420855"/>
            <a:chExt cx="3134332" cy="477078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2F6F2174-B3B1-6B10-D680-EA7AADA19656}"/>
                </a:ext>
              </a:extLst>
            </p:cNvPr>
            <p:cNvGrpSpPr/>
            <p:nvPr/>
          </p:nvGrpSpPr>
          <p:grpSpPr>
            <a:xfrm>
              <a:off x="3948140" y="1420855"/>
              <a:ext cx="3064909" cy="477078"/>
              <a:chOff x="3164619" y="946205"/>
              <a:chExt cx="3476504" cy="477078"/>
            </a:xfrm>
          </p:grpSpPr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9B01C533-CE0B-B5D1-F016-295064F5ADB8}"/>
                  </a:ext>
                </a:extLst>
              </p:cNvPr>
              <p:cNvSpPr/>
              <p:nvPr/>
            </p:nvSpPr>
            <p:spPr>
              <a:xfrm>
                <a:off x="3164619" y="946205"/>
                <a:ext cx="724062" cy="477078"/>
              </a:xfrm>
              <a:custGeom>
                <a:avLst/>
                <a:gdLst>
                  <a:gd name="connsiteX0" fmla="*/ 79515 w 724062"/>
                  <a:gd name="connsiteY0" fmla="*/ 0 h 477078"/>
                  <a:gd name="connsiteX1" fmla="*/ 724062 w 724062"/>
                  <a:gd name="connsiteY1" fmla="*/ 0 h 477078"/>
                  <a:gd name="connsiteX2" fmla="*/ 383122 w 724062"/>
                  <a:gd name="connsiteY2" fmla="*/ 477078 h 477078"/>
                  <a:gd name="connsiteX3" fmla="*/ 79515 w 724062"/>
                  <a:gd name="connsiteY3" fmla="*/ 477078 h 477078"/>
                  <a:gd name="connsiteX4" fmla="*/ 0 w 724062"/>
                  <a:gd name="connsiteY4" fmla="*/ 397563 h 477078"/>
                  <a:gd name="connsiteX5" fmla="*/ 0 w 724062"/>
                  <a:gd name="connsiteY5" fmla="*/ 79515 h 477078"/>
                  <a:gd name="connsiteX6" fmla="*/ 79515 w 724062"/>
                  <a:gd name="connsiteY6" fmla="*/ 0 h 47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4062" h="477078">
                    <a:moveTo>
                      <a:pt x="79515" y="0"/>
                    </a:moveTo>
                    <a:lnTo>
                      <a:pt x="724062" y="0"/>
                    </a:lnTo>
                    <a:lnTo>
                      <a:pt x="383122" y="477078"/>
                    </a:lnTo>
                    <a:lnTo>
                      <a:pt x="79515" y="477078"/>
                    </a:lnTo>
                    <a:cubicBezTo>
                      <a:pt x="35600" y="477078"/>
                      <a:pt x="0" y="441478"/>
                      <a:pt x="0" y="397563"/>
                    </a:cubicBezTo>
                    <a:lnTo>
                      <a:pt x="0" y="79515"/>
                    </a:lnTo>
                    <a:cubicBezTo>
                      <a:pt x="0" y="35600"/>
                      <a:pt x="35600" y="0"/>
                      <a:pt x="79515" y="0"/>
                    </a:cubicBez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9" name="矩形: 圆角 28">
                <a:extLst>
                  <a:ext uri="{FF2B5EF4-FFF2-40B4-BE49-F238E27FC236}">
                    <a16:creationId xmlns:a16="http://schemas.microsoft.com/office/drawing/2014/main" id="{BBC8BFEF-A4DC-EF00-87D9-E817ED2C9C25}"/>
                  </a:ext>
                </a:extLst>
              </p:cNvPr>
              <p:cNvSpPr/>
              <p:nvPr/>
            </p:nvSpPr>
            <p:spPr>
              <a:xfrm>
                <a:off x="3164620" y="946205"/>
                <a:ext cx="3476503" cy="477078"/>
              </a:xfrm>
              <a:prstGeom prst="roundRect">
                <a:avLst/>
              </a:prstGeom>
              <a:noFill/>
              <a:ln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rgbClr val="0960E5"/>
                    </a:gs>
                  </a:gsLst>
                  <a:lin ang="2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2BD1206-8738-56BF-26D6-91AF1930C18C}"/>
                </a:ext>
              </a:extLst>
            </p:cNvPr>
            <p:cNvSpPr txBox="1"/>
            <p:nvPr/>
          </p:nvSpPr>
          <p:spPr>
            <a:xfrm>
              <a:off x="4586478" y="1454891"/>
              <a:ext cx="222107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模型的评估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96BDF45-5E07-355E-E630-DCF34D9CC45A}"/>
                </a:ext>
              </a:extLst>
            </p:cNvPr>
            <p:cNvSpPr txBox="1"/>
            <p:nvPr/>
          </p:nvSpPr>
          <p:spPr>
            <a:xfrm>
              <a:off x="3878717" y="1454891"/>
              <a:ext cx="54434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kern="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05</a:t>
              </a:r>
              <a:endParaRPr lang="zh-CN" altLang="en-US" sz="2000" kern="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4C1B1307-83CD-F84A-A5FA-8AC12CB2BB3B}"/>
              </a:ext>
            </a:extLst>
          </p:cNvPr>
          <p:cNvGrpSpPr/>
          <p:nvPr/>
        </p:nvGrpSpPr>
        <p:grpSpPr>
          <a:xfrm>
            <a:off x="3839161" y="4251481"/>
            <a:ext cx="3583698" cy="477078"/>
            <a:chOff x="3883950" y="1420855"/>
            <a:chExt cx="3129099" cy="477078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93B61590-955F-1653-1198-82FECA48B9DB}"/>
                </a:ext>
              </a:extLst>
            </p:cNvPr>
            <p:cNvGrpSpPr/>
            <p:nvPr/>
          </p:nvGrpSpPr>
          <p:grpSpPr>
            <a:xfrm>
              <a:off x="3948140" y="1420855"/>
              <a:ext cx="3064909" cy="477078"/>
              <a:chOff x="3164619" y="946205"/>
              <a:chExt cx="3476504" cy="477078"/>
            </a:xfrm>
          </p:grpSpPr>
          <p:sp>
            <p:nvSpPr>
              <p:cNvPr id="60" name="任意多边形: 形状 59">
                <a:extLst>
                  <a:ext uri="{FF2B5EF4-FFF2-40B4-BE49-F238E27FC236}">
                    <a16:creationId xmlns:a16="http://schemas.microsoft.com/office/drawing/2014/main" id="{B6370783-56B9-C64E-3D0B-F570E5CF656A}"/>
                  </a:ext>
                </a:extLst>
              </p:cNvPr>
              <p:cNvSpPr/>
              <p:nvPr/>
            </p:nvSpPr>
            <p:spPr>
              <a:xfrm>
                <a:off x="3164619" y="946205"/>
                <a:ext cx="724062" cy="477078"/>
              </a:xfrm>
              <a:custGeom>
                <a:avLst/>
                <a:gdLst>
                  <a:gd name="connsiteX0" fmla="*/ 79515 w 724062"/>
                  <a:gd name="connsiteY0" fmla="*/ 0 h 477078"/>
                  <a:gd name="connsiteX1" fmla="*/ 724062 w 724062"/>
                  <a:gd name="connsiteY1" fmla="*/ 0 h 477078"/>
                  <a:gd name="connsiteX2" fmla="*/ 383122 w 724062"/>
                  <a:gd name="connsiteY2" fmla="*/ 477078 h 477078"/>
                  <a:gd name="connsiteX3" fmla="*/ 79515 w 724062"/>
                  <a:gd name="connsiteY3" fmla="*/ 477078 h 477078"/>
                  <a:gd name="connsiteX4" fmla="*/ 0 w 724062"/>
                  <a:gd name="connsiteY4" fmla="*/ 397563 h 477078"/>
                  <a:gd name="connsiteX5" fmla="*/ 0 w 724062"/>
                  <a:gd name="connsiteY5" fmla="*/ 79515 h 477078"/>
                  <a:gd name="connsiteX6" fmla="*/ 79515 w 724062"/>
                  <a:gd name="connsiteY6" fmla="*/ 0 h 47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24062" h="477078">
                    <a:moveTo>
                      <a:pt x="79515" y="0"/>
                    </a:moveTo>
                    <a:lnTo>
                      <a:pt x="724062" y="0"/>
                    </a:lnTo>
                    <a:lnTo>
                      <a:pt x="383122" y="477078"/>
                    </a:lnTo>
                    <a:lnTo>
                      <a:pt x="79515" y="477078"/>
                    </a:lnTo>
                    <a:cubicBezTo>
                      <a:pt x="35600" y="477078"/>
                      <a:pt x="0" y="441478"/>
                      <a:pt x="0" y="397563"/>
                    </a:cubicBezTo>
                    <a:lnTo>
                      <a:pt x="0" y="79515"/>
                    </a:lnTo>
                    <a:cubicBezTo>
                      <a:pt x="0" y="35600"/>
                      <a:pt x="35600" y="0"/>
                      <a:pt x="79515" y="0"/>
                    </a:cubicBez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CC2BCF5B-C8F2-8330-9065-64C1BF05F549}"/>
                  </a:ext>
                </a:extLst>
              </p:cNvPr>
              <p:cNvSpPr/>
              <p:nvPr/>
            </p:nvSpPr>
            <p:spPr>
              <a:xfrm>
                <a:off x="3164620" y="946205"/>
                <a:ext cx="3476503" cy="477078"/>
              </a:xfrm>
              <a:prstGeom prst="roundRect">
                <a:avLst/>
              </a:prstGeom>
              <a:noFill/>
              <a:ln>
                <a:gradFill>
                  <a:gsLst>
                    <a:gs pos="0">
                      <a:schemeClr val="bg1">
                        <a:alpha val="0"/>
                      </a:schemeClr>
                    </a:gs>
                    <a:gs pos="100000">
                      <a:srgbClr val="0960E5"/>
                    </a:gs>
                  </a:gsLst>
                  <a:lin ang="2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D16D62B4-7F7F-72C3-0764-EC591273F913}"/>
                </a:ext>
              </a:extLst>
            </p:cNvPr>
            <p:cNvSpPr txBox="1"/>
            <p:nvPr/>
          </p:nvSpPr>
          <p:spPr>
            <a:xfrm>
              <a:off x="4586478" y="1454891"/>
              <a:ext cx="222107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dist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模型的部署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C47C4E9-4F1A-1D01-6521-5AB4C333428A}"/>
                </a:ext>
              </a:extLst>
            </p:cNvPr>
            <p:cNvSpPr txBox="1"/>
            <p:nvPr/>
          </p:nvSpPr>
          <p:spPr>
            <a:xfrm>
              <a:off x="3883950" y="1454891"/>
              <a:ext cx="544348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kern="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06</a:t>
              </a:r>
              <a:endParaRPr lang="zh-CN" altLang="en-US" sz="2000" kern="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3372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97B08B7A-C95A-F683-D861-0E661565471F}"/>
              </a:ext>
            </a:extLst>
          </p:cNvPr>
          <p:cNvGrpSpPr/>
          <p:nvPr/>
        </p:nvGrpSpPr>
        <p:grpSpPr>
          <a:xfrm>
            <a:off x="-5818" y="0"/>
            <a:ext cx="9149818" cy="5150873"/>
            <a:chOff x="-5818" y="0"/>
            <a:chExt cx="9149818" cy="515087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B9A60C0-B5A4-4A13-E6BE-B6DF47289534}"/>
                </a:ext>
              </a:extLst>
            </p:cNvPr>
            <p:cNvGrpSpPr/>
            <p:nvPr/>
          </p:nvGrpSpPr>
          <p:grpSpPr>
            <a:xfrm flipH="1">
              <a:off x="-5818" y="0"/>
              <a:ext cx="9149818" cy="5150873"/>
              <a:chOff x="-5818" y="0"/>
              <a:chExt cx="9149818" cy="5150873"/>
            </a:xfrm>
          </p:grpSpPr>
          <p:sp>
            <p:nvSpPr>
              <p:cNvPr id="12" name="Google Shape;58;p3">
                <a:extLst>
                  <a:ext uri="{FF2B5EF4-FFF2-40B4-BE49-F238E27FC236}">
                    <a16:creationId xmlns:a16="http://schemas.microsoft.com/office/drawing/2014/main" id="{3F2AA92A-F027-F231-9B92-535205B196D6}"/>
                  </a:ext>
                </a:extLst>
              </p:cNvPr>
              <p:cNvSpPr/>
              <p:nvPr/>
            </p:nvSpPr>
            <p:spPr>
              <a:xfrm rot="10800000">
                <a:off x="5518762" y="2132527"/>
                <a:ext cx="3625238" cy="3018346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6" name="Google Shape;58;p3">
                <a:extLst>
                  <a:ext uri="{FF2B5EF4-FFF2-40B4-BE49-F238E27FC236}">
                    <a16:creationId xmlns:a16="http://schemas.microsoft.com/office/drawing/2014/main" id="{2AEB7E6F-2BB7-427C-4985-64604E0EF3B6}"/>
                  </a:ext>
                </a:extLst>
              </p:cNvPr>
              <p:cNvSpPr/>
              <p:nvPr/>
            </p:nvSpPr>
            <p:spPr>
              <a:xfrm rot="10800000" flipH="1" flipV="1">
                <a:off x="-5818" y="0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D30F9A53-B0C9-20C1-FDE5-B1EEEA2DBE7E}"/>
                  </a:ext>
                </a:extLst>
              </p:cNvPr>
              <p:cNvSpPr/>
              <p:nvPr/>
            </p:nvSpPr>
            <p:spPr>
              <a:xfrm rot="19800000">
                <a:off x="7300743" y="284091"/>
                <a:ext cx="1370002" cy="137000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35446B01-8FC4-4504-99A9-20FB332EEAC0}"/>
                  </a:ext>
                </a:extLst>
              </p:cNvPr>
              <p:cNvSpPr/>
              <p:nvPr/>
            </p:nvSpPr>
            <p:spPr>
              <a:xfrm rot="19800000">
                <a:off x="5203840" y="3777489"/>
                <a:ext cx="587982" cy="58798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1" name="Google Shape;58;p3">
                <a:extLst>
                  <a:ext uri="{FF2B5EF4-FFF2-40B4-BE49-F238E27FC236}">
                    <a16:creationId xmlns:a16="http://schemas.microsoft.com/office/drawing/2014/main" id="{420B817B-9EB2-5528-623F-7C3C5386EAE6}"/>
                  </a:ext>
                </a:extLst>
              </p:cNvPr>
              <p:cNvSpPr/>
              <p:nvPr/>
            </p:nvSpPr>
            <p:spPr>
              <a:xfrm rot="10800000" flipH="1">
                <a:off x="0" y="4071481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2" name="任意多边形 7">
                <a:extLst>
                  <a:ext uri="{FF2B5EF4-FFF2-40B4-BE49-F238E27FC236}">
                    <a16:creationId xmlns:a16="http://schemas.microsoft.com/office/drawing/2014/main" id="{0443114B-B171-4073-F588-9EE174D3DFC2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5087031" y="783440"/>
                <a:ext cx="702010" cy="371304"/>
              </a:xfrm>
              <a:custGeom>
                <a:avLst/>
                <a:gdLst>
                  <a:gd name="idx" fmla="cos wd2 2700000"/>
                  <a:gd name="idy" fmla="sin hd2 2700000"/>
                  <a:gd name="il" fmla="+- hc 0 idx"/>
                  <a:gd name="ir" fmla="+- hc idx 0"/>
                  <a:gd name="it" fmla="+- vc 0 idy"/>
                  <a:gd name="ib" fmla="+- vc idy 0"/>
                </a:gdLst>
                <a:ahLst/>
                <a:cxnLst>
                  <a:cxn ang="3">
                    <a:pos x="hc" y="t"/>
                  </a:cxn>
                  <a:cxn ang="3">
                    <a:pos x="il" y="it"/>
                  </a:cxn>
                  <a:cxn ang="cd2">
                    <a:pos x="l" y="vc"/>
                  </a:cxn>
                  <a:cxn ang="cd4">
                    <a:pos x="il" y="ib"/>
                  </a:cxn>
                  <a:cxn ang="cd4">
                    <a:pos x="hc" y="b"/>
                  </a:cxn>
                  <a:cxn ang="cd4">
                    <a:pos x="ir" y="ib"/>
                  </a:cxn>
                  <a:cxn ang="0">
                    <a:pos x="r" y="vc"/>
                  </a:cxn>
                  <a:cxn ang="3">
                    <a:pos x="ir" y="it"/>
                  </a:cxn>
                </a:cxnLst>
                <a:rect l="l" t="t" r="r" b="b"/>
                <a:pathLst>
                  <a:path w="1647" h="922">
                    <a:moveTo>
                      <a:pt x="0" y="61"/>
                    </a:moveTo>
                    <a:cubicBezTo>
                      <a:pt x="0" y="27"/>
                      <a:pt x="26" y="0"/>
                      <a:pt x="58" y="0"/>
                    </a:cubicBezTo>
                    <a:cubicBezTo>
                      <a:pt x="89" y="0"/>
                      <a:pt x="115" y="27"/>
                      <a:pt x="115" y="61"/>
                    </a:cubicBezTo>
                    <a:cubicBezTo>
                      <a:pt x="115" y="94"/>
                      <a:pt x="89" y="121"/>
                      <a:pt x="58" y="121"/>
                    </a:cubicBezTo>
                    <a:cubicBezTo>
                      <a:pt x="26" y="121"/>
                      <a:pt x="0" y="94"/>
                      <a:pt x="0" y="61"/>
                    </a:cubicBezTo>
                    <a:close/>
                    <a:moveTo>
                      <a:pt x="383" y="61"/>
                    </a:moveTo>
                    <a:cubicBezTo>
                      <a:pt x="383" y="27"/>
                      <a:pt x="409" y="0"/>
                      <a:pt x="441" y="0"/>
                    </a:cubicBezTo>
                    <a:cubicBezTo>
                      <a:pt x="472" y="0"/>
                      <a:pt x="498" y="27"/>
                      <a:pt x="498" y="61"/>
                    </a:cubicBezTo>
                    <a:cubicBezTo>
                      <a:pt x="498" y="94"/>
                      <a:pt x="472" y="121"/>
                      <a:pt x="441" y="121"/>
                    </a:cubicBezTo>
                    <a:cubicBezTo>
                      <a:pt x="409" y="121"/>
                      <a:pt x="383" y="94"/>
                      <a:pt x="383" y="61"/>
                    </a:cubicBezTo>
                    <a:close/>
                    <a:moveTo>
                      <a:pt x="766" y="61"/>
                    </a:moveTo>
                    <a:cubicBezTo>
                      <a:pt x="766" y="27"/>
                      <a:pt x="792" y="0"/>
                      <a:pt x="824" y="0"/>
                    </a:cubicBezTo>
                    <a:cubicBezTo>
                      <a:pt x="855" y="0"/>
                      <a:pt x="881" y="27"/>
                      <a:pt x="881" y="61"/>
                    </a:cubicBezTo>
                    <a:cubicBezTo>
                      <a:pt x="881" y="94"/>
                      <a:pt x="855" y="121"/>
                      <a:pt x="824" y="121"/>
                    </a:cubicBezTo>
                    <a:cubicBezTo>
                      <a:pt x="792" y="121"/>
                      <a:pt x="766" y="94"/>
                      <a:pt x="766" y="61"/>
                    </a:cubicBezTo>
                    <a:close/>
                    <a:moveTo>
                      <a:pt x="1149" y="61"/>
                    </a:moveTo>
                    <a:cubicBezTo>
                      <a:pt x="1149" y="27"/>
                      <a:pt x="1175" y="0"/>
                      <a:pt x="1207" y="0"/>
                    </a:cubicBezTo>
                    <a:cubicBezTo>
                      <a:pt x="1238" y="0"/>
                      <a:pt x="1264" y="27"/>
                      <a:pt x="1264" y="61"/>
                    </a:cubicBezTo>
                    <a:cubicBezTo>
                      <a:pt x="1264" y="94"/>
                      <a:pt x="1238" y="121"/>
                      <a:pt x="1207" y="121"/>
                    </a:cubicBezTo>
                    <a:cubicBezTo>
                      <a:pt x="1175" y="121"/>
                      <a:pt x="1149" y="94"/>
                      <a:pt x="1149" y="61"/>
                    </a:cubicBezTo>
                    <a:close/>
                    <a:moveTo>
                      <a:pt x="1532" y="61"/>
                    </a:moveTo>
                    <a:cubicBezTo>
                      <a:pt x="1532" y="27"/>
                      <a:pt x="1558" y="0"/>
                      <a:pt x="1590" y="0"/>
                    </a:cubicBezTo>
                    <a:cubicBezTo>
                      <a:pt x="1621" y="0"/>
                      <a:pt x="1647" y="27"/>
                      <a:pt x="1647" y="61"/>
                    </a:cubicBezTo>
                    <a:cubicBezTo>
                      <a:pt x="1647" y="94"/>
                      <a:pt x="1621" y="121"/>
                      <a:pt x="1590" y="121"/>
                    </a:cubicBezTo>
                    <a:cubicBezTo>
                      <a:pt x="1558" y="121"/>
                      <a:pt x="1532" y="94"/>
                      <a:pt x="1532" y="61"/>
                    </a:cubicBezTo>
                    <a:close/>
                    <a:moveTo>
                      <a:pt x="0" y="328"/>
                    </a:moveTo>
                    <a:cubicBezTo>
                      <a:pt x="0" y="294"/>
                      <a:pt x="26" y="267"/>
                      <a:pt x="58" y="267"/>
                    </a:cubicBezTo>
                    <a:cubicBezTo>
                      <a:pt x="89" y="267"/>
                      <a:pt x="115" y="294"/>
                      <a:pt x="115" y="328"/>
                    </a:cubicBezTo>
                    <a:cubicBezTo>
                      <a:pt x="115" y="361"/>
                      <a:pt x="89" y="388"/>
                      <a:pt x="58" y="388"/>
                    </a:cubicBezTo>
                    <a:cubicBezTo>
                      <a:pt x="26" y="388"/>
                      <a:pt x="0" y="361"/>
                      <a:pt x="0" y="328"/>
                    </a:cubicBezTo>
                    <a:close/>
                    <a:moveTo>
                      <a:pt x="383" y="328"/>
                    </a:moveTo>
                    <a:cubicBezTo>
                      <a:pt x="383" y="294"/>
                      <a:pt x="409" y="267"/>
                      <a:pt x="441" y="267"/>
                    </a:cubicBezTo>
                    <a:cubicBezTo>
                      <a:pt x="472" y="267"/>
                      <a:pt x="498" y="294"/>
                      <a:pt x="498" y="328"/>
                    </a:cubicBezTo>
                    <a:cubicBezTo>
                      <a:pt x="498" y="361"/>
                      <a:pt x="472" y="388"/>
                      <a:pt x="441" y="388"/>
                    </a:cubicBezTo>
                    <a:cubicBezTo>
                      <a:pt x="409" y="388"/>
                      <a:pt x="383" y="361"/>
                      <a:pt x="383" y="328"/>
                    </a:cubicBezTo>
                    <a:close/>
                    <a:moveTo>
                      <a:pt x="766" y="328"/>
                    </a:moveTo>
                    <a:cubicBezTo>
                      <a:pt x="766" y="294"/>
                      <a:pt x="792" y="267"/>
                      <a:pt x="824" y="267"/>
                    </a:cubicBezTo>
                    <a:cubicBezTo>
                      <a:pt x="855" y="267"/>
                      <a:pt x="881" y="294"/>
                      <a:pt x="881" y="328"/>
                    </a:cubicBezTo>
                    <a:cubicBezTo>
                      <a:pt x="881" y="361"/>
                      <a:pt x="855" y="388"/>
                      <a:pt x="824" y="388"/>
                    </a:cubicBezTo>
                    <a:cubicBezTo>
                      <a:pt x="792" y="388"/>
                      <a:pt x="766" y="361"/>
                      <a:pt x="766" y="328"/>
                    </a:cubicBezTo>
                    <a:close/>
                    <a:moveTo>
                      <a:pt x="1149" y="328"/>
                    </a:moveTo>
                    <a:cubicBezTo>
                      <a:pt x="1149" y="294"/>
                      <a:pt x="1175" y="267"/>
                      <a:pt x="1207" y="267"/>
                    </a:cubicBezTo>
                    <a:cubicBezTo>
                      <a:pt x="1238" y="267"/>
                      <a:pt x="1264" y="294"/>
                      <a:pt x="1264" y="328"/>
                    </a:cubicBezTo>
                    <a:cubicBezTo>
                      <a:pt x="1264" y="361"/>
                      <a:pt x="1238" y="388"/>
                      <a:pt x="1207" y="388"/>
                    </a:cubicBezTo>
                    <a:cubicBezTo>
                      <a:pt x="1175" y="388"/>
                      <a:pt x="1149" y="361"/>
                      <a:pt x="1149" y="328"/>
                    </a:cubicBezTo>
                    <a:close/>
                    <a:moveTo>
                      <a:pt x="1532" y="328"/>
                    </a:moveTo>
                    <a:cubicBezTo>
                      <a:pt x="1532" y="294"/>
                      <a:pt x="1558" y="267"/>
                      <a:pt x="1590" y="267"/>
                    </a:cubicBezTo>
                    <a:cubicBezTo>
                      <a:pt x="1621" y="267"/>
                      <a:pt x="1647" y="294"/>
                      <a:pt x="1647" y="328"/>
                    </a:cubicBezTo>
                    <a:cubicBezTo>
                      <a:pt x="1647" y="361"/>
                      <a:pt x="1621" y="388"/>
                      <a:pt x="1590" y="388"/>
                    </a:cubicBezTo>
                    <a:cubicBezTo>
                      <a:pt x="1558" y="388"/>
                      <a:pt x="1532" y="361"/>
                      <a:pt x="1532" y="328"/>
                    </a:cubicBezTo>
                    <a:close/>
                    <a:moveTo>
                      <a:pt x="0" y="595"/>
                    </a:moveTo>
                    <a:cubicBezTo>
                      <a:pt x="0" y="561"/>
                      <a:pt x="26" y="534"/>
                      <a:pt x="58" y="534"/>
                    </a:cubicBezTo>
                    <a:cubicBezTo>
                      <a:pt x="89" y="534"/>
                      <a:pt x="115" y="561"/>
                      <a:pt x="115" y="595"/>
                    </a:cubicBezTo>
                    <a:cubicBezTo>
                      <a:pt x="115" y="628"/>
                      <a:pt x="89" y="655"/>
                      <a:pt x="58" y="655"/>
                    </a:cubicBezTo>
                    <a:cubicBezTo>
                      <a:pt x="26" y="655"/>
                      <a:pt x="0" y="628"/>
                      <a:pt x="0" y="595"/>
                    </a:cubicBezTo>
                    <a:close/>
                    <a:moveTo>
                      <a:pt x="383" y="595"/>
                    </a:moveTo>
                    <a:cubicBezTo>
                      <a:pt x="383" y="561"/>
                      <a:pt x="409" y="534"/>
                      <a:pt x="441" y="534"/>
                    </a:cubicBezTo>
                    <a:cubicBezTo>
                      <a:pt x="472" y="534"/>
                      <a:pt x="498" y="561"/>
                      <a:pt x="498" y="595"/>
                    </a:cubicBezTo>
                    <a:cubicBezTo>
                      <a:pt x="498" y="628"/>
                      <a:pt x="472" y="655"/>
                      <a:pt x="441" y="655"/>
                    </a:cubicBezTo>
                    <a:cubicBezTo>
                      <a:pt x="409" y="655"/>
                      <a:pt x="383" y="628"/>
                      <a:pt x="383" y="595"/>
                    </a:cubicBezTo>
                    <a:close/>
                    <a:moveTo>
                      <a:pt x="766" y="595"/>
                    </a:moveTo>
                    <a:cubicBezTo>
                      <a:pt x="766" y="561"/>
                      <a:pt x="792" y="534"/>
                      <a:pt x="824" y="534"/>
                    </a:cubicBezTo>
                    <a:cubicBezTo>
                      <a:pt x="855" y="534"/>
                      <a:pt x="881" y="561"/>
                      <a:pt x="881" y="595"/>
                    </a:cubicBezTo>
                    <a:cubicBezTo>
                      <a:pt x="881" y="628"/>
                      <a:pt x="855" y="655"/>
                      <a:pt x="824" y="655"/>
                    </a:cubicBezTo>
                    <a:cubicBezTo>
                      <a:pt x="792" y="655"/>
                      <a:pt x="766" y="628"/>
                      <a:pt x="766" y="595"/>
                    </a:cubicBezTo>
                    <a:close/>
                    <a:moveTo>
                      <a:pt x="1149" y="595"/>
                    </a:moveTo>
                    <a:cubicBezTo>
                      <a:pt x="1149" y="561"/>
                      <a:pt x="1175" y="534"/>
                      <a:pt x="1207" y="534"/>
                    </a:cubicBezTo>
                    <a:cubicBezTo>
                      <a:pt x="1238" y="534"/>
                      <a:pt x="1264" y="561"/>
                      <a:pt x="1264" y="595"/>
                    </a:cubicBezTo>
                    <a:cubicBezTo>
                      <a:pt x="1264" y="628"/>
                      <a:pt x="1238" y="655"/>
                      <a:pt x="1207" y="655"/>
                    </a:cubicBezTo>
                    <a:cubicBezTo>
                      <a:pt x="1175" y="655"/>
                      <a:pt x="1149" y="628"/>
                      <a:pt x="1149" y="595"/>
                    </a:cubicBezTo>
                    <a:close/>
                    <a:moveTo>
                      <a:pt x="1532" y="595"/>
                    </a:moveTo>
                    <a:cubicBezTo>
                      <a:pt x="1532" y="561"/>
                      <a:pt x="1558" y="534"/>
                      <a:pt x="1590" y="534"/>
                    </a:cubicBezTo>
                    <a:cubicBezTo>
                      <a:pt x="1621" y="534"/>
                      <a:pt x="1647" y="561"/>
                      <a:pt x="1647" y="595"/>
                    </a:cubicBezTo>
                    <a:cubicBezTo>
                      <a:pt x="1647" y="628"/>
                      <a:pt x="1621" y="655"/>
                      <a:pt x="1590" y="655"/>
                    </a:cubicBezTo>
                    <a:cubicBezTo>
                      <a:pt x="1558" y="655"/>
                      <a:pt x="1532" y="628"/>
                      <a:pt x="1532" y="595"/>
                    </a:cubicBezTo>
                    <a:close/>
                    <a:moveTo>
                      <a:pt x="0" y="862"/>
                    </a:moveTo>
                    <a:cubicBezTo>
                      <a:pt x="0" y="828"/>
                      <a:pt x="26" y="801"/>
                      <a:pt x="58" y="801"/>
                    </a:cubicBezTo>
                    <a:cubicBezTo>
                      <a:pt x="89" y="801"/>
                      <a:pt x="115" y="828"/>
                      <a:pt x="115" y="862"/>
                    </a:cubicBezTo>
                    <a:cubicBezTo>
                      <a:pt x="115" y="895"/>
                      <a:pt x="89" y="922"/>
                      <a:pt x="58" y="922"/>
                    </a:cubicBezTo>
                    <a:cubicBezTo>
                      <a:pt x="26" y="922"/>
                      <a:pt x="0" y="895"/>
                      <a:pt x="0" y="862"/>
                    </a:cubicBezTo>
                    <a:close/>
                    <a:moveTo>
                      <a:pt x="383" y="862"/>
                    </a:moveTo>
                    <a:cubicBezTo>
                      <a:pt x="383" y="828"/>
                      <a:pt x="409" y="801"/>
                      <a:pt x="441" y="801"/>
                    </a:cubicBezTo>
                    <a:cubicBezTo>
                      <a:pt x="472" y="801"/>
                      <a:pt x="498" y="828"/>
                      <a:pt x="498" y="862"/>
                    </a:cubicBezTo>
                    <a:cubicBezTo>
                      <a:pt x="498" y="895"/>
                      <a:pt x="472" y="922"/>
                      <a:pt x="441" y="922"/>
                    </a:cubicBezTo>
                    <a:cubicBezTo>
                      <a:pt x="409" y="922"/>
                      <a:pt x="383" y="895"/>
                      <a:pt x="383" y="862"/>
                    </a:cubicBezTo>
                    <a:close/>
                    <a:moveTo>
                      <a:pt x="766" y="862"/>
                    </a:moveTo>
                    <a:cubicBezTo>
                      <a:pt x="766" y="828"/>
                      <a:pt x="792" y="801"/>
                      <a:pt x="824" y="801"/>
                    </a:cubicBezTo>
                    <a:cubicBezTo>
                      <a:pt x="855" y="801"/>
                      <a:pt x="881" y="828"/>
                      <a:pt x="881" y="862"/>
                    </a:cubicBezTo>
                    <a:cubicBezTo>
                      <a:pt x="881" y="895"/>
                      <a:pt x="855" y="922"/>
                      <a:pt x="824" y="922"/>
                    </a:cubicBezTo>
                    <a:cubicBezTo>
                      <a:pt x="792" y="922"/>
                      <a:pt x="766" y="895"/>
                      <a:pt x="766" y="862"/>
                    </a:cubicBezTo>
                    <a:close/>
                    <a:moveTo>
                      <a:pt x="1149" y="862"/>
                    </a:moveTo>
                    <a:cubicBezTo>
                      <a:pt x="1149" y="828"/>
                      <a:pt x="1175" y="801"/>
                      <a:pt x="1207" y="801"/>
                    </a:cubicBezTo>
                    <a:cubicBezTo>
                      <a:pt x="1238" y="801"/>
                      <a:pt x="1264" y="828"/>
                      <a:pt x="1264" y="862"/>
                    </a:cubicBezTo>
                    <a:cubicBezTo>
                      <a:pt x="1264" y="895"/>
                      <a:pt x="1238" y="922"/>
                      <a:pt x="1207" y="922"/>
                    </a:cubicBezTo>
                    <a:cubicBezTo>
                      <a:pt x="1175" y="922"/>
                      <a:pt x="1149" y="895"/>
                      <a:pt x="1149" y="862"/>
                    </a:cubicBezTo>
                    <a:close/>
                    <a:moveTo>
                      <a:pt x="1532" y="862"/>
                    </a:moveTo>
                    <a:cubicBezTo>
                      <a:pt x="1532" y="828"/>
                      <a:pt x="1558" y="801"/>
                      <a:pt x="1590" y="801"/>
                    </a:cubicBezTo>
                    <a:cubicBezTo>
                      <a:pt x="1621" y="801"/>
                      <a:pt x="1647" y="828"/>
                      <a:pt x="1647" y="862"/>
                    </a:cubicBezTo>
                    <a:cubicBezTo>
                      <a:pt x="1647" y="895"/>
                      <a:pt x="1621" y="922"/>
                      <a:pt x="1590" y="922"/>
                    </a:cubicBezTo>
                    <a:cubicBezTo>
                      <a:pt x="1558" y="922"/>
                      <a:pt x="1532" y="895"/>
                      <a:pt x="1532" y="862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思源黑体 CN Light" panose="020B0300000000000000" charset="-122"/>
                </a:endParaRPr>
              </a:p>
            </p:txBody>
          </p:sp>
        </p:grp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FF8855E-93A9-AE95-00DF-ACAFF83CB58B}"/>
                </a:ext>
              </a:extLst>
            </p:cNvPr>
            <p:cNvSpPr/>
            <p:nvPr/>
          </p:nvSpPr>
          <p:spPr>
            <a:xfrm>
              <a:off x="555898" y="1904821"/>
              <a:ext cx="2821557" cy="2821557"/>
            </a:xfrm>
            <a:prstGeom prst="ellipse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23159074-89CB-17A1-FB92-8C1E0BCB207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181137" y="2107526"/>
            <a:ext cx="3841731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913765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kern="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rPr>
              <a:t>案例介绍</a:t>
            </a:r>
          </a:p>
        </p:txBody>
      </p:sp>
      <p:sp>
        <p:nvSpPr>
          <p:cNvPr id="41" name="圆角矩形 20">
            <a:extLst>
              <a:ext uri="{FF2B5EF4-FFF2-40B4-BE49-F238E27FC236}">
                <a16:creationId xmlns:a16="http://schemas.microsoft.com/office/drawing/2014/main" id="{616BF277-B398-6803-AC61-A3978D8FD07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85911" y="1481551"/>
            <a:ext cx="1532102" cy="434074"/>
          </a:xfrm>
          <a:prstGeom prst="roundRect">
            <a:avLst>
              <a:gd name="adj" fmla="val 50000"/>
            </a:avLst>
          </a:pr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PART 01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6E8B249-0BA5-CA57-DDB2-34AC61114A3C}"/>
              </a:ext>
            </a:extLst>
          </p:cNvPr>
          <p:cNvSpPr txBox="1"/>
          <p:nvPr/>
        </p:nvSpPr>
        <p:spPr>
          <a:xfrm>
            <a:off x="5768726" y="1236275"/>
            <a:ext cx="2435811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5400">
                <a:gradFill>
                  <a:gsLst>
                    <a:gs pos="84000">
                      <a:srgbClr val="0960E5">
                        <a:alpha val="32000"/>
                      </a:srgb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PART</a:t>
            </a:r>
            <a:endParaRPr lang="zh-CN" altLang="en-US" sz="5400"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Bold" panose="020B0800000000000000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D34649B-B31A-45BE-B899-4CBC3129B789}"/>
              </a:ext>
            </a:extLst>
          </p:cNvPr>
          <p:cNvGrpSpPr/>
          <p:nvPr/>
        </p:nvGrpSpPr>
        <p:grpSpPr>
          <a:xfrm>
            <a:off x="4185912" y="2081786"/>
            <a:ext cx="3710903" cy="865115"/>
            <a:chOff x="5852478" y="2100373"/>
            <a:chExt cx="5315585" cy="1330921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AB675FFC-E500-E624-913B-3FF1CACEE3AC}"/>
                </a:ext>
              </a:extLst>
            </p:cNvPr>
            <p:cNvCxnSpPr/>
            <p:nvPr/>
          </p:nvCxnSpPr>
          <p:spPr>
            <a:xfrm>
              <a:off x="5852478" y="3431294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2FCDF520-BDCF-0578-7636-CBCE0531B1D7}"/>
                </a:ext>
              </a:extLst>
            </p:cNvPr>
            <p:cNvCxnSpPr/>
            <p:nvPr/>
          </p:nvCxnSpPr>
          <p:spPr>
            <a:xfrm>
              <a:off x="5875973" y="2100373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945B28E0-98B5-B04A-13DA-D1241387CDB8}"/>
              </a:ext>
            </a:extLst>
          </p:cNvPr>
          <p:cNvSpPr/>
          <p:nvPr/>
        </p:nvSpPr>
        <p:spPr>
          <a:xfrm>
            <a:off x="4292689" y="3472731"/>
            <a:ext cx="659273" cy="47822"/>
          </a:xfrm>
          <a:custGeom>
            <a:avLst/>
            <a:gdLst>
              <a:gd name="connsiteX0" fmla="*/ 881551 w 914727"/>
              <a:gd name="connsiteY0" fmla="*/ 0 h 66352"/>
              <a:gd name="connsiteX1" fmla="*/ 914727 w 914727"/>
              <a:gd name="connsiteY1" fmla="*/ 33176 h 66352"/>
              <a:gd name="connsiteX2" fmla="*/ 881551 w 914727"/>
              <a:gd name="connsiteY2" fmla="*/ 66352 h 66352"/>
              <a:gd name="connsiteX3" fmla="*/ 848375 w 914727"/>
              <a:gd name="connsiteY3" fmla="*/ 33176 h 66352"/>
              <a:gd name="connsiteX4" fmla="*/ 881551 w 914727"/>
              <a:gd name="connsiteY4" fmla="*/ 0 h 66352"/>
              <a:gd name="connsiteX5" fmla="*/ 669458 w 914727"/>
              <a:gd name="connsiteY5" fmla="*/ 0 h 66352"/>
              <a:gd name="connsiteX6" fmla="*/ 702634 w 914727"/>
              <a:gd name="connsiteY6" fmla="*/ 33176 h 66352"/>
              <a:gd name="connsiteX7" fmla="*/ 669458 w 914727"/>
              <a:gd name="connsiteY7" fmla="*/ 66352 h 66352"/>
              <a:gd name="connsiteX8" fmla="*/ 636282 w 914727"/>
              <a:gd name="connsiteY8" fmla="*/ 33176 h 66352"/>
              <a:gd name="connsiteX9" fmla="*/ 669458 w 914727"/>
              <a:gd name="connsiteY9" fmla="*/ 0 h 66352"/>
              <a:gd name="connsiteX10" fmla="*/ 457364 w 914727"/>
              <a:gd name="connsiteY10" fmla="*/ 0 h 66352"/>
              <a:gd name="connsiteX11" fmla="*/ 490540 w 914727"/>
              <a:gd name="connsiteY11" fmla="*/ 33176 h 66352"/>
              <a:gd name="connsiteX12" fmla="*/ 457364 w 914727"/>
              <a:gd name="connsiteY12" fmla="*/ 66352 h 66352"/>
              <a:gd name="connsiteX13" fmla="*/ 424188 w 914727"/>
              <a:gd name="connsiteY13" fmla="*/ 33176 h 66352"/>
              <a:gd name="connsiteX14" fmla="*/ 457364 w 914727"/>
              <a:gd name="connsiteY14" fmla="*/ 0 h 66352"/>
              <a:gd name="connsiteX15" fmla="*/ 245270 w 914727"/>
              <a:gd name="connsiteY15" fmla="*/ 0 h 66352"/>
              <a:gd name="connsiteX16" fmla="*/ 278446 w 914727"/>
              <a:gd name="connsiteY16" fmla="*/ 33176 h 66352"/>
              <a:gd name="connsiteX17" fmla="*/ 245270 w 914727"/>
              <a:gd name="connsiteY17" fmla="*/ 66352 h 66352"/>
              <a:gd name="connsiteX18" fmla="*/ 212094 w 914727"/>
              <a:gd name="connsiteY18" fmla="*/ 33176 h 66352"/>
              <a:gd name="connsiteX19" fmla="*/ 245270 w 914727"/>
              <a:gd name="connsiteY19" fmla="*/ 0 h 66352"/>
              <a:gd name="connsiteX20" fmla="*/ 33176 w 914727"/>
              <a:gd name="connsiteY20" fmla="*/ 0 h 66352"/>
              <a:gd name="connsiteX21" fmla="*/ 66352 w 914727"/>
              <a:gd name="connsiteY21" fmla="*/ 33176 h 66352"/>
              <a:gd name="connsiteX22" fmla="*/ 33176 w 914727"/>
              <a:gd name="connsiteY22" fmla="*/ 66352 h 66352"/>
              <a:gd name="connsiteX23" fmla="*/ 0 w 914727"/>
              <a:gd name="connsiteY23" fmla="*/ 33176 h 66352"/>
              <a:gd name="connsiteX24" fmla="*/ 33176 w 914727"/>
              <a:gd name="connsiteY24" fmla="*/ 0 h 6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14727" h="66352">
                <a:moveTo>
                  <a:pt x="881551" y="0"/>
                </a:moveTo>
                <a:cubicBezTo>
                  <a:pt x="899874" y="0"/>
                  <a:pt x="914727" y="14853"/>
                  <a:pt x="914727" y="33176"/>
                </a:cubicBezTo>
                <a:cubicBezTo>
                  <a:pt x="914727" y="51499"/>
                  <a:pt x="899874" y="66352"/>
                  <a:pt x="881551" y="66352"/>
                </a:cubicBezTo>
                <a:cubicBezTo>
                  <a:pt x="863228" y="66352"/>
                  <a:pt x="848375" y="51499"/>
                  <a:pt x="848375" y="33176"/>
                </a:cubicBezTo>
                <a:cubicBezTo>
                  <a:pt x="848375" y="14853"/>
                  <a:pt x="863228" y="0"/>
                  <a:pt x="881551" y="0"/>
                </a:cubicBezTo>
                <a:close/>
                <a:moveTo>
                  <a:pt x="669458" y="0"/>
                </a:moveTo>
                <a:cubicBezTo>
                  <a:pt x="687781" y="0"/>
                  <a:pt x="702634" y="14853"/>
                  <a:pt x="702634" y="33176"/>
                </a:cubicBezTo>
                <a:cubicBezTo>
                  <a:pt x="702634" y="51499"/>
                  <a:pt x="687781" y="66352"/>
                  <a:pt x="669458" y="66352"/>
                </a:cubicBezTo>
                <a:cubicBezTo>
                  <a:pt x="651135" y="66352"/>
                  <a:pt x="636282" y="51499"/>
                  <a:pt x="636282" y="33176"/>
                </a:cubicBezTo>
                <a:cubicBezTo>
                  <a:pt x="636282" y="14853"/>
                  <a:pt x="651135" y="0"/>
                  <a:pt x="669458" y="0"/>
                </a:cubicBezTo>
                <a:close/>
                <a:moveTo>
                  <a:pt x="457364" y="0"/>
                </a:moveTo>
                <a:cubicBezTo>
                  <a:pt x="475687" y="0"/>
                  <a:pt x="490540" y="14853"/>
                  <a:pt x="490540" y="33176"/>
                </a:cubicBezTo>
                <a:cubicBezTo>
                  <a:pt x="490540" y="51499"/>
                  <a:pt x="475687" y="66352"/>
                  <a:pt x="457364" y="66352"/>
                </a:cubicBezTo>
                <a:cubicBezTo>
                  <a:pt x="439041" y="66352"/>
                  <a:pt x="424188" y="51499"/>
                  <a:pt x="424188" y="33176"/>
                </a:cubicBezTo>
                <a:cubicBezTo>
                  <a:pt x="424188" y="14853"/>
                  <a:pt x="439041" y="0"/>
                  <a:pt x="457364" y="0"/>
                </a:cubicBezTo>
                <a:close/>
                <a:moveTo>
                  <a:pt x="245270" y="0"/>
                </a:moveTo>
                <a:cubicBezTo>
                  <a:pt x="263593" y="0"/>
                  <a:pt x="278446" y="14853"/>
                  <a:pt x="278446" y="33176"/>
                </a:cubicBezTo>
                <a:cubicBezTo>
                  <a:pt x="278446" y="51499"/>
                  <a:pt x="263593" y="66352"/>
                  <a:pt x="245270" y="66352"/>
                </a:cubicBezTo>
                <a:cubicBezTo>
                  <a:pt x="226947" y="66352"/>
                  <a:pt x="212094" y="51499"/>
                  <a:pt x="212094" y="33176"/>
                </a:cubicBezTo>
                <a:cubicBezTo>
                  <a:pt x="212094" y="14853"/>
                  <a:pt x="226947" y="0"/>
                  <a:pt x="245270" y="0"/>
                </a:cubicBezTo>
                <a:close/>
                <a:moveTo>
                  <a:pt x="33176" y="0"/>
                </a:moveTo>
                <a:cubicBezTo>
                  <a:pt x="51499" y="0"/>
                  <a:pt x="66352" y="14853"/>
                  <a:pt x="66352" y="33176"/>
                </a:cubicBezTo>
                <a:cubicBezTo>
                  <a:pt x="66352" y="51499"/>
                  <a:pt x="51499" y="66352"/>
                  <a:pt x="33176" y="66352"/>
                </a:cubicBezTo>
                <a:cubicBezTo>
                  <a:pt x="14853" y="66352"/>
                  <a:pt x="0" y="51499"/>
                  <a:pt x="0" y="33176"/>
                </a:cubicBez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F2C6EF3-1F9C-834D-1E62-E8FB6E446ACD}"/>
              </a:ext>
            </a:extLst>
          </p:cNvPr>
          <p:cNvGrpSpPr/>
          <p:nvPr/>
        </p:nvGrpSpPr>
        <p:grpSpPr>
          <a:xfrm>
            <a:off x="4181136" y="2980272"/>
            <a:ext cx="4173268" cy="382844"/>
            <a:chOff x="546813" y="2402625"/>
            <a:chExt cx="4727985" cy="40434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AFF94F34-6ED5-0175-EDD3-779828FECFA8}"/>
                </a:ext>
              </a:extLst>
            </p:cNvPr>
            <p:cNvSpPr/>
            <p:nvPr/>
          </p:nvSpPr>
          <p:spPr>
            <a:xfrm>
              <a:off x="546813" y="2605320"/>
              <a:ext cx="4727985" cy="154825"/>
            </a:xfrm>
            <a:prstGeom prst="roundRect">
              <a:avLst>
                <a:gd name="adj" fmla="val 50000"/>
              </a:avLst>
            </a:prstGeom>
            <a:gradFill>
              <a:gsLst>
                <a:gs pos="99000">
                  <a:srgbClr val="0960E5"/>
                </a:gs>
                <a:gs pos="0">
                  <a:schemeClr val="bg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3719B0B-2950-FBA4-3E96-497CFB2598F7}"/>
                </a:ext>
              </a:extLst>
            </p:cNvPr>
            <p:cNvSpPr/>
            <p:nvPr/>
          </p:nvSpPr>
          <p:spPr>
            <a:xfrm>
              <a:off x="576997" y="2402625"/>
              <a:ext cx="4626885" cy="40434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[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案例背景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挖掘目标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2002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17E6765-6001-F9AB-83CC-D4D69D622F8C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8C3EDF5-BC51-E166-181F-C01DAB13A3E1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D3C2412F-7DB0-F871-745A-A339B7412871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1FB119B-511A-69A4-FF4A-174B469CE557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背景介绍</a:t>
              </a:r>
            </a:p>
          </p:txBody>
        </p:sp>
      </p:grpSp>
      <p:sp>
        <p:nvSpPr>
          <p:cNvPr id="49" name="Rectangle 60">
            <a:extLst>
              <a:ext uri="{FF2B5EF4-FFF2-40B4-BE49-F238E27FC236}">
                <a16:creationId xmlns:a16="http://schemas.microsoft.com/office/drawing/2014/main" id="{2437119D-A876-D371-087B-04E46D44A070}"/>
              </a:ext>
            </a:extLst>
          </p:cNvPr>
          <p:cNvSpPr/>
          <p:nvPr/>
        </p:nvSpPr>
        <p:spPr>
          <a:xfrm>
            <a:off x="467127" y="864068"/>
            <a:ext cx="1939272" cy="324594"/>
          </a:xfrm>
          <a:prstGeom prst="roundRect">
            <a:avLst>
              <a:gd name="adj" fmla="val 50000"/>
            </a:avLst>
          </a:pr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人均确诊</a:t>
            </a:r>
            <a:r>
              <a:rPr lang="en-US" altLang="zh-CN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ADHD?</a:t>
            </a:r>
            <a:endParaRPr lang="zh-CN" altLang="en-US" sz="1600" dirty="0">
              <a:solidFill>
                <a:schemeClr val="bg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Bold" panose="020B0800000000000000" charset="-122"/>
            </a:endParaRPr>
          </a:p>
        </p:txBody>
      </p:sp>
      <p:sp>
        <p:nvSpPr>
          <p:cNvPr id="50" name="TextBox 59">
            <a:extLst>
              <a:ext uri="{FF2B5EF4-FFF2-40B4-BE49-F238E27FC236}">
                <a16:creationId xmlns:a16="http://schemas.microsoft.com/office/drawing/2014/main" id="{CA10DD31-2DEE-3D6E-F58B-8ABD72EAF6FB}"/>
              </a:ext>
            </a:extLst>
          </p:cNvPr>
          <p:cNvSpPr txBox="1"/>
          <p:nvPr/>
        </p:nvSpPr>
        <p:spPr>
          <a:xfrm>
            <a:off x="419750" y="1229228"/>
            <a:ext cx="5270538" cy="16293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停不下来的“买买买”，不是成瘾，不是物质主义，很可能是</a:t>
            </a:r>
            <a:r>
              <a:rPr lang="en-US" altLang="zh-CN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ADHD</a:t>
            </a:r>
            <a:r>
              <a:rPr lang="zh-CN" altLang="en-US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临近截止日期才有动力开工，不是懒惰，不是拖延，很可能是</a:t>
            </a:r>
            <a:r>
              <a:rPr lang="en-US" altLang="zh-CN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ADHD</a:t>
            </a:r>
            <a:r>
              <a:rPr lang="zh-CN" altLang="en-US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做事虎头蛇尾、兴趣三分钟热情，不是耐心不足，不是毅力不够，很可能是</a:t>
            </a:r>
            <a:r>
              <a:rPr lang="en-US" altLang="zh-CN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ADHD</a:t>
            </a:r>
            <a:r>
              <a:rPr lang="zh-CN" altLang="en-US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；</a:t>
            </a:r>
            <a:endParaRPr lang="en-US" altLang="zh-CN" sz="1200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刷手机可以一晚不睡，写报告却迟迟不行，不是摆烂，不是自制力差，很可能是</a:t>
            </a:r>
            <a:r>
              <a:rPr lang="en-US" altLang="zh-CN" sz="12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ADHD......</a:t>
            </a:r>
            <a:endParaRPr lang="zh-CN" altLang="en-US" sz="1200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637ACABE-CB51-7743-37AA-287B3D48C101}"/>
              </a:ext>
            </a:extLst>
          </p:cNvPr>
          <p:cNvSpPr/>
          <p:nvPr/>
        </p:nvSpPr>
        <p:spPr>
          <a:xfrm>
            <a:off x="2545872" y="2724332"/>
            <a:ext cx="3046036" cy="2324487"/>
          </a:xfrm>
          <a:prstGeom prst="roundRect">
            <a:avLst>
              <a:gd name="adj" fmla="val 22717"/>
            </a:avLst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xtBox 59">
            <a:extLst>
              <a:ext uri="{FF2B5EF4-FFF2-40B4-BE49-F238E27FC236}">
                <a16:creationId xmlns:a16="http://schemas.microsoft.com/office/drawing/2014/main" id="{0282A40C-E4E2-7689-E898-094DAE507AE9}"/>
              </a:ext>
            </a:extLst>
          </p:cNvPr>
          <p:cNvSpPr txBox="1"/>
          <p:nvPr/>
        </p:nvSpPr>
        <p:spPr>
          <a:xfrm>
            <a:off x="5813376" y="1183978"/>
            <a:ext cx="3313037" cy="9857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ADHD</a:t>
            </a:r>
            <a:r>
              <a:rPr lang="zh-CN" altLang="en-US" sz="11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，全称</a:t>
            </a:r>
            <a:r>
              <a:rPr lang="zh-CN" altLang="en-US" sz="1100" b="1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“注意缺陷</a:t>
            </a:r>
            <a:r>
              <a:rPr lang="en-US" altLang="zh-CN" sz="1100" b="1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-</a:t>
            </a:r>
            <a:r>
              <a:rPr lang="zh-CN" altLang="en-US" sz="1100" b="1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多动障碍”</a:t>
            </a:r>
            <a:r>
              <a:rPr lang="zh-CN" altLang="en-US" sz="11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，是一种神经发育障碍，也就是我们常说的“多动症”。但</a:t>
            </a:r>
            <a:r>
              <a:rPr lang="en-US" altLang="zh-CN" sz="11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ADHD</a:t>
            </a:r>
            <a:r>
              <a:rPr lang="zh-CN" altLang="en-US" sz="11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的核心问题并不在于“注意力不足”，而在于</a:t>
            </a:r>
            <a:r>
              <a:rPr lang="zh-CN" altLang="en-US" sz="1100" b="1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“注意力调节失灵”。</a:t>
            </a:r>
          </a:p>
        </p:txBody>
      </p:sp>
      <p:sp>
        <p:nvSpPr>
          <p:cNvPr id="54" name="TextBox 59">
            <a:extLst>
              <a:ext uri="{FF2B5EF4-FFF2-40B4-BE49-F238E27FC236}">
                <a16:creationId xmlns:a16="http://schemas.microsoft.com/office/drawing/2014/main" id="{E6818591-249F-58A2-2D20-FBC22CD72987}"/>
              </a:ext>
            </a:extLst>
          </p:cNvPr>
          <p:cNvSpPr txBox="1"/>
          <p:nvPr/>
        </p:nvSpPr>
        <p:spPr>
          <a:xfrm>
            <a:off x="5690288" y="2693788"/>
            <a:ext cx="2981740" cy="564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b="1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注意力缺陷</a:t>
            </a:r>
            <a:r>
              <a:rPr lang="zh-CN" altLang="en-US" sz="1300" dirty="0">
                <a:solidFill>
                  <a:schemeClr val="tx1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：容易分心，常常忘事，做事虎头蛇尾。</a:t>
            </a:r>
          </a:p>
        </p:txBody>
      </p:sp>
      <p:sp>
        <p:nvSpPr>
          <p:cNvPr id="55" name="TextBox 59">
            <a:extLst>
              <a:ext uri="{FF2B5EF4-FFF2-40B4-BE49-F238E27FC236}">
                <a16:creationId xmlns:a16="http://schemas.microsoft.com/office/drawing/2014/main" id="{B9E05935-7408-E159-9362-DD856A38DED5}"/>
              </a:ext>
            </a:extLst>
          </p:cNvPr>
          <p:cNvSpPr txBox="1"/>
          <p:nvPr/>
        </p:nvSpPr>
        <p:spPr>
          <a:xfrm>
            <a:off x="5690288" y="3409530"/>
            <a:ext cx="2981740" cy="564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b="1" dirty="0"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冲动与多动</a:t>
            </a:r>
            <a:r>
              <a:rPr lang="zh-CN" altLang="en-US" sz="1300" dirty="0"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：说话插嘴、情绪不稳，动作不断，坐着都能抖出一首交响乐。</a:t>
            </a:r>
            <a:endParaRPr lang="zh-CN" altLang="en-US" sz="1300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8744E799-D149-5DC4-6537-6F531513647D}"/>
              </a:ext>
            </a:extLst>
          </p:cNvPr>
          <p:cNvSpPr txBox="1"/>
          <p:nvPr/>
        </p:nvSpPr>
        <p:spPr>
          <a:xfrm>
            <a:off x="5690288" y="4125272"/>
            <a:ext cx="2981740" cy="564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300" b="1" dirty="0"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执行功能障碍</a:t>
            </a:r>
            <a:r>
              <a:rPr lang="zh-CN" altLang="en-US" sz="1300" dirty="0">
                <a:latin typeface="思源宋体 CN Light" panose="02020300000000000000" pitchFamily="18" charset="-122"/>
                <a:ea typeface="思源宋体 CN Light" panose="02020300000000000000" pitchFamily="18" charset="-122"/>
              </a:rPr>
              <a:t>：时间管理能力差，任务启动困难，容易“拖到最后一刻”。</a:t>
            </a:r>
            <a:endParaRPr lang="zh-CN" altLang="en-US" sz="1300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16B61C79-5457-2A4B-9641-A45D3F9FADAC}"/>
              </a:ext>
            </a:extLst>
          </p:cNvPr>
          <p:cNvSpPr/>
          <p:nvPr/>
        </p:nvSpPr>
        <p:spPr>
          <a:xfrm>
            <a:off x="532868" y="2872309"/>
            <a:ext cx="1937770" cy="2212475"/>
          </a:xfrm>
          <a:prstGeom prst="roundRect">
            <a:avLst>
              <a:gd name="adj" fmla="val 3112"/>
            </a:avLst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B552A9B-769C-3133-2754-4225746005FE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A39A87E-53BB-CBC0-ADB5-C1483B47DCC0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83D3E641-71B1-2DB0-F089-8F6D221C7064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6781421-DC59-107F-4B1F-E3FAE737F87B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8BB8AFC7-999C-9EF3-2EB8-AE24E5AFFFAB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310BB8CD-ACF0-7CAF-79B5-C00E49B91AC0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F9F58E18-DB67-2CB9-164C-0669DF38E3B7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50049C3E-1D0C-50EF-76CA-A379CBA28AF5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sp>
        <p:nvSpPr>
          <p:cNvPr id="13" name="Rectangle 60">
            <a:extLst>
              <a:ext uri="{FF2B5EF4-FFF2-40B4-BE49-F238E27FC236}">
                <a16:creationId xmlns:a16="http://schemas.microsoft.com/office/drawing/2014/main" id="{42680051-B4C3-0E24-BF31-606D743CC991}"/>
              </a:ext>
            </a:extLst>
          </p:cNvPr>
          <p:cNvSpPr/>
          <p:nvPr/>
        </p:nvSpPr>
        <p:spPr>
          <a:xfrm>
            <a:off x="5690288" y="833539"/>
            <a:ext cx="1939272" cy="324594"/>
          </a:xfrm>
          <a:prstGeom prst="roundRect">
            <a:avLst>
              <a:gd name="adj" fmla="val 50000"/>
            </a:avLst>
          </a:pr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ADHD</a:t>
            </a:r>
            <a:r>
              <a:rPr lang="zh-CN" altLang="en-US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的真相？</a:t>
            </a:r>
          </a:p>
        </p:txBody>
      </p:sp>
      <p:sp>
        <p:nvSpPr>
          <p:cNvPr id="19" name="Rectangle 60">
            <a:extLst>
              <a:ext uri="{FF2B5EF4-FFF2-40B4-BE49-F238E27FC236}">
                <a16:creationId xmlns:a16="http://schemas.microsoft.com/office/drawing/2014/main" id="{3438745A-D5D1-77DD-1A15-8A2D8142AF7E}"/>
              </a:ext>
            </a:extLst>
          </p:cNvPr>
          <p:cNvSpPr/>
          <p:nvPr/>
        </p:nvSpPr>
        <p:spPr>
          <a:xfrm>
            <a:off x="5687442" y="2259063"/>
            <a:ext cx="1939272" cy="324594"/>
          </a:xfrm>
          <a:prstGeom prst="roundRect">
            <a:avLst>
              <a:gd name="adj" fmla="val 50000"/>
            </a:avLst>
          </a:pr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ADHD</a:t>
            </a:r>
            <a:r>
              <a:rPr lang="zh-CN" altLang="en-US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的主要体现</a:t>
            </a:r>
          </a:p>
        </p:txBody>
      </p:sp>
    </p:spTree>
    <p:extLst>
      <p:ext uri="{BB962C8B-B14F-4D97-AF65-F5344CB8AC3E}">
        <p14:creationId xmlns:p14="http://schemas.microsoft.com/office/powerpoint/2010/main" val="941428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417A-FE26-74F7-56C9-4DA7148FF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60238403-EE38-2B39-4A01-2C96B705B4FC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A2E3BD4-CEE6-46C0-BE5F-CA3710BDFFB7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0BCC6DA1-78C2-ED32-0FCF-24ED41802A29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4" name="图形">
            <a:extLst>
              <a:ext uri="{FF2B5EF4-FFF2-40B4-BE49-F238E27FC236}">
                <a16:creationId xmlns:a16="http://schemas.microsoft.com/office/drawing/2014/main" id="{5542D580-A999-67E4-AD56-3807BDB97B63}"/>
              </a:ext>
            </a:extLst>
          </p:cNvPr>
          <p:cNvSpPr txBox="1"/>
          <p:nvPr/>
        </p:nvSpPr>
        <p:spPr>
          <a:xfrm flipH="1">
            <a:off x="3500763" y="1805262"/>
            <a:ext cx="2117784" cy="3163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ea"/>
            </a:endParaRPr>
          </a:p>
        </p:txBody>
      </p:sp>
      <p:sp>
        <p:nvSpPr>
          <p:cNvPr id="8" name="图形">
            <a:extLst>
              <a:ext uri="{FF2B5EF4-FFF2-40B4-BE49-F238E27FC236}">
                <a16:creationId xmlns:a16="http://schemas.microsoft.com/office/drawing/2014/main" id="{BEE2EC92-6709-476A-9020-E8DA0883246B}"/>
              </a:ext>
            </a:extLst>
          </p:cNvPr>
          <p:cNvSpPr txBox="1"/>
          <p:nvPr/>
        </p:nvSpPr>
        <p:spPr>
          <a:xfrm flipH="1">
            <a:off x="3492699" y="2151590"/>
            <a:ext cx="2319016" cy="12572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揭示全球</a:t>
            </a:r>
            <a:r>
              <a:rPr lang="en-US" altLang="zh-CN" sz="13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ADHD</a:t>
            </a:r>
            <a:r>
              <a:rPr lang="zh-CN" altLang="en-US" sz="13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领域研究的发展态势与合作格局，国家合作、机构合作、核心学者合作模式及网络结构特征。</a:t>
            </a:r>
            <a:endParaRPr lang="zh-CN" altLang="en-US" sz="1300" dirty="0">
              <a:solidFill>
                <a:schemeClr val="tx1">
                  <a:lumMod val="85000"/>
                  <a:lumOff val="15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ea"/>
            </a:endParaRP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A932EC36-FD3F-C594-CECB-920AA744F56C}"/>
              </a:ext>
            </a:extLst>
          </p:cNvPr>
          <p:cNvSpPr txBox="1"/>
          <p:nvPr/>
        </p:nvSpPr>
        <p:spPr>
          <a:xfrm flipH="1">
            <a:off x="3476771" y="3516175"/>
            <a:ext cx="2220923" cy="7005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采用分类模型预测高被引论文。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ea"/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3881A318-B2B7-3A64-B7D9-D1038E19C738}"/>
              </a:ext>
            </a:extLst>
          </p:cNvPr>
          <p:cNvSpPr/>
          <p:nvPr/>
        </p:nvSpPr>
        <p:spPr>
          <a:xfrm>
            <a:off x="5941215" y="2390844"/>
            <a:ext cx="2494120" cy="408145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sz="1600" b="1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lt"/>
            </a:endParaRP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59415493-B274-BD04-BB51-642650B648DB}"/>
              </a:ext>
            </a:extLst>
          </p:cNvPr>
          <p:cNvSpPr/>
          <p:nvPr/>
        </p:nvSpPr>
        <p:spPr>
          <a:xfrm>
            <a:off x="5941215" y="3543874"/>
            <a:ext cx="2494120" cy="408145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sz="1600" b="1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lt"/>
            </a:endParaRPr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B3F74FA9-AF85-E9DA-69CA-0C93F56FB0AD}"/>
              </a:ext>
            </a:extLst>
          </p:cNvPr>
          <p:cNvSpPr/>
          <p:nvPr/>
        </p:nvSpPr>
        <p:spPr>
          <a:xfrm>
            <a:off x="5941215" y="1059792"/>
            <a:ext cx="2494120" cy="408145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endParaRPr lang="en-US" altLang="zh-CN" sz="1200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lt"/>
            </a:endParaRPr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381BCAB2-FCB4-233D-9964-D39ABF0551F7}"/>
              </a:ext>
            </a:extLst>
          </p:cNvPr>
          <p:cNvSpPr/>
          <p:nvPr/>
        </p:nvSpPr>
        <p:spPr>
          <a:xfrm>
            <a:off x="5729302" y="906570"/>
            <a:ext cx="697117" cy="697117"/>
          </a:xfrm>
          <a:prstGeom prst="ellipse">
            <a:avLst/>
          </a:prstGeom>
          <a:solidFill>
            <a:schemeClr val="bg1"/>
          </a:solidFill>
          <a:ln w="12700" cap="rnd">
            <a:solidFill>
              <a:schemeClr val="bg2">
                <a:lumMod val="75000"/>
                <a:alpha val="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1600" b="1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lt"/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6E178761-EC63-3DB2-CA7A-0D837B2B0954}"/>
              </a:ext>
            </a:extLst>
          </p:cNvPr>
          <p:cNvSpPr/>
          <p:nvPr/>
        </p:nvSpPr>
        <p:spPr>
          <a:xfrm>
            <a:off x="5729302" y="2140462"/>
            <a:ext cx="697117" cy="697117"/>
          </a:xfrm>
          <a:prstGeom prst="ellipse">
            <a:avLst/>
          </a:prstGeom>
          <a:solidFill>
            <a:schemeClr val="bg1"/>
          </a:solidFill>
          <a:ln w="12700" cap="rnd">
            <a:solidFill>
              <a:srgbClr val="000000">
                <a:alpha val="0"/>
              </a:srgb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1600" b="1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lt"/>
            </a:endParaRP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B3546EB3-5DC5-2EDB-1A8B-681C2D4B2D24}"/>
              </a:ext>
            </a:extLst>
          </p:cNvPr>
          <p:cNvSpPr/>
          <p:nvPr/>
        </p:nvSpPr>
        <p:spPr>
          <a:xfrm>
            <a:off x="5736918" y="3390204"/>
            <a:ext cx="697117" cy="697117"/>
          </a:xfrm>
          <a:prstGeom prst="ellipse">
            <a:avLst/>
          </a:prstGeom>
          <a:solidFill>
            <a:schemeClr val="bg1"/>
          </a:solidFill>
          <a:ln w="12700" cap="rnd">
            <a:solidFill>
              <a:srgbClr val="000000">
                <a:alpha val="0"/>
              </a:srgb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1600" b="1" dirty="0">
              <a:solidFill>
                <a:schemeClr val="tx1"/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lt"/>
            </a:endParaRPr>
          </a:p>
        </p:txBody>
      </p:sp>
      <p:sp>
        <p:nvSpPr>
          <p:cNvPr id="18" name="图形">
            <a:extLst>
              <a:ext uri="{FF2B5EF4-FFF2-40B4-BE49-F238E27FC236}">
                <a16:creationId xmlns:a16="http://schemas.microsoft.com/office/drawing/2014/main" id="{65DDC7AD-8996-3B61-34C0-E6ACD0248FCF}"/>
              </a:ext>
            </a:extLst>
          </p:cNvPr>
          <p:cNvSpPr/>
          <p:nvPr/>
        </p:nvSpPr>
        <p:spPr>
          <a:xfrm>
            <a:off x="6757057" y="1124755"/>
            <a:ext cx="13624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  <a:sym typeface="+mn-ea"/>
              </a:rPr>
              <a:t>主题特征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Light" panose="02020300000000000000" pitchFamily="18" charset="-122"/>
              <a:ea typeface="思源宋体 CN Light" panose="02020300000000000000" pitchFamily="18" charset="-122"/>
              <a:cs typeface="Arial" panose="020B0604020202020204" pitchFamily="34" charset="0"/>
              <a:sym typeface="思源黑体 CN Bold" panose="020B0800000000000000" charset="-122"/>
            </a:endParaRPr>
          </a:p>
        </p:txBody>
      </p:sp>
      <p:sp>
        <p:nvSpPr>
          <p:cNvPr id="19" name="图形">
            <a:extLst>
              <a:ext uri="{FF2B5EF4-FFF2-40B4-BE49-F238E27FC236}">
                <a16:creationId xmlns:a16="http://schemas.microsoft.com/office/drawing/2014/main" id="{D2371202-533B-C79A-B16B-9D1A5DAF95CD}"/>
              </a:ext>
            </a:extLst>
          </p:cNvPr>
          <p:cNvSpPr/>
          <p:nvPr/>
        </p:nvSpPr>
        <p:spPr>
          <a:xfrm>
            <a:off x="6757057" y="2455807"/>
            <a:ext cx="13624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  <a:sym typeface="+mn-ea"/>
              </a:rPr>
              <a:t>合作结构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Light" panose="02020300000000000000" pitchFamily="18" charset="-122"/>
              <a:ea typeface="思源宋体 CN Light" panose="02020300000000000000" pitchFamily="18" charset="-122"/>
              <a:cs typeface="Arial" panose="020B0604020202020204" pitchFamily="34" charset="0"/>
              <a:sym typeface="思源黑体 CN Bold" panose="020B0800000000000000" charset="-122"/>
            </a:endParaRPr>
          </a:p>
        </p:txBody>
      </p:sp>
      <p:sp>
        <p:nvSpPr>
          <p:cNvPr id="20" name="图形">
            <a:extLst>
              <a:ext uri="{FF2B5EF4-FFF2-40B4-BE49-F238E27FC236}">
                <a16:creationId xmlns:a16="http://schemas.microsoft.com/office/drawing/2014/main" id="{EABB60F2-56B8-C2EE-9800-3560BF52FF85}"/>
              </a:ext>
            </a:extLst>
          </p:cNvPr>
          <p:cNvSpPr/>
          <p:nvPr/>
        </p:nvSpPr>
        <p:spPr>
          <a:xfrm>
            <a:off x="6749889" y="3608837"/>
            <a:ext cx="13624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  <a:sym typeface="+mn-ea"/>
              </a:rPr>
              <a:t>分类预测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Light" panose="02020300000000000000" pitchFamily="18" charset="-122"/>
              <a:ea typeface="思源宋体 CN Light" panose="02020300000000000000" pitchFamily="18" charset="-122"/>
              <a:cs typeface="Arial" panose="020B0604020202020204" pitchFamily="34" charset="0"/>
              <a:sym typeface="思源黑体 CN Bold" panose="020B0800000000000000" charset="-122"/>
            </a:endParaRPr>
          </a:p>
        </p:txBody>
      </p:sp>
      <p:sp>
        <p:nvSpPr>
          <p:cNvPr id="21" name="KSO_Shape">
            <a:extLst>
              <a:ext uri="{FF2B5EF4-FFF2-40B4-BE49-F238E27FC236}">
                <a16:creationId xmlns:a16="http://schemas.microsoft.com/office/drawing/2014/main" id="{A592BA0B-C037-D912-0F46-ABAE8B13FC63}"/>
              </a:ext>
            </a:extLst>
          </p:cNvPr>
          <p:cNvSpPr/>
          <p:nvPr>
            <p:custDataLst>
              <p:tags r:id="rId1"/>
            </p:custDataLst>
          </p:nvPr>
        </p:nvSpPr>
        <p:spPr bwMode="auto">
          <a:xfrm>
            <a:off x="5956447" y="3641094"/>
            <a:ext cx="258059" cy="213705"/>
          </a:xfrm>
          <a:custGeom>
            <a:avLst/>
            <a:gdLst>
              <a:gd name="T0" fmla="*/ 2017136 w 3240087"/>
              <a:gd name="T1" fmla="*/ 1939157 h 2513013"/>
              <a:gd name="T2" fmla="*/ 792729 w 3240087"/>
              <a:gd name="T3" fmla="*/ 1060450 h 2513013"/>
              <a:gd name="T4" fmla="*/ 1301750 w 3240087"/>
              <a:gd name="T5" fmla="*/ 2513013 h 2513013"/>
              <a:gd name="T6" fmla="*/ 1554331 w 3240087"/>
              <a:gd name="T7" fmla="*/ 753428 h 2513013"/>
              <a:gd name="T8" fmla="*/ 1460048 w 3240087"/>
              <a:gd name="T9" fmla="*/ 768668 h 2513013"/>
              <a:gd name="T10" fmla="*/ 1385130 w 3240087"/>
              <a:gd name="T11" fmla="*/ 795338 h 2513013"/>
              <a:gd name="T12" fmla="*/ 1329893 w 3240087"/>
              <a:gd name="T13" fmla="*/ 833438 h 2513013"/>
              <a:gd name="T14" fmla="*/ 1294022 w 3240087"/>
              <a:gd name="T15" fmla="*/ 883285 h 2513013"/>
              <a:gd name="T16" fmla="*/ 1277514 w 3240087"/>
              <a:gd name="T17" fmla="*/ 944880 h 2513013"/>
              <a:gd name="T18" fmla="*/ 1278784 w 3240087"/>
              <a:gd name="T19" fmla="*/ 999173 h 2513013"/>
              <a:gd name="T20" fmla="*/ 1289577 w 3240087"/>
              <a:gd name="T21" fmla="*/ 1043940 h 2513013"/>
              <a:gd name="T22" fmla="*/ 1309259 w 3240087"/>
              <a:gd name="T23" fmla="*/ 1084263 h 2513013"/>
              <a:gd name="T24" fmla="*/ 1365448 w 3240087"/>
              <a:gd name="T25" fmla="*/ 1148715 h 2513013"/>
              <a:gd name="T26" fmla="*/ 1452112 w 3240087"/>
              <a:gd name="T27" fmla="*/ 1200786 h 2513013"/>
              <a:gd name="T28" fmla="*/ 1598774 w 3240087"/>
              <a:gd name="T29" fmla="*/ 1275081 h 2513013"/>
              <a:gd name="T30" fmla="*/ 1631472 w 3240087"/>
              <a:gd name="T31" fmla="*/ 1300163 h 2513013"/>
              <a:gd name="T32" fmla="*/ 1648614 w 3240087"/>
              <a:gd name="T33" fmla="*/ 1327786 h 2513013"/>
              <a:gd name="T34" fmla="*/ 1658455 w 3240087"/>
              <a:gd name="T35" fmla="*/ 1403668 h 2513013"/>
              <a:gd name="T36" fmla="*/ 1653376 w 3240087"/>
              <a:gd name="T37" fmla="*/ 1450658 h 2513013"/>
              <a:gd name="T38" fmla="*/ 1632741 w 3240087"/>
              <a:gd name="T39" fmla="*/ 1471931 h 2513013"/>
              <a:gd name="T40" fmla="*/ 1595917 w 3240087"/>
              <a:gd name="T41" fmla="*/ 1477328 h 2513013"/>
              <a:gd name="T42" fmla="*/ 1572426 w 3240087"/>
              <a:gd name="T43" fmla="*/ 1469708 h 2513013"/>
              <a:gd name="T44" fmla="*/ 1562902 w 3240087"/>
              <a:gd name="T45" fmla="*/ 1457008 h 2513013"/>
              <a:gd name="T46" fmla="*/ 1555601 w 3240087"/>
              <a:gd name="T47" fmla="*/ 1406208 h 2513013"/>
              <a:gd name="T48" fmla="*/ 1280689 w 3240087"/>
              <a:gd name="T49" fmla="*/ 1341121 h 2513013"/>
              <a:gd name="T50" fmla="*/ 1292117 w 3240087"/>
              <a:gd name="T51" fmla="*/ 1434783 h 2513013"/>
              <a:gd name="T52" fmla="*/ 1312751 w 3240087"/>
              <a:gd name="T53" fmla="*/ 1484313 h 2513013"/>
              <a:gd name="T54" fmla="*/ 1334655 w 3240087"/>
              <a:gd name="T55" fmla="*/ 1514158 h 2513013"/>
              <a:gd name="T56" fmla="*/ 1362591 w 3240087"/>
              <a:gd name="T57" fmla="*/ 1538288 h 2513013"/>
              <a:gd name="T58" fmla="*/ 1427986 w 3240087"/>
              <a:gd name="T59" fmla="*/ 1573848 h 2513013"/>
              <a:gd name="T60" fmla="*/ 1500999 w 3240087"/>
              <a:gd name="T61" fmla="*/ 1596073 h 2513013"/>
              <a:gd name="T62" fmla="*/ 1680359 w 3240087"/>
              <a:gd name="T63" fmla="*/ 1684973 h 2513013"/>
              <a:gd name="T64" fmla="*/ 1761626 w 3240087"/>
              <a:gd name="T65" fmla="*/ 1591628 h 2513013"/>
              <a:gd name="T66" fmla="*/ 1840672 w 3240087"/>
              <a:gd name="T67" fmla="*/ 1562101 h 2513013"/>
              <a:gd name="T68" fmla="*/ 1900035 w 3240087"/>
              <a:gd name="T69" fmla="*/ 1518286 h 2513013"/>
              <a:gd name="T70" fmla="*/ 1939716 w 3240087"/>
              <a:gd name="T71" fmla="*/ 1461136 h 2513013"/>
              <a:gd name="T72" fmla="*/ 1959398 w 3240087"/>
              <a:gd name="T73" fmla="*/ 1390333 h 2513013"/>
              <a:gd name="T74" fmla="*/ 1960350 w 3240087"/>
              <a:gd name="T75" fmla="*/ 1316038 h 2513013"/>
              <a:gd name="T76" fmla="*/ 1951779 w 3240087"/>
              <a:gd name="T77" fmla="*/ 1271271 h 2513013"/>
              <a:gd name="T78" fmla="*/ 1935907 w 3240087"/>
              <a:gd name="T79" fmla="*/ 1232536 h 2513013"/>
              <a:gd name="T80" fmla="*/ 1890194 w 3240087"/>
              <a:gd name="T81" fmla="*/ 1173798 h 2513013"/>
              <a:gd name="T82" fmla="*/ 1817180 w 3240087"/>
              <a:gd name="T83" fmla="*/ 1128078 h 2513013"/>
              <a:gd name="T84" fmla="*/ 1674327 w 3240087"/>
              <a:gd name="T85" fmla="*/ 1059180 h 2513013"/>
              <a:gd name="T86" fmla="*/ 1581949 w 3240087"/>
              <a:gd name="T87" fmla="*/ 1008380 h 2513013"/>
              <a:gd name="T88" fmla="*/ 1566394 w 3240087"/>
              <a:gd name="T89" fmla="*/ 989013 h 2513013"/>
              <a:gd name="T90" fmla="*/ 1557823 w 3240087"/>
              <a:gd name="T91" fmla="*/ 962025 h 2513013"/>
              <a:gd name="T92" fmla="*/ 1557823 w 3240087"/>
              <a:gd name="T93" fmla="*/ 918528 h 2513013"/>
              <a:gd name="T94" fmla="*/ 1572108 w 3240087"/>
              <a:gd name="T95" fmla="*/ 890905 h 2513013"/>
              <a:gd name="T96" fmla="*/ 1600361 w 3240087"/>
              <a:gd name="T97" fmla="*/ 879793 h 2513013"/>
              <a:gd name="T98" fmla="*/ 1636551 w 3240087"/>
              <a:gd name="T99" fmla="*/ 886143 h 2513013"/>
              <a:gd name="T100" fmla="*/ 1649249 w 3240087"/>
              <a:gd name="T101" fmla="*/ 901700 h 2513013"/>
              <a:gd name="T102" fmla="*/ 1656233 w 3240087"/>
              <a:gd name="T103" fmla="*/ 956310 h 2513013"/>
              <a:gd name="T104" fmla="*/ 1932732 w 3240087"/>
              <a:gd name="T105" fmla="*/ 964883 h 2513013"/>
              <a:gd name="T106" fmla="*/ 1923844 w 3240087"/>
              <a:gd name="T107" fmla="*/ 900748 h 2513013"/>
              <a:gd name="T108" fmla="*/ 1897495 w 3240087"/>
              <a:gd name="T109" fmla="*/ 847725 h 2513013"/>
              <a:gd name="T110" fmla="*/ 1853370 w 3240087"/>
              <a:gd name="T111" fmla="*/ 806450 h 2513013"/>
              <a:gd name="T112" fmla="*/ 1790832 w 3240087"/>
              <a:gd name="T113" fmla="*/ 775970 h 2513013"/>
              <a:gd name="T114" fmla="*/ 1710834 w 3240087"/>
              <a:gd name="T115" fmla="*/ 757238 h 2513013"/>
              <a:gd name="T116" fmla="*/ 2640012 w 3240087"/>
              <a:gd name="T117" fmla="*/ 871220 h 2513013"/>
              <a:gd name="T118" fmla="*/ 1619408 w 3240087"/>
              <a:gd name="T119" fmla="*/ 0 h 2513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40087" h="2513013">
                <a:moveTo>
                  <a:pt x="2446710" y="1060450"/>
                </a:moveTo>
                <a:lnTo>
                  <a:pt x="3240087" y="1736769"/>
                </a:lnTo>
                <a:lnTo>
                  <a:pt x="2830848" y="1736769"/>
                </a:lnTo>
                <a:lnTo>
                  <a:pt x="2956352" y="2513013"/>
                </a:lnTo>
                <a:lnTo>
                  <a:pt x="1936750" y="2513013"/>
                </a:lnTo>
                <a:lnTo>
                  <a:pt x="2017136" y="1939157"/>
                </a:lnTo>
                <a:lnTo>
                  <a:pt x="2275453" y="1939157"/>
                </a:lnTo>
                <a:lnTo>
                  <a:pt x="2351708" y="1939157"/>
                </a:lnTo>
                <a:lnTo>
                  <a:pt x="2338681" y="1859852"/>
                </a:lnTo>
                <a:lnTo>
                  <a:pt x="2238278" y="1237778"/>
                </a:lnTo>
                <a:lnTo>
                  <a:pt x="2446710" y="1060450"/>
                </a:lnTo>
                <a:close/>
                <a:moveTo>
                  <a:pt x="792729" y="1060450"/>
                </a:moveTo>
                <a:lnTo>
                  <a:pt x="988531" y="1227309"/>
                </a:lnTo>
                <a:lnTo>
                  <a:pt x="899991" y="1861120"/>
                </a:lnTo>
                <a:lnTo>
                  <a:pt x="889201" y="1939157"/>
                </a:lnTo>
                <a:lnTo>
                  <a:pt x="963460" y="1939157"/>
                </a:lnTo>
                <a:lnTo>
                  <a:pt x="1209085" y="1939157"/>
                </a:lnTo>
                <a:lnTo>
                  <a:pt x="1301750" y="2513013"/>
                </a:lnTo>
                <a:lnTo>
                  <a:pt x="283389" y="2513013"/>
                </a:lnTo>
                <a:lnTo>
                  <a:pt x="391604" y="1736769"/>
                </a:lnTo>
                <a:lnTo>
                  <a:pt x="0" y="1736769"/>
                </a:lnTo>
                <a:lnTo>
                  <a:pt x="792729" y="1060450"/>
                </a:lnTo>
                <a:close/>
                <a:moveTo>
                  <a:pt x="1554331" y="686118"/>
                </a:moveTo>
                <a:lnTo>
                  <a:pt x="1554331" y="753428"/>
                </a:lnTo>
                <a:lnTo>
                  <a:pt x="1537189" y="755015"/>
                </a:lnTo>
                <a:lnTo>
                  <a:pt x="1520681" y="757238"/>
                </a:lnTo>
                <a:lnTo>
                  <a:pt x="1504491" y="759778"/>
                </a:lnTo>
                <a:lnTo>
                  <a:pt x="1489254" y="762318"/>
                </a:lnTo>
                <a:lnTo>
                  <a:pt x="1474334" y="765175"/>
                </a:lnTo>
                <a:lnTo>
                  <a:pt x="1460048" y="768668"/>
                </a:lnTo>
                <a:lnTo>
                  <a:pt x="1446080" y="772160"/>
                </a:lnTo>
                <a:lnTo>
                  <a:pt x="1432747" y="776288"/>
                </a:lnTo>
                <a:lnTo>
                  <a:pt x="1420049" y="780415"/>
                </a:lnTo>
                <a:lnTo>
                  <a:pt x="1407986" y="785178"/>
                </a:lnTo>
                <a:lnTo>
                  <a:pt x="1396241" y="789940"/>
                </a:lnTo>
                <a:lnTo>
                  <a:pt x="1385130" y="795338"/>
                </a:lnTo>
                <a:lnTo>
                  <a:pt x="1374654" y="800735"/>
                </a:lnTo>
                <a:lnTo>
                  <a:pt x="1364496" y="806768"/>
                </a:lnTo>
                <a:lnTo>
                  <a:pt x="1354972" y="813118"/>
                </a:lnTo>
                <a:lnTo>
                  <a:pt x="1345766" y="819468"/>
                </a:lnTo>
                <a:lnTo>
                  <a:pt x="1337512" y="826453"/>
                </a:lnTo>
                <a:lnTo>
                  <a:pt x="1329893" y="833438"/>
                </a:lnTo>
                <a:lnTo>
                  <a:pt x="1322592" y="841375"/>
                </a:lnTo>
                <a:lnTo>
                  <a:pt x="1315608" y="848995"/>
                </a:lnTo>
                <a:lnTo>
                  <a:pt x="1309259" y="857250"/>
                </a:lnTo>
                <a:lnTo>
                  <a:pt x="1303863" y="865505"/>
                </a:lnTo>
                <a:lnTo>
                  <a:pt x="1298466" y="874395"/>
                </a:lnTo>
                <a:lnTo>
                  <a:pt x="1294022" y="883285"/>
                </a:lnTo>
                <a:lnTo>
                  <a:pt x="1289895" y="892810"/>
                </a:lnTo>
                <a:lnTo>
                  <a:pt x="1286403" y="902653"/>
                </a:lnTo>
                <a:lnTo>
                  <a:pt x="1283546" y="912813"/>
                </a:lnTo>
                <a:lnTo>
                  <a:pt x="1281006" y="922973"/>
                </a:lnTo>
                <a:lnTo>
                  <a:pt x="1279101" y="933768"/>
                </a:lnTo>
                <a:lnTo>
                  <a:pt x="1277514" y="944880"/>
                </a:lnTo>
                <a:lnTo>
                  <a:pt x="1276879" y="955993"/>
                </a:lnTo>
                <a:lnTo>
                  <a:pt x="1276562" y="967423"/>
                </a:lnTo>
                <a:lnTo>
                  <a:pt x="1276562" y="975678"/>
                </a:lnTo>
                <a:lnTo>
                  <a:pt x="1277197" y="983615"/>
                </a:lnTo>
                <a:lnTo>
                  <a:pt x="1277514" y="991553"/>
                </a:lnTo>
                <a:lnTo>
                  <a:pt x="1278784" y="999173"/>
                </a:lnTo>
                <a:lnTo>
                  <a:pt x="1279736" y="1006793"/>
                </a:lnTo>
                <a:lnTo>
                  <a:pt x="1281006" y="1014413"/>
                </a:lnTo>
                <a:lnTo>
                  <a:pt x="1282911" y="1021715"/>
                </a:lnTo>
                <a:lnTo>
                  <a:pt x="1284815" y="1029335"/>
                </a:lnTo>
                <a:lnTo>
                  <a:pt x="1287038" y="1036638"/>
                </a:lnTo>
                <a:lnTo>
                  <a:pt x="1289577" y="1043940"/>
                </a:lnTo>
                <a:lnTo>
                  <a:pt x="1292117" y="1050925"/>
                </a:lnTo>
                <a:lnTo>
                  <a:pt x="1294974" y="1057910"/>
                </a:lnTo>
                <a:lnTo>
                  <a:pt x="1298148" y="1064260"/>
                </a:lnTo>
                <a:lnTo>
                  <a:pt x="1301640" y="1070928"/>
                </a:lnTo>
                <a:lnTo>
                  <a:pt x="1305450" y="1077595"/>
                </a:lnTo>
                <a:lnTo>
                  <a:pt x="1309259" y="1084263"/>
                </a:lnTo>
                <a:lnTo>
                  <a:pt x="1317830" y="1096963"/>
                </a:lnTo>
                <a:lnTo>
                  <a:pt x="1326719" y="1108710"/>
                </a:lnTo>
                <a:lnTo>
                  <a:pt x="1335925" y="1119823"/>
                </a:lnTo>
                <a:lnTo>
                  <a:pt x="1345131" y="1129983"/>
                </a:lnTo>
                <a:lnTo>
                  <a:pt x="1355290" y="1139825"/>
                </a:lnTo>
                <a:lnTo>
                  <a:pt x="1365448" y="1148715"/>
                </a:lnTo>
                <a:lnTo>
                  <a:pt x="1376241" y="1156653"/>
                </a:lnTo>
                <a:lnTo>
                  <a:pt x="1387352" y="1164273"/>
                </a:lnTo>
                <a:lnTo>
                  <a:pt x="1400050" y="1171893"/>
                </a:lnTo>
                <a:lnTo>
                  <a:pt x="1414970" y="1180466"/>
                </a:lnTo>
                <a:lnTo>
                  <a:pt x="1432430" y="1189991"/>
                </a:lnTo>
                <a:lnTo>
                  <a:pt x="1452112" y="1200786"/>
                </a:lnTo>
                <a:lnTo>
                  <a:pt x="1474968" y="1212216"/>
                </a:lnTo>
                <a:lnTo>
                  <a:pt x="1500047" y="1224916"/>
                </a:lnTo>
                <a:lnTo>
                  <a:pt x="1557506" y="1253173"/>
                </a:lnTo>
                <a:lnTo>
                  <a:pt x="1575283" y="1262063"/>
                </a:lnTo>
                <a:lnTo>
                  <a:pt x="1591473" y="1270953"/>
                </a:lnTo>
                <a:lnTo>
                  <a:pt x="1598774" y="1275081"/>
                </a:lnTo>
                <a:lnTo>
                  <a:pt x="1605441" y="1279208"/>
                </a:lnTo>
                <a:lnTo>
                  <a:pt x="1611472" y="1283336"/>
                </a:lnTo>
                <a:lnTo>
                  <a:pt x="1617186" y="1287463"/>
                </a:lnTo>
                <a:lnTo>
                  <a:pt x="1622265" y="1291591"/>
                </a:lnTo>
                <a:lnTo>
                  <a:pt x="1627345" y="1296036"/>
                </a:lnTo>
                <a:lnTo>
                  <a:pt x="1631472" y="1300163"/>
                </a:lnTo>
                <a:lnTo>
                  <a:pt x="1635281" y="1303973"/>
                </a:lnTo>
                <a:lnTo>
                  <a:pt x="1638773" y="1307783"/>
                </a:lnTo>
                <a:lnTo>
                  <a:pt x="1641630" y="1311911"/>
                </a:lnTo>
                <a:lnTo>
                  <a:pt x="1643535" y="1315721"/>
                </a:lnTo>
                <a:lnTo>
                  <a:pt x="1645757" y="1319531"/>
                </a:lnTo>
                <a:lnTo>
                  <a:pt x="1648614" y="1327786"/>
                </a:lnTo>
                <a:lnTo>
                  <a:pt x="1651471" y="1337311"/>
                </a:lnTo>
                <a:lnTo>
                  <a:pt x="1653376" y="1348106"/>
                </a:lnTo>
                <a:lnTo>
                  <a:pt x="1655280" y="1360171"/>
                </a:lnTo>
                <a:lnTo>
                  <a:pt x="1656868" y="1373188"/>
                </a:lnTo>
                <a:lnTo>
                  <a:pt x="1657502" y="1388111"/>
                </a:lnTo>
                <a:lnTo>
                  <a:pt x="1658455" y="1403668"/>
                </a:lnTo>
                <a:lnTo>
                  <a:pt x="1658772" y="1420813"/>
                </a:lnTo>
                <a:lnTo>
                  <a:pt x="1658455" y="1427798"/>
                </a:lnTo>
                <a:lnTo>
                  <a:pt x="1657502" y="1434148"/>
                </a:lnTo>
                <a:lnTo>
                  <a:pt x="1656550" y="1439863"/>
                </a:lnTo>
                <a:lnTo>
                  <a:pt x="1655280" y="1445578"/>
                </a:lnTo>
                <a:lnTo>
                  <a:pt x="1653376" y="1450658"/>
                </a:lnTo>
                <a:lnTo>
                  <a:pt x="1650836" y="1455421"/>
                </a:lnTo>
                <a:lnTo>
                  <a:pt x="1648296" y="1459548"/>
                </a:lnTo>
                <a:lnTo>
                  <a:pt x="1645122" y="1463358"/>
                </a:lnTo>
                <a:lnTo>
                  <a:pt x="1641630" y="1466851"/>
                </a:lnTo>
                <a:lnTo>
                  <a:pt x="1637503" y="1469708"/>
                </a:lnTo>
                <a:lnTo>
                  <a:pt x="1632741" y="1471931"/>
                </a:lnTo>
                <a:lnTo>
                  <a:pt x="1627980" y="1474153"/>
                </a:lnTo>
                <a:lnTo>
                  <a:pt x="1622265" y="1475423"/>
                </a:lnTo>
                <a:lnTo>
                  <a:pt x="1616869" y="1477011"/>
                </a:lnTo>
                <a:lnTo>
                  <a:pt x="1610520" y="1477646"/>
                </a:lnTo>
                <a:lnTo>
                  <a:pt x="1603536" y="1477646"/>
                </a:lnTo>
                <a:lnTo>
                  <a:pt x="1595917" y="1477328"/>
                </a:lnTo>
                <a:lnTo>
                  <a:pt x="1588933" y="1476693"/>
                </a:lnTo>
                <a:lnTo>
                  <a:pt x="1582584" y="1474788"/>
                </a:lnTo>
                <a:lnTo>
                  <a:pt x="1579727" y="1473836"/>
                </a:lnTo>
                <a:lnTo>
                  <a:pt x="1577188" y="1472566"/>
                </a:lnTo>
                <a:lnTo>
                  <a:pt x="1574648" y="1471296"/>
                </a:lnTo>
                <a:lnTo>
                  <a:pt x="1572426" y="1469708"/>
                </a:lnTo>
                <a:lnTo>
                  <a:pt x="1570521" y="1467803"/>
                </a:lnTo>
                <a:lnTo>
                  <a:pt x="1568299" y="1466216"/>
                </a:lnTo>
                <a:lnTo>
                  <a:pt x="1566712" y="1463993"/>
                </a:lnTo>
                <a:lnTo>
                  <a:pt x="1565124" y="1461771"/>
                </a:lnTo>
                <a:lnTo>
                  <a:pt x="1563855" y="1459548"/>
                </a:lnTo>
                <a:lnTo>
                  <a:pt x="1562902" y="1457008"/>
                </a:lnTo>
                <a:lnTo>
                  <a:pt x="1561632" y="1454151"/>
                </a:lnTo>
                <a:lnTo>
                  <a:pt x="1560680" y="1450976"/>
                </a:lnTo>
                <a:lnTo>
                  <a:pt x="1559093" y="1442721"/>
                </a:lnTo>
                <a:lnTo>
                  <a:pt x="1557506" y="1432561"/>
                </a:lnTo>
                <a:lnTo>
                  <a:pt x="1556553" y="1420496"/>
                </a:lnTo>
                <a:lnTo>
                  <a:pt x="1555601" y="1406208"/>
                </a:lnTo>
                <a:lnTo>
                  <a:pt x="1554649" y="1390016"/>
                </a:lnTo>
                <a:lnTo>
                  <a:pt x="1554331" y="1371918"/>
                </a:lnTo>
                <a:lnTo>
                  <a:pt x="1554331" y="1351598"/>
                </a:lnTo>
                <a:lnTo>
                  <a:pt x="1554331" y="1300163"/>
                </a:lnTo>
                <a:lnTo>
                  <a:pt x="1280689" y="1300163"/>
                </a:lnTo>
                <a:lnTo>
                  <a:pt x="1280689" y="1341121"/>
                </a:lnTo>
                <a:lnTo>
                  <a:pt x="1281006" y="1358266"/>
                </a:lnTo>
                <a:lnTo>
                  <a:pt x="1281641" y="1375093"/>
                </a:lnTo>
                <a:lnTo>
                  <a:pt x="1283546" y="1390968"/>
                </a:lnTo>
                <a:lnTo>
                  <a:pt x="1285450" y="1406208"/>
                </a:lnTo>
                <a:lnTo>
                  <a:pt x="1288625" y="1420813"/>
                </a:lnTo>
                <a:lnTo>
                  <a:pt x="1292117" y="1434783"/>
                </a:lnTo>
                <a:lnTo>
                  <a:pt x="1296561" y="1448436"/>
                </a:lnTo>
                <a:lnTo>
                  <a:pt x="1301005" y="1460818"/>
                </a:lnTo>
                <a:lnTo>
                  <a:pt x="1303863" y="1466851"/>
                </a:lnTo>
                <a:lnTo>
                  <a:pt x="1306402" y="1472566"/>
                </a:lnTo>
                <a:lnTo>
                  <a:pt x="1309577" y="1478598"/>
                </a:lnTo>
                <a:lnTo>
                  <a:pt x="1312751" y="1484313"/>
                </a:lnTo>
                <a:lnTo>
                  <a:pt x="1315926" y="1489393"/>
                </a:lnTo>
                <a:lnTo>
                  <a:pt x="1319418" y="1494791"/>
                </a:lnTo>
                <a:lnTo>
                  <a:pt x="1322910" y="1499871"/>
                </a:lnTo>
                <a:lnTo>
                  <a:pt x="1326719" y="1504951"/>
                </a:lnTo>
                <a:lnTo>
                  <a:pt x="1330528" y="1509713"/>
                </a:lnTo>
                <a:lnTo>
                  <a:pt x="1334655" y="1514158"/>
                </a:lnTo>
                <a:lnTo>
                  <a:pt x="1339100" y="1518603"/>
                </a:lnTo>
                <a:lnTo>
                  <a:pt x="1343544" y="1523048"/>
                </a:lnTo>
                <a:lnTo>
                  <a:pt x="1347988" y="1527176"/>
                </a:lnTo>
                <a:lnTo>
                  <a:pt x="1352432" y="1530986"/>
                </a:lnTo>
                <a:lnTo>
                  <a:pt x="1357512" y="1534796"/>
                </a:lnTo>
                <a:lnTo>
                  <a:pt x="1362591" y="1538288"/>
                </a:lnTo>
                <a:lnTo>
                  <a:pt x="1372749" y="1545273"/>
                </a:lnTo>
                <a:lnTo>
                  <a:pt x="1383543" y="1551941"/>
                </a:lnTo>
                <a:lnTo>
                  <a:pt x="1394336" y="1557656"/>
                </a:lnTo>
                <a:lnTo>
                  <a:pt x="1405129" y="1563688"/>
                </a:lnTo>
                <a:lnTo>
                  <a:pt x="1416240" y="1569086"/>
                </a:lnTo>
                <a:lnTo>
                  <a:pt x="1427986" y="1573848"/>
                </a:lnTo>
                <a:lnTo>
                  <a:pt x="1439731" y="1578611"/>
                </a:lnTo>
                <a:lnTo>
                  <a:pt x="1451477" y="1583056"/>
                </a:lnTo>
                <a:lnTo>
                  <a:pt x="1463540" y="1586866"/>
                </a:lnTo>
                <a:lnTo>
                  <a:pt x="1475921" y="1590358"/>
                </a:lnTo>
                <a:lnTo>
                  <a:pt x="1488619" y="1593216"/>
                </a:lnTo>
                <a:lnTo>
                  <a:pt x="1500999" y="1596073"/>
                </a:lnTo>
                <a:lnTo>
                  <a:pt x="1514015" y="1598613"/>
                </a:lnTo>
                <a:lnTo>
                  <a:pt x="1527348" y="1600201"/>
                </a:lnTo>
                <a:lnTo>
                  <a:pt x="1540363" y="1602106"/>
                </a:lnTo>
                <a:lnTo>
                  <a:pt x="1554331" y="1603058"/>
                </a:lnTo>
                <a:lnTo>
                  <a:pt x="1554331" y="1684973"/>
                </a:lnTo>
                <a:lnTo>
                  <a:pt x="1680359" y="1684973"/>
                </a:lnTo>
                <a:lnTo>
                  <a:pt x="1680359" y="1605916"/>
                </a:lnTo>
                <a:lnTo>
                  <a:pt x="1697819" y="1603693"/>
                </a:lnTo>
                <a:lnTo>
                  <a:pt x="1714326" y="1601471"/>
                </a:lnTo>
                <a:lnTo>
                  <a:pt x="1730516" y="1598613"/>
                </a:lnTo>
                <a:lnTo>
                  <a:pt x="1746071" y="1595121"/>
                </a:lnTo>
                <a:lnTo>
                  <a:pt x="1761626" y="1591628"/>
                </a:lnTo>
                <a:lnTo>
                  <a:pt x="1775912" y="1587818"/>
                </a:lnTo>
                <a:lnTo>
                  <a:pt x="1790197" y="1583373"/>
                </a:lnTo>
                <a:lnTo>
                  <a:pt x="1803212" y="1578293"/>
                </a:lnTo>
                <a:lnTo>
                  <a:pt x="1816228" y="1573531"/>
                </a:lnTo>
                <a:lnTo>
                  <a:pt x="1828926" y="1567816"/>
                </a:lnTo>
                <a:lnTo>
                  <a:pt x="1840672" y="1562101"/>
                </a:lnTo>
                <a:lnTo>
                  <a:pt x="1851782" y="1555751"/>
                </a:lnTo>
                <a:lnTo>
                  <a:pt x="1862576" y="1549083"/>
                </a:lnTo>
                <a:lnTo>
                  <a:pt x="1872734" y="1541781"/>
                </a:lnTo>
                <a:lnTo>
                  <a:pt x="1882575" y="1534478"/>
                </a:lnTo>
                <a:lnTo>
                  <a:pt x="1891464" y="1526858"/>
                </a:lnTo>
                <a:lnTo>
                  <a:pt x="1900035" y="1518286"/>
                </a:lnTo>
                <a:lnTo>
                  <a:pt x="1907971" y="1510031"/>
                </a:lnTo>
                <a:lnTo>
                  <a:pt x="1915590" y="1500823"/>
                </a:lnTo>
                <a:lnTo>
                  <a:pt x="1922256" y="1491616"/>
                </a:lnTo>
                <a:lnTo>
                  <a:pt x="1928605" y="1481773"/>
                </a:lnTo>
                <a:lnTo>
                  <a:pt x="1934319" y="1471613"/>
                </a:lnTo>
                <a:lnTo>
                  <a:pt x="1939716" y="1461136"/>
                </a:lnTo>
                <a:lnTo>
                  <a:pt x="1944160" y="1450341"/>
                </a:lnTo>
                <a:lnTo>
                  <a:pt x="1948287" y="1439228"/>
                </a:lnTo>
                <a:lnTo>
                  <a:pt x="1951779" y="1427798"/>
                </a:lnTo>
                <a:lnTo>
                  <a:pt x="1954954" y="1415416"/>
                </a:lnTo>
                <a:lnTo>
                  <a:pt x="1957493" y="1403351"/>
                </a:lnTo>
                <a:lnTo>
                  <a:pt x="1959398" y="1390333"/>
                </a:lnTo>
                <a:lnTo>
                  <a:pt x="1960985" y="1377633"/>
                </a:lnTo>
                <a:lnTo>
                  <a:pt x="1961620" y="1363981"/>
                </a:lnTo>
                <a:lnTo>
                  <a:pt x="1961938" y="1350011"/>
                </a:lnTo>
                <a:lnTo>
                  <a:pt x="1961620" y="1332866"/>
                </a:lnTo>
                <a:lnTo>
                  <a:pt x="1960985" y="1324611"/>
                </a:lnTo>
                <a:lnTo>
                  <a:pt x="1960350" y="1316038"/>
                </a:lnTo>
                <a:lnTo>
                  <a:pt x="1959398" y="1308418"/>
                </a:lnTo>
                <a:lnTo>
                  <a:pt x="1958128" y="1300481"/>
                </a:lnTo>
                <a:lnTo>
                  <a:pt x="1957176" y="1292861"/>
                </a:lnTo>
                <a:lnTo>
                  <a:pt x="1955271" y="1285558"/>
                </a:lnTo>
                <a:lnTo>
                  <a:pt x="1953684" y="1278256"/>
                </a:lnTo>
                <a:lnTo>
                  <a:pt x="1951779" y="1271271"/>
                </a:lnTo>
                <a:lnTo>
                  <a:pt x="1949875" y="1264286"/>
                </a:lnTo>
                <a:lnTo>
                  <a:pt x="1947335" y="1257618"/>
                </a:lnTo>
                <a:lnTo>
                  <a:pt x="1944795" y="1250951"/>
                </a:lnTo>
                <a:lnTo>
                  <a:pt x="1942256" y="1244601"/>
                </a:lnTo>
                <a:lnTo>
                  <a:pt x="1939081" y="1238251"/>
                </a:lnTo>
                <a:lnTo>
                  <a:pt x="1935907" y="1232536"/>
                </a:lnTo>
                <a:lnTo>
                  <a:pt x="1929240" y="1221106"/>
                </a:lnTo>
                <a:lnTo>
                  <a:pt x="1922256" y="1210311"/>
                </a:lnTo>
                <a:lnTo>
                  <a:pt x="1914637" y="1200151"/>
                </a:lnTo>
                <a:lnTo>
                  <a:pt x="1907019" y="1190626"/>
                </a:lnTo>
                <a:lnTo>
                  <a:pt x="1898448" y="1182053"/>
                </a:lnTo>
                <a:lnTo>
                  <a:pt x="1890194" y="1173798"/>
                </a:lnTo>
                <a:lnTo>
                  <a:pt x="1880988" y="1166178"/>
                </a:lnTo>
                <a:lnTo>
                  <a:pt x="1872099" y="1159510"/>
                </a:lnTo>
                <a:lnTo>
                  <a:pt x="1861306" y="1152843"/>
                </a:lnTo>
                <a:lnTo>
                  <a:pt x="1848608" y="1145223"/>
                </a:lnTo>
                <a:lnTo>
                  <a:pt x="1834005" y="1136968"/>
                </a:lnTo>
                <a:lnTo>
                  <a:pt x="1817180" y="1128078"/>
                </a:lnTo>
                <a:lnTo>
                  <a:pt x="1798451" y="1118553"/>
                </a:lnTo>
                <a:lnTo>
                  <a:pt x="1777499" y="1108075"/>
                </a:lnTo>
                <a:lnTo>
                  <a:pt x="1754642" y="1097280"/>
                </a:lnTo>
                <a:lnTo>
                  <a:pt x="1729881" y="1085215"/>
                </a:lnTo>
                <a:lnTo>
                  <a:pt x="1700358" y="1071880"/>
                </a:lnTo>
                <a:lnTo>
                  <a:pt x="1674327" y="1059180"/>
                </a:lnTo>
                <a:lnTo>
                  <a:pt x="1651471" y="1047750"/>
                </a:lnTo>
                <a:lnTo>
                  <a:pt x="1631472" y="1037590"/>
                </a:lnTo>
                <a:lnTo>
                  <a:pt x="1614329" y="1028383"/>
                </a:lnTo>
                <a:lnTo>
                  <a:pt x="1600679" y="1020445"/>
                </a:lnTo>
                <a:lnTo>
                  <a:pt x="1589568" y="1013778"/>
                </a:lnTo>
                <a:lnTo>
                  <a:pt x="1581949" y="1008380"/>
                </a:lnTo>
                <a:lnTo>
                  <a:pt x="1578775" y="1005840"/>
                </a:lnTo>
                <a:lnTo>
                  <a:pt x="1575918" y="1002665"/>
                </a:lnTo>
                <a:lnTo>
                  <a:pt x="1573378" y="999808"/>
                </a:lnTo>
                <a:lnTo>
                  <a:pt x="1570838" y="996315"/>
                </a:lnTo>
                <a:lnTo>
                  <a:pt x="1568299" y="992823"/>
                </a:lnTo>
                <a:lnTo>
                  <a:pt x="1566394" y="989013"/>
                </a:lnTo>
                <a:lnTo>
                  <a:pt x="1564489" y="985203"/>
                </a:lnTo>
                <a:lnTo>
                  <a:pt x="1562902" y="981075"/>
                </a:lnTo>
                <a:lnTo>
                  <a:pt x="1560998" y="976630"/>
                </a:lnTo>
                <a:lnTo>
                  <a:pt x="1560045" y="971868"/>
                </a:lnTo>
                <a:lnTo>
                  <a:pt x="1559093" y="967105"/>
                </a:lnTo>
                <a:lnTo>
                  <a:pt x="1557823" y="962025"/>
                </a:lnTo>
                <a:lnTo>
                  <a:pt x="1557188" y="956310"/>
                </a:lnTo>
                <a:lnTo>
                  <a:pt x="1556871" y="950595"/>
                </a:lnTo>
                <a:lnTo>
                  <a:pt x="1556236" y="938848"/>
                </a:lnTo>
                <a:lnTo>
                  <a:pt x="1556553" y="931863"/>
                </a:lnTo>
                <a:lnTo>
                  <a:pt x="1557188" y="924878"/>
                </a:lnTo>
                <a:lnTo>
                  <a:pt x="1557823" y="918528"/>
                </a:lnTo>
                <a:lnTo>
                  <a:pt x="1559410" y="913130"/>
                </a:lnTo>
                <a:lnTo>
                  <a:pt x="1560998" y="907415"/>
                </a:lnTo>
                <a:lnTo>
                  <a:pt x="1563537" y="902653"/>
                </a:lnTo>
                <a:lnTo>
                  <a:pt x="1566077" y="898525"/>
                </a:lnTo>
                <a:lnTo>
                  <a:pt x="1568616" y="894398"/>
                </a:lnTo>
                <a:lnTo>
                  <a:pt x="1572108" y="890905"/>
                </a:lnTo>
                <a:lnTo>
                  <a:pt x="1575600" y="888048"/>
                </a:lnTo>
                <a:lnTo>
                  <a:pt x="1579727" y="885190"/>
                </a:lnTo>
                <a:lnTo>
                  <a:pt x="1584489" y="882968"/>
                </a:lnTo>
                <a:lnTo>
                  <a:pt x="1589251" y="881698"/>
                </a:lnTo>
                <a:lnTo>
                  <a:pt x="1594647" y="880745"/>
                </a:lnTo>
                <a:lnTo>
                  <a:pt x="1600361" y="879793"/>
                </a:lnTo>
                <a:lnTo>
                  <a:pt x="1606393" y="879475"/>
                </a:lnTo>
                <a:lnTo>
                  <a:pt x="1613694" y="879793"/>
                </a:lnTo>
                <a:lnTo>
                  <a:pt x="1620678" y="880745"/>
                </a:lnTo>
                <a:lnTo>
                  <a:pt x="1626710" y="882015"/>
                </a:lnTo>
                <a:lnTo>
                  <a:pt x="1632106" y="883920"/>
                </a:lnTo>
                <a:lnTo>
                  <a:pt x="1636551" y="886143"/>
                </a:lnTo>
                <a:lnTo>
                  <a:pt x="1640995" y="889318"/>
                </a:lnTo>
                <a:lnTo>
                  <a:pt x="1642582" y="890905"/>
                </a:lnTo>
                <a:lnTo>
                  <a:pt x="1644487" y="892810"/>
                </a:lnTo>
                <a:lnTo>
                  <a:pt x="1645757" y="894715"/>
                </a:lnTo>
                <a:lnTo>
                  <a:pt x="1647027" y="896620"/>
                </a:lnTo>
                <a:lnTo>
                  <a:pt x="1649249" y="901700"/>
                </a:lnTo>
                <a:lnTo>
                  <a:pt x="1651471" y="907733"/>
                </a:lnTo>
                <a:lnTo>
                  <a:pt x="1652741" y="915035"/>
                </a:lnTo>
                <a:lnTo>
                  <a:pt x="1654011" y="923608"/>
                </a:lnTo>
                <a:lnTo>
                  <a:pt x="1655280" y="933450"/>
                </a:lnTo>
                <a:lnTo>
                  <a:pt x="1655915" y="944245"/>
                </a:lnTo>
                <a:lnTo>
                  <a:pt x="1656233" y="956310"/>
                </a:lnTo>
                <a:lnTo>
                  <a:pt x="1656550" y="969645"/>
                </a:lnTo>
                <a:lnTo>
                  <a:pt x="1656550" y="1004570"/>
                </a:lnTo>
                <a:lnTo>
                  <a:pt x="1930193" y="1004570"/>
                </a:lnTo>
                <a:lnTo>
                  <a:pt x="1932097" y="981393"/>
                </a:lnTo>
                <a:lnTo>
                  <a:pt x="1932732" y="972503"/>
                </a:lnTo>
                <a:lnTo>
                  <a:pt x="1932732" y="964883"/>
                </a:lnTo>
                <a:lnTo>
                  <a:pt x="1932732" y="953453"/>
                </a:lnTo>
                <a:lnTo>
                  <a:pt x="1932097" y="942340"/>
                </a:lnTo>
                <a:lnTo>
                  <a:pt x="1930510" y="931545"/>
                </a:lnTo>
                <a:lnTo>
                  <a:pt x="1928923" y="920750"/>
                </a:lnTo>
                <a:lnTo>
                  <a:pt x="1926701" y="910590"/>
                </a:lnTo>
                <a:lnTo>
                  <a:pt x="1923844" y="900748"/>
                </a:lnTo>
                <a:lnTo>
                  <a:pt x="1920987" y="891223"/>
                </a:lnTo>
                <a:lnTo>
                  <a:pt x="1916860" y="881698"/>
                </a:lnTo>
                <a:lnTo>
                  <a:pt x="1912733" y="873125"/>
                </a:lnTo>
                <a:lnTo>
                  <a:pt x="1908288" y="864235"/>
                </a:lnTo>
                <a:lnTo>
                  <a:pt x="1903209" y="855980"/>
                </a:lnTo>
                <a:lnTo>
                  <a:pt x="1897495" y="847725"/>
                </a:lnTo>
                <a:lnTo>
                  <a:pt x="1891146" y="840105"/>
                </a:lnTo>
                <a:lnTo>
                  <a:pt x="1884480" y="832485"/>
                </a:lnTo>
                <a:lnTo>
                  <a:pt x="1877496" y="825500"/>
                </a:lnTo>
                <a:lnTo>
                  <a:pt x="1869877" y="818833"/>
                </a:lnTo>
                <a:lnTo>
                  <a:pt x="1861623" y="812165"/>
                </a:lnTo>
                <a:lnTo>
                  <a:pt x="1853370" y="806450"/>
                </a:lnTo>
                <a:lnTo>
                  <a:pt x="1844163" y="800418"/>
                </a:lnTo>
                <a:lnTo>
                  <a:pt x="1834322" y="795020"/>
                </a:lnTo>
                <a:lnTo>
                  <a:pt x="1824164" y="789623"/>
                </a:lnTo>
                <a:lnTo>
                  <a:pt x="1813688" y="784860"/>
                </a:lnTo>
                <a:lnTo>
                  <a:pt x="1802577" y="780098"/>
                </a:lnTo>
                <a:lnTo>
                  <a:pt x="1790832" y="775970"/>
                </a:lnTo>
                <a:lnTo>
                  <a:pt x="1779086" y="772160"/>
                </a:lnTo>
                <a:lnTo>
                  <a:pt x="1766388" y="768350"/>
                </a:lnTo>
                <a:lnTo>
                  <a:pt x="1753055" y="765175"/>
                </a:lnTo>
                <a:lnTo>
                  <a:pt x="1739405" y="762000"/>
                </a:lnTo>
                <a:lnTo>
                  <a:pt x="1725754" y="759778"/>
                </a:lnTo>
                <a:lnTo>
                  <a:pt x="1710834" y="757238"/>
                </a:lnTo>
                <a:lnTo>
                  <a:pt x="1695914" y="755015"/>
                </a:lnTo>
                <a:lnTo>
                  <a:pt x="1680359" y="753428"/>
                </a:lnTo>
                <a:lnTo>
                  <a:pt x="1680359" y="686118"/>
                </a:lnTo>
                <a:lnTo>
                  <a:pt x="1554331" y="686118"/>
                </a:lnTo>
                <a:close/>
                <a:moveTo>
                  <a:pt x="1619408" y="0"/>
                </a:moveTo>
                <a:lnTo>
                  <a:pt x="2640012" y="871220"/>
                </a:lnTo>
                <a:lnTo>
                  <a:pt x="2113362" y="871220"/>
                </a:lnTo>
                <a:lnTo>
                  <a:pt x="2274944" y="1871663"/>
                </a:lnTo>
                <a:lnTo>
                  <a:pt x="963555" y="1871663"/>
                </a:lnTo>
                <a:lnTo>
                  <a:pt x="1103234" y="871220"/>
                </a:lnTo>
                <a:lnTo>
                  <a:pt x="598487" y="871220"/>
                </a:lnTo>
                <a:lnTo>
                  <a:pt x="1619408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22" name="Freeform 108">
            <a:extLst>
              <a:ext uri="{FF2B5EF4-FFF2-40B4-BE49-F238E27FC236}">
                <a16:creationId xmlns:a16="http://schemas.microsoft.com/office/drawing/2014/main" id="{CB15C280-F610-1272-3E7F-5812CEA2C3AC}"/>
              </a:ext>
            </a:extLst>
          </p:cNvPr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5941215" y="1124755"/>
            <a:ext cx="259403" cy="260747"/>
          </a:xfrm>
          <a:custGeom>
            <a:avLst/>
            <a:gdLst>
              <a:gd name="T0" fmla="*/ 97 w 115"/>
              <a:gd name="T1" fmla="*/ 48 h 115"/>
              <a:gd name="T2" fmla="*/ 91 w 115"/>
              <a:gd name="T3" fmla="*/ 41 h 115"/>
              <a:gd name="T4" fmla="*/ 102 w 115"/>
              <a:gd name="T5" fmla="*/ 26 h 115"/>
              <a:gd name="T6" fmla="*/ 94 w 115"/>
              <a:gd name="T7" fmla="*/ 13 h 115"/>
              <a:gd name="T8" fmla="*/ 79 w 115"/>
              <a:gd name="T9" fmla="*/ 23 h 115"/>
              <a:gd name="T10" fmla="*/ 70 w 115"/>
              <a:gd name="T11" fmla="*/ 22 h 115"/>
              <a:gd name="T12" fmla="*/ 67 w 115"/>
              <a:gd name="T13" fmla="*/ 3 h 115"/>
              <a:gd name="T14" fmla="*/ 52 w 115"/>
              <a:gd name="T15" fmla="*/ 0 h 115"/>
              <a:gd name="T16" fmla="*/ 48 w 115"/>
              <a:gd name="T17" fmla="*/ 18 h 115"/>
              <a:gd name="T18" fmla="*/ 41 w 115"/>
              <a:gd name="T19" fmla="*/ 24 h 115"/>
              <a:gd name="T20" fmla="*/ 26 w 115"/>
              <a:gd name="T21" fmla="*/ 13 h 115"/>
              <a:gd name="T22" fmla="*/ 13 w 115"/>
              <a:gd name="T23" fmla="*/ 21 h 115"/>
              <a:gd name="T24" fmla="*/ 23 w 115"/>
              <a:gd name="T25" fmla="*/ 36 h 115"/>
              <a:gd name="T26" fmla="*/ 22 w 115"/>
              <a:gd name="T27" fmla="*/ 45 h 115"/>
              <a:gd name="T28" fmla="*/ 4 w 115"/>
              <a:gd name="T29" fmla="*/ 48 h 115"/>
              <a:gd name="T30" fmla="*/ 0 w 115"/>
              <a:gd name="T31" fmla="*/ 63 h 115"/>
              <a:gd name="T32" fmla="*/ 18 w 115"/>
              <a:gd name="T33" fmla="*/ 66 h 115"/>
              <a:gd name="T34" fmla="*/ 24 w 115"/>
              <a:gd name="T35" fmla="*/ 73 h 115"/>
              <a:gd name="T36" fmla="*/ 13 w 115"/>
              <a:gd name="T37" fmla="*/ 89 h 115"/>
              <a:gd name="T38" fmla="*/ 21 w 115"/>
              <a:gd name="T39" fmla="*/ 102 h 115"/>
              <a:gd name="T40" fmla="*/ 36 w 115"/>
              <a:gd name="T41" fmla="*/ 92 h 115"/>
              <a:gd name="T42" fmla="*/ 45 w 115"/>
              <a:gd name="T43" fmla="*/ 92 h 115"/>
              <a:gd name="T44" fmla="*/ 48 w 115"/>
              <a:gd name="T45" fmla="*/ 111 h 115"/>
              <a:gd name="T46" fmla="*/ 63 w 115"/>
              <a:gd name="T47" fmla="*/ 115 h 115"/>
              <a:gd name="T48" fmla="*/ 67 w 115"/>
              <a:gd name="T49" fmla="*/ 97 h 115"/>
              <a:gd name="T50" fmla="*/ 74 w 115"/>
              <a:gd name="T51" fmla="*/ 91 h 115"/>
              <a:gd name="T52" fmla="*/ 89 w 115"/>
              <a:gd name="T53" fmla="*/ 102 h 115"/>
              <a:gd name="T54" fmla="*/ 102 w 115"/>
              <a:gd name="T55" fmla="*/ 94 h 115"/>
              <a:gd name="T56" fmla="*/ 92 w 115"/>
              <a:gd name="T57" fmla="*/ 79 h 115"/>
              <a:gd name="T58" fmla="*/ 93 w 115"/>
              <a:gd name="T59" fmla="*/ 70 h 115"/>
              <a:gd name="T60" fmla="*/ 112 w 115"/>
              <a:gd name="T61" fmla="*/ 66 h 115"/>
              <a:gd name="T62" fmla="*/ 115 w 115"/>
              <a:gd name="T63" fmla="*/ 52 h 115"/>
              <a:gd name="T64" fmla="*/ 58 w 115"/>
              <a:gd name="T65" fmla="*/ 79 h 115"/>
              <a:gd name="T66" fmla="*/ 58 w 115"/>
              <a:gd name="T67" fmla="*/ 36 h 115"/>
              <a:gd name="T68" fmla="*/ 58 w 115"/>
              <a:gd name="T69" fmla="*/ 79 h 115"/>
              <a:gd name="T70" fmla="*/ 49 w 115"/>
              <a:gd name="T71" fmla="*/ 57 h 115"/>
              <a:gd name="T72" fmla="*/ 67 w 115"/>
              <a:gd name="T73" fmla="*/ 57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115">
                <a:moveTo>
                  <a:pt x="112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5" y="48"/>
                  <a:pt x="93" y="47"/>
                  <a:pt x="93" y="45"/>
                </a:cubicBezTo>
                <a:cubicBezTo>
                  <a:pt x="91" y="41"/>
                  <a:pt x="91" y="41"/>
                  <a:pt x="91" y="41"/>
                </a:cubicBezTo>
                <a:cubicBezTo>
                  <a:pt x="90" y="40"/>
                  <a:pt x="91" y="37"/>
                  <a:pt x="92" y="3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4"/>
                  <a:pt x="104" y="22"/>
                  <a:pt x="102" y="21"/>
                </a:cubicBezTo>
                <a:cubicBezTo>
                  <a:pt x="94" y="13"/>
                  <a:pt x="94" y="13"/>
                  <a:pt x="94" y="13"/>
                </a:cubicBezTo>
                <a:cubicBezTo>
                  <a:pt x="93" y="11"/>
                  <a:pt x="91" y="11"/>
                  <a:pt x="89" y="13"/>
                </a:cubicBezTo>
                <a:cubicBezTo>
                  <a:pt x="79" y="23"/>
                  <a:pt x="79" y="23"/>
                  <a:pt x="79" y="23"/>
                </a:cubicBezTo>
                <a:cubicBezTo>
                  <a:pt x="78" y="24"/>
                  <a:pt x="75" y="25"/>
                  <a:pt x="74" y="24"/>
                </a:cubicBezTo>
                <a:cubicBezTo>
                  <a:pt x="70" y="22"/>
                  <a:pt x="70" y="22"/>
                  <a:pt x="70" y="22"/>
                </a:cubicBezTo>
                <a:cubicBezTo>
                  <a:pt x="68" y="22"/>
                  <a:pt x="67" y="20"/>
                  <a:pt x="67" y="18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0" y="0"/>
                  <a:pt x="48" y="1"/>
                  <a:pt x="48" y="3"/>
                </a:cubicBezTo>
                <a:cubicBezTo>
                  <a:pt x="48" y="18"/>
                  <a:pt x="48" y="18"/>
                  <a:pt x="48" y="18"/>
                </a:cubicBezTo>
                <a:cubicBezTo>
                  <a:pt x="48" y="20"/>
                  <a:pt x="47" y="22"/>
                  <a:pt x="45" y="22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5"/>
                  <a:pt x="37" y="24"/>
                  <a:pt x="36" y="23"/>
                </a:cubicBezTo>
                <a:cubicBezTo>
                  <a:pt x="26" y="13"/>
                  <a:pt x="26" y="13"/>
                  <a:pt x="26" y="13"/>
                </a:cubicBezTo>
                <a:cubicBezTo>
                  <a:pt x="25" y="11"/>
                  <a:pt x="22" y="11"/>
                  <a:pt x="21" y="13"/>
                </a:cubicBezTo>
                <a:cubicBezTo>
                  <a:pt x="13" y="21"/>
                  <a:pt x="13" y="21"/>
                  <a:pt x="13" y="21"/>
                </a:cubicBezTo>
                <a:cubicBezTo>
                  <a:pt x="12" y="22"/>
                  <a:pt x="12" y="24"/>
                  <a:pt x="13" y="26"/>
                </a:cubicBezTo>
                <a:cubicBezTo>
                  <a:pt x="23" y="36"/>
                  <a:pt x="23" y="36"/>
                  <a:pt x="23" y="36"/>
                </a:cubicBezTo>
                <a:cubicBezTo>
                  <a:pt x="24" y="37"/>
                  <a:pt x="25" y="40"/>
                  <a:pt x="24" y="41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0" y="48"/>
                  <a:pt x="1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5"/>
                  <a:pt x="2" y="66"/>
                  <a:pt x="4" y="66"/>
                </a:cubicBezTo>
                <a:cubicBezTo>
                  <a:pt x="18" y="66"/>
                  <a:pt x="18" y="66"/>
                  <a:pt x="18" y="66"/>
                </a:cubicBezTo>
                <a:cubicBezTo>
                  <a:pt x="20" y="66"/>
                  <a:pt x="22" y="68"/>
                  <a:pt x="22" y="70"/>
                </a:cubicBezTo>
                <a:cubicBezTo>
                  <a:pt x="24" y="73"/>
                  <a:pt x="24" y="73"/>
                  <a:pt x="24" y="73"/>
                </a:cubicBezTo>
                <a:cubicBezTo>
                  <a:pt x="25" y="75"/>
                  <a:pt x="24" y="78"/>
                  <a:pt x="23" y="79"/>
                </a:cubicBezTo>
                <a:cubicBezTo>
                  <a:pt x="13" y="89"/>
                  <a:pt x="13" y="89"/>
                  <a:pt x="13" y="89"/>
                </a:cubicBezTo>
                <a:cubicBezTo>
                  <a:pt x="12" y="90"/>
                  <a:pt x="12" y="93"/>
                  <a:pt x="13" y="94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103"/>
                  <a:pt x="25" y="103"/>
                  <a:pt x="26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0"/>
                  <a:pt x="40" y="90"/>
                  <a:pt x="41" y="91"/>
                </a:cubicBezTo>
                <a:cubicBezTo>
                  <a:pt x="45" y="92"/>
                  <a:pt x="45" y="92"/>
                  <a:pt x="45" y="92"/>
                </a:cubicBezTo>
                <a:cubicBezTo>
                  <a:pt x="47" y="93"/>
                  <a:pt x="48" y="95"/>
                  <a:pt x="48" y="9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8" y="113"/>
                  <a:pt x="50" y="115"/>
                  <a:pt x="52" y="115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5" y="115"/>
                  <a:pt x="67" y="113"/>
                  <a:pt x="67" y="111"/>
                </a:cubicBezTo>
                <a:cubicBezTo>
                  <a:pt x="67" y="97"/>
                  <a:pt x="67" y="97"/>
                  <a:pt x="67" y="97"/>
                </a:cubicBezTo>
                <a:cubicBezTo>
                  <a:pt x="67" y="95"/>
                  <a:pt x="68" y="93"/>
                  <a:pt x="70" y="92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8" y="90"/>
                  <a:pt x="79" y="92"/>
                </a:cubicBezTo>
                <a:cubicBezTo>
                  <a:pt x="89" y="102"/>
                  <a:pt x="89" y="102"/>
                  <a:pt x="89" y="102"/>
                </a:cubicBezTo>
                <a:cubicBezTo>
                  <a:pt x="91" y="103"/>
                  <a:pt x="93" y="103"/>
                  <a:pt x="94" y="102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04" y="93"/>
                  <a:pt x="104" y="90"/>
                  <a:pt x="102" y="89"/>
                </a:cubicBezTo>
                <a:cubicBezTo>
                  <a:pt x="92" y="79"/>
                  <a:pt x="92" y="79"/>
                  <a:pt x="92" y="79"/>
                </a:cubicBezTo>
                <a:cubicBezTo>
                  <a:pt x="91" y="78"/>
                  <a:pt x="90" y="75"/>
                  <a:pt x="91" y="73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68"/>
                  <a:pt x="95" y="66"/>
                  <a:pt x="97" y="66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3" y="66"/>
                  <a:pt x="115" y="65"/>
                  <a:pt x="115" y="6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15" y="50"/>
                  <a:pt x="113" y="48"/>
                  <a:pt x="112" y="48"/>
                </a:cubicBezTo>
                <a:close/>
                <a:moveTo>
                  <a:pt x="58" y="79"/>
                </a:moveTo>
                <a:cubicBezTo>
                  <a:pt x="46" y="79"/>
                  <a:pt x="36" y="69"/>
                  <a:pt x="36" y="57"/>
                </a:cubicBezTo>
                <a:cubicBezTo>
                  <a:pt x="36" y="46"/>
                  <a:pt x="46" y="36"/>
                  <a:pt x="58" y="36"/>
                </a:cubicBezTo>
                <a:cubicBezTo>
                  <a:pt x="69" y="36"/>
                  <a:pt x="79" y="46"/>
                  <a:pt x="79" y="57"/>
                </a:cubicBezTo>
                <a:cubicBezTo>
                  <a:pt x="79" y="69"/>
                  <a:pt x="69" y="79"/>
                  <a:pt x="58" y="79"/>
                </a:cubicBezTo>
                <a:close/>
                <a:moveTo>
                  <a:pt x="58" y="48"/>
                </a:moveTo>
                <a:cubicBezTo>
                  <a:pt x="53" y="48"/>
                  <a:pt x="49" y="52"/>
                  <a:pt x="49" y="57"/>
                </a:cubicBezTo>
                <a:cubicBezTo>
                  <a:pt x="49" y="62"/>
                  <a:pt x="53" y="66"/>
                  <a:pt x="58" y="66"/>
                </a:cubicBezTo>
                <a:cubicBezTo>
                  <a:pt x="63" y="66"/>
                  <a:pt x="67" y="62"/>
                  <a:pt x="67" y="57"/>
                </a:cubicBezTo>
                <a:cubicBezTo>
                  <a:pt x="67" y="52"/>
                  <a:pt x="63" y="48"/>
                  <a:pt x="58" y="48"/>
                </a:cubicBez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vert="horz" wrap="square" lIns="91439" tIns="45719" rIns="91439" bIns="45719" numCol="1" anchor="t" anchorCtr="0" compatLnSpc="1"/>
          <a:lstStyle/>
          <a:p>
            <a:pPr defTabSz="1219200">
              <a:defRPr/>
            </a:pPr>
            <a:endParaRPr lang="zh-CN" altLang="en-US" kern="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23" name="KSO_Shape">
            <a:extLst>
              <a:ext uri="{FF2B5EF4-FFF2-40B4-BE49-F238E27FC236}">
                <a16:creationId xmlns:a16="http://schemas.microsoft.com/office/drawing/2014/main" id="{A025C83B-0C9E-B737-EB7B-755F1917BA2F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5948831" y="2481120"/>
            <a:ext cx="258059" cy="209225"/>
          </a:xfrm>
          <a:custGeom>
            <a:avLst/>
            <a:gdLst>
              <a:gd name="T0" fmla="*/ 104753 w 3040062"/>
              <a:gd name="T1" fmla="*/ 1241540 h 2303463"/>
              <a:gd name="T2" fmla="*/ 251725 w 3040062"/>
              <a:gd name="T3" fmla="*/ 1260899 h 2303463"/>
              <a:gd name="T4" fmla="*/ 265692 w 3040062"/>
              <a:gd name="T5" fmla="*/ 1110467 h 2303463"/>
              <a:gd name="T6" fmla="*/ 844867 w 3040062"/>
              <a:gd name="T7" fmla="*/ 970596 h 2303463"/>
              <a:gd name="T8" fmla="*/ 870584 w 3040062"/>
              <a:gd name="T9" fmla="*/ 987377 h 2303463"/>
              <a:gd name="T10" fmla="*/ 872172 w 3040062"/>
              <a:gd name="T11" fmla="*/ 1402771 h 2303463"/>
              <a:gd name="T12" fmla="*/ 848359 w 3040062"/>
              <a:gd name="T13" fmla="*/ 1421768 h 2303463"/>
              <a:gd name="T14" fmla="*/ 615315 w 3040062"/>
              <a:gd name="T15" fmla="*/ 1415119 h 2303463"/>
              <a:gd name="T16" fmla="*/ 603250 w 3040062"/>
              <a:gd name="T17" fmla="*/ 1002891 h 2303463"/>
              <a:gd name="T18" fmla="*/ 617855 w 3040062"/>
              <a:gd name="T19" fmla="*/ 975662 h 2303463"/>
              <a:gd name="T20" fmla="*/ 1240437 w 3040062"/>
              <a:gd name="T21" fmla="*/ 749300 h 2303463"/>
              <a:gd name="T22" fmla="*/ 1265867 w 3040062"/>
              <a:gd name="T23" fmla="*/ 766421 h 2303463"/>
              <a:gd name="T24" fmla="*/ 1267138 w 3040062"/>
              <a:gd name="T25" fmla="*/ 1402743 h 2303463"/>
              <a:gd name="T26" fmla="*/ 1243616 w 3040062"/>
              <a:gd name="T27" fmla="*/ 1421766 h 2303463"/>
              <a:gd name="T28" fmla="*/ 1010298 w 3040062"/>
              <a:gd name="T29" fmla="*/ 1415108 h 2303463"/>
              <a:gd name="T30" fmla="*/ 998537 w 3040062"/>
              <a:gd name="T31" fmla="*/ 782273 h 2303463"/>
              <a:gd name="T32" fmla="*/ 1012841 w 3040062"/>
              <a:gd name="T33" fmla="*/ 755007 h 2303463"/>
              <a:gd name="T34" fmla="*/ 2175011 w 3040062"/>
              <a:gd name="T35" fmla="*/ 666432 h 2303463"/>
              <a:gd name="T36" fmla="*/ 2235666 w 3040062"/>
              <a:gd name="T37" fmla="*/ 692135 h 2303463"/>
              <a:gd name="T38" fmla="*/ 2277268 w 3040062"/>
              <a:gd name="T39" fmla="*/ 742271 h 2303463"/>
              <a:gd name="T40" fmla="*/ 2290605 w 3040062"/>
              <a:gd name="T41" fmla="*/ 1286150 h 2303463"/>
              <a:gd name="T42" fmla="*/ 2948603 w 3040062"/>
              <a:gd name="T43" fmla="*/ 1365796 h 2303463"/>
              <a:gd name="T44" fmla="*/ 3005765 w 3040062"/>
              <a:gd name="T45" fmla="*/ 1408316 h 2303463"/>
              <a:gd name="T46" fmla="*/ 3036887 w 3040062"/>
              <a:gd name="T47" fmla="*/ 1473366 h 2303463"/>
              <a:gd name="T48" fmla="*/ 3035616 w 3040062"/>
              <a:gd name="T49" fmla="*/ 2191451 h 2303463"/>
              <a:gd name="T50" fmla="*/ 3001319 w 3040062"/>
              <a:gd name="T51" fmla="*/ 2254597 h 2303463"/>
              <a:gd name="T52" fmla="*/ 2941934 w 3040062"/>
              <a:gd name="T53" fmla="*/ 2294578 h 2303463"/>
              <a:gd name="T54" fmla="*/ 2171200 w 3040062"/>
              <a:gd name="T55" fmla="*/ 2303146 h 2303463"/>
              <a:gd name="T56" fmla="*/ 2113403 w 3040062"/>
              <a:gd name="T57" fmla="*/ 2292040 h 2303463"/>
              <a:gd name="T58" fmla="*/ 1552263 w 3040062"/>
              <a:gd name="T59" fmla="*/ 1741815 h 2303463"/>
              <a:gd name="T60" fmla="*/ 1526223 w 3040062"/>
              <a:gd name="T61" fmla="*/ 1686919 h 2303463"/>
              <a:gd name="T62" fmla="*/ 1529081 w 3040062"/>
              <a:gd name="T63" fmla="*/ 1626946 h 2303463"/>
              <a:gd name="T64" fmla="*/ 1560520 w 3040062"/>
              <a:gd name="T65" fmla="*/ 1574272 h 2303463"/>
              <a:gd name="T66" fmla="*/ 1612919 w 3040062"/>
              <a:gd name="T67" fmla="*/ 1542858 h 2303463"/>
              <a:gd name="T68" fmla="*/ 1673891 w 3040062"/>
              <a:gd name="T69" fmla="*/ 1539685 h 2303463"/>
              <a:gd name="T70" fmla="*/ 1728513 w 3040062"/>
              <a:gd name="T71" fmla="*/ 1565705 h 2303463"/>
              <a:gd name="T72" fmla="*/ 2024167 w 3040062"/>
              <a:gd name="T73" fmla="*/ 760992 h 2303463"/>
              <a:gd name="T74" fmla="*/ 2057829 w 3040062"/>
              <a:gd name="T75" fmla="*/ 704828 h 2303463"/>
              <a:gd name="T76" fmla="*/ 2113721 w 3040062"/>
              <a:gd name="T77" fmla="*/ 670875 h 2303463"/>
              <a:gd name="T78" fmla="*/ 1640947 w 3040062"/>
              <a:gd name="T79" fmla="*/ 485773 h 2303463"/>
              <a:gd name="T80" fmla="*/ 1662436 w 3040062"/>
              <a:gd name="T81" fmla="*/ 507334 h 2303463"/>
              <a:gd name="T82" fmla="*/ 1658328 w 3040062"/>
              <a:gd name="T83" fmla="*/ 1408133 h 2303463"/>
              <a:gd name="T84" fmla="*/ 1631151 w 3040062"/>
              <a:gd name="T85" fmla="*/ 1422401 h 2303463"/>
              <a:gd name="T86" fmla="*/ 1401409 w 3040062"/>
              <a:gd name="T87" fmla="*/ 1410669 h 2303463"/>
              <a:gd name="T88" fmla="*/ 1394457 w 3040062"/>
              <a:gd name="T89" fmla="*/ 510505 h 2303463"/>
              <a:gd name="T90" fmla="*/ 1413734 w 3040062"/>
              <a:gd name="T91" fmla="*/ 486725 h 2303463"/>
              <a:gd name="T92" fmla="*/ 2856582 w 3040062"/>
              <a:gd name="T93" fmla="*/ 2539 h 2303463"/>
              <a:gd name="T94" fmla="*/ 2942924 w 3040062"/>
              <a:gd name="T95" fmla="*/ 45384 h 2303463"/>
              <a:gd name="T96" fmla="*/ 3001649 w 3040062"/>
              <a:gd name="T97" fmla="*/ 130121 h 2303463"/>
              <a:gd name="T98" fmla="*/ 3021012 w 3040062"/>
              <a:gd name="T99" fmla="*/ 1276768 h 2303463"/>
              <a:gd name="T100" fmla="*/ 2944193 w 3040062"/>
              <a:gd name="T101" fmla="*/ 1247252 h 2303463"/>
              <a:gd name="T102" fmla="*/ 374889 w 3040062"/>
              <a:gd name="T103" fmla="*/ 1959424 h 2303463"/>
              <a:gd name="T104" fmla="*/ 127291 w 3040062"/>
              <a:gd name="T105" fmla="*/ 2259336 h 2303463"/>
              <a:gd name="T106" fmla="*/ 50472 w 3040062"/>
              <a:gd name="T107" fmla="*/ 2198402 h 2303463"/>
              <a:gd name="T108" fmla="*/ 6349 w 3040062"/>
              <a:gd name="T109" fmla="*/ 2100970 h 2303463"/>
              <a:gd name="T110" fmla="*/ 3809 w 3040062"/>
              <a:gd name="T111" fmla="*/ 183438 h 2303463"/>
              <a:gd name="T112" fmla="*/ 44441 w 3040062"/>
              <a:gd name="T113" fmla="*/ 83468 h 2303463"/>
              <a:gd name="T114" fmla="*/ 118720 w 3040062"/>
              <a:gd name="T115" fmla="*/ 17773 h 2303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40062" h="2303463">
                <a:moveTo>
                  <a:pt x="124116" y="1098725"/>
                </a:moveTo>
                <a:lnTo>
                  <a:pt x="120307" y="1099042"/>
                </a:lnTo>
                <a:lnTo>
                  <a:pt x="116498" y="1099994"/>
                </a:lnTo>
                <a:lnTo>
                  <a:pt x="113324" y="1101898"/>
                </a:lnTo>
                <a:lnTo>
                  <a:pt x="110467" y="1104120"/>
                </a:lnTo>
                <a:lnTo>
                  <a:pt x="108245" y="1107294"/>
                </a:lnTo>
                <a:lnTo>
                  <a:pt x="106340" y="1110467"/>
                </a:lnTo>
                <a:lnTo>
                  <a:pt x="105071" y="1114276"/>
                </a:lnTo>
                <a:lnTo>
                  <a:pt x="104753" y="1118084"/>
                </a:lnTo>
                <a:lnTo>
                  <a:pt x="104753" y="1241540"/>
                </a:lnTo>
                <a:lnTo>
                  <a:pt x="105071" y="1245348"/>
                </a:lnTo>
                <a:lnTo>
                  <a:pt x="106340" y="1249157"/>
                </a:lnTo>
                <a:lnTo>
                  <a:pt x="108245" y="1252330"/>
                </a:lnTo>
                <a:lnTo>
                  <a:pt x="110467" y="1255187"/>
                </a:lnTo>
                <a:lnTo>
                  <a:pt x="113324" y="1257726"/>
                </a:lnTo>
                <a:lnTo>
                  <a:pt x="116498" y="1259312"/>
                </a:lnTo>
                <a:lnTo>
                  <a:pt x="120307" y="1260899"/>
                </a:lnTo>
                <a:lnTo>
                  <a:pt x="124116" y="1261217"/>
                </a:lnTo>
                <a:lnTo>
                  <a:pt x="247598" y="1261217"/>
                </a:lnTo>
                <a:lnTo>
                  <a:pt x="251725" y="1260899"/>
                </a:lnTo>
                <a:lnTo>
                  <a:pt x="255216" y="1259312"/>
                </a:lnTo>
                <a:lnTo>
                  <a:pt x="258708" y="1257726"/>
                </a:lnTo>
                <a:lnTo>
                  <a:pt x="261565" y="1255187"/>
                </a:lnTo>
                <a:lnTo>
                  <a:pt x="264105" y="1252330"/>
                </a:lnTo>
                <a:lnTo>
                  <a:pt x="265692" y="1249157"/>
                </a:lnTo>
                <a:lnTo>
                  <a:pt x="266644" y="1245348"/>
                </a:lnTo>
                <a:lnTo>
                  <a:pt x="266961" y="1241540"/>
                </a:lnTo>
                <a:lnTo>
                  <a:pt x="266961" y="1118084"/>
                </a:lnTo>
                <a:lnTo>
                  <a:pt x="266644" y="1114276"/>
                </a:lnTo>
                <a:lnTo>
                  <a:pt x="265692" y="1110467"/>
                </a:lnTo>
                <a:lnTo>
                  <a:pt x="264105" y="1107294"/>
                </a:lnTo>
                <a:lnTo>
                  <a:pt x="261565" y="1104120"/>
                </a:lnTo>
                <a:lnTo>
                  <a:pt x="258708" y="1101898"/>
                </a:lnTo>
                <a:lnTo>
                  <a:pt x="255216" y="1099994"/>
                </a:lnTo>
                <a:lnTo>
                  <a:pt x="251725" y="1099042"/>
                </a:lnTo>
                <a:lnTo>
                  <a:pt x="247598" y="1098725"/>
                </a:lnTo>
                <a:lnTo>
                  <a:pt x="124116" y="1098725"/>
                </a:lnTo>
                <a:close/>
                <a:moveTo>
                  <a:pt x="636270" y="969963"/>
                </a:moveTo>
                <a:lnTo>
                  <a:pt x="841692" y="969963"/>
                </a:lnTo>
                <a:lnTo>
                  <a:pt x="844867" y="970596"/>
                </a:lnTo>
                <a:lnTo>
                  <a:pt x="848359" y="970913"/>
                </a:lnTo>
                <a:lnTo>
                  <a:pt x="851534" y="971546"/>
                </a:lnTo>
                <a:lnTo>
                  <a:pt x="854709" y="972813"/>
                </a:lnTo>
                <a:lnTo>
                  <a:pt x="857567" y="974396"/>
                </a:lnTo>
                <a:lnTo>
                  <a:pt x="860107" y="975662"/>
                </a:lnTo>
                <a:lnTo>
                  <a:pt x="862647" y="977878"/>
                </a:lnTo>
                <a:lnTo>
                  <a:pt x="865187" y="979778"/>
                </a:lnTo>
                <a:lnTo>
                  <a:pt x="867092" y="982311"/>
                </a:lnTo>
                <a:lnTo>
                  <a:pt x="868997" y="984844"/>
                </a:lnTo>
                <a:lnTo>
                  <a:pt x="870584" y="987377"/>
                </a:lnTo>
                <a:lnTo>
                  <a:pt x="872172" y="990226"/>
                </a:lnTo>
                <a:lnTo>
                  <a:pt x="873124" y="993076"/>
                </a:lnTo>
                <a:lnTo>
                  <a:pt x="873760" y="996242"/>
                </a:lnTo>
                <a:lnTo>
                  <a:pt x="874712" y="999725"/>
                </a:lnTo>
                <a:lnTo>
                  <a:pt x="874712" y="1002891"/>
                </a:lnTo>
                <a:lnTo>
                  <a:pt x="874712" y="1389790"/>
                </a:lnTo>
                <a:lnTo>
                  <a:pt x="874712" y="1393273"/>
                </a:lnTo>
                <a:lnTo>
                  <a:pt x="873760" y="1396439"/>
                </a:lnTo>
                <a:lnTo>
                  <a:pt x="873124" y="1399605"/>
                </a:lnTo>
                <a:lnTo>
                  <a:pt x="872172" y="1402771"/>
                </a:lnTo>
                <a:lnTo>
                  <a:pt x="870584" y="1405304"/>
                </a:lnTo>
                <a:lnTo>
                  <a:pt x="868997" y="1408154"/>
                </a:lnTo>
                <a:lnTo>
                  <a:pt x="867092" y="1410686"/>
                </a:lnTo>
                <a:lnTo>
                  <a:pt x="865187" y="1413219"/>
                </a:lnTo>
                <a:lnTo>
                  <a:pt x="862647" y="1415119"/>
                </a:lnTo>
                <a:lnTo>
                  <a:pt x="860107" y="1417019"/>
                </a:lnTo>
                <a:lnTo>
                  <a:pt x="857567" y="1418602"/>
                </a:lnTo>
                <a:lnTo>
                  <a:pt x="854709" y="1420185"/>
                </a:lnTo>
                <a:lnTo>
                  <a:pt x="851534" y="1421135"/>
                </a:lnTo>
                <a:lnTo>
                  <a:pt x="848359" y="1421768"/>
                </a:lnTo>
                <a:lnTo>
                  <a:pt x="844867" y="1422401"/>
                </a:lnTo>
                <a:lnTo>
                  <a:pt x="841692" y="1422401"/>
                </a:lnTo>
                <a:lnTo>
                  <a:pt x="636270" y="1422401"/>
                </a:lnTo>
                <a:lnTo>
                  <a:pt x="632777" y="1422401"/>
                </a:lnTo>
                <a:lnTo>
                  <a:pt x="629920" y="1421768"/>
                </a:lnTo>
                <a:lnTo>
                  <a:pt x="626745" y="1421135"/>
                </a:lnTo>
                <a:lnTo>
                  <a:pt x="623570" y="1420185"/>
                </a:lnTo>
                <a:lnTo>
                  <a:pt x="620713" y="1418602"/>
                </a:lnTo>
                <a:lnTo>
                  <a:pt x="617855" y="1417019"/>
                </a:lnTo>
                <a:lnTo>
                  <a:pt x="615315" y="1415119"/>
                </a:lnTo>
                <a:lnTo>
                  <a:pt x="613093" y="1413219"/>
                </a:lnTo>
                <a:lnTo>
                  <a:pt x="610870" y="1410686"/>
                </a:lnTo>
                <a:lnTo>
                  <a:pt x="608965" y="1408154"/>
                </a:lnTo>
                <a:lnTo>
                  <a:pt x="607378" y="1405304"/>
                </a:lnTo>
                <a:lnTo>
                  <a:pt x="606108" y="1402771"/>
                </a:lnTo>
                <a:lnTo>
                  <a:pt x="605155" y="1399605"/>
                </a:lnTo>
                <a:lnTo>
                  <a:pt x="603885" y="1396439"/>
                </a:lnTo>
                <a:lnTo>
                  <a:pt x="603568" y="1393273"/>
                </a:lnTo>
                <a:lnTo>
                  <a:pt x="603250" y="1389790"/>
                </a:lnTo>
                <a:lnTo>
                  <a:pt x="603250" y="1002891"/>
                </a:lnTo>
                <a:lnTo>
                  <a:pt x="603568" y="999725"/>
                </a:lnTo>
                <a:lnTo>
                  <a:pt x="603885" y="996242"/>
                </a:lnTo>
                <a:lnTo>
                  <a:pt x="605155" y="993076"/>
                </a:lnTo>
                <a:lnTo>
                  <a:pt x="606108" y="990226"/>
                </a:lnTo>
                <a:lnTo>
                  <a:pt x="607378" y="987377"/>
                </a:lnTo>
                <a:lnTo>
                  <a:pt x="608965" y="984844"/>
                </a:lnTo>
                <a:lnTo>
                  <a:pt x="610870" y="982311"/>
                </a:lnTo>
                <a:lnTo>
                  <a:pt x="613093" y="979778"/>
                </a:lnTo>
                <a:lnTo>
                  <a:pt x="615315" y="977878"/>
                </a:lnTo>
                <a:lnTo>
                  <a:pt x="617855" y="975662"/>
                </a:lnTo>
                <a:lnTo>
                  <a:pt x="620713" y="974396"/>
                </a:lnTo>
                <a:lnTo>
                  <a:pt x="623570" y="972813"/>
                </a:lnTo>
                <a:lnTo>
                  <a:pt x="626745" y="971546"/>
                </a:lnTo>
                <a:lnTo>
                  <a:pt x="629920" y="970913"/>
                </a:lnTo>
                <a:lnTo>
                  <a:pt x="632777" y="970596"/>
                </a:lnTo>
                <a:lnTo>
                  <a:pt x="636270" y="969963"/>
                </a:lnTo>
                <a:close/>
                <a:moveTo>
                  <a:pt x="1027781" y="749300"/>
                </a:moveTo>
                <a:lnTo>
                  <a:pt x="1031278" y="749300"/>
                </a:lnTo>
                <a:lnTo>
                  <a:pt x="1236940" y="749300"/>
                </a:lnTo>
                <a:lnTo>
                  <a:pt x="1240437" y="749300"/>
                </a:lnTo>
                <a:lnTo>
                  <a:pt x="1243616" y="750251"/>
                </a:lnTo>
                <a:lnTo>
                  <a:pt x="1246476" y="750885"/>
                </a:lnTo>
                <a:lnTo>
                  <a:pt x="1249655" y="751837"/>
                </a:lnTo>
                <a:lnTo>
                  <a:pt x="1252516" y="753105"/>
                </a:lnTo>
                <a:lnTo>
                  <a:pt x="1255377" y="755007"/>
                </a:lnTo>
                <a:lnTo>
                  <a:pt x="1257920" y="756592"/>
                </a:lnTo>
                <a:lnTo>
                  <a:pt x="1260145" y="758812"/>
                </a:lnTo>
                <a:lnTo>
                  <a:pt x="1262370" y="761348"/>
                </a:lnTo>
                <a:lnTo>
                  <a:pt x="1264595" y="763567"/>
                </a:lnTo>
                <a:lnTo>
                  <a:pt x="1265867" y="766421"/>
                </a:lnTo>
                <a:lnTo>
                  <a:pt x="1267138" y="769274"/>
                </a:lnTo>
                <a:lnTo>
                  <a:pt x="1268410" y="772445"/>
                </a:lnTo>
                <a:lnTo>
                  <a:pt x="1269363" y="775615"/>
                </a:lnTo>
                <a:lnTo>
                  <a:pt x="1269681" y="778786"/>
                </a:lnTo>
                <a:lnTo>
                  <a:pt x="1269999" y="782273"/>
                </a:lnTo>
                <a:lnTo>
                  <a:pt x="1269999" y="1389744"/>
                </a:lnTo>
                <a:lnTo>
                  <a:pt x="1269681" y="1393231"/>
                </a:lnTo>
                <a:lnTo>
                  <a:pt x="1269363" y="1396402"/>
                </a:lnTo>
                <a:lnTo>
                  <a:pt x="1268410" y="1399572"/>
                </a:lnTo>
                <a:lnTo>
                  <a:pt x="1267138" y="1402743"/>
                </a:lnTo>
                <a:lnTo>
                  <a:pt x="1265867" y="1405279"/>
                </a:lnTo>
                <a:lnTo>
                  <a:pt x="1264595" y="1408133"/>
                </a:lnTo>
                <a:lnTo>
                  <a:pt x="1262370" y="1410669"/>
                </a:lnTo>
                <a:lnTo>
                  <a:pt x="1260145" y="1413206"/>
                </a:lnTo>
                <a:lnTo>
                  <a:pt x="1257920" y="1415108"/>
                </a:lnTo>
                <a:lnTo>
                  <a:pt x="1255377" y="1417010"/>
                </a:lnTo>
                <a:lnTo>
                  <a:pt x="1252516" y="1418595"/>
                </a:lnTo>
                <a:lnTo>
                  <a:pt x="1249655" y="1420181"/>
                </a:lnTo>
                <a:lnTo>
                  <a:pt x="1246476" y="1421132"/>
                </a:lnTo>
                <a:lnTo>
                  <a:pt x="1243616" y="1421766"/>
                </a:lnTo>
                <a:lnTo>
                  <a:pt x="1240437" y="1422400"/>
                </a:lnTo>
                <a:lnTo>
                  <a:pt x="1236940" y="1422400"/>
                </a:lnTo>
                <a:lnTo>
                  <a:pt x="1031278" y="1422400"/>
                </a:lnTo>
                <a:lnTo>
                  <a:pt x="1027781" y="1422400"/>
                </a:lnTo>
                <a:lnTo>
                  <a:pt x="1024602" y="1421766"/>
                </a:lnTo>
                <a:lnTo>
                  <a:pt x="1021424" y="1421132"/>
                </a:lnTo>
                <a:lnTo>
                  <a:pt x="1018245" y="1420181"/>
                </a:lnTo>
                <a:lnTo>
                  <a:pt x="1015384" y="1418595"/>
                </a:lnTo>
                <a:lnTo>
                  <a:pt x="1012841" y="1417010"/>
                </a:lnTo>
                <a:lnTo>
                  <a:pt x="1010298" y="1415108"/>
                </a:lnTo>
                <a:lnTo>
                  <a:pt x="1007755" y="1413206"/>
                </a:lnTo>
                <a:lnTo>
                  <a:pt x="1005848" y="1410669"/>
                </a:lnTo>
                <a:lnTo>
                  <a:pt x="1003941" y="1408133"/>
                </a:lnTo>
                <a:lnTo>
                  <a:pt x="1002351" y="1405279"/>
                </a:lnTo>
                <a:lnTo>
                  <a:pt x="1000762" y="1402743"/>
                </a:lnTo>
                <a:lnTo>
                  <a:pt x="999808" y="1399572"/>
                </a:lnTo>
                <a:lnTo>
                  <a:pt x="999173" y="1396402"/>
                </a:lnTo>
                <a:lnTo>
                  <a:pt x="998537" y="1393231"/>
                </a:lnTo>
                <a:lnTo>
                  <a:pt x="998537" y="1389744"/>
                </a:lnTo>
                <a:lnTo>
                  <a:pt x="998537" y="782273"/>
                </a:lnTo>
                <a:lnTo>
                  <a:pt x="998537" y="778786"/>
                </a:lnTo>
                <a:lnTo>
                  <a:pt x="999173" y="775615"/>
                </a:lnTo>
                <a:lnTo>
                  <a:pt x="999808" y="772445"/>
                </a:lnTo>
                <a:lnTo>
                  <a:pt x="1000762" y="769274"/>
                </a:lnTo>
                <a:lnTo>
                  <a:pt x="1002351" y="766421"/>
                </a:lnTo>
                <a:lnTo>
                  <a:pt x="1003941" y="763567"/>
                </a:lnTo>
                <a:lnTo>
                  <a:pt x="1005848" y="761348"/>
                </a:lnTo>
                <a:lnTo>
                  <a:pt x="1007755" y="758812"/>
                </a:lnTo>
                <a:lnTo>
                  <a:pt x="1010298" y="756592"/>
                </a:lnTo>
                <a:lnTo>
                  <a:pt x="1012841" y="755007"/>
                </a:lnTo>
                <a:lnTo>
                  <a:pt x="1015384" y="753105"/>
                </a:lnTo>
                <a:lnTo>
                  <a:pt x="1018245" y="751837"/>
                </a:lnTo>
                <a:lnTo>
                  <a:pt x="1021424" y="750885"/>
                </a:lnTo>
                <a:lnTo>
                  <a:pt x="1024602" y="750251"/>
                </a:lnTo>
                <a:lnTo>
                  <a:pt x="1027781" y="749300"/>
                </a:lnTo>
                <a:close/>
                <a:moveTo>
                  <a:pt x="2147065" y="665163"/>
                </a:moveTo>
                <a:lnTo>
                  <a:pt x="2154052" y="665163"/>
                </a:lnTo>
                <a:lnTo>
                  <a:pt x="2161038" y="665163"/>
                </a:lnTo>
                <a:lnTo>
                  <a:pt x="2168025" y="665798"/>
                </a:lnTo>
                <a:lnTo>
                  <a:pt x="2175011" y="666432"/>
                </a:lnTo>
                <a:lnTo>
                  <a:pt x="2181680" y="667702"/>
                </a:lnTo>
                <a:lnTo>
                  <a:pt x="2188349" y="669288"/>
                </a:lnTo>
                <a:lnTo>
                  <a:pt x="2194700" y="670875"/>
                </a:lnTo>
                <a:lnTo>
                  <a:pt x="2201369" y="673413"/>
                </a:lnTo>
                <a:lnTo>
                  <a:pt x="2207085" y="675952"/>
                </a:lnTo>
                <a:lnTo>
                  <a:pt x="2213437" y="678173"/>
                </a:lnTo>
                <a:lnTo>
                  <a:pt x="2219471" y="681346"/>
                </a:lnTo>
                <a:lnTo>
                  <a:pt x="2224869" y="684519"/>
                </a:lnTo>
                <a:lnTo>
                  <a:pt x="2230585" y="688327"/>
                </a:lnTo>
                <a:lnTo>
                  <a:pt x="2235666" y="692135"/>
                </a:lnTo>
                <a:lnTo>
                  <a:pt x="2241065" y="695943"/>
                </a:lnTo>
                <a:lnTo>
                  <a:pt x="2245829" y="700702"/>
                </a:lnTo>
                <a:lnTo>
                  <a:pt x="2250910" y="704828"/>
                </a:lnTo>
                <a:lnTo>
                  <a:pt x="2255356" y="709587"/>
                </a:lnTo>
                <a:lnTo>
                  <a:pt x="2259484" y="714347"/>
                </a:lnTo>
                <a:lnTo>
                  <a:pt x="2263612" y="719741"/>
                </a:lnTo>
                <a:lnTo>
                  <a:pt x="2267423" y="724819"/>
                </a:lnTo>
                <a:lnTo>
                  <a:pt x="2270916" y="730530"/>
                </a:lnTo>
                <a:lnTo>
                  <a:pt x="2274092" y="736559"/>
                </a:lnTo>
                <a:lnTo>
                  <a:pt x="2277268" y="742271"/>
                </a:lnTo>
                <a:lnTo>
                  <a:pt x="2280126" y="748300"/>
                </a:lnTo>
                <a:lnTo>
                  <a:pt x="2282666" y="754646"/>
                </a:lnTo>
                <a:lnTo>
                  <a:pt x="2284572" y="760992"/>
                </a:lnTo>
                <a:lnTo>
                  <a:pt x="2286477" y="767021"/>
                </a:lnTo>
                <a:lnTo>
                  <a:pt x="2287747" y="773685"/>
                </a:lnTo>
                <a:lnTo>
                  <a:pt x="2289018" y="780349"/>
                </a:lnTo>
                <a:lnTo>
                  <a:pt x="2289970" y="787330"/>
                </a:lnTo>
                <a:lnTo>
                  <a:pt x="2290605" y="794311"/>
                </a:lnTo>
                <a:lnTo>
                  <a:pt x="2290605" y="801292"/>
                </a:lnTo>
                <a:lnTo>
                  <a:pt x="2290605" y="1286150"/>
                </a:lnTo>
                <a:lnTo>
                  <a:pt x="2884137" y="1353738"/>
                </a:lnTo>
                <a:lnTo>
                  <a:pt x="2890488" y="1354055"/>
                </a:lnTo>
                <a:lnTo>
                  <a:pt x="2898110" y="1354372"/>
                </a:lnTo>
                <a:lnTo>
                  <a:pt x="2905732" y="1355007"/>
                </a:lnTo>
                <a:lnTo>
                  <a:pt x="2913353" y="1355642"/>
                </a:lnTo>
                <a:lnTo>
                  <a:pt x="2920657" y="1357228"/>
                </a:lnTo>
                <a:lnTo>
                  <a:pt x="2927644" y="1358815"/>
                </a:lnTo>
                <a:lnTo>
                  <a:pt x="2934948" y="1361036"/>
                </a:lnTo>
                <a:lnTo>
                  <a:pt x="2941934" y="1362940"/>
                </a:lnTo>
                <a:lnTo>
                  <a:pt x="2948603" y="1365796"/>
                </a:lnTo>
                <a:lnTo>
                  <a:pt x="2955272" y="1368969"/>
                </a:lnTo>
                <a:lnTo>
                  <a:pt x="2961941" y="1372142"/>
                </a:lnTo>
                <a:lnTo>
                  <a:pt x="2968292" y="1375633"/>
                </a:lnTo>
                <a:lnTo>
                  <a:pt x="2974008" y="1379758"/>
                </a:lnTo>
                <a:lnTo>
                  <a:pt x="2980042" y="1383883"/>
                </a:lnTo>
                <a:lnTo>
                  <a:pt x="2985758" y="1388008"/>
                </a:lnTo>
                <a:lnTo>
                  <a:pt x="2990839" y="1393085"/>
                </a:lnTo>
                <a:lnTo>
                  <a:pt x="2996238" y="1397845"/>
                </a:lnTo>
                <a:lnTo>
                  <a:pt x="3001319" y="1403239"/>
                </a:lnTo>
                <a:lnTo>
                  <a:pt x="3005765" y="1408316"/>
                </a:lnTo>
                <a:lnTo>
                  <a:pt x="3010529" y="1414345"/>
                </a:lnTo>
                <a:lnTo>
                  <a:pt x="3014657" y="1419739"/>
                </a:lnTo>
                <a:lnTo>
                  <a:pt x="3018468" y="1426086"/>
                </a:lnTo>
                <a:lnTo>
                  <a:pt x="3021961" y="1432432"/>
                </a:lnTo>
                <a:lnTo>
                  <a:pt x="3025454" y="1438778"/>
                </a:lnTo>
                <a:lnTo>
                  <a:pt x="3028312" y="1445125"/>
                </a:lnTo>
                <a:lnTo>
                  <a:pt x="3030853" y="1452106"/>
                </a:lnTo>
                <a:lnTo>
                  <a:pt x="3033393" y="1459087"/>
                </a:lnTo>
                <a:lnTo>
                  <a:pt x="3035616" y="1466067"/>
                </a:lnTo>
                <a:lnTo>
                  <a:pt x="3036887" y="1473366"/>
                </a:lnTo>
                <a:lnTo>
                  <a:pt x="3038474" y="1480664"/>
                </a:lnTo>
                <a:lnTo>
                  <a:pt x="3039427" y="1488280"/>
                </a:lnTo>
                <a:lnTo>
                  <a:pt x="3040062" y="1495895"/>
                </a:lnTo>
                <a:lnTo>
                  <a:pt x="3040062" y="1503511"/>
                </a:lnTo>
                <a:lnTo>
                  <a:pt x="3040062" y="2154008"/>
                </a:lnTo>
                <a:lnTo>
                  <a:pt x="3040062" y="2161623"/>
                </a:lnTo>
                <a:lnTo>
                  <a:pt x="3039427" y="2169556"/>
                </a:lnTo>
                <a:lnTo>
                  <a:pt x="3038474" y="2177172"/>
                </a:lnTo>
                <a:lnTo>
                  <a:pt x="3036887" y="2184470"/>
                </a:lnTo>
                <a:lnTo>
                  <a:pt x="3035616" y="2191451"/>
                </a:lnTo>
                <a:lnTo>
                  <a:pt x="3033393" y="2198749"/>
                </a:lnTo>
                <a:lnTo>
                  <a:pt x="3030853" y="2205730"/>
                </a:lnTo>
                <a:lnTo>
                  <a:pt x="3028312" y="2212394"/>
                </a:lnTo>
                <a:lnTo>
                  <a:pt x="3025454" y="2219057"/>
                </a:lnTo>
                <a:lnTo>
                  <a:pt x="3021961" y="2225404"/>
                </a:lnTo>
                <a:lnTo>
                  <a:pt x="3018468" y="2231433"/>
                </a:lnTo>
                <a:lnTo>
                  <a:pt x="3014657" y="2237779"/>
                </a:lnTo>
                <a:lnTo>
                  <a:pt x="3010529" y="2243808"/>
                </a:lnTo>
                <a:lnTo>
                  <a:pt x="3005765" y="2249202"/>
                </a:lnTo>
                <a:lnTo>
                  <a:pt x="3001319" y="2254597"/>
                </a:lnTo>
                <a:lnTo>
                  <a:pt x="2996238" y="2259674"/>
                </a:lnTo>
                <a:lnTo>
                  <a:pt x="2990839" y="2264433"/>
                </a:lnTo>
                <a:lnTo>
                  <a:pt x="2985758" y="2269510"/>
                </a:lnTo>
                <a:lnTo>
                  <a:pt x="2980042" y="2273953"/>
                </a:lnTo>
                <a:lnTo>
                  <a:pt x="2974008" y="2278078"/>
                </a:lnTo>
                <a:lnTo>
                  <a:pt x="2968292" y="2281886"/>
                </a:lnTo>
                <a:lnTo>
                  <a:pt x="2961941" y="2285376"/>
                </a:lnTo>
                <a:lnTo>
                  <a:pt x="2955272" y="2288867"/>
                </a:lnTo>
                <a:lnTo>
                  <a:pt x="2948603" y="2291723"/>
                </a:lnTo>
                <a:lnTo>
                  <a:pt x="2941934" y="2294578"/>
                </a:lnTo>
                <a:lnTo>
                  <a:pt x="2934948" y="2297117"/>
                </a:lnTo>
                <a:lnTo>
                  <a:pt x="2927644" y="2298703"/>
                </a:lnTo>
                <a:lnTo>
                  <a:pt x="2920657" y="2300607"/>
                </a:lnTo>
                <a:lnTo>
                  <a:pt x="2913353" y="2301877"/>
                </a:lnTo>
                <a:lnTo>
                  <a:pt x="2905732" y="2302829"/>
                </a:lnTo>
                <a:lnTo>
                  <a:pt x="2898110" y="2303146"/>
                </a:lnTo>
                <a:lnTo>
                  <a:pt x="2890488" y="2303463"/>
                </a:lnTo>
                <a:lnTo>
                  <a:pt x="2177552" y="2303463"/>
                </a:lnTo>
                <a:lnTo>
                  <a:pt x="2173423" y="2303146"/>
                </a:lnTo>
                <a:lnTo>
                  <a:pt x="2171200" y="2303146"/>
                </a:lnTo>
                <a:lnTo>
                  <a:pt x="2169613" y="2303146"/>
                </a:lnTo>
                <a:lnTo>
                  <a:pt x="2162944" y="2303146"/>
                </a:lnTo>
                <a:lnTo>
                  <a:pt x="2156275" y="2303146"/>
                </a:lnTo>
                <a:lnTo>
                  <a:pt x="2149924" y="2302511"/>
                </a:lnTo>
                <a:lnTo>
                  <a:pt x="2143572" y="2301559"/>
                </a:lnTo>
                <a:lnTo>
                  <a:pt x="2137538" y="2300607"/>
                </a:lnTo>
                <a:lnTo>
                  <a:pt x="2131187" y="2298703"/>
                </a:lnTo>
                <a:lnTo>
                  <a:pt x="2125153" y="2297117"/>
                </a:lnTo>
                <a:lnTo>
                  <a:pt x="2119437" y="2294896"/>
                </a:lnTo>
                <a:lnTo>
                  <a:pt x="2113403" y="2292040"/>
                </a:lnTo>
                <a:lnTo>
                  <a:pt x="2107370" y="2289501"/>
                </a:lnTo>
                <a:lnTo>
                  <a:pt x="2101971" y="2286645"/>
                </a:lnTo>
                <a:lnTo>
                  <a:pt x="2096572" y="2283155"/>
                </a:lnTo>
                <a:lnTo>
                  <a:pt x="2091491" y="2279665"/>
                </a:lnTo>
                <a:lnTo>
                  <a:pt x="2086093" y="2275222"/>
                </a:lnTo>
                <a:lnTo>
                  <a:pt x="2081329" y="2271097"/>
                </a:lnTo>
                <a:lnTo>
                  <a:pt x="2076883" y="2266972"/>
                </a:lnTo>
                <a:lnTo>
                  <a:pt x="1560520" y="1751334"/>
                </a:lnTo>
                <a:lnTo>
                  <a:pt x="1556074" y="1746574"/>
                </a:lnTo>
                <a:lnTo>
                  <a:pt x="1552263" y="1741815"/>
                </a:lnTo>
                <a:lnTo>
                  <a:pt x="1548135" y="1737055"/>
                </a:lnTo>
                <a:lnTo>
                  <a:pt x="1544642" y="1731661"/>
                </a:lnTo>
                <a:lnTo>
                  <a:pt x="1541466" y="1726583"/>
                </a:lnTo>
                <a:lnTo>
                  <a:pt x="1538291" y="1720872"/>
                </a:lnTo>
                <a:lnTo>
                  <a:pt x="1535432" y="1715477"/>
                </a:lnTo>
                <a:lnTo>
                  <a:pt x="1532892" y="1709766"/>
                </a:lnTo>
                <a:lnTo>
                  <a:pt x="1530987" y="1704054"/>
                </a:lnTo>
                <a:lnTo>
                  <a:pt x="1529081" y="1698342"/>
                </a:lnTo>
                <a:lnTo>
                  <a:pt x="1527493" y="1692631"/>
                </a:lnTo>
                <a:lnTo>
                  <a:pt x="1526223" y="1686919"/>
                </a:lnTo>
                <a:lnTo>
                  <a:pt x="1525270" y="1680890"/>
                </a:lnTo>
                <a:lnTo>
                  <a:pt x="1524635" y="1674544"/>
                </a:lnTo>
                <a:lnTo>
                  <a:pt x="1524000" y="1668515"/>
                </a:lnTo>
                <a:lnTo>
                  <a:pt x="1524000" y="1662803"/>
                </a:lnTo>
                <a:lnTo>
                  <a:pt x="1524000" y="1656774"/>
                </a:lnTo>
                <a:lnTo>
                  <a:pt x="1524635" y="1650428"/>
                </a:lnTo>
                <a:lnTo>
                  <a:pt x="1525270" y="1644716"/>
                </a:lnTo>
                <a:lnTo>
                  <a:pt x="1526223" y="1638687"/>
                </a:lnTo>
                <a:lnTo>
                  <a:pt x="1527493" y="1632658"/>
                </a:lnTo>
                <a:lnTo>
                  <a:pt x="1529081" y="1626946"/>
                </a:lnTo>
                <a:lnTo>
                  <a:pt x="1530987" y="1621235"/>
                </a:lnTo>
                <a:lnTo>
                  <a:pt x="1532892" y="1615523"/>
                </a:lnTo>
                <a:lnTo>
                  <a:pt x="1535432" y="1609811"/>
                </a:lnTo>
                <a:lnTo>
                  <a:pt x="1538291" y="1604417"/>
                </a:lnTo>
                <a:lnTo>
                  <a:pt x="1541466" y="1599023"/>
                </a:lnTo>
                <a:lnTo>
                  <a:pt x="1544642" y="1593628"/>
                </a:lnTo>
                <a:lnTo>
                  <a:pt x="1548135" y="1588551"/>
                </a:lnTo>
                <a:lnTo>
                  <a:pt x="1552263" y="1583474"/>
                </a:lnTo>
                <a:lnTo>
                  <a:pt x="1556074" y="1578714"/>
                </a:lnTo>
                <a:lnTo>
                  <a:pt x="1560520" y="1574272"/>
                </a:lnTo>
                <a:lnTo>
                  <a:pt x="1564966" y="1569830"/>
                </a:lnTo>
                <a:lnTo>
                  <a:pt x="1570047" y="1565705"/>
                </a:lnTo>
                <a:lnTo>
                  <a:pt x="1574811" y="1561897"/>
                </a:lnTo>
                <a:lnTo>
                  <a:pt x="1579574" y="1558406"/>
                </a:lnTo>
                <a:lnTo>
                  <a:pt x="1584973" y="1554916"/>
                </a:lnTo>
                <a:lnTo>
                  <a:pt x="1590054" y="1552060"/>
                </a:lnTo>
                <a:lnTo>
                  <a:pt x="1595770" y="1549521"/>
                </a:lnTo>
                <a:lnTo>
                  <a:pt x="1601486" y="1546666"/>
                </a:lnTo>
                <a:lnTo>
                  <a:pt x="1606885" y="1544444"/>
                </a:lnTo>
                <a:lnTo>
                  <a:pt x="1612919" y="1542858"/>
                </a:lnTo>
                <a:lnTo>
                  <a:pt x="1618635" y="1540954"/>
                </a:lnTo>
                <a:lnTo>
                  <a:pt x="1624669" y="1539685"/>
                </a:lnTo>
                <a:lnTo>
                  <a:pt x="1630702" y="1538733"/>
                </a:lnTo>
                <a:lnTo>
                  <a:pt x="1637054" y="1538098"/>
                </a:lnTo>
                <a:lnTo>
                  <a:pt x="1642770" y="1537463"/>
                </a:lnTo>
                <a:lnTo>
                  <a:pt x="1649121" y="1537146"/>
                </a:lnTo>
                <a:lnTo>
                  <a:pt x="1655473" y="1537463"/>
                </a:lnTo>
                <a:lnTo>
                  <a:pt x="1661824" y="1538098"/>
                </a:lnTo>
                <a:lnTo>
                  <a:pt x="1667858" y="1538733"/>
                </a:lnTo>
                <a:lnTo>
                  <a:pt x="1673891" y="1539685"/>
                </a:lnTo>
                <a:lnTo>
                  <a:pt x="1679925" y="1540954"/>
                </a:lnTo>
                <a:lnTo>
                  <a:pt x="1685641" y="1542858"/>
                </a:lnTo>
                <a:lnTo>
                  <a:pt x="1691675" y="1544444"/>
                </a:lnTo>
                <a:lnTo>
                  <a:pt x="1697391" y="1546666"/>
                </a:lnTo>
                <a:lnTo>
                  <a:pt x="1702790" y="1549521"/>
                </a:lnTo>
                <a:lnTo>
                  <a:pt x="1708506" y="1552060"/>
                </a:lnTo>
                <a:lnTo>
                  <a:pt x="1713587" y="1554916"/>
                </a:lnTo>
                <a:lnTo>
                  <a:pt x="1718986" y="1558406"/>
                </a:lnTo>
                <a:lnTo>
                  <a:pt x="1723749" y="1561897"/>
                </a:lnTo>
                <a:lnTo>
                  <a:pt x="1728513" y="1565705"/>
                </a:lnTo>
                <a:lnTo>
                  <a:pt x="1733594" y="1569830"/>
                </a:lnTo>
                <a:lnTo>
                  <a:pt x="1738040" y="1574272"/>
                </a:lnTo>
                <a:lnTo>
                  <a:pt x="2017816" y="1853827"/>
                </a:lnTo>
                <a:lnTo>
                  <a:pt x="2017816" y="801292"/>
                </a:lnTo>
                <a:lnTo>
                  <a:pt x="2018133" y="794311"/>
                </a:lnTo>
                <a:lnTo>
                  <a:pt x="2018451" y="787330"/>
                </a:lnTo>
                <a:lnTo>
                  <a:pt x="2019404" y="780349"/>
                </a:lnTo>
                <a:lnTo>
                  <a:pt x="2020674" y="773685"/>
                </a:lnTo>
                <a:lnTo>
                  <a:pt x="2021944" y="767021"/>
                </a:lnTo>
                <a:lnTo>
                  <a:pt x="2024167" y="760992"/>
                </a:lnTo>
                <a:lnTo>
                  <a:pt x="2026073" y="754646"/>
                </a:lnTo>
                <a:lnTo>
                  <a:pt x="2028613" y="748300"/>
                </a:lnTo>
                <a:lnTo>
                  <a:pt x="2031471" y="742271"/>
                </a:lnTo>
                <a:lnTo>
                  <a:pt x="2034329" y="736559"/>
                </a:lnTo>
                <a:lnTo>
                  <a:pt x="2037823" y="730530"/>
                </a:lnTo>
                <a:lnTo>
                  <a:pt x="2040998" y="724819"/>
                </a:lnTo>
                <a:lnTo>
                  <a:pt x="2045127" y="719741"/>
                </a:lnTo>
                <a:lnTo>
                  <a:pt x="2048937" y="714347"/>
                </a:lnTo>
                <a:lnTo>
                  <a:pt x="2053383" y="709587"/>
                </a:lnTo>
                <a:lnTo>
                  <a:pt x="2057829" y="704828"/>
                </a:lnTo>
                <a:lnTo>
                  <a:pt x="2062275" y="700702"/>
                </a:lnTo>
                <a:lnTo>
                  <a:pt x="2067674" y="695943"/>
                </a:lnTo>
                <a:lnTo>
                  <a:pt x="2072437" y="692135"/>
                </a:lnTo>
                <a:lnTo>
                  <a:pt x="2078154" y="688327"/>
                </a:lnTo>
                <a:lnTo>
                  <a:pt x="2083552" y="684519"/>
                </a:lnTo>
                <a:lnTo>
                  <a:pt x="2089268" y="681346"/>
                </a:lnTo>
                <a:lnTo>
                  <a:pt x="2095302" y="678173"/>
                </a:lnTo>
                <a:lnTo>
                  <a:pt x="2101018" y="675952"/>
                </a:lnTo>
                <a:lnTo>
                  <a:pt x="2107370" y="673413"/>
                </a:lnTo>
                <a:lnTo>
                  <a:pt x="2113721" y="670875"/>
                </a:lnTo>
                <a:lnTo>
                  <a:pt x="2120390" y="669288"/>
                </a:lnTo>
                <a:lnTo>
                  <a:pt x="2127059" y="667702"/>
                </a:lnTo>
                <a:lnTo>
                  <a:pt x="2133728" y="666432"/>
                </a:lnTo>
                <a:lnTo>
                  <a:pt x="2140079" y="665798"/>
                </a:lnTo>
                <a:lnTo>
                  <a:pt x="2147065" y="665163"/>
                </a:lnTo>
                <a:close/>
                <a:moveTo>
                  <a:pt x="1426690" y="484188"/>
                </a:moveTo>
                <a:lnTo>
                  <a:pt x="1631151" y="484188"/>
                </a:lnTo>
                <a:lnTo>
                  <a:pt x="1634627" y="484505"/>
                </a:lnTo>
                <a:lnTo>
                  <a:pt x="1637787" y="484822"/>
                </a:lnTo>
                <a:lnTo>
                  <a:pt x="1640947" y="485773"/>
                </a:lnTo>
                <a:lnTo>
                  <a:pt x="1644107" y="486725"/>
                </a:lnTo>
                <a:lnTo>
                  <a:pt x="1646635" y="488310"/>
                </a:lnTo>
                <a:lnTo>
                  <a:pt x="1649479" y="489895"/>
                </a:lnTo>
                <a:lnTo>
                  <a:pt x="1652008" y="491798"/>
                </a:lnTo>
                <a:lnTo>
                  <a:pt x="1654536" y="493700"/>
                </a:lnTo>
                <a:lnTo>
                  <a:pt x="1656432" y="496237"/>
                </a:lnTo>
                <a:lnTo>
                  <a:pt x="1658328" y="498773"/>
                </a:lnTo>
                <a:lnTo>
                  <a:pt x="1659908" y="501310"/>
                </a:lnTo>
                <a:lnTo>
                  <a:pt x="1661488" y="504164"/>
                </a:lnTo>
                <a:lnTo>
                  <a:pt x="1662436" y="507334"/>
                </a:lnTo>
                <a:lnTo>
                  <a:pt x="1663068" y="510505"/>
                </a:lnTo>
                <a:lnTo>
                  <a:pt x="1663700" y="513676"/>
                </a:lnTo>
                <a:lnTo>
                  <a:pt x="1663700" y="517164"/>
                </a:lnTo>
                <a:lnTo>
                  <a:pt x="1663700" y="1389743"/>
                </a:lnTo>
                <a:lnTo>
                  <a:pt x="1663700" y="1393231"/>
                </a:lnTo>
                <a:lnTo>
                  <a:pt x="1663068" y="1396401"/>
                </a:lnTo>
                <a:lnTo>
                  <a:pt x="1662436" y="1399572"/>
                </a:lnTo>
                <a:lnTo>
                  <a:pt x="1661488" y="1402743"/>
                </a:lnTo>
                <a:lnTo>
                  <a:pt x="1659908" y="1405279"/>
                </a:lnTo>
                <a:lnTo>
                  <a:pt x="1658328" y="1408133"/>
                </a:lnTo>
                <a:lnTo>
                  <a:pt x="1656432" y="1410669"/>
                </a:lnTo>
                <a:lnTo>
                  <a:pt x="1654536" y="1413206"/>
                </a:lnTo>
                <a:lnTo>
                  <a:pt x="1652008" y="1415108"/>
                </a:lnTo>
                <a:lnTo>
                  <a:pt x="1649479" y="1417011"/>
                </a:lnTo>
                <a:lnTo>
                  <a:pt x="1646635" y="1418596"/>
                </a:lnTo>
                <a:lnTo>
                  <a:pt x="1644107" y="1420182"/>
                </a:lnTo>
                <a:lnTo>
                  <a:pt x="1640947" y="1421133"/>
                </a:lnTo>
                <a:lnTo>
                  <a:pt x="1637787" y="1421767"/>
                </a:lnTo>
                <a:lnTo>
                  <a:pt x="1634627" y="1422401"/>
                </a:lnTo>
                <a:lnTo>
                  <a:pt x="1631151" y="1422401"/>
                </a:lnTo>
                <a:lnTo>
                  <a:pt x="1426690" y="1422401"/>
                </a:lnTo>
                <a:lnTo>
                  <a:pt x="1423214" y="1422401"/>
                </a:lnTo>
                <a:lnTo>
                  <a:pt x="1420054" y="1421767"/>
                </a:lnTo>
                <a:lnTo>
                  <a:pt x="1416894" y="1421133"/>
                </a:lnTo>
                <a:lnTo>
                  <a:pt x="1413734" y="1420182"/>
                </a:lnTo>
                <a:lnTo>
                  <a:pt x="1411206" y="1418596"/>
                </a:lnTo>
                <a:lnTo>
                  <a:pt x="1408362" y="1417011"/>
                </a:lnTo>
                <a:lnTo>
                  <a:pt x="1405834" y="1415108"/>
                </a:lnTo>
                <a:lnTo>
                  <a:pt x="1403622" y="1413206"/>
                </a:lnTo>
                <a:lnTo>
                  <a:pt x="1401409" y="1410669"/>
                </a:lnTo>
                <a:lnTo>
                  <a:pt x="1399513" y="1408133"/>
                </a:lnTo>
                <a:lnTo>
                  <a:pt x="1397933" y="1405279"/>
                </a:lnTo>
                <a:lnTo>
                  <a:pt x="1396669" y="1402743"/>
                </a:lnTo>
                <a:lnTo>
                  <a:pt x="1395405" y="1399572"/>
                </a:lnTo>
                <a:lnTo>
                  <a:pt x="1394457" y="1396401"/>
                </a:lnTo>
                <a:lnTo>
                  <a:pt x="1394141" y="1393231"/>
                </a:lnTo>
                <a:lnTo>
                  <a:pt x="1393825" y="1389743"/>
                </a:lnTo>
                <a:lnTo>
                  <a:pt x="1393825" y="517164"/>
                </a:lnTo>
                <a:lnTo>
                  <a:pt x="1394141" y="513676"/>
                </a:lnTo>
                <a:lnTo>
                  <a:pt x="1394457" y="510505"/>
                </a:lnTo>
                <a:lnTo>
                  <a:pt x="1395405" y="507334"/>
                </a:lnTo>
                <a:lnTo>
                  <a:pt x="1396669" y="504164"/>
                </a:lnTo>
                <a:lnTo>
                  <a:pt x="1397933" y="501310"/>
                </a:lnTo>
                <a:lnTo>
                  <a:pt x="1399513" y="498773"/>
                </a:lnTo>
                <a:lnTo>
                  <a:pt x="1401409" y="496237"/>
                </a:lnTo>
                <a:lnTo>
                  <a:pt x="1403622" y="493700"/>
                </a:lnTo>
                <a:lnTo>
                  <a:pt x="1405834" y="491798"/>
                </a:lnTo>
                <a:lnTo>
                  <a:pt x="1408362" y="489895"/>
                </a:lnTo>
                <a:lnTo>
                  <a:pt x="1411206" y="488310"/>
                </a:lnTo>
                <a:lnTo>
                  <a:pt x="1413734" y="486725"/>
                </a:lnTo>
                <a:lnTo>
                  <a:pt x="1416894" y="485773"/>
                </a:lnTo>
                <a:lnTo>
                  <a:pt x="1420054" y="484822"/>
                </a:lnTo>
                <a:lnTo>
                  <a:pt x="1423214" y="484505"/>
                </a:lnTo>
                <a:lnTo>
                  <a:pt x="1426690" y="484188"/>
                </a:lnTo>
                <a:close/>
                <a:moveTo>
                  <a:pt x="183794" y="0"/>
                </a:moveTo>
                <a:lnTo>
                  <a:pt x="193952" y="0"/>
                </a:lnTo>
                <a:lnTo>
                  <a:pt x="2827060" y="0"/>
                </a:lnTo>
                <a:lnTo>
                  <a:pt x="2837218" y="0"/>
                </a:lnTo>
                <a:lnTo>
                  <a:pt x="2847059" y="952"/>
                </a:lnTo>
                <a:lnTo>
                  <a:pt x="2856582" y="2539"/>
                </a:lnTo>
                <a:lnTo>
                  <a:pt x="2866105" y="4443"/>
                </a:lnTo>
                <a:lnTo>
                  <a:pt x="2875628" y="6982"/>
                </a:lnTo>
                <a:lnTo>
                  <a:pt x="2884516" y="10156"/>
                </a:lnTo>
                <a:lnTo>
                  <a:pt x="2893721" y="13964"/>
                </a:lnTo>
                <a:lnTo>
                  <a:pt x="2902292" y="17773"/>
                </a:lnTo>
                <a:lnTo>
                  <a:pt x="2911180" y="22851"/>
                </a:lnTo>
                <a:lnTo>
                  <a:pt x="2919433" y="27611"/>
                </a:lnTo>
                <a:lnTo>
                  <a:pt x="2927369" y="33324"/>
                </a:lnTo>
                <a:lnTo>
                  <a:pt x="2935623" y="39036"/>
                </a:lnTo>
                <a:lnTo>
                  <a:pt x="2942924" y="45384"/>
                </a:lnTo>
                <a:lnTo>
                  <a:pt x="2950225" y="52366"/>
                </a:lnTo>
                <a:lnTo>
                  <a:pt x="2957525" y="59665"/>
                </a:lnTo>
                <a:lnTo>
                  <a:pt x="2964192" y="67282"/>
                </a:lnTo>
                <a:lnTo>
                  <a:pt x="2970540" y="74899"/>
                </a:lnTo>
                <a:lnTo>
                  <a:pt x="2976571" y="83468"/>
                </a:lnTo>
                <a:lnTo>
                  <a:pt x="2982285" y="92037"/>
                </a:lnTo>
                <a:lnTo>
                  <a:pt x="2987682" y="101240"/>
                </a:lnTo>
                <a:lnTo>
                  <a:pt x="2992761" y="110444"/>
                </a:lnTo>
                <a:lnTo>
                  <a:pt x="2997522" y="119965"/>
                </a:lnTo>
                <a:lnTo>
                  <a:pt x="3001649" y="130121"/>
                </a:lnTo>
                <a:lnTo>
                  <a:pt x="3005458" y="140276"/>
                </a:lnTo>
                <a:lnTo>
                  <a:pt x="3008950" y="150749"/>
                </a:lnTo>
                <a:lnTo>
                  <a:pt x="3012124" y="161540"/>
                </a:lnTo>
                <a:lnTo>
                  <a:pt x="3014663" y="172330"/>
                </a:lnTo>
                <a:lnTo>
                  <a:pt x="3016885" y="183438"/>
                </a:lnTo>
                <a:lnTo>
                  <a:pt x="3018473" y="194546"/>
                </a:lnTo>
                <a:lnTo>
                  <a:pt x="3019742" y="205971"/>
                </a:lnTo>
                <a:lnTo>
                  <a:pt x="3020695" y="218031"/>
                </a:lnTo>
                <a:lnTo>
                  <a:pt x="3021012" y="229774"/>
                </a:lnTo>
                <a:lnTo>
                  <a:pt x="3021012" y="1276768"/>
                </a:lnTo>
                <a:lnTo>
                  <a:pt x="3013711" y="1272642"/>
                </a:lnTo>
                <a:lnTo>
                  <a:pt x="3006410" y="1268833"/>
                </a:lnTo>
                <a:lnTo>
                  <a:pt x="2999109" y="1265342"/>
                </a:lnTo>
                <a:lnTo>
                  <a:pt x="2991808" y="1262169"/>
                </a:lnTo>
                <a:lnTo>
                  <a:pt x="2983872" y="1258995"/>
                </a:lnTo>
                <a:lnTo>
                  <a:pt x="2976254" y="1256139"/>
                </a:lnTo>
                <a:lnTo>
                  <a:pt x="2968318" y="1253282"/>
                </a:lnTo>
                <a:lnTo>
                  <a:pt x="2960382" y="1251061"/>
                </a:lnTo>
                <a:lnTo>
                  <a:pt x="2952129" y="1248839"/>
                </a:lnTo>
                <a:lnTo>
                  <a:pt x="2944193" y="1247252"/>
                </a:lnTo>
                <a:lnTo>
                  <a:pt x="2935940" y="1245348"/>
                </a:lnTo>
                <a:lnTo>
                  <a:pt x="2927369" y="1244079"/>
                </a:lnTo>
                <a:lnTo>
                  <a:pt x="2919116" y="1242809"/>
                </a:lnTo>
                <a:lnTo>
                  <a:pt x="2910863" y="1242175"/>
                </a:lnTo>
                <a:lnTo>
                  <a:pt x="2901975" y="1241540"/>
                </a:lnTo>
                <a:lnTo>
                  <a:pt x="2893404" y="1241540"/>
                </a:lnTo>
                <a:lnTo>
                  <a:pt x="2646123" y="1213294"/>
                </a:lnTo>
                <a:lnTo>
                  <a:pt x="2646123" y="313876"/>
                </a:lnTo>
                <a:lnTo>
                  <a:pt x="374889" y="313876"/>
                </a:lnTo>
                <a:lnTo>
                  <a:pt x="374889" y="1959424"/>
                </a:lnTo>
                <a:lnTo>
                  <a:pt x="1610021" y="1959424"/>
                </a:lnTo>
                <a:lnTo>
                  <a:pt x="1923646" y="2273300"/>
                </a:lnTo>
                <a:lnTo>
                  <a:pt x="193952" y="2273300"/>
                </a:lnTo>
                <a:lnTo>
                  <a:pt x="183794" y="2273300"/>
                </a:lnTo>
                <a:lnTo>
                  <a:pt x="173953" y="2272348"/>
                </a:lnTo>
                <a:lnTo>
                  <a:pt x="164113" y="2270761"/>
                </a:lnTo>
                <a:lnTo>
                  <a:pt x="154908" y="2268857"/>
                </a:lnTo>
                <a:lnTo>
                  <a:pt x="145385" y="2266318"/>
                </a:lnTo>
                <a:lnTo>
                  <a:pt x="136496" y="2263144"/>
                </a:lnTo>
                <a:lnTo>
                  <a:pt x="127291" y="2259336"/>
                </a:lnTo>
                <a:lnTo>
                  <a:pt x="118720" y="2255528"/>
                </a:lnTo>
                <a:lnTo>
                  <a:pt x="109832" y="2250450"/>
                </a:lnTo>
                <a:lnTo>
                  <a:pt x="101579" y="2245689"/>
                </a:lnTo>
                <a:lnTo>
                  <a:pt x="93326" y="2240294"/>
                </a:lnTo>
                <a:lnTo>
                  <a:pt x="85390" y="2234264"/>
                </a:lnTo>
                <a:lnTo>
                  <a:pt x="77771" y="2227917"/>
                </a:lnTo>
                <a:lnTo>
                  <a:pt x="70470" y="2220935"/>
                </a:lnTo>
                <a:lnTo>
                  <a:pt x="63487" y="2213635"/>
                </a:lnTo>
                <a:lnTo>
                  <a:pt x="56821" y="2206018"/>
                </a:lnTo>
                <a:lnTo>
                  <a:pt x="50472" y="2198402"/>
                </a:lnTo>
                <a:lnTo>
                  <a:pt x="44441" y="2189833"/>
                </a:lnTo>
                <a:lnTo>
                  <a:pt x="38727" y="2181264"/>
                </a:lnTo>
                <a:lnTo>
                  <a:pt x="33013" y="2172060"/>
                </a:lnTo>
                <a:lnTo>
                  <a:pt x="28252" y="2162856"/>
                </a:lnTo>
                <a:lnTo>
                  <a:pt x="23490" y="2153335"/>
                </a:lnTo>
                <a:lnTo>
                  <a:pt x="19364" y="2143180"/>
                </a:lnTo>
                <a:lnTo>
                  <a:pt x="15237" y="2133024"/>
                </a:lnTo>
                <a:lnTo>
                  <a:pt x="11745" y="2122551"/>
                </a:lnTo>
                <a:lnTo>
                  <a:pt x="8888" y="2112078"/>
                </a:lnTo>
                <a:lnTo>
                  <a:pt x="6349" y="2100970"/>
                </a:lnTo>
                <a:lnTo>
                  <a:pt x="3809" y="2089862"/>
                </a:lnTo>
                <a:lnTo>
                  <a:pt x="2540" y="2078754"/>
                </a:lnTo>
                <a:lnTo>
                  <a:pt x="952" y="2067329"/>
                </a:lnTo>
                <a:lnTo>
                  <a:pt x="318" y="2055269"/>
                </a:lnTo>
                <a:lnTo>
                  <a:pt x="0" y="2043844"/>
                </a:lnTo>
                <a:lnTo>
                  <a:pt x="0" y="229774"/>
                </a:lnTo>
                <a:lnTo>
                  <a:pt x="318" y="218031"/>
                </a:lnTo>
                <a:lnTo>
                  <a:pt x="952" y="205971"/>
                </a:lnTo>
                <a:lnTo>
                  <a:pt x="2540" y="194546"/>
                </a:lnTo>
                <a:lnTo>
                  <a:pt x="3809" y="183438"/>
                </a:lnTo>
                <a:lnTo>
                  <a:pt x="6349" y="172330"/>
                </a:lnTo>
                <a:lnTo>
                  <a:pt x="8888" y="161540"/>
                </a:lnTo>
                <a:lnTo>
                  <a:pt x="11745" y="150749"/>
                </a:lnTo>
                <a:lnTo>
                  <a:pt x="15237" y="140276"/>
                </a:lnTo>
                <a:lnTo>
                  <a:pt x="19364" y="130121"/>
                </a:lnTo>
                <a:lnTo>
                  <a:pt x="23490" y="119965"/>
                </a:lnTo>
                <a:lnTo>
                  <a:pt x="28252" y="110444"/>
                </a:lnTo>
                <a:lnTo>
                  <a:pt x="33013" y="101240"/>
                </a:lnTo>
                <a:lnTo>
                  <a:pt x="38727" y="92037"/>
                </a:lnTo>
                <a:lnTo>
                  <a:pt x="44441" y="83468"/>
                </a:lnTo>
                <a:lnTo>
                  <a:pt x="50472" y="74899"/>
                </a:lnTo>
                <a:lnTo>
                  <a:pt x="56821" y="67282"/>
                </a:lnTo>
                <a:lnTo>
                  <a:pt x="63487" y="59665"/>
                </a:lnTo>
                <a:lnTo>
                  <a:pt x="70470" y="52366"/>
                </a:lnTo>
                <a:lnTo>
                  <a:pt x="77771" y="45384"/>
                </a:lnTo>
                <a:lnTo>
                  <a:pt x="85390" y="39036"/>
                </a:lnTo>
                <a:lnTo>
                  <a:pt x="93326" y="33324"/>
                </a:lnTo>
                <a:lnTo>
                  <a:pt x="101579" y="27611"/>
                </a:lnTo>
                <a:lnTo>
                  <a:pt x="109832" y="22851"/>
                </a:lnTo>
                <a:lnTo>
                  <a:pt x="118720" y="17773"/>
                </a:lnTo>
                <a:lnTo>
                  <a:pt x="127291" y="13964"/>
                </a:lnTo>
                <a:lnTo>
                  <a:pt x="136496" y="10156"/>
                </a:lnTo>
                <a:lnTo>
                  <a:pt x="145385" y="6982"/>
                </a:lnTo>
                <a:lnTo>
                  <a:pt x="154908" y="4443"/>
                </a:lnTo>
                <a:lnTo>
                  <a:pt x="164113" y="2539"/>
                </a:lnTo>
                <a:lnTo>
                  <a:pt x="173953" y="952"/>
                </a:lnTo>
                <a:lnTo>
                  <a:pt x="183794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24" name="图形">
            <a:extLst>
              <a:ext uri="{FF2B5EF4-FFF2-40B4-BE49-F238E27FC236}">
                <a16:creationId xmlns:a16="http://schemas.microsoft.com/office/drawing/2014/main" id="{3E721DCA-D5D7-55E0-F0DC-4C21C43A4C11}"/>
              </a:ext>
            </a:extLst>
          </p:cNvPr>
          <p:cNvSpPr txBox="1"/>
          <p:nvPr/>
        </p:nvSpPr>
        <p:spPr>
          <a:xfrm flipH="1">
            <a:off x="3492697" y="778534"/>
            <a:ext cx="2319014" cy="125726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3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系统挖掘</a:t>
            </a:r>
            <a:r>
              <a:rPr lang="en-US" altLang="zh-CN" sz="13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ADHD</a:t>
            </a:r>
            <a:r>
              <a:rPr lang="zh-CN" altLang="en-US" sz="13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领域研究热点、主题关联规律、前沿研究方向与高影响力文献关键特征。</a:t>
            </a:r>
            <a:endParaRPr lang="zh-CN" altLang="en-US" sz="1300" dirty="0">
              <a:solidFill>
                <a:schemeClr val="tx1">
                  <a:lumMod val="85000"/>
                  <a:lumOff val="15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ea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6F18D00-CA52-65E5-765B-725518419E52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CD5989E0-F82F-C7AD-29B7-571370941CB3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7" name="Google Shape;58;p3">
              <a:extLst>
                <a:ext uri="{FF2B5EF4-FFF2-40B4-BE49-F238E27FC236}">
                  <a16:creationId xmlns:a16="http://schemas.microsoft.com/office/drawing/2014/main" id="{101A60E0-FFBA-DBED-D1BA-D034B701BE07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9556793-E18A-EDB5-336D-55EEE35EEC68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案例目的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02EA87E-DB45-6942-42A1-4D7B86A96F6F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3FF19F1D-3C7A-27DD-EF8D-DC0DAFC79F93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893FF882-0417-5982-903F-9A7985FD4983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91F6AEE1-611E-5138-CCE2-725DF178B912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5B879040-E0EC-DDB8-0125-74A105936E45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5F58B239-C479-CBC0-ED91-D0836983C984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8147D5FA-4EFE-AC20-36CA-AA6036A7800F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5FC03F4-9DF1-D620-7605-0ADD6B5904D6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9B2EDC8B-5665-4F75-CD2D-0407A51793D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42" y="1577980"/>
            <a:ext cx="3233204" cy="1900783"/>
          </a:xfrm>
          <a:prstGeom prst="rect">
            <a:avLst/>
          </a:prstGeom>
        </p:spPr>
      </p:pic>
      <p:sp>
        <p:nvSpPr>
          <p:cNvPr id="40" name="Rectangle 60">
            <a:extLst>
              <a:ext uri="{FF2B5EF4-FFF2-40B4-BE49-F238E27FC236}">
                <a16:creationId xmlns:a16="http://schemas.microsoft.com/office/drawing/2014/main" id="{7C4C3530-0CEE-0B42-5DEF-6441A4B65AC2}"/>
              </a:ext>
            </a:extLst>
          </p:cNvPr>
          <p:cNvSpPr/>
          <p:nvPr/>
        </p:nvSpPr>
        <p:spPr>
          <a:xfrm>
            <a:off x="204342" y="4448347"/>
            <a:ext cx="1939272" cy="324594"/>
          </a:xfrm>
          <a:prstGeom prst="roundRect">
            <a:avLst>
              <a:gd name="adj" fmla="val 50000"/>
            </a:avLst>
          </a:pr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研究意义</a:t>
            </a:r>
          </a:p>
        </p:txBody>
      </p:sp>
      <p:sp>
        <p:nvSpPr>
          <p:cNvPr id="41" name="图形">
            <a:extLst>
              <a:ext uri="{FF2B5EF4-FFF2-40B4-BE49-F238E27FC236}">
                <a16:creationId xmlns:a16="http://schemas.microsoft.com/office/drawing/2014/main" id="{B589624F-EA6F-1DC3-90BA-8C7FECAF40AB}"/>
              </a:ext>
            </a:extLst>
          </p:cNvPr>
          <p:cNvSpPr txBox="1"/>
          <p:nvPr/>
        </p:nvSpPr>
        <p:spPr>
          <a:xfrm flipH="1">
            <a:off x="2143613" y="4418789"/>
            <a:ext cx="6604732" cy="7005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研究有助于为该领域科研选题、学术合作及科研管理提供数据支撑与决策参考。</a:t>
            </a:r>
            <a:r>
              <a:rPr lang="zh-CN" altLang="en-US" sz="1400" dirty="0">
                <a:solidFill>
                  <a:prstClr val="black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推进该领域进一步发展。使其更加普及，不再出现“</a:t>
            </a:r>
            <a:r>
              <a:rPr lang="zh-CN" altLang="en-US" sz="1400" b="1" dirty="0">
                <a:solidFill>
                  <a:prstClr val="black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人人确诊</a:t>
            </a:r>
            <a:r>
              <a:rPr lang="en-US" altLang="zh-CN" sz="1400" b="1" dirty="0">
                <a:solidFill>
                  <a:prstClr val="black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ADHD</a:t>
            </a:r>
            <a:r>
              <a:rPr lang="zh-CN" altLang="en-US" sz="1400" dirty="0">
                <a:solidFill>
                  <a:prstClr val="black"/>
                </a:solidFill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”。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思源宋体 CN Light" panose="02020300000000000000" pitchFamily="18" charset="-122"/>
              <a:ea typeface="思源宋体 CN Light" panose="02020300000000000000" pitchFamily="18" charset="-122"/>
              <a:cs typeface="+mn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9652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3631C9-DECE-6DB2-F3A5-A87F82DC4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98A5CD89-1A56-6C0D-E967-634410C09D8C}"/>
              </a:ext>
            </a:extLst>
          </p:cNvPr>
          <p:cNvGrpSpPr/>
          <p:nvPr/>
        </p:nvGrpSpPr>
        <p:grpSpPr>
          <a:xfrm>
            <a:off x="-5818" y="0"/>
            <a:ext cx="9149818" cy="5150873"/>
            <a:chOff x="-5818" y="0"/>
            <a:chExt cx="9149818" cy="515087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D3F376C7-F2CE-1E8D-47A4-9B97F26F2F31}"/>
                </a:ext>
              </a:extLst>
            </p:cNvPr>
            <p:cNvGrpSpPr/>
            <p:nvPr/>
          </p:nvGrpSpPr>
          <p:grpSpPr>
            <a:xfrm flipH="1">
              <a:off x="-5818" y="0"/>
              <a:ext cx="9149818" cy="5150873"/>
              <a:chOff x="-5818" y="0"/>
              <a:chExt cx="9149818" cy="5150873"/>
            </a:xfrm>
          </p:grpSpPr>
          <p:sp>
            <p:nvSpPr>
              <p:cNvPr id="12" name="Google Shape;58;p3">
                <a:extLst>
                  <a:ext uri="{FF2B5EF4-FFF2-40B4-BE49-F238E27FC236}">
                    <a16:creationId xmlns:a16="http://schemas.microsoft.com/office/drawing/2014/main" id="{02358542-B1EF-76B2-47E8-CA0CFBDB582B}"/>
                  </a:ext>
                </a:extLst>
              </p:cNvPr>
              <p:cNvSpPr/>
              <p:nvPr/>
            </p:nvSpPr>
            <p:spPr>
              <a:xfrm rot="10800000">
                <a:off x="5518762" y="2132527"/>
                <a:ext cx="3625238" cy="3018346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6" name="Google Shape;58;p3">
                <a:extLst>
                  <a:ext uri="{FF2B5EF4-FFF2-40B4-BE49-F238E27FC236}">
                    <a16:creationId xmlns:a16="http://schemas.microsoft.com/office/drawing/2014/main" id="{0FC5DE39-2531-0AB9-F46A-12642764AE75}"/>
                  </a:ext>
                </a:extLst>
              </p:cNvPr>
              <p:cNvSpPr/>
              <p:nvPr/>
            </p:nvSpPr>
            <p:spPr>
              <a:xfrm rot="10800000" flipH="1" flipV="1">
                <a:off x="-5818" y="0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EE95630E-E821-3892-6841-FCAB512B115E}"/>
                  </a:ext>
                </a:extLst>
              </p:cNvPr>
              <p:cNvSpPr/>
              <p:nvPr/>
            </p:nvSpPr>
            <p:spPr>
              <a:xfrm rot="19800000">
                <a:off x="7300743" y="284091"/>
                <a:ext cx="1370002" cy="137000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720805AC-C81C-6B22-D3F7-9C369CC6A2B3}"/>
                  </a:ext>
                </a:extLst>
              </p:cNvPr>
              <p:cNvSpPr/>
              <p:nvPr/>
            </p:nvSpPr>
            <p:spPr>
              <a:xfrm rot="19800000">
                <a:off x="5203840" y="3777489"/>
                <a:ext cx="587982" cy="58798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1" name="Google Shape;58;p3">
                <a:extLst>
                  <a:ext uri="{FF2B5EF4-FFF2-40B4-BE49-F238E27FC236}">
                    <a16:creationId xmlns:a16="http://schemas.microsoft.com/office/drawing/2014/main" id="{311E29A3-35E9-16B2-25DE-D471229F4A4D}"/>
                  </a:ext>
                </a:extLst>
              </p:cNvPr>
              <p:cNvSpPr/>
              <p:nvPr/>
            </p:nvSpPr>
            <p:spPr>
              <a:xfrm rot="10800000" flipH="1">
                <a:off x="0" y="4071481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2" name="任意多边形 7">
                <a:extLst>
                  <a:ext uri="{FF2B5EF4-FFF2-40B4-BE49-F238E27FC236}">
                    <a16:creationId xmlns:a16="http://schemas.microsoft.com/office/drawing/2014/main" id="{8AE933FE-4DAF-A344-09F7-0411B8446808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5087031" y="783440"/>
                <a:ext cx="702010" cy="371304"/>
              </a:xfrm>
              <a:custGeom>
                <a:avLst/>
                <a:gdLst>
                  <a:gd name="idx" fmla="cos wd2 2700000"/>
                  <a:gd name="idy" fmla="sin hd2 2700000"/>
                  <a:gd name="il" fmla="+- hc 0 idx"/>
                  <a:gd name="ir" fmla="+- hc idx 0"/>
                  <a:gd name="it" fmla="+- vc 0 idy"/>
                  <a:gd name="ib" fmla="+- vc idy 0"/>
                </a:gdLst>
                <a:ahLst/>
                <a:cxnLst>
                  <a:cxn ang="3">
                    <a:pos x="hc" y="t"/>
                  </a:cxn>
                  <a:cxn ang="3">
                    <a:pos x="il" y="it"/>
                  </a:cxn>
                  <a:cxn ang="cd2">
                    <a:pos x="l" y="vc"/>
                  </a:cxn>
                  <a:cxn ang="cd4">
                    <a:pos x="il" y="ib"/>
                  </a:cxn>
                  <a:cxn ang="cd4">
                    <a:pos x="hc" y="b"/>
                  </a:cxn>
                  <a:cxn ang="cd4">
                    <a:pos x="ir" y="ib"/>
                  </a:cxn>
                  <a:cxn ang="0">
                    <a:pos x="r" y="vc"/>
                  </a:cxn>
                  <a:cxn ang="3">
                    <a:pos x="ir" y="it"/>
                  </a:cxn>
                </a:cxnLst>
                <a:rect l="l" t="t" r="r" b="b"/>
                <a:pathLst>
                  <a:path w="1647" h="922">
                    <a:moveTo>
                      <a:pt x="0" y="61"/>
                    </a:moveTo>
                    <a:cubicBezTo>
                      <a:pt x="0" y="27"/>
                      <a:pt x="26" y="0"/>
                      <a:pt x="58" y="0"/>
                    </a:cubicBezTo>
                    <a:cubicBezTo>
                      <a:pt x="89" y="0"/>
                      <a:pt x="115" y="27"/>
                      <a:pt x="115" y="61"/>
                    </a:cubicBezTo>
                    <a:cubicBezTo>
                      <a:pt x="115" y="94"/>
                      <a:pt x="89" y="121"/>
                      <a:pt x="58" y="121"/>
                    </a:cubicBezTo>
                    <a:cubicBezTo>
                      <a:pt x="26" y="121"/>
                      <a:pt x="0" y="94"/>
                      <a:pt x="0" y="61"/>
                    </a:cubicBezTo>
                    <a:close/>
                    <a:moveTo>
                      <a:pt x="383" y="61"/>
                    </a:moveTo>
                    <a:cubicBezTo>
                      <a:pt x="383" y="27"/>
                      <a:pt x="409" y="0"/>
                      <a:pt x="441" y="0"/>
                    </a:cubicBezTo>
                    <a:cubicBezTo>
                      <a:pt x="472" y="0"/>
                      <a:pt x="498" y="27"/>
                      <a:pt x="498" y="61"/>
                    </a:cubicBezTo>
                    <a:cubicBezTo>
                      <a:pt x="498" y="94"/>
                      <a:pt x="472" y="121"/>
                      <a:pt x="441" y="121"/>
                    </a:cubicBezTo>
                    <a:cubicBezTo>
                      <a:pt x="409" y="121"/>
                      <a:pt x="383" y="94"/>
                      <a:pt x="383" y="61"/>
                    </a:cubicBezTo>
                    <a:close/>
                    <a:moveTo>
                      <a:pt x="766" y="61"/>
                    </a:moveTo>
                    <a:cubicBezTo>
                      <a:pt x="766" y="27"/>
                      <a:pt x="792" y="0"/>
                      <a:pt x="824" y="0"/>
                    </a:cubicBezTo>
                    <a:cubicBezTo>
                      <a:pt x="855" y="0"/>
                      <a:pt x="881" y="27"/>
                      <a:pt x="881" y="61"/>
                    </a:cubicBezTo>
                    <a:cubicBezTo>
                      <a:pt x="881" y="94"/>
                      <a:pt x="855" y="121"/>
                      <a:pt x="824" y="121"/>
                    </a:cubicBezTo>
                    <a:cubicBezTo>
                      <a:pt x="792" y="121"/>
                      <a:pt x="766" y="94"/>
                      <a:pt x="766" y="61"/>
                    </a:cubicBezTo>
                    <a:close/>
                    <a:moveTo>
                      <a:pt x="1149" y="61"/>
                    </a:moveTo>
                    <a:cubicBezTo>
                      <a:pt x="1149" y="27"/>
                      <a:pt x="1175" y="0"/>
                      <a:pt x="1207" y="0"/>
                    </a:cubicBezTo>
                    <a:cubicBezTo>
                      <a:pt x="1238" y="0"/>
                      <a:pt x="1264" y="27"/>
                      <a:pt x="1264" y="61"/>
                    </a:cubicBezTo>
                    <a:cubicBezTo>
                      <a:pt x="1264" y="94"/>
                      <a:pt x="1238" y="121"/>
                      <a:pt x="1207" y="121"/>
                    </a:cubicBezTo>
                    <a:cubicBezTo>
                      <a:pt x="1175" y="121"/>
                      <a:pt x="1149" y="94"/>
                      <a:pt x="1149" y="61"/>
                    </a:cubicBezTo>
                    <a:close/>
                    <a:moveTo>
                      <a:pt x="1532" y="61"/>
                    </a:moveTo>
                    <a:cubicBezTo>
                      <a:pt x="1532" y="27"/>
                      <a:pt x="1558" y="0"/>
                      <a:pt x="1590" y="0"/>
                    </a:cubicBezTo>
                    <a:cubicBezTo>
                      <a:pt x="1621" y="0"/>
                      <a:pt x="1647" y="27"/>
                      <a:pt x="1647" y="61"/>
                    </a:cubicBezTo>
                    <a:cubicBezTo>
                      <a:pt x="1647" y="94"/>
                      <a:pt x="1621" y="121"/>
                      <a:pt x="1590" y="121"/>
                    </a:cubicBezTo>
                    <a:cubicBezTo>
                      <a:pt x="1558" y="121"/>
                      <a:pt x="1532" y="94"/>
                      <a:pt x="1532" y="61"/>
                    </a:cubicBezTo>
                    <a:close/>
                    <a:moveTo>
                      <a:pt x="0" y="328"/>
                    </a:moveTo>
                    <a:cubicBezTo>
                      <a:pt x="0" y="294"/>
                      <a:pt x="26" y="267"/>
                      <a:pt x="58" y="267"/>
                    </a:cubicBezTo>
                    <a:cubicBezTo>
                      <a:pt x="89" y="267"/>
                      <a:pt x="115" y="294"/>
                      <a:pt x="115" y="328"/>
                    </a:cubicBezTo>
                    <a:cubicBezTo>
                      <a:pt x="115" y="361"/>
                      <a:pt x="89" y="388"/>
                      <a:pt x="58" y="388"/>
                    </a:cubicBezTo>
                    <a:cubicBezTo>
                      <a:pt x="26" y="388"/>
                      <a:pt x="0" y="361"/>
                      <a:pt x="0" y="328"/>
                    </a:cubicBezTo>
                    <a:close/>
                    <a:moveTo>
                      <a:pt x="383" y="328"/>
                    </a:moveTo>
                    <a:cubicBezTo>
                      <a:pt x="383" y="294"/>
                      <a:pt x="409" y="267"/>
                      <a:pt x="441" y="267"/>
                    </a:cubicBezTo>
                    <a:cubicBezTo>
                      <a:pt x="472" y="267"/>
                      <a:pt x="498" y="294"/>
                      <a:pt x="498" y="328"/>
                    </a:cubicBezTo>
                    <a:cubicBezTo>
                      <a:pt x="498" y="361"/>
                      <a:pt x="472" y="388"/>
                      <a:pt x="441" y="388"/>
                    </a:cubicBezTo>
                    <a:cubicBezTo>
                      <a:pt x="409" y="388"/>
                      <a:pt x="383" y="361"/>
                      <a:pt x="383" y="328"/>
                    </a:cubicBezTo>
                    <a:close/>
                    <a:moveTo>
                      <a:pt x="766" y="328"/>
                    </a:moveTo>
                    <a:cubicBezTo>
                      <a:pt x="766" y="294"/>
                      <a:pt x="792" y="267"/>
                      <a:pt x="824" y="267"/>
                    </a:cubicBezTo>
                    <a:cubicBezTo>
                      <a:pt x="855" y="267"/>
                      <a:pt x="881" y="294"/>
                      <a:pt x="881" y="328"/>
                    </a:cubicBezTo>
                    <a:cubicBezTo>
                      <a:pt x="881" y="361"/>
                      <a:pt x="855" y="388"/>
                      <a:pt x="824" y="388"/>
                    </a:cubicBezTo>
                    <a:cubicBezTo>
                      <a:pt x="792" y="388"/>
                      <a:pt x="766" y="361"/>
                      <a:pt x="766" y="328"/>
                    </a:cubicBezTo>
                    <a:close/>
                    <a:moveTo>
                      <a:pt x="1149" y="328"/>
                    </a:moveTo>
                    <a:cubicBezTo>
                      <a:pt x="1149" y="294"/>
                      <a:pt x="1175" y="267"/>
                      <a:pt x="1207" y="267"/>
                    </a:cubicBezTo>
                    <a:cubicBezTo>
                      <a:pt x="1238" y="267"/>
                      <a:pt x="1264" y="294"/>
                      <a:pt x="1264" y="328"/>
                    </a:cubicBezTo>
                    <a:cubicBezTo>
                      <a:pt x="1264" y="361"/>
                      <a:pt x="1238" y="388"/>
                      <a:pt x="1207" y="388"/>
                    </a:cubicBezTo>
                    <a:cubicBezTo>
                      <a:pt x="1175" y="388"/>
                      <a:pt x="1149" y="361"/>
                      <a:pt x="1149" y="328"/>
                    </a:cubicBezTo>
                    <a:close/>
                    <a:moveTo>
                      <a:pt x="1532" y="328"/>
                    </a:moveTo>
                    <a:cubicBezTo>
                      <a:pt x="1532" y="294"/>
                      <a:pt x="1558" y="267"/>
                      <a:pt x="1590" y="267"/>
                    </a:cubicBezTo>
                    <a:cubicBezTo>
                      <a:pt x="1621" y="267"/>
                      <a:pt x="1647" y="294"/>
                      <a:pt x="1647" y="328"/>
                    </a:cubicBezTo>
                    <a:cubicBezTo>
                      <a:pt x="1647" y="361"/>
                      <a:pt x="1621" y="388"/>
                      <a:pt x="1590" y="388"/>
                    </a:cubicBezTo>
                    <a:cubicBezTo>
                      <a:pt x="1558" y="388"/>
                      <a:pt x="1532" y="361"/>
                      <a:pt x="1532" y="328"/>
                    </a:cubicBezTo>
                    <a:close/>
                    <a:moveTo>
                      <a:pt x="0" y="595"/>
                    </a:moveTo>
                    <a:cubicBezTo>
                      <a:pt x="0" y="561"/>
                      <a:pt x="26" y="534"/>
                      <a:pt x="58" y="534"/>
                    </a:cubicBezTo>
                    <a:cubicBezTo>
                      <a:pt x="89" y="534"/>
                      <a:pt x="115" y="561"/>
                      <a:pt x="115" y="595"/>
                    </a:cubicBezTo>
                    <a:cubicBezTo>
                      <a:pt x="115" y="628"/>
                      <a:pt x="89" y="655"/>
                      <a:pt x="58" y="655"/>
                    </a:cubicBezTo>
                    <a:cubicBezTo>
                      <a:pt x="26" y="655"/>
                      <a:pt x="0" y="628"/>
                      <a:pt x="0" y="595"/>
                    </a:cubicBezTo>
                    <a:close/>
                    <a:moveTo>
                      <a:pt x="383" y="595"/>
                    </a:moveTo>
                    <a:cubicBezTo>
                      <a:pt x="383" y="561"/>
                      <a:pt x="409" y="534"/>
                      <a:pt x="441" y="534"/>
                    </a:cubicBezTo>
                    <a:cubicBezTo>
                      <a:pt x="472" y="534"/>
                      <a:pt x="498" y="561"/>
                      <a:pt x="498" y="595"/>
                    </a:cubicBezTo>
                    <a:cubicBezTo>
                      <a:pt x="498" y="628"/>
                      <a:pt x="472" y="655"/>
                      <a:pt x="441" y="655"/>
                    </a:cubicBezTo>
                    <a:cubicBezTo>
                      <a:pt x="409" y="655"/>
                      <a:pt x="383" y="628"/>
                      <a:pt x="383" y="595"/>
                    </a:cubicBezTo>
                    <a:close/>
                    <a:moveTo>
                      <a:pt x="766" y="595"/>
                    </a:moveTo>
                    <a:cubicBezTo>
                      <a:pt x="766" y="561"/>
                      <a:pt x="792" y="534"/>
                      <a:pt x="824" y="534"/>
                    </a:cubicBezTo>
                    <a:cubicBezTo>
                      <a:pt x="855" y="534"/>
                      <a:pt x="881" y="561"/>
                      <a:pt x="881" y="595"/>
                    </a:cubicBezTo>
                    <a:cubicBezTo>
                      <a:pt x="881" y="628"/>
                      <a:pt x="855" y="655"/>
                      <a:pt x="824" y="655"/>
                    </a:cubicBezTo>
                    <a:cubicBezTo>
                      <a:pt x="792" y="655"/>
                      <a:pt x="766" y="628"/>
                      <a:pt x="766" y="595"/>
                    </a:cubicBezTo>
                    <a:close/>
                    <a:moveTo>
                      <a:pt x="1149" y="595"/>
                    </a:moveTo>
                    <a:cubicBezTo>
                      <a:pt x="1149" y="561"/>
                      <a:pt x="1175" y="534"/>
                      <a:pt x="1207" y="534"/>
                    </a:cubicBezTo>
                    <a:cubicBezTo>
                      <a:pt x="1238" y="534"/>
                      <a:pt x="1264" y="561"/>
                      <a:pt x="1264" y="595"/>
                    </a:cubicBezTo>
                    <a:cubicBezTo>
                      <a:pt x="1264" y="628"/>
                      <a:pt x="1238" y="655"/>
                      <a:pt x="1207" y="655"/>
                    </a:cubicBezTo>
                    <a:cubicBezTo>
                      <a:pt x="1175" y="655"/>
                      <a:pt x="1149" y="628"/>
                      <a:pt x="1149" y="595"/>
                    </a:cubicBezTo>
                    <a:close/>
                    <a:moveTo>
                      <a:pt x="1532" y="595"/>
                    </a:moveTo>
                    <a:cubicBezTo>
                      <a:pt x="1532" y="561"/>
                      <a:pt x="1558" y="534"/>
                      <a:pt x="1590" y="534"/>
                    </a:cubicBezTo>
                    <a:cubicBezTo>
                      <a:pt x="1621" y="534"/>
                      <a:pt x="1647" y="561"/>
                      <a:pt x="1647" y="595"/>
                    </a:cubicBezTo>
                    <a:cubicBezTo>
                      <a:pt x="1647" y="628"/>
                      <a:pt x="1621" y="655"/>
                      <a:pt x="1590" y="655"/>
                    </a:cubicBezTo>
                    <a:cubicBezTo>
                      <a:pt x="1558" y="655"/>
                      <a:pt x="1532" y="628"/>
                      <a:pt x="1532" y="595"/>
                    </a:cubicBezTo>
                    <a:close/>
                    <a:moveTo>
                      <a:pt x="0" y="862"/>
                    </a:moveTo>
                    <a:cubicBezTo>
                      <a:pt x="0" y="828"/>
                      <a:pt x="26" y="801"/>
                      <a:pt x="58" y="801"/>
                    </a:cubicBezTo>
                    <a:cubicBezTo>
                      <a:pt x="89" y="801"/>
                      <a:pt x="115" y="828"/>
                      <a:pt x="115" y="862"/>
                    </a:cubicBezTo>
                    <a:cubicBezTo>
                      <a:pt x="115" y="895"/>
                      <a:pt x="89" y="922"/>
                      <a:pt x="58" y="922"/>
                    </a:cubicBezTo>
                    <a:cubicBezTo>
                      <a:pt x="26" y="922"/>
                      <a:pt x="0" y="895"/>
                      <a:pt x="0" y="862"/>
                    </a:cubicBezTo>
                    <a:close/>
                    <a:moveTo>
                      <a:pt x="383" y="862"/>
                    </a:moveTo>
                    <a:cubicBezTo>
                      <a:pt x="383" y="828"/>
                      <a:pt x="409" y="801"/>
                      <a:pt x="441" y="801"/>
                    </a:cubicBezTo>
                    <a:cubicBezTo>
                      <a:pt x="472" y="801"/>
                      <a:pt x="498" y="828"/>
                      <a:pt x="498" y="862"/>
                    </a:cubicBezTo>
                    <a:cubicBezTo>
                      <a:pt x="498" y="895"/>
                      <a:pt x="472" y="922"/>
                      <a:pt x="441" y="922"/>
                    </a:cubicBezTo>
                    <a:cubicBezTo>
                      <a:pt x="409" y="922"/>
                      <a:pt x="383" y="895"/>
                      <a:pt x="383" y="862"/>
                    </a:cubicBezTo>
                    <a:close/>
                    <a:moveTo>
                      <a:pt x="766" y="862"/>
                    </a:moveTo>
                    <a:cubicBezTo>
                      <a:pt x="766" y="828"/>
                      <a:pt x="792" y="801"/>
                      <a:pt x="824" y="801"/>
                    </a:cubicBezTo>
                    <a:cubicBezTo>
                      <a:pt x="855" y="801"/>
                      <a:pt x="881" y="828"/>
                      <a:pt x="881" y="862"/>
                    </a:cubicBezTo>
                    <a:cubicBezTo>
                      <a:pt x="881" y="895"/>
                      <a:pt x="855" y="922"/>
                      <a:pt x="824" y="922"/>
                    </a:cubicBezTo>
                    <a:cubicBezTo>
                      <a:pt x="792" y="922"/>
                      <a:pt x="766" y="895"/>
                      <a:pt x="766" y="862"/>
                    </a:cubicBezTo>
                    <a:close/>
                    <a:moveTo>
                      <a:pt x="1149" y="862"/>
                    </a:moveTo>
                    <a:cubicBezTo>
                      <a:pt x="1149" y="828"/>
                      <a:pt x="1175" y="801"/>
                      <a:pt x="1207" y="801"/>
                    </a:cubicBezTo>
                    <a:cubicBezTo>
                      <a:pt x="1238" y="801"/>
                      <a:pt x="1264" y="828"/>
                      <a:pt x="1264" y="862"/>
                    </a:cubicBezTo>
                    <a:cubicBezTo>
                      <a:pt x="1264" y="895"/>
                      <a:pt x="1238" y="922"/>
                      <a:pt x="1207" y="922"/>
                    </a:cubicBezTo>
                    <a:cubicBezTo>
                      <a:pt x="1175" y="922"/>
                      <a:pt x="1149" y="895"/>
                      <a:pt x="1149" y="862"/>
                    </a:cubicBezTo>
                    <a:close/>
                    <a:moveTo>
                      <a:pt x="1532" y="862"/>
                    </a:moveTo>
                    <a:cubicBezTo>
                      <a:pt x="1532" y="828"/>
                      <a:pt x="1558" y="801"/>
                      <a:pt x="1590" y="801"/>
                    </a:cubicBezTo>
                    <a:cubicBezTo>
                      <a:pt x="1621" y="801"/>
                      <a:pt x="1647" y="828"/>
                      <a:pt x="1647" y="862"/>
                    </a:cubicBezTo>
                    <a:cubicBezTo>
                      <a:pt x="1647" y="895"/>
                      <a:pt x="1621" y="922"/>
                      <a:pt x="1590" y="922"/>
                    </a:cubicBezTo>
                    <a:cubicBezTo>
                      <a:pt x="1558" y="922"/>
                      <a:pt x="1532" y="895"/>
                      <a:pt x="1532" y="862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思源黑体 CN Light" panose="020B0300000000000000" charset="-122"/>
                </a:endParaRPr>
              </a:p>
            </p:txBody>
          </p:sp>
        </p:grp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B83BAB76-50F7-BF33-FBBF-1D91109A265A}"/>
                </a:ext>
              </a:extLst>
            </p:cNvPr>
            <p:cNvSpPr/>
            <p:nvPr/>
          </p:nvSpPr>
          <p:spPr>
            <a:xfrm>
              <a:off x="555898" y="1904821"/>
              <a:ext cx="2821557" cy="2821557"/>
            </a:xfrm>
            <a:prstGeom prst="ellipse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CB85077E-E7F5-44AE-A750-4CA5DF47042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181137" y="2107526"/>
            <a:ext cx="3841731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913765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kern="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rPr>
              <a:t>数据的准备</a:t>
            </a:r>
          </a:p>
        </p:txBody>
      </p:sp>
      <p:sp>
        <p:nvSpPr>
          <p:cNvPr id="41" name="圆角矩形 20">
            <a:extLst>
              <a:ext uri="{FF2B5EF4-FFF2-40B4-BE49-F238E27FC236}">
                <a16:creationId xmlns:a16="http://schemas.microsoft.com/office/drawing/2014/main" id="{4CDA472B-4C6B-2F2D-964E-520A2C7F483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85911" y="1481551"/>
            <a:ext cx="1532102" cy="434074"/>
          </a:xfrm>
          <a:prstGeom prst="roundRect">
            <a:avLst>
              <a:gd name="adj" fmla="val 50000"/>
            </a:avLst>
          </a:pr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PART 02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6FCF562-C401-D287-39ED-5B6D91FDD3CF}"/>
              </a:ext>
            </a:extLst>
          </p:cNvPr>
          <p:cNvSpPr txBox="1"/>
          <p:nvPr/>
        </p:nvSpPr>
        <p:spPr>
          <a:xfrm>
            <a:off x="5768726" y="1236275"/>
            <a:ext cx="2435811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5400">
                <a:gradFill>
                  <a:gsLst>
                    <a:gs pos="84000">
                      <a:srgbClr val="0960E5">
                        <a:alpha val="32000"/>
                      </a:srgb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PART</a:t>
            </a:r>
            <a:endParaRPr lang="zh-CN" altLang="en-US" sz="5400"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Bold" panose="020B0800000000000000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F763EDC-2F35-1AF1-E9B5-52D727DF43BB}"/>
              </a:ext>
            </a:extLst>
          </p:cNvPr>
          <p:cNvGrpSpPr/>
          <p:nvPr/>
        </p:nvGrpSpPr>
        <p:grpSpPr>
          <a:xfrm>
            <a:off x="4185912" y="2081786"/>
            <a:ext cx="3710903" cy="865115"/>
            <a:chOff x="5852478" y="2100373"/>
            <a:chExt cx="5315585" cy="1330921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893E9CA-3CD7-719D-11D8-1955703C293D}"/>
                </a:ext>
              </a:extLst>
            </p:cNvPr>
            <p:cNvCxnSpPr/>
            <p:nvPr/>
          </p:nvCxnSpPr>
          <p:spPr>
            <a:xfrm>
              <a:off x="5852478" y="3431294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A0F005B8-C666-B9D1-8430-C27087978E56}"/>
                </a:ext>
              </a:extLst>
            </p:cNvPr>
            <p:cNvCxnSpPr/>
            <p:nvPr/>
          </p:nvCxnSpPr>
          <p:spPr>
            <a:xfrm>
              <a:off x="5875973" y="2100373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4291BD10-D18B-01A5-CBD7-2A7CB53D2025}"/>
              </a:ext>
            </a:extLst>
          </p:cNvPr>
          <p:cNvSpPr/>
          <p:nvPr/>
        </p:nvSpPr>
        <p:spPr>
          <a:xfrm>
            <a:off x="4292689" y="3472731"/>
            <a:ext cx="659273" cy="47822"/>
          </a:xfrm>
          <a:custGeom>
            <a:avLst/>
            <a:gdLst>
              <a:gd name="connsiteX0" fmla="*/ 881551 w 914727"/>
              <a:gd name="connsiteY0" fmla="*/ 0 h 66352"/>
              <a:gd name="connsiteX1" fmla="*/ 914727 w 914727"/>
              <a:gd name="connsiteY1" fmla="*/ 33176 h 66352"/>
              <a:gd name="connsiteX2" fmla="*/ 881551 w 914727"/>
              <a:gd name="connsiteY2" fmla="*/ 66352 h 66352"/>
              <a:gd name="connsiteX3" fmla="*/ 848375 w 914727"/>
              <a:gd name="connsiteY3" fmla="*/ 33176 h 66352"/>
              <a:gd name="connsiteX4" fmla="*/ 881551 w 914727"/>
              <a:gd name="connsiteY4" fmla="*/ 0 h 66352"/>
              <a:gd name="connsiteX5" fmla="*/ 669458 w 914727"/>
              <a:gd name="connsiteY5" fmla="*/ 0 h 66352"/>
              <a:gd name="connsiteX6" fmla="*/ 702634 w 914727"/>
              <a:gd name="connsiteY6" fmla="*/ 33176 h 66352"/>
              <a:gd name="connsiteX7" fmla="*/ 669458 w 914727"/>
              <a:gd name="connsiteY7" fmla="*/ 66352 h 66352"/>
              <a:gd name="connsiteX8" fmla="*/ 636282 w 914727"/>
              <a:gd name="connsiteY8" fmla="*/ 33176 h 66352"/>
              <a:gd name="connsiteX9" fmla="*/ 669458 w 914727"/>
              <a:gd name="connsiteY9" fmla="*/ 0 h 66352"/>
              <a:gd name="connsiteX10" fmla="*/ 457364 w 914727"/>
              <a:gd name="connsiteY10" fmla="*/ 0 h 66352"/>
              <a:gd name="connsiteX11" fmla="*/ 490540 w 914727"/>
              <a:gd name="connsiteY11" fmla="*/ 33176 h 66352"/>
              <a:gd name="connsiteX12" fmla="*/ 457364 w 914727"/>
              <a:gd name="connsiteY12" fmla="*/ 66352 h 66352"/>
              <a:gd name="connsiteX13" fmla="*/ 424188 w 914727"/>
              <a:gd name="connsiteY13" fmla="*/ 33176 h 66352"/>
              <a:gd name="connsiteX14" fmla="*/ 457364 w 914727"/>
              <a:gd name="connsiteY14" fmla="*/ 0 h 66352"/>
              <a:gd name="connsiteX15" fmla="*/ 245270 w 914727"/>
              <a:gd name="connsiteY15" fmla="*/ 0 h 66352"/>
              <a:gd name="connsiteX16" fmla="*/ 278446 w 914727"/>
              <a:gd name="connsiteY16" fmla="*/ 33176 h 66352"/>
              <a:gd name="connsiteX17" fmla="*/ 245270 w 914727"/>
              <a:gd name="connsiteY17" fmla="*/ 66352 h 66352"/>
              <a:gd name="connsiteX18" fmla="*/ 212094 w 914727"/>
              <a:gd name="connsiteY18" fmla="*/ 33176 h 66352"/>
              <a:gd name="connsiteX19" fmla="*/ 245270 w 914727"/>
              <a:gd name="connsiteY19" fmla="*/ 0 h 66352"/>
              <a:gd name="connsiteX20" fmla="*/ 33176 w 914727"/>
              <a:gd name="connsiteY20" fmla="*/ 0 h 66352"/>
              <a:gd name="connsiteX21" fmla="*/ 66352 w 914727"/>
              <a:gd name="connsiteY21" fmla="*/ 33176 h 66352"/>
              <a:gd name="connsiteX22" fmla="*/ 33176 w 914727"/>
              <a:gd name="connsiteY22" fmla="*/ 66352 h 66352"/>
              <a:gd name="connsiteX23" fmla="*/ 0 w 914727"/>
              <a:gd name="connsiteY23" fmla="*/ 33176 h 66352"/>
              <a:gd name="connsiteX24" fmla="*/ 33176 w 914727"/>
              <a:gd name="connsiteY24" fmla="*/ 0 h 6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14727" h="66352">
                <a:moveTo>
                  <a:pt x="881551" y="0"/>
                </a:moveTo>
                <a:cubicBezTo>
                  <a:pt x="899874" y="0"/>
                  <a:pt x="914727" y="14853"/>
                  <a:pt x="914727" y="33176"/>
                </a:cubicBezTo>
                <a:cubicBezTo>
                  <a:pt x="914727" y="51499"/>
                  <a:pt x="899874" y="66352"/>
                  <a:pt x="881551" y="66352"/>
                </a:cubicBezTo>
                <a:cubicBezTo>
                  <a:pt x="863228" y="66352"/>
                  <a:pt x="848375" y="51499"/>
                  <a:pt x="848375" y="33176"/>
                </a:cubicBezTo>
                <a:cubicBezTo>
                  <a:pt x="848375" y="14853"/>
                  <a:pt x="863228" y="0"/>
                  <a:pt x="881551" y="0"/>
                </a:cubicBezTo>
                <a:close/>
                <a:moveTo>
                  <a:pt x="669458" y="0"/>
                </a:moveTo>
                <a:cubicBezTo>
                  <a:pt x="687781" y="0"/>
                  <a:pt x="702634" y="14853"/>
                  <a:pt x="702634" y="33176"/>
                </a:cubicBezTo>
                <a:cubicBezTo>
                  <a:pt x="702634" y="51499"/>
                  <a:pt x="687781" y="66352"/>
                  <a:pt x="669458" y="66352"/>
                </a:cubicBezTo>
                <a:cubicBezTo>
                  <a:pt x="651135" y="66352"/>
                  <a:pt x="636282" y="51499"/>
                  <a:pt x="636282" y="33176"/>
                </a:cubicBezTo>
                <a:cubicBezTo>
                  <a:pt x="636282" y="14853"/>
                  <a:pt x="651135" y="0"/>
                  <a:pt x="669458" y="0"/>
                </a:cubicBezTo>
                <a:close/>
                <a:moveTo>
                  <a:pt x="457364" y="0"/>
                </a:moveTo>
                <a:cubicBezTo>
                  <a:pt x="475687" y="0"/>
                  <a:pt x="490540" y="14853"/>
                  <a:pt x="490540" y="33176"/>
                </a:cubicBezTo>
                <a:cubicBezTo>
                  <a:pt x="490540" y="51499"/>
                  <a:pt x="475687" y="66352"/>
                  <a:pt x="457364" y="66352"/>
                </a:cubicBezTo>
                <a:cubicBezTo>
                  <a:pt x="439041" y="66352"/>
                  <a:pt x="424188" y="51499"/>
                  <a:pt x="424188" y="33176"/>
                </a:cubicBezTo>
                <a:cubicBezTo>
                  <a:pt x="424188" y="14853"/>
                  <a:pt x="439041" y="0"/>
                  <a:pt x="457364" y="0"/>
                </a:cubicBezTo>
                <a:close/>
                <a:moveTo>
                  <a:pt x="245270" y="0"/>
                </a:moveTo>
                <a:cubicBezTo>
                  <a:pt x="263593" y="0"/>
                  <a:pt x="278446" y="14853"/>
                  <a:pt x="278446" y="33176"/>
                </a:cubicBezTo>
                <a:cubicBezTo>
                  <a:pt x="278446" y="51499"/>
                  <a:pt x="263593" y="66352"/>
                  <a:pt x="245270" y="66352"/>
                </a:cubicBezTo>
                <a:cubicBezTo>
                  <a:pt x="226947" y="66352"/>
                  <a:pt x="212094" y="51499"/>
                  <a:pt x="212094" y="33176"/>
                </a:cubicBezTo>
                <a:cubicBezTo>
                  <a:pt x="212094" y="14853"/>
                  <a:pt x="226947" y="0"/>
                  <a:pt x="245270" y="0"/>
                </a:cubicBezTo>
                <a:close/>
                <a:moveTo>
                  <a:pt x="33176" y="0"/>
                </a:moveTo>
                <a:cubicBezTo>
                  <a:pt x="51499" y="0"/>
                  <a:pt x="66352" y="14853"/>
                  <a:pt x="66352" y="33176"/>
                </a:cubicBezTo>
                <a:cubicBezTo>
                  <a:pt x="66352" y="51499"/>
                  <a:pt x="51499" y="66352"/>
                  <a:pt x="33176" y="66352"/>
                </a:cubicBezTo>
                <a:cubicBezTo>
                  <a:pt x="14853" y="66352"/>
                  <a:pt x="0" y="51499"/>
                  <a:pt x="0" y="33176"/>
                </a:cubicBez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239E691-C2F3-1613-6421-67D7A9346FE4}"/>
              </a:ext>
            </a:extLst>
          </p:cNvPr>
          <p:cNvGrpSpPr/>
          <p:nvPr/>
        </p:nvGrpSpPr>
        <p:grpSpPr>
          <a:xfrm>
            <a:off x="4181136" y="2980272"/>
            <a:ext cx="4173268" cy="382844"/>
            <a:chOff x="546813" y="2402625"/>
            <a:chExt cx="4727985" cy="40434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61C8C88A-02CB-ED79-EC00-5FA859E44FA5}"/>
                </a:ext>
              </a:extLst>
            </p:cNvPr>
            <p:cNvSpPr/>
            <p:nvPr/>
          </p:nvSpPr>
          <p:spPr>
            <a:xfrm>
              <a:off x="546813" y="2605320"/>
              <a:ext cx="4727985" cy="154825"/>
            </a:xfrm>
            <a:prstGeom prst="roundRect">
              <a:avLst>
                <a:gd name="adj" fmla="val 50000"/>
              </a:avLst>
            </a:prstGeom>
            <a:gradFill>
              <a:gsLst>
                <a:gs pos="99000">
                  <a:srgbClr val="0960E5"/>
                </a:gs>
                <a:gs pos="0">
                  <a:schemeClr val="bg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144EF18-F916-ECD7-8808-676007D5C12F}"/>
                </a:ext>
              </a:extLst>
            </p:cNvPr>
            <p:cNvSpPr/>
            <p:nvPr/>
          </p:nvSpPr>
          <p:spPr>
            <a:xfrm>
              <a:off x="576997" y="2402625"/>
              <a:ext cx="4626885" cy="40434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[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数据来源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数据预处理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数据说明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9098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17E6765-6001-F9AB-83CC-D4D69D622F8C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8C3EDF5-BC51-E166-181F-C01DAB13A3E1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D3C2412F-7DB0-F871-745A-A339B7412871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1FB119B-511A-69A4-FF4A-174B469CE557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数据来源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5E108AEC-8221-3353-D09A-31C772ADE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3" r="1416"/>
          <a:stretch>
            <a:fillRect/>
          </a:stretch>
        </p:blipFill>
        <p:spPr>
          <a:xfrm>
            <a:off x="3962664" y="702831"/>
            <a:ext cx="4070716" cy="2306503"/>
          </a:xfrm>
          <a:custGeom>
            <a:avLst/>
            <a:gdLst>
              <a:gd name="connsiteX0" fmla="*/ 0 w 3946464"/>
              <a:gd name="connsiteY0" fmla="*/ 0 h 3226017"/>
              <a:gd name="connsiteX1" fmla="*/ 3946464 w 3946464"/>
              <a:gd name="connsiteY1" fmla="*/ 0 h 3226017"/>
              <a:gd name="connsiteX2" fmla="*/ 3946464 w 3946464"/>
              <a:gd name="connsiteY2" fmla="*/ 3226017 h 3226017"/>
              <a:gd name="connsiteX3" fmla="*/ 0 w 3946464"/>
              <a:gd name="connsiteY3" fmla="*/ 3226017 h 3226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46464" h="3226017">
                <a:moveTo>
                  <a:pt x="0" y="0"/>
                </a:moveTo>
                <a:lnTo>
                  <a:pt x="3946464" y="0"/>
                </a:lnTo>
                <a:lnTo>
                  <a:pt x="3946464" y="3226017"/>
                </a:lnTo>
                <a:lnTo>
                  <a:pt x="0" y="3226017"/>
                </a:lnTo>
                <a:close/>
              </a:path>
            </a:pathLst>
          </a:cu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DC427E50-71FC-F54E-5160-BF4F43E6BC89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B6A797C4-934B-DE93-BC54-41998FB54D76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F1FA7EDF-18C4-1957-5CA5-9EEA30AEA313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67A21420-0852-5CCF-423D-E2BB613E415A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5E4F9852-1E05-C766-B8B4-6917353D9929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98DB04EE-F2A3-B8F3-D558-3EE78F61E3BC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A626F63-9FB8-3C88-2528-70A9B837FC9F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7E37B94D-5C20-05D8-86F6-CE2A74C865B8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28" name="图片 27">
            <a:extLst>
              <a:ext uri="{FF2B5EF4-FFF2-40B4-BE49-F238E27FC236}">
                <a16:creationId xmlns:a16="http://schemas.microsoft.com/office/drawing/2014/main" id="{EE7DEFB7-03EA-BED1-AC12-005BE4854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26" y="773718"/>
            <a:ext cx="3046326" cy="357208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254875F7-4FAD-2414-6CDC-D5B1107984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6239" y="3377706"/>
            <a:ext cx="5430990" cy="1468244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4AAD1061-8E27-13E4-3E36-40098F2B13D9}"/>
              </a:ext>
            </a:extLst>
          </p:cNvPr>
          <p:cNvSpPr txBox="1"/>
          <p:nvPr/>
        </p:nvSpPr>
        <p:spPr>
          <a:xfrm>
            <a:off x="718457" y="4357239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数据爬取部分代码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E20A65B-A181-B26E-8902-F61223249D47}"/>
              </a:ext>
            </a:extLst>
          </p:cNvPr>
          <p:cNvSpPr txBox="1"/>
          <p:nvPr/>
        </p:nvSpPr>
        <p:spPr>
          <a:xfrm>
            <a:off x="4940544" y="3069929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err="1">
                <a:latin typeface="黑体" panose="02010609060101010101" pitchFamily="49" charset="-122"/>
                <a:ea typeface="黑体" panose="02010609060101010101" pitchFamily="49" charset="-122"/>
              </a:rPr>
              <a:t>OpenAlex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手动检索截图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4EE083B-144C-E959-5100-F553A60781BD}"/>
              </a:ext>
            </a:extLst>
          </p:cNvPr>
          <p:cNvSpPr txBox="1"/>
          <p:nvPr/>
        </p:nvSpPr>
        <p:spPr>
          <a:xfrm>
            <a:off x="5299617" y="483572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原始数据概览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AA3A1C8-2E99-BD9A-75AB-FE6441D1160A}"/>
              </a:ext>
            </a:extLst>
          </p:cNvPr>
          <p:cNvSpPr/>
          <p:nvPr/>
        </p:nvSpPr>
        <p:spPr>
          <a:xfrm>
            <a:off x="467127" y="2394857"/>
            <a:ext cx="2446761" cy="9144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42E3FCC-96CC-773A-797A-5D523C5CDDEC}"/>
              </a:ext>
            </a:extLst>
          </p:cNvPr>
          <p:cNvCxnSpPr/>
          <p:nvPr/>
        </p:nvCxnSpPr>
        <p:spPr>
          <a:xfrm flipV="1">
            <a:off x="2913888" y="1233714"/>
            <a:ext cx="1048776" cy="1338036"/>
          </a:xfrm>
          <a:prstGeom prst="straightConnector1">
            <a:avLst/>
          </a:prstGeom>
          <a:ln w="952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CF2C0C77-6EFC-4356-5261-4F52E72B94EB}"/>
              </a:ext>
            </a:extLst>
          </p:cNvPr>
          <p:cNvSpPr txBox="1"/>
          <p:nvPr/>
        </p:nvSpPr>
        <p:spPr>
          <a:xfrm>
            <a:off x="2925627" y="2630330"/>
            <a:ext cx="14125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文章</a:t>
            </a:r>
            <a:endParaRPr lang="en-US" altLang="zh-CN" sz="1400" dirty="0">
              <a:solidFill>
                <a:srgbClr val="FF0000"/>
              </a:solidFill>
              <a:latin typeface="思源宋体" panose="02020700000000000000" pitchFamily="18" charset="-122"/>
              <a:ea typeface="思源宋体" panose="02020700000000000000" pitchFamily="18" charset="-122"/>
            </a:endParaRPr>
          </a:p>
          <a:p>
            <a:r>
              <a:rPr lang="zh-CN" altLang="en-US" sz="1400" dirty="0">
                <a:solidFill>
                  <a:srgbClr val="FF0000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近三年</a:t>
            </a:r>
            <a:endParaRPr lang="en-US" altLang="zh-CN" sz="1400" dirty="0">
              <a:solidFill>
                <a:srgbClr val="FF0000"/>
              </a:solidFill>
              <a:latin typeface="思源宋体" panose="02020700000000000000" pitchFamily="18" charset="-122"/>
              <a:ea typeface="思源宋体" panose="02020700000000000000" pitchFamily="18" charset="-122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Id:27-</a:t>
            </a:r>
            <a:r>
              <a:rPr lang="zh-CN" altLang="en-US" sz="1400" dirty="0">
                <a:solidFill>
                  <a:srgbClr val="FF0000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医学领域</a:t>
            </a:r>
          </a:p>
        </p:txBody>
      </p:sp>
    </p:spTree>
    <p:extLst>
      <p:ext uri="{BB962C8B-B14F-4D97-AF65-F5344CB8AC3E}">
        <p14:creationId xmlns:p14="http://schemas.microsoft.com/office/powerpoint/2010/main" val="4008364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0CAB-DB75-F964-3A3E-4233031C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C8D513F-AD36-9869-E277-2F129A31FF3E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4B1FD34-F489-5BE9-97EF-606996FB6C0E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8F129D09-321B-3DA4-469A-31F5F0274787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A13247-26AE-C6E8-6A48-175C62BB0521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数据预处理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23113D1-B315-1513-96D3-DC3523BD3B3A}"/>
              </a:ext>
            </a:extLst>
          </p:cNvPr>
          <p:cNvGrpSpPr/>
          <p:nvPr/>
        </p:nvGrpSpPr>
        <p:grpSpPr>
          <a:xfrm>
            <a:off x="485412" y="895841"/>
            <a:ext cx="8173176" cy="3484280"/>
            <a:chOff x="485412" y="1257655"/>
            <a:chExt cx="8173176" cy="3484280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466BC913-1A0C-4A1A-7C5F-CB9AEB88C219}"/>
                </a:ext>
              </a:extLst>
            </p:cNvPr>
            <p:cNvGrpSpPr/>
            <p:nvPr/>
          </p:nvGrpSpPr>
          <p:grpSpPr>
            <a:xfrm>
              <a:off x="485412" y="1257655"/>
              <a:ext cx="8173176" cy="3484280"/>
              <a:chOff x="1067006" y="1626207"/>
              <a:chExt cx="9709520" cy="4139233"/>
            </a:xfrm>
          </p:grpSpPr>
          <p:sp>
            <p:nvSpPr>
              <p:cNvPr id="27" name="Freeform 5">
                <a:extLst>
                  <a:ext uri="{FF2B5EF4-FFF2-40B4-BE49-F238E27FC236}">
                    <a16:creationId xmlns:a16="http://schemas.microsoft.com/office/drawing/2014/main" id="{7518B2F1-2B4B-0376-CF80-91DA8DEEE7B8}"/>
                  </a:ext>
                </a:extLst>
              </p:cNvPr>
              <p:cNvSpPr/>
              <p:nvPr/>
            </p:nvSpPr>
            <p:spPr bwMode="auto">
              <a:xfrm>
                <a:off x="5082946" y="2601414"/>
                <a:ext cx="1845569" cy="170333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9525" cap="flat">
                <a:noFill/>
                <a:prstDash val="solid"/>
                <a:miter lim="800000"/>
              </a:ln>
              <a:effectLst/>
            </p:spPr>
            <p:txBody>
              <a:bodyPr vert="horz" wrap="square" lIns="91416" tIns="45708" rIns="91416" bIns="4570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28" name="文本框 26">
                <a:extLst>
                  <a:ext uri="{FF2B5EF4-FFF2-40B4-BE49-F238E27FC236}">
                    <a16:creationId xmlns:a16="http://schemas.microsoft.com/office/drawing/2014/main" id="{06AC85F3-2A3E-ECD5-4F28-0BA4D7EB284D}"/>
                  </a:ext>
                </a:extLst>
              </p:cNvPr>
              <p:cNvSpPr txBox="1"/>
              <p:nvPr/>
            </p:nvSpPr>
            <p:spPr>
              <a:xfrm>
                <a:off x="5346404" y="2881365"/>
                <a:ext cx="1318652" cy="1213435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数据清洗与</a:t>
                </a:r>
                <a:endPara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预处理</a:t>
                </a:r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4E96F16-49DC-8EBC-4156-9294EEA7AECA}"/>
                  </a:ext>
                </a:extLst>
              </p:cNvPr>
              <p:cNvSpPr/>
              <p:nvPr/>
            </p:nvSpPr>
            <p:spPr>
              <a:xfrm>
                <a:off x="7277590" y="2043875"/>
                <a:ext cx="2802186" cy="8685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英文停用词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分词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处理标题、摘要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F08D1C57-F9FF-C274-F143-79E0C29E82EF}"/>
                  </a:ext>
                </a:extLst>
              </p:cNvPr>
              <p:cNvSpPr/>
              <p:nvPr/>
            </p:nvSpPr>
            <p:spPr>
              <a:xfrm>
                <a:off x="7282180" y="1702405"/>
                <a:ext cx="2020287" cy="4530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文本预处理</a:t>
                </a:r>
              </a:p>
            </p:txBody>
          </p:sp>
          <p:sp>
            <p:nvSpPr>
              <p:cNvPr id="31" name="Freeform 5">
                <a:extLst>
                  <a:ext uri="{FF2B5EF4-FFF2-40B4-BE49-F238E27FC236}">
                    <a16:creationId xmlns:a16="http://schemas.microsoft.com/office/drawing/2014/main" id="{E79B77DC-31F2-CA46-746E-33864EA219F1}"/>
                  </a:ext>
                </a:extLst>
              </p:cNvPr>
              <p:cNvSpPr/>
              <p:nvPr/>
            </p:nvSpPr>
            <p:spPr bwMode="auto">
              <a:xfrm>
                <a:off x="4565944" y="2195301"/>
                <a:ext cx="2807581" cy="253134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DBE8FB"/>
                </a:solidFill>
                <a:prstDash val="solid"/>
                <a:miter lim="800000"/>
              </a:ln>
              <a:effectLst>
                <a:outerShdw blurRad="4318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vert="horz" wrap="square" lIns="91416" tIns="45708" rIns="91416" bIns="45708" numCol="1" anchor="t" anchorCtr="0" compatLnSpc="1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3ACAEDD9-D2A3-D6AB-D4F1-EF6F4D4C2163}"/>
                  </a:ext>
                </a:extLst>
              </p:cNvPr>
              <p:cNvSpPr/>
              <p:nvPr/>
            </p:nvSpPr>
            <p:spPr>
              <a:xfrm>
                <a:off x="1854299" y="2044558"/>
                <a:ext cx="2807582" cy="868525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通过</a:t>
                </a: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DOI</a:t>
                </a: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唯一标识删除重复数据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  <a:p>
                <a:pPr algn="r"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通过标题去重防止重复索引文献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6393511-15A6-713F-17CD-28DAAB7B59BD}"/>
                  </a:ext>
                </a:extLst>
              </p:cNvPr>
              <p:cNvSpPr/>
              <p:nvPr/>
            </p:nvSpPr>
            <p:spPr>
              <a:xfrm>
                <a:off x="2641593" y="1626207"/>
                <a:ext cx="2020287" cy="4530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删除重复数据</a:t>
                </a:r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4D6C55EE-5FE3-521B-A7A0-DB16EC7BE48B}"/>
                  </a:ext>
                </a:extLst>
              </p:cNvPr>
              <p:cNvGrpSpPr/>
              <p:nvPr/>
            </p:nvGrpSpPr>
            <p:grpSpPr>
              <a:xfrm>
                <a:off x="4138598" y="3070206"/>
                <a:ext cx="711057" cy="701793"/>
                <a:chOff x="6217935" y="1158425"/>
                <a:chExt cx="527724" cy="520849"/>
              </a:xfrm>
              <a:gradFill>
                <a:gsLst>
                  <a:gs pos="0">
                    <a:srgbClr val="6F98F1"/>
                  </a:gs>
                  <a:gs pos="100000">
                    <a:srgbClr val="82D6E0"/>
                  </a:gs>
                </a:gsLst>
                <a:lin ang="16200000" scaled="1"/>
              </a:gradFill>
            </p:grpSpPr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6AEB6C04-B7B1-38EA-E0B5-99B532DF17BA}"/>
                    </a:ext>
                  </a:extLst>
                </p:cNvPr>
                <p:cNvSpPr/>
                <p:nvPr/>
              </p:nvSpPr>
              <p:spPr>
                <a:xfrm>
                  <a:off x="6219351" y="1158425"/>
                  <a:ext cx="520849" cy="520849"/>
                </a:xfrm>
                <a:prstGeom prst="ellipse">
                  <a:avLst/>
                </a:prstGeom>
                <a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TextBox 56">
                  <a:extLst>
                    <a:ext uri="{FF2B5EF4-FFF2-40B4-BE49-F238E27FC236}">
                      <a16:creationId xmlns:a16="http://schemas.microsoft.com/office/drawing/2014/main" id="{4DFF8192-F60D-785A-2A50-1D7796C8B38A}"/>
                    </a:ext>
                  </a:extLst>
                </p:cNvPr>
                <p:cNvSpPr txBox="1"/>
                <p:nvPr/>
              </p:nvSpPr>
              <p:spPr>
                <a:xfrm>
                  <a:off x="6217935" y="1256880"/>
                  <a:ext cx="527724" cy="334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02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ED000111-A6C9-0CC2-71C9-3D9B7167973B}"/>
                  </a:ext>
                </a:extLst>
              </p:cNvPr>
              <p:cNvSpPr/>
              <p:nvPr/>
            </p:nvSpPr>
            <p:spPr>
              <a:xfrm>
                <a:off x="1067006" y="3339682"/>
                <a:ext cx="2807582" cy="6070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删除标题为空的数据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删除摘要为空的数据</a:t>
                </a: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153E90CF-B15F-A626-09D1-4469E75AF822}"/>
                  </a:ext>
                </a:extLst>
              </p:cNvPr>
              <p:cNvSpPr/>
              <p:nvPr/>
            </p:nvSpPr>
            <p:spPr>
              <a:xfrm>
                <a:off x="1854299" y="2998213"/>
                <a:ext cx="2020287" cy="4530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缺失值处理</a:t>
                </a:r>
              </a:p>
            </p:txBody>
          </p: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F52F9031-A29F-456D-3A50-FA00A617D5AD}"/>
                  </a:ext>
                </a:extLst>
              </p:cNvPr>
              <p:cNvGrpSpPr/>
              <p:nvPr/>
            </p:nvGrpSpPr>
            <p:grpSpPr>
              <a:xfrm>
                <a:off x="4862738" y="4366013"/>
                <a:ext cx="711057" cy="701793"/>
                <a:chOff x="6217935" y="1158425"/>
                <a:chExt cx="527724" cy="520849"/>
              </a:xfrm>
              <a:gradFill>
                <a:gsLst>
                  <a:gs pos="0">
                    <a:srgbClr val="6F98F1"/>
                  </a:gs>
                  <a:gs pos="100000">
                    <a:srgbClr val="82D6E0"/>
                  </a:gs>
                </a:gsLst>
                <a:lin ang="16200000" scaled="1"/>
              </a:gradFill>
            </p:grpSpPr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315F2DE9-09F7-7603-FD95-3EBF382E9B12}"/>
                    </a:ext>
                  </a:extLst>
                </p:cNvPr>
                <p:cNvSpPr/>
                <p:nvPr/>
              </p:nvSpPr>
              <p:spPr>
                <a:xfrm>
                  <a:off x="6219351" y="1158425"/>
                  <a:ext cx="520849" cy="520849"/>
                </a:xfrm>
                <a:prstGeom prst="ellipse">
                  <a:avLst/>
                </a:prstGeom>
                <a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TextBox 64">
                  <a:extLst>
                    <a:ext uri="{FF2B5EF4-FFF2-40B4-BE49-F238E27FC236}">
                      <a16:creationId xmlns:a16="http://schemas.microsoft.com/office/drawing/2014/main" id="{39846E84-878F-A73A-E940-3CC97F6EE88A}"/>
                    </a:ext>
                  </a:extLst>
                </p:cNvPr>
                <p:cNvSpPr txBox="1"/>
                <p:nvPr/>
              </p:nvSpPr>
              <p:spPr>
                <a:xfrm>
                  <a:off x="6217935" y="1256880"/>
                  <a:ext cx="527724" cy="334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03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0F4FABD-D348-EA3D-FB7A-F10580F517F5}"/>
                  </a:ext>
                </a:extLst>
              </p:cNvPr>
              <p:cNvSpPr/>
              <p:nvPr/>
            </p:nvSpPr>
            <p:spPr>
              <a:xfrm>
                <a:off x="1868532" y="4635487"/>
                <a:ext cx="2730196" cy="6070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删除异常短标题（字符小于</a:t>
                </a: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5</a:t>
                </a: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个）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删除异常摘要（字符小于</a:t>
                </a: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30</a:t>
                </a: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个）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392F401-4209-183C-CB75-9B2F713085AE}"/>
                  </a:ext>
                </a:extLst>
              </p:cNvPr>
              <p:cNvSpPr/>
              <p:nvPr/>
            </p:nvSpPr>
            <p:spPr>
              <a:xfrm>
                <a:off x="2578440" y="4294017"/>
                <a:ext cx="2020287" cy="4530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异常文本处理</a:t>
                </a:r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FFB7EAF3-6ADE-7D48-739D-D6193B823A8E}"/>
                  </a:ext>
                </a:extLst>
              </p:cNvPr>
              <p:cNvGrpSpPr/>
              <p:nvPr/>
            </p:nvGrpSpPr>
            <p:grpSpPr>
              <a:xfrm>
                <a:off x="6365677" y="1775084"/>
                <a:ext cx="711057" cy="701793"/>
                <a:chOff x="6217935" y="1158425"/>
                <a:chExt cx="527724" cy="520849"/>
              </a:xfrm>
              <a:gradFill>
                <a:gsLst>
                  <a:gs pos="0">
                    <a:srgbClr val="6F98F1"/>
                  </a:gs>
                  <a:gs pos="100000">
                    <a:srgbClr val="82D6E0"/>
                  </a:gs>
                </a:gsLst>
                <a:lin ang="16200000" scaled="1"/>
              </a:gradFill>
            </p:grpSpPr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E94BDC86-8FA7-E6E9-0C6A-C35B5D56DC54}"/>
                    </a:ext>
                  </a:extLst>
                </p:cNvPr>
                <p:cNvSpPr/>
                <p:nvPr/>
              </p:nvSpPr>
              <p:spPr>
                <a:xfrm>
                  <a:off x="6219351" y="1158425"/>
                  <a:ext cx="520849" cy="520849"/>
                </a:xfrm>
                <a:prstGeom prst="ellipse">
                  <a:avLst/>
                </a:prstGeom>
                <a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TextBox 19">
                  <a:extLst>
                    <a:ext uri="{FF2B5EF4-FFF2-40B4-BE49-F238E27FC236}">
                      <a16:creationId xmlns:a16="http://schemas.microsoft.com/office/drawing/2014/main" id="{44B68059-0DC6-EF5D-31A9-673C2C8F8AC5}"/>
                    </a:ext>
                  </a:extLst>
                </p:cNvPr>
                <p:cNvSpPr txBox="1"/>
                <p:nvPr/>
              </p:nvSpPr>
              <p:spPr>
                <a:xfrm>
                  <a:off x="6217935" y="1256880"/>
                  <a:ext cx="527724" cy="334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04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D6075C8E-EE7B-325C-D342-74E1094CC00E}"/>
                  </a:ext>
                </a:extLst>
              </p:cNvPr>
              <p:cNvSpPr/>
              <p:nvPr/>
            </p:nvSpPr>
            <p:spPr>
              <a:xfrm>
                <a:off x="8064882" y="3339682"/>
                <a:ext cx="2711644" cy="6070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数值类型转换</a:t>
                </a:r>
                <a:endParaRPr lang="en-US" altLang="zh-CN" sz="1100" dirty="0">
                  <a:solidFill>
                    <a:prstClr val="black"/>
                  </a:solidFill>
                  <a:latin typeface="思源宋体 CN Light" panose="02020300000000000000" pitchFamily="18" charset="-122"/>
                  <a:ea typeface="思源宋体 CN Light" panose="02020300000000000000" pitchFamily="18" charset="-122"/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缺失值填充</a:t>
                </a: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（中位数）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1CBAE740-44B8-2C49-1351-D499D3606A25}"/>
                  </a:ext>
                </a:extLst>
              </p:cNvPr>
              <p:cNvSpPr/>
              <p:nvPr/>
            </p:nvSpPr>
            <p:spPr>
              <a:xfrm>
                <a:off x="8064882" y="2998211"/>
                <a:ext cx="2020287" cy="4530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1" dirty="0">
                    <a:solidFill>
                      <a:prstClr val="black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数值预处理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E5F22BCD-F130-B9C8-4E31-73591D8D99C7}"/>
                  </a:ext>
                </a:extLst>
              </p:cNvPr>
              <p:cNvGrpSpPr/>
              <p:nvPr/>
            </p:nvGrpSpPr>
            <p:grpSpPr>
              <a:xfrm>
                <a:off x="7152969" y="3070890"/>
                <a:ext cx="711057" cy="701793"/>
                <a:chOff x="6217935" y="1158425"/>
                <a:chExt cx="527724" cy="520849"/>
              </a:xfrm>
              <a:gradFill>
                <a:gsLst>
                  <a:gs pos="0">
                    <a:srgbClr val="6F98F1"/>
                  </a:gs>
                  <a:gs pos="100000">
                    <a:srgbClr val="82D6E0"/>
                  </a:gs>
                </a:gsLst>
                <a:lin ang="16200000" scaled="1"/>
              </a:gradFill>
            </p:grpSpPr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1FB30338-A384-BF06-21D5-0BEF9CFC9A63}"/>
                    </a:ext>
                  </a:extLst>
                </p:cNvPr>
                <p:cNvSpPr/>
                <p:nvPr/>
              </p:nvSpPr>
              <p:spPr>
                <a:xfrm>
                  <a:off x="6219351" y="1158425"/>
                  <a:ext cx="520849" cy="520849"/>
                </a:xfrm>
                <a:prstGeom prst="ellipse">
                  <a:avLst/>
                </a:prstGeom>
                <a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TextBox 75">
                  <a:extLst>
                    <a:ext uri="{FF2B5EF4-FFF2-40B4-BE49-F238E27FC236}">
                      <a16:creationId xmlns:a16="http://schemas.microsoft.com/office/drawing/2014/main" id="{3B01C7C5-C9E0-D2FE-58F5-B5FE203FEA26}"/>
                    </a:ext>
                  </a:extLst>
                </p:cNvPr>
                <p:cNvSpPr txBox="1"/>
                <p:nvPr/>
              </p:nvSpPr>
              <p:spPr>
                <a:xfrm>
                  <a:off x="6217935" y="1271633"/>
                  <a:ext cx="527724" cy="334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05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00D4CC4A-F341-534A-9C89-860C0494E03C}"/>
                  </a:ext>
                </a:extLst>
              </p:cNvPr>
              <p:cNvSpPr/>
              <p:nvPr/>
            </p:nvSpPr>
            <p:spPr>
              <a:xfrm>
                <a:off x="7349580" y="4635489"/>
                <a:ext cx="2730196" cy="112995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>
                  <a:lnSpc>
                    <a:spcPct val="130000"/>
                  </a:lnSpc>
                </a:pP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is_oa</a:t>
                </a:r>
              </a:p>
              <a:p>
                <a:pPr lvl="0">
                  <a:lnSpc>
                    <a:spcPct val="130000"/>
                  </a:lnSpc>
                </a:pP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international_collab multi_institution </a:t>
                </a:r>
              </a:p>
              <a:p>
                <a:pPr lvl="0">
                  <a:lnSpc>
                    <a:spcPct val="130000"/>
                  </a:lnSpc>
                </a:pP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is_highly_cited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F681F761-7628-9B5C-A595-A95201EEC170}"/>
                  </a:ext>
                </a:extLst>
              </p:cNvPr>
              <p:cNvSpPr/>
              <p:nvPr/>
            </p:nvSpPr>
            <p:spPr>
              <a:xfrm>
                <a:off x="7354168" y="4294018"/>
                <a:ext cx="2020287" cy="45056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>
                  <a:lnSpc>
                    <a:spcPct val="130000"/>
                  </a:lnSpc>
                </a:pPr>
                <a:r>
                  <a:rPr lang="zh-CN" altLang="en-US" sz="1600" b="1" dirty="0">
                    <a:solidFill>
                      <a:prstClr val="black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布尔变量编码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2C3B5CB2-CE31-5893-A8CD-5473CC3188F1}"/>
                  </a:ext>
                </a:extLst>
              </p:cNvPr>
              <p:cNvGrpSpPr/>
              <p:nvPr/>
            </p:nvGrpSpPr>
            <p:grpSpPr>
              <a:xfrm>
                <a:off x="6437665" y="4366697"/>
                <a:ext cx="711057" cy="701793"/>
                <a:chOff x="6217935" y="1158425"/>
                <a:chExt cx="527724" cy="520849"/>
              </a:xfrm>
              <a:gradFill>
                <a:gsLst>
                  <a:gs pos="0">
                    <a:srgbClr val="6F98F1"/>
                  </a:gs>
                  <a:gs pos="100000">
                    <a:srgbClr val="82D6E0"/>
                  </a:gs>
                </a:gsLst>
                <a:lin ang="16200000" scaled="1"/>
              </a:gradFill>
            </p:grpSpPr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9F206D29-FEB6-1E8E-B82F-B5D5271C9CC1}"/>
                    </a:ext>
                  </a:extLst>
                </p:cNvPr>
                <p:cNvSpPr/>
                <p:nvPr/>
              </p:nvSpPr>
              <p:spPr>
                <a:xfrm>
                  <a:off x="6219351" y="1158425"/>
                  <a:ext cx="520849" cy="520849"/>
                </a:xfrm>
                <a:prstGeom prst="ellipse">
                  <a:avLst/>
                </a:prstGeom>
                <a:blipFill>
                  <a:blip r:embed="rId3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TextBox 83">
                  <a:extLst>
                    <a:ext uri="{FF2B5EF4-FFF2-40B4-BE49-F238E27FC236}">
                      <a16:creationId xmlns:a16="http://schemas.microsoft.com/office/drawing/2014/main" id="{DC3089AE-0992-ADA4-0313-F7BC8B7100D7}"/>
                    </a:ext>
                  </a:extLst>
                </p:cNvPr>
                <p:cNvSpPr txBox="1"/>
                <p:nvPr/>
              </p:nvSpPr>
              <p:spPr>
                <a:xfrm>
                  <a:off x="6217935" y="1256880"/>
                  <a:ext cx="527724" cy="334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06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F5D5889-0354-02E3-8A66-17FE4ED84EB6}"/>
                </a:ext>
              </a:extLst>
            </p:cNvPr>
            <p:cNvSpPr/>
            <p:nvPr/>
          </p:nvSpPr>
          <p:spPr>
            <a:xfrm>
              <a:off x="3735309" y="1382975"/>
              <a:ext cx="590748" cy="590748"/>
            </a:xfrm>
            <a:prstGeom prst="ellipse">
              <a:avLst/>
            </a:pr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26" name="TextBox 39">
              <a:extLst>
                <a:ext uri="{FF2B5EF4-FFF2-40B4-BE49-F238E27FC236}">
                  <a16:creationId xmlns:a16="http://schemas.microsoft.com/office/drawing/2014/main" id="{27E4A8CC-36FA-4324-AB47-A949CE3C6853}"/>
                </a:ext>
              </a:extLst>
            </p:cNvPr>
            <p:cNvSpPr txBox="1"/>
            <p:nvPr/>
          </p:nvSpPr>
          <p:spPr>
            <a:xfrm>
              <a:off x="3733703" y="1477910"/>
              <a:ext cx="598546" cy="379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01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979CE3B-4C6A-7CF1-4995-0EBDC3C315A4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55C14B69-4ACF-666B-8A76-504ED6AD04C7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F31592A-760F-1923-7D9D-04DC1D0C8EF1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699F5E25-D438-F275-5695-0B7089E989A6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BFAC4D04-40EC-C50F-4A3F-ABFCECCA8654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4DC7A42-6456-4924-3CA4-F8C2DCBEA0C4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33636D7-82B2-8E6C-8FED-958BA24D2D9B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573796B-B35A-89E3-CDC2-DFD4FB927BBA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5D3E6ED8-F975-4361-51F0-4A215DA77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84174"/>
              </p:ext>
            </p:extLst>
          </p:nvPr>
        </p:nvGraphicFramePr>
        <p:xfrm>
          <a:off x="307041" y="4022357"/>
          <a:ext cx="3558866" cy="1012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433">
                  <a:extLst>
                    <a:ext uri="{9D8B030D-6E8A-4147-A177-3AD203B41FA5}">
                      <a16:colId xmlns:a16="http://schemas.microsoft.com/office/drawing/2014/main" val="3164254791"/>
                    </a:ext>
                  </a:extLst>
                </a:gridCol>
                <a:gridCol w="1779433">
                  <a:extLst>
                    <a:ext uri="{9D8B030D-6E8A-4147-A177-3AD203B41FA5}">
                      <a16:colId xmlns:a16="http://schemas.microsoft.com/office/drawing/2014/main" val="872340793"/>
                    </a:ext>
                  </a:extLst>
                </a:gridCol>
              </a:tblGrid>
              <a:tr h="2532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思源宋体" panose="02020700000000000000" pitchFamily="18" charset="-122"/>
                          <a:ea typeface="思源宋体" panose="02020700000000000000" pitchFamily="18" charset="-122"/>
                        </a:rPr>
                        <a:t>原始数据量</a:t>
                      </a:r>
                    </a:p>
                  </a:txBody>
                  <a:tcPr anchor="ctr">
                    <a:solidFill>
                      <a:srgbClr val="1374EE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思源宋体" panose="02020700000000000000" pitchFamily="18" charset="-122"/>
                          <a:ea typeface="思源宋体" panose="02020700000000000000" pitchFamily="18" charset="-122"/>
                        </a:rPr>
                        <a:t>8338</a:t>
                      </a:r>
                      <a:endParaRPr lang="zh-CN" altLang="en-US" sz="1000" dirty="0">
                        <a:solidFill>
                          <a:schemeClr val="bg2">
                            <a:lumMod val="25000"/>
                          </a:schemeClr>
                        </a:solidFill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>
                    <a:solidFill>
                      <a:srgbClr val="1374EE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758918"/>
                  </a:ext>
                </a:extLst>
              </a:tr>
              <a:tr h="2532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思源宋体" panose="02020700000000000000" pitchFamily="18" charset="-122"/>
                          <a:ea typeface="思源宋体" panose="02020700000000000000" pitchFamily="18" charset="-122"/>
                        </a:rPr>
                        <a:t>去重后数据量</a:t>
                      </a:r>
                    </a:p>
                  </a:txBody>
                  <a:tcPr anchor="ctr">
                    <a:solidFill>
                      <a:srgbClr val="1374EE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思源宋体" panose="02020700000000000000" pitchFamily="18" charset="-122"/>
                          <a:ea typeface="思源宋体" panose="02020700000000000000" pitchFamily="18" charset="-122"/>
                        </a:rPr>
                        <a:t>8192</a:t>
                      </a:r>
                      <a:endParaRPr lang="zh-CN" altLang="en-US" sz="1000" dirty="0">
                        <a:solidFill>
                          <a:schemeClr val="bg2">
                            <a:lumMod val="25000"/>
                          </a:schemeClr>
                        </a:solidFill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>
                    <a:solidFill>
                      <a:srgbClr val="1374EE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422012"/>
                  </a:ext>
                </a:extLst>
              </a:tr>
              <a:tr h="2532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思源宋体" panose="02020700000000000000" pitchFamily="18" charset="-122"/>
                          <a:ea typeface="思源宋体" panose="02020700000000000000" pitchFamily="18" charset="-122"/>
                        </a:rPr>
                        <a:t>缺失值处理后数据量</a:t>
                      </a:r>
                    </a:p>
                  </a:txBody>
                  <a:tcPr anchor="ctr">
                    <a:solidFill>
                      <a:srgbClr val="1374EE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思源宋体" panose="02020700000000000000" pitchFamily="18" charset="-122"/>
                          <a:ea typeface="思源宋体" panose="02020700000000000000" pitchFamily="18" charset="-122"/>
                        </a:rPr>
                        <a:t>6559</a:t>
                      </a:r>
                    </a:p>
                  </a:txBody>
                  <a:tcPr anchor="ctr">
                    <a:solidFill>
                      <a:srgbClr val="1374EE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021869"/>
                  </a:ext>
                </a:extLst>
              </a:tr>
              <a:tr h="25322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思源宋体" panose="02020700000000000000" pitchFamily="18" charset="-122"/>
                          <a:ea typeface="思源宋体" panose="02020700000000000000" pitchFamily="18" charset="-122"/>
                        </a:rPr>
                        <a:t>异常文本处理后数据量</a:t>
                      </a:r>
                    </a:p>
                  </a:txBody>
                  <a:tcPr anchor="ctr">
                    <a:solidFill>
                      <a:srgbClr val="1374E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思源宋体" panose="02020700000000000000" pitchFamily="18" charset="-122"/>
                          <a:ea typeface="思源宋体" panose="02020700000000000000" pitchFamily="18" charset="-122"/>
                        </a:rPr>
                        <a:t>6551</a:t>
                      </a:r>
                    </a:p>
                  </a:txBody>
                  <a:tcPr anchor="ctr">
                    <a:solidFill>
                      <a:srgbClr val="1374EE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136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075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262B4-0294-2BAD-DF72-5C202257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160C087-DE5E-7FB7-BEDD-BD5CE27BABB8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A652C11-33F1-6995-580E-444DB547D76B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0CDBA136-30B6-F9D6-A2DC-3A3F73F0F439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DC23D1C-0EB3-D18B-CF8F-B0883D88D241}"/>
                </a:ext>
              </a:extLst>
            </p:cNvPr>
            <p:cNvSpPr txBox="1"/>
            <p:nvPr/>
          </p:nvSpPr>
          <p:spPr>
            <a:xfrm>
              <a:off x="269161" y="227671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数据说明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6CDDCEB-4D56-4BE3-B605-8A8C5BFED146}"/>
              </a:ext>
            </a:extLst>
          </p:cNvPr>
          <p:cNvGrpSpPr/>
          <p:nvPr/>
        </p:nvGrpSpPr>
        <p:grpSpPr>
          <a:xfrm>
            <a:off x="525125" y="3438114"/>
            <a:ext cx="3653623" cy="1516155"/>
            <a:chOff x="936105" y="1258897"/>
            <a:chExt cx="4209629" cy="3226017"/>
          </a:xfrm>
        </p:grpSpPr>
        <p:sp>
          <p:nvSpPr>
            <p:cNvPr id="4" name="矩形: 圆角 11">
              <a:extLst>
                <a:ext uri="{FF2B5EF4-FFF2-40B4-BE49-F238E27FC236}">
                  <a16:creationId xmlns:a16="http://schemas.microsoft.com/office/drawing/2014/main" id="{C8B4B569-8A47-4925-455E-ECAD14411763}"/>
                </a:ext>
              </a:extLst>
            </p:cNvPr>
            <p:cNvSpPr/>
            <p:nvPr/>
          </p:nvSpPr>
          <p:spPr>
            <a:xfrm>
              <a:off x="936105" y="1258897"/>
              <a:ext cx="4209628" cy="3226017"/>
            </a:xfrm>
            <a:prstGeom prst="roundRect">
              <a:avLst>
                <a:gd name="adj" fmla="val 4242"/>
              </a:avLst>
            </a:prstGeom>
            <a:solidFill>
              <a:schemeClr val="bg1"/>
            </a:solidFill>
            <a:ln>
              <a:noFill/>
            </a:ln>
            <a:effectLst>
              <a:outerShdw blurRad="571500" dist="177800" dir="5400000" sx="95000" sy="95000" algn="t" rotWithShape="0">
                <a:srgbClr val="0254F9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37A5E75-390D-F871-3630-A25DF8B0C892}"/>
                </a:ext>
              </a:extLst>
            </p:cNvPr>
            <p:cNvGrpSpPr/>
            <p:nvPr/>
          </p:nvGrpSpPr>
          <p:grpSpPr>
            <a:xfrm>
              <a:off x="939617" y="1404453"/>
              <a:ext cx="4206117" cy="2948850"/>
              <a:chOff x="811079" y="1294764"/>
              <a:chExt cx="6054699" cy="4244870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563318-24B0-457D-473C-0D545DDE83FC}"/>
                  </a:ext>
                </a:extLst>
              </p:cNvPr>
              <p:cNvSpPr txBox="1"/>
              <p:nvPr/>
            </p:nvSpPr>
            <p:spPr>
              <a:xfrm>
                <a:off x="933043" y="1294764"/>
                <a:ext cx="2092911" cy="9426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黑体 CN Bold" panose="020B0800000000000000" charset="-122"/>
                  </a:rPr>
                  <a:t>数据基本情况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78188E9-FD6B-17B2-176F-985CFCF33056}"/>
                  </a:ext>
                </a:extLst>
              </p:cNvPr>
              <p:cNvSpPr txBox="1"/>
              <p:nvPr/>
            </p:nvSpPr>
            <p:spPr>
              <a:xfrm>
                <a:off x="811079" y="2237458"/>
                <a:ext cx="6054699" cy="330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经过数据清洗与预处理后共计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6551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篇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ADHD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相关文献；</a:t>
                </a:r>
                <a:endParaRPr lang="en-US" altLang="zh-CN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缺失值分布情况：</a:t>
                </a:r>
                <a:endParaRPr lang="en-US" altLang="zh-CN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缺失最多的字段是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countries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（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947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条）和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institutions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（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942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条）图中白色线条分布多的即这两个字段。</a:t>
                </a:r>
              </a:p>
            </p:txBody>
          </p:sp>
        </p:grp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3A3B510-D106-41C6-AA14-F5F425DD5E78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8819F3B9-7DAD-5D2B-87A5-9ED5CA1F39A4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8D536965-B7C2-1865-B34F-965C8958D055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32F63C50-365D-5809-5CA5-BE963011DA5F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8FB6A525-F4BE-AC64-C97F-2920B1E3A416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D981995A-ACD1-027D-F3B7-24842A2DBB92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65A1EC40-4FA2-20A6-101C-8B463A4AB6D6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0613075-923C-4775-C45C-933246F8D7CC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69E3E380-1B63-A0AC-6154-9F578A9995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6" y="781339"/>
            <a:ext cx="4703167" cy="2407655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BA7070E0-B2AB-3989-EBD0-469F217A55E0}"/>
              </a:ext>
            </a:extLst>
          </p:cNvPr>
          <p:cNvSpPr/>
          <p:nvPr/>
        </p:nvSpPr>
        <p:spPr>
          <a:xfrm>
            <a:off x="2007057" y="1317145"/>
            <a:ext cx="173255" cy="1811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9935B78-838A-5F00-9F7C-DFC8745CED70}"/>
              </a:ext>
            </a:extLst>
          </p:cNvPr>
          <p:cNvSpPr/>
          <p:nvPr/>
        </p:nvSpPr>
        <p:spPr>
          <a:xfrm>
            <a:off x="2268631" y="1317145"/>
            <a:ext cx="173255" cy="1811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EAC4A35-EAAD-A774-A19B-DD19A52D5491}"/>
              </a:ext>
            </a:extLst>
          </p:cNvPr>
          <p:cNvSpPr txBox="1"/>
          <p:nvPr/>
        </p:nvSpPr>
        <p:spPr>
          <a:xfrm>
            <a:off x="1703258" y="3161115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缺失值矩阵图</a:t>
            </a:r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F51D2642-71D6-02BA-81D7-953A140E1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68068"/>
              </p:ext>
            </p:extLst>
          </p:nvPr>
        </p:nvGraphicFramePr>
        <p:xfrm>
          <a:off x="4855570" y="636149"/>
          <a:ext cx="3729630" cy="4538203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534797">
                  <a:extLst>
                    <a:ext uri="{9D8B030D-6E8A-4147-A177-3AD203B41FA5}">
                      <a16:colId xmlns:a16="http://schemas.microsoft.com/office/drawing/2014/main" val="2381266682"/>
                    </a:ext>
                  </a:extLst>
                </a:gridCol>
                <a:gridCol w="1637735">
                  <a:extLst>
                    <a:ext uri="{9D8B030D-6E8A-4147-A177-3AD203B41FA5}">
                      <a16:colId xmlns:a16="http://schemas.microsoft.com/office/drawing/2014/main" val="1211292807"/>
                    </a:ext>
                  </a:extLst>
                </a:gridCol>
                <a:gridCol w="1557098">
                  <a:extLst>
                    <a:ext uri="{9D8B030D-6E8A-4147-A177-3AD203B41FA5}">
                      <a16:colId xmlns:a16="http://schemas.microsoft.com/office/drawing/2014/main" val="2836138259"/>
                    </a:ext>
                  </a:extLst>
                </a:gridCol>
              </a:tblGrid>
              <a:tr h="171630">
                <a:tc>
                  <a:txBody>
                    <a:bodyPr/>
                    <a:lstStyle/>
                    <a:p>
                      <a:pPr algn="ctr"/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>
                          <a:solidFill>
                            <a:schemeClr val="tx1"/>
                          </a:solidFill>
                        </a:rPr>
                        <a:t>字段名称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>
                          <a:solidFill>
                            <a:schemeClr val="tx1"/>
                          </a:solidFill>
                        </a:rPr>
                        <a:t>字段含义</a:t>
                      </a:r>
                      <a:endParaRPr lang="zh-CN" altLang="en-US" sz="700" dirty="0">
                        <a:solidFill>
                          <a:schemeClr val="tx1"/>
                        </a:solidFill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64628"/>
                  </a:ext>
                </a:extLst>
              </a:tr>
              <a:tr h="17163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基础信息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paper_id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文献唯一 </a:t>
                      </a:r>
                      <a:r>
                        <a:rPr lang="en-US" altLang="zh-CN" sz="700" dirty="0"/>
                        <a:t>ID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904931"/>
                  </a:ext>
                </a:extLst>
              </a:tr>
              <a:tr h="237338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publication_year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发表年份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35891"/>
                  </a:ext>
                </a:extLst>
              </a:tr>
              <a:tr h="17163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/>
                        <a:t>Journal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发表期刊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725726"/>
                  </a:ext>
                </a:extLst>
              </a:tr>
              <a:tr h="237338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预处理后文本字段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title_processed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清洗标准化后的标题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808867"/>
                  </a:ext>
                </a:extLst>
              </a:tr>
              <a:tr h="237338">
                <a:tc vMerge="1">
                  <a:txBody>
                    <a:bodyPr/>
                    <a:lstStyle/>
                    <a:p>
                      <a:endParaRPr lang="zh-CN" altLang="en-US" sz="100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abstract_processed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清洗标准化后的摘要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183079"/>
                  </a:ext>
                </a:extLst>
              </a:tr>
              <a:tr h="310629">
                <a:tc vMerge="1">
                  <a:txBody>
                    <a:bodyPr/>
                    <a:lstStyle/>
                    <a:p>
                      <a:endParaRPr lang="zh-CN" altLang="en-US" sz="10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title_length</a:t>
                      </a:r>
                      <a:r>
                        <a:rPr lang="en-US" altLang="zh-CN" sz="700" dirty="0"/>
                        <a:t>/</a:t>
                      </a:r>
                      <a:r>
                        <a:rPr lang="en-US" altLang="zh-CN" sz="700" dirty="0" err="1"/>
                        <a:t>abstract_length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文本长度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5503433"/>
                  </a:ext>
                </a:extLst>
              </a:tr>
              <a:tr h="17163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主题特征字段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/>
                        <a:t>Concepts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文献核心概念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0035244"/>
                  </a:ext>
                </a:extLst>
              </a:tr>
              <a:tr h="171630">
                <a:tc v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/>
                        <a:t>topics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文献研究主题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3730567"/>
                  </a:ext>
                </a:extLst>
              </a:tr>
              <a:tr h="328622">
                <a:tc v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concepts_count</a:t>
                      </a:r>
                      <a:r>
                        <a:rPr lang="en-US" altLang="zh-CN" sz="700" dirty="0"/>
                        <a:t>/</a:t>
                      </a:r>
                      <a:r>
                        <a:rPr lang="en-US" altLang="zh-CN" sz="700" dirty="0" err="1"/>
                        <a:t>topics_count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主题覆盖数量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7241092"/>
                  </a:ext>
                </a:extLst>
              </a:tr>
              <a:tr h="224343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科研合作特征字段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authors_count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作者数量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8313794"/>
                  </a:ext>
                </a:extLst>
              </a:tr>
              <a:tr h="237338">
                <a:tc vMerge="1">
                  <a:txBody>
                    <a:bodyPr/>
                    <a:lstStyle/>
                    <a:p>
                      <a:endParaRPr lang="zh-CN" altLang="en-US" sz="10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institutions_count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机构数量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095509"/>
                  </a:ext>
                </a:extLst>
              </a:tr>
              <a:tr h="237338">
                <a:tc vMerge="1">
                  <a:txBody>
                    <a:bodyPr/>
                    <a:lstStyle/>
                    <a:p>
                      <a:endParaRPr lang="zh-CN" altLang="en-US" sz="10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countries_count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国家数量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2051497"/>
                  </a:ext>
                </a:extLst>
              </a:tr>
              <a:tr h="237338">
                <a:tc vMerge="1">
                  <a:txBody>
                    <a:bodyPr/>
                    <a:lstStyle/>
                    <a:p>
                      <a:endParaRPr lang="zh-CN" altLang="en-US" sz="10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/>
                        <a:t>international_collab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是否国际合作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7989430"/>
                  </a:ext>
                </a:extLst>
              </a:tr>
              <a:tr h="237338">
                <a:tc rowSpan="5"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学术影响力字段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cited_by_count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论文总被引次数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7588393"/>
                  </a:ext>
                </a:extLst>
              </a:tr>
              <a:tr h="237338">
                <a:tc v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citation_percentile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被引百分位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768644"/>
                  </a:ext>
                </a:extLst>
              </a:tr>
              <a:tr h="237338">
                <a:tc v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recent_citations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近期被引次数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126748"/>
                  </a:ext>
                </a:extLst>
              </a:tr>
              <a:tr h="237338">
                <a:tc vMerge="1">
                  <a:txBody>
                    <a:bodyPr/>
                    <a:lstStyle/>
                    <a:p>
                      <a:pPr algn="ctr"/>
                      <a:endParaRPr lang="zh-CN" altLang="en-US" sz="10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/>
                        <a:t>is_highly_cited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高被引二分类标签（前</a:t>
                      </a:r>
                      <a:r>
                        <a:rPr lang="en-US" altLang="zh-CN" sz="700" dirty="0"/>
                        <a:t>10%</a:t>
                      </a:r>
                      <a:r>
                        <a:rPr lang="zh-CN" altLang="en-US" sz="700" dirty="0"/>
                        <a:t>）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430908"/>
                  </a:ext>
                </a:extLst>
              </a:tr>
              <a:tr h="310629">
                <a:tc vMerge="1">
                  <a:txBody>
                    <a:bodyPr/>
                    <a:lstStyle/>
                    <a:p>
                      <a:pPr algn="ctr"/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00" dirty="0" err="1"/>
                        <a:t>referenced_works_count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dirty="0"/>
                        <a:t>参考文献数量</a:t>
                      </a:r>
                      <a:endParaRPr lang="zh-CN" altLang="en-US" sz="700" dirty="0">
                        <a:latin typeface="思源宋体" panose="02020700000000000000" pitchFamily="18" charset="-122"/>
                        <a:ea typeface="思源宋体" panose="02020700000000000000" pitchFamily="18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032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722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21725B-CBED-D850-6148-A7F2B2C9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B3BEF36E-05AF-F873-0E05-E7C6C82DC1A7}"/>
              </a:ext>
            </a:extLst>
          </p:cNvPr>
          <p:cNvGrpSpPr/>
          <p:nvPr/>
        </p:nvGrpSpPr>
        <p:grpSpPr>
          <a:xfrm>
            <a:off x="-5818" y="0"/>
            <a:ext cx="9149818" cy="5150873"/>
            <a:chOff x="-5818" y="0"/>
            <a:chExt cx="9149818" cy="515087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5FF0772-A5BC-C29C-9428-A4FB360162FC}"/>
                </a:ext>
              </a:extLst>
            </p:cNvPr>
            <p:cNvGrpSpPr/>
            <p:nvPr/>
          </p:nvGrpSpPr>
          <p:grpSpPr>
            <a:xfrm flipH="1">
              <a:off x="-5818" y="0"/>
              <a:ext cx="9149818" cy="5150873"/>
              <a:chOff x="-5818" y="0"/>
              <a:chExt cx="9149818" cy="5150873"/>
            </a:xfrm>
          </p:grpSpPr>
          <p:sp>
            <p:nvSpPr>
              <p:cNvPr id="12" name="Google Shape;58;p3">
                <a:extLst>
                  <a:ext uri="{FF2B5EF4-FFF2-40B4-BE49-F238E27FC236}">
                    <a16:creationId xmlns:a16="http://schemas.microsoft.com/office/drawing/2014/main" id="{3684B629-FFD9-4484-B0A4-A3FAA456CC61}"/>
                  </a:ext>
                </a:extLst>
              </p:cNvPr>
              <p:cNvSpPr/>
              <p:nvPr/>
            </p:nvSpPr>
            <p:spPr>
              <a:xfrm rot="10800000">
                <a:off x="5518762" y="2132527"/>
                <a:ext cx="3625238" cy="3018346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6" name="Google Shape;58;p3">
                <a:extLst>
                  <a:ext uri="{FF2B5EF4-FFF2-40B4-BE49-F238E27FC236}">
                    <a16:creationId xmlns:a16="http://schemas.microsoft.com/office/drawing/2014/main" id="{6D57C863-7FFE-84EB-5624-4FD9BC801FB2}"/>
                  </a:ext>
                </a:extLst>
              </p:cNvPr>
              <p:cNvSpPr/>
              <p:nvPr/>
            </p:nvSpPr>
            <p:spPr>
              <a:xfrm rot="10800000" flipH="1" flipV="1">
                <a:off x="-5818" y="0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D6C29EA2-F35E-A855-D070-422E002BE735}"/>
                  </a:ext>
                </a:extLst>
              </p:cNvPr>
              <p:cNvSpPr/>
              <p:nvPr/>
            </p:nvSpPr>
            <p:spPr>
              <a:xfrm rot="19800000">
                <a:off x="7300743" y="284091"/>
                <a:ext cx="1370002" cy="137000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302B2026-D179-8486-ED5B-D29AD553D680}"/>
                  </a:ext>
                </a:extLst>
              </p:cNvPr>
              <p:cNvSpPr/>
              <p:nvPr/>
            </p:nvSpPr>
            <p:spPr>
              <a:xfrm rot="19800000">
                <a:off x="5203840" y="3777489"/>
                <a:ext cx="587982" cy="58798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1" name="Google Shape;58;p3">
                <a:extLst>
                  <a:ext uri="{FF2B5EF4-FFF2-40B4-BE49-F238E27FC236}">
                    <a16:creationId xmlns:a16="http://schemas.microsoft.com/office/drawing/2014/main" id="{4EB2ED50-90D2-9977-DB3C-08AE9AA417C6}"/>
                  </a:ext>
                </a:extLst>
              </p:cNvPr>
              <p:cNvSpPr/>
              <p:nvPr/>
            </p:nvSpPr>
            <p:spPr>
              <a:xfrm rot="10800000" flipH="1">
                <a:off x="0" y="4071481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2" name="任意多边形 7">
                <a:extLst>
                  <a:ext uri="{FF2B5EF4-FFF2-40B4-BE49-F238E27FC236}">
                    <a16:creationId xmlns:a16="http://schemas.microsoft.com/office/drawing/2014/main" id="{0CED0728-BD67-8826-D071-BD82FD191988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5087031" y="783440"/>
                <a:ext cx="702010" cy="371304"/>
              </a:xfrm>
              <a:custGeom>
                <a:avLst/>
                <a:gdLst>
                  <a:gd name="idx" fmla="cos wd2 2700000"/>
                  <a:gd name="idy" fmla="sin hd2 2700000"/>
                  <a:gd name="il" fmla="+- hc 0 idx"/>
                  <a:gd name="ir" fmla="+- hc idx 0"/>
                  <a:gd name="it" fmla="+- vc 0 idy"/>
                  <a:gd name="ib" fmla="+- vc idy 0"/>
                </a:gdLst>
                <a:ahLst/>
                <a:cxnLst>
                  <a:cxn ang="3">
                    <a:pos x="hc" y="t"/>
                  </a:cxn>
                  <a:cxn ang="3">
                    <a:pos x="il" y="it"/>
                  </a:cxn>
                  <a:cxn ang="cd2">
                    <a:pos x="l" y="vc"/>
                  </a:cxn>
                  <a:cxn ang="cd4">
                    <a:pos x="il" y="ib"/>
                  </a:cxn>
                  <a:cxn ang="cd4">
                    <a:pos x="hc" y="b"/>
                  </a:cxn>
                  <a:cxn ang="cd4">
                    <a:pos x="ir" y="ib"/>
                  </a:cxn>
                  <a:cxn ang="0">
                    <a:pos x="r" y="vc"/>
                  </a:cxn>
                  <a:cxn ang="3">
                    <a:pos x="ir" y="it"/>
                  </a:cxn>
                </a:cxnLst>
                <a:rect l="l" t="t" r="r" b="b"/>
                <a:pathLst>
                  <a:path w="1647" h="922">
                    <a:moveTo>
                      <a:pt x="0" y="61"/>
                    </a:moveTo>
                    <a:cubicBezTo>
                      <a:pt x="0" y="27"/>
                      <a:pt x="26" y="0"/>
                      <a:pt x="58" y="0"/>
                    </a:cubicBezTo>
                    <a:cubicBezTo>
                      <a:pt x="89" y="0"/>
                      <a:pt x="115" y="27"/>
                      <a:pt x="115" y="61"/>
                    </a:cubicBezTo>
                    <a:cubicBezTo>
                      <a:pt x="115" y="94"/>
                      <a:pt x="89" y="121"/>
                      <a:pt x="58" y="121"/>
                    </a:cubicBezTo>
                    <a:cubicBezTo>
                      <a:pt x="26" y="121"/>
                      <a:pt x="0" y="94"/>
                      <a:pt x="0" y="61"/>
                    </a:cubicBezTo>
                    <a:close/>
                    <a:moveTo>
                      <a:pt x="383" y="61"/>
                    </a:moveTo>
                    <a:cubicBezTo>
                      <a:pt x="383" y="27"/>
                      <a:pt x="409" y="0"/>
                      <a:pt x="441" y="0"/>
                    </a:cubicBezTo>
                    <a:cubicBezTo>
                      <a:pt x="472" y="0"/>
                      <a:pt x="498" y="27"/>
                      <a:pt x="498" y="61"/>
                    </a:cubicBezTo>
                    <a:cubicBezTo>
                      <a:pt x="498" y="94"/>
                      <a:pt x="472" y="121"/>
                      <a:pt x="441" y="121"/>
                    </a:cubicBezTo>
                    <a:cubicBezTo>
                      <a:pt x="409" y="121"/>
                      <a:pt x="383" y="94"/>
                      <a:pt x="383" y="61"/>
                    </a:cubicBezTo>
                    <a:close/>
                    <a:moveTo>
                      <a:pt x="766" y="61"/>
                    </a:moveTo>
                    <a:cubicBezTo>
                      <a:pt x="766" y="27"/>
                      <a:pt x="792" y="0"/>
                      <a:pt x="824" y="0"/>
                    </a:cubicBezTo>
                    <a:cubicBezTo>
                      <a:pt x="855" y="0"/>
                      <a:pt x="881" y="27"/>
                      <a:pt x="881" y="61"/>
                    </a:cubicBezTo>
                    <a:cubicBezTo>
                      <a:pt x="881" y="94"/>
                      <a:pt x="855" y="121"/>
                      <a:pt x="824" y="121"/>
                    </a:cubicBezTo>
                    <a:cubicBezTo>
                      <a:pt x="792" y="121"/>
                      <a:pt x="766" y="94"/>
                      <a:pt x="766" y="61"/>
                    </a:cubicBezTo>
                    <a:close/>
                    <a:moveTo>
                      <a:pt x="1149" y="61"/>
                    </a:moveTo>
                    <a:cubicBezTo>
                      <a:pt x="1149" y="27"/>
                      <a:pt x="1175" y="0"/>
                      <a:pt x="1207" y="0"/>
                    </a:cubicBezTo>
                    <a:cubicBezTo>
                      <a:pt x="1238" y="0"/>
                      <a:pt x="1264" y="27"/>
                      <a:pt x="1264" y="61"/>
                    </a:cubicBezTo>
                    <a:cubicBezTo>
                      <a:pt x="1264" y="94"/>
                      <a:pt x="1238" y="121"/>
                      <a:pt x="1207" y="121"/>
                    </a:cubicBezTo>
                    <a:cubicBezTo>
                      <a:pt x="1175" y="121"/>
                      <a:pt x="1149" y="94"/>
                      <a:pt x="1149" y="61"/>
                    </a:cubicBezTo>
                    <a:close/>
                    <a:moveTo>
                      <a:pt x="1532" y="61"/>
                    </a:moveTo>
                    <a:cubicBezTo>
                      <a:pt x="1532" y="27"/>
                      <a:pt x="1558" y="0"/>
                      <a:pt x="1590" y="0"/>
                    </a:cubicBezTo>
                    <a:cubicBezTo>
                      <a:pt x="1621" y="0"/>
                      <a:pt x="1647" y="27"/>
                      <a:pt x="1647" y="61"/>
                    </a:cubicBezTo>
                    <a:cubicBezTo>
                      <a:pt x="1647" y="94"/>
                      <a:pt x="1621" y="121"/>
                      <a:pt x="1590" y="121"/>
                    </a:cubicBezTo>
                    <a:cubicBezTo>
                      <a:pt x="1558" y="121"/>
                      <a:pt x="1532" y="94"/>
                      <a:pt x="1532" y="61"/>
                    </a:cubicBezTo>
                    <a:close/>
                    <a:moveTo>
                      <a:pt x="0" y="328"/>
                    </a:moveTo>
                    <a:cubicBezTo>
                      <a:pt x="0" y="294"/>
                      <a:pt x="26" y="267"/>
                      <a:pt x="58" y="267"/>
                    </a:cubicBezTo>
                    <a:cubicBezTo>
                      <a:pt x="89" y="267"/>
                      <a:pt x="115" y="294"/>
                      <a:pt x="115" y="328"/>
                    </a:cubicBezTo>
                    <a:cubicBezTo>
                      <a:pt x="115" y="361"/>
                      <a:pt x="89" y="388"/>
                      <a:pt x="58" y="388"/>
                    </a:cubicBezTo>
                    <a:cubicBezTo>
                      <a:pt x="26" y="388"/>
                      <a:pt x="0" y="361"/>
                      <a:pt x="0" y="328"/>
                    </a:cubicBezTo>
                    <a:close/>
                    <a:moveTo>
                      <a:pt x="383" y="328"/>
                    </a:moveTo>
                    <a:cubicBezTo>
                      <a:pt x="383" y="294"/>
                      <a:pt x="409" y="267"/>
                      <a:pt x="441" y="267"/>
                    </a:cubicBezTo>
                    <a:cubicBezTo>
                      <a:pt x="472" y="267"/>
                      <a:pt x="498" y="294"/>
                      <a:pt x="498" y="328"/>
                    </a:cubicBezTo>
                    <a:cubicBezTo>
                      <a:pt x="498" y="361"/>
                      <a:pt x="472" y="388"/>
                      <a:pt x="441" y="388"/>
                    </a:cubicBezTo>
                    <a:cubicBezTo>
                      <a:pt x="409" y="388"/>
                      <a:pt x="383" y="361"/>
                      <a:pt x="383" y="328"/>
                    </a:cubicBezTo>
                    <a:close/>
                    <a:moveTo>
                      <a:pt x="766" y="328"/>
                    </a:moveTo>
                    <a:cubicBezTo>
                      <a:pt x="766" y="294"/>
                      <a:pt x="792" y="267"/>
                      <a:pt x="824" y="267"/>
                    </a:cubicBezTo>
                    <a:cubicBezTo>
                      <a:pt x="855" y="267"/>
                      <a:pt x="881" y="294"/>
                      <a:pt x="881" y="328"/>
                    </a:cubicBezTo>
                    <a:cubicBezTo>
                      <a:pt x="881" y="361"/>
                      <a:pt x="855" y="388"/>
                      <a:pt x="824" y="388"/>
                    </a:cubicBezTo>
                    <a:cubicBezTo>
                      <a:pt x="792" y="388"/>
                      <a:pt x="766" y="361"/>
                      <a:pt x="766" y="328"/>
                    </a:cubicBezTo>
                    <a:close/>
                    <a:moveTo>
                      <a:pt x="1149" y="328"/>
                    </a:moveTo>
                    <a:cubicBezTo>
                      <a:pt x="1149" y="294"/>
                      <a:pt x="1175" y="267"/>
                      <a:pt x="1207" y="267"/>
                    </a:cubicBezTo>
                    <a:cubicBezTo>
                      <a:pt x="1238" y="267"/>
                      <a:pt x="1264" y="294"/>
                      <a:pt x="1264" y="328"/>
                    </a:cubicBezTo>
                    <a:cubicBezTo>
                      <a:pt x="1264" y="361"/>
                      <a:pt x="1238" y="388"/>
                      <a:pt x="1207" y="388"/>
                    </a:cubicBezTo>
                    <a:cubicBezTo>
                      <a:pt x="1175" y="388"/>
                      <a:pt x="1149" y="361"/>
                      <a:pt x="1149" y="328"/>
                    </a:cubicBezTo>
                    <a:close/>
                    <a:moveTo>
                      <a:pt x="1532" y="328"/>
                    </a:moveTo>
                    <a:cubicBezTo>
                      <a:pt x="1532" y="294"/>
                      <a:pt x="1558" y="267"/>
                      <a:pt x="1590" y="267"/>
                    </a:cubicBezTo>
                    <a:cubicBezTo>
                      <a:pt x="1621" y="267"/>
                      <a:pt x="1647" y="294"/>
                      <a:pt x="1647" y="328"/>
                    </a:cubicBezTo>
                    <a:cubicBezTo>
                      <a:pt x="1647" y="361"/>
                      <a:pt x="1621" y="388"/>
                      <a:pt x="1590" y="388"/>
                    </a:cubicBezTo>
                    <a:cubicBezTo>
                      <a:pt x="1558" y="388"/>
                      <a:pt x="1532" y="361"/>
                      <a:pt x="1532" y="328"/>
                    </a:cubicBezTo>
                    <a:close/>
                    <a:moveTo>
                      <a:pt x="0" y="595"/>
                    </a:moveTo>
                    <a:cubicBezTo>
                      <a:pt x="0" y="561"/>
                      <a:pt x="26" y="534"/>
                      <a:pt x="58" y="534"/>
                    </a:cubicBezTo>
                    <a:cubicBezTo>
                      <a:pt x="89" y="534"/>
                      <a:pt x="115" y="561"/>
                      <a:pt x="115" y="595"/>
                    </a:cubicBezTo>
                    <a:cubicBezTo>
                      <a:pt x="115" y="628"/>
                      <a:pt x="89" y="655"/>
                      <a:pt x="58" y="655"/>
                    </a:cubicBezTo>
                    <a:cubicBezTo>
                      <a:pt x="26" y="655"/>
                      <a:pt x="0" y="628"/>
                      <a:pt x="0" y="595"/>
                    </a:cubicBezTo>
                    <a:close/>
                    <a:moveTo>
                      <a:pt x="383" y="595"/>
                    </a:moveTo>
                    <a:cubicBezTo>
                      <a:pt x="383" y="561"/>
                      <a:pt x="409" y="534"/>
                      <a:pt x="441" y="534"/>
                    </a:cubicBezTo>
                    <a:cubicBezTo>
                      <a:pt x="472" y="534"/>
                      <a:pt x="498" y="561"/>
                      <a:pt x="498" y="595"/>
                    </a:cubicBezTo>
                    <a:cubicBezTo>
                      <a:pt x="498" y="628"/>
                      <a:pt x="472" y="655"/>
                      <a:pt x="441" y="655"/>
                    </a:cubicBezTo>
                    <a:cubicBezTo>
                      <a:pt x="409" y="655"/>
                      <a:pt x="383" y="628"/>
                      <a:pt x="383" y="595"/>
                    </a:cubicBezTo>
                    <a:close/>
                    <a:moveTo>
                      <a:pt x="766" y="595"/>
                    </a:moveTo>
                    <a:cubicBezTo>
                      <a:pt x="766" y="561"/>
                      <a:pt x="792" y="534"/>
                      <a:pt x="824" y="534"/>
                    </a:cubicBezTo>
                    <a:cubicBezTo>
                      <a:pt x="855" y="534"/>
                      <a:pt x="881" y="561"/>
                      <a:pt x="881" y="595"/>
                    </a:cubicBezTo>
                    <a:cubicBezTo>
                      <a:pt x="881" y="628"/>
                      <a:pt x="855" y="655"/>
                      <a:pt x="824" y="655"/>
                    </a:cubicBezTo>
                    <a:cubicBezTo>
                      <a:pt x="792" y="655"/>
                      <a:pt x="766" y="628"/>
                      <a:pt x="766" y="595"/>
                    </a:cubicBezTo>
                    <a:close/>
                    <a:moveTo>
                      <a:pt x="1149" y="595"/>
                    </a:moveTo>
                    <a:cubicBezTo>
                      <a:pt x="1149" y="561"/>
                      <a:pt x="1175" y="534"/>
                      <a:pt x="1207" y="534"/>
                    </a:cubicBezTo>
                    <a:cubicBezTo>
                      <a:pt x="1238" y="534"/>
                      <a:pt x="1264" y="561"/>
                      <a:pt x="1264" y="595"/>
                    </a:cubicBezTo>
                    <a:cubicBezTo>
                      <a:pt x="1264" y="628"/>
                      <a:pt x="1238" y="655"/>
                      <a:pt x="1207" y="655"/>
                    </a:cubicBezTo>
                    <a:cubicBezTo>
                      <a:pt x="1175" y="655"/>
                      <a:pt x="1149" y="628"/>
                      <a:pt x="1149" y="595"/>
                    </a:cubicBezTo>
                    <a:close/>
                    <a:moveTo>
                      <a:pt x="1532" y="595"/>
                    </a:moveTo>
                    <a:cubicBezTo>
                      <a:pt x="1532" y="561"/>
                      <a:pt x="1558" y="534"/>
                      <a:pt x="1590" y="534"/>
                    </a:cubicBezTo>
                    <a:cubicBezTo>
                      <a:pt x="1621" y="534"/>
                      <a:pt x="1647" y="561"/>
                      <a:pt x="1647" y="595"/>
                    </a:cubicBezTo>
                    <a:cubicBezTo>
                      <a:pt x="1647" y="628"/>
                      <a:pt x="1621" y="655"/>
                      <a:pt x="1590" y="655"/>
                    </a:cubicBezTo>
                    <a:cubicBezTo>
                      <a:pt x="1558" y="655"/>
                      <a:pt x="1532" y="628"/>
                      <a:pt x="1532" y="595"/>
                    </a:cubicBezTo>
                    <a:close/>
                    <a:moveTo>
                      <a:pt x="0" y="862"/>
                    </a:moveTo>
                    <a:cubicBezTo>
                      <a:pt x="0" y="828"/>
                      <a:pt x="26" y="801"/>
                      <a:pt x="58" y="801"/>
                    </a:cubicBezTo>
                    <a:cubicBezTo>
                      <a:pt x="89" y="801"/>
                      <a:pt x="115" y="828"/>
                      <a:pt x="115" y="862"/>
                    </a:cubicBezTo>
                    <a:cubicBezTo>
                      <a:pt x="115" y="895"/>
                      <a:pt x="89" y="922"/>
                      <a:pt x="58" y="922"/>
                    </a:cubicBezTo>
                    <a:cubicBezTo>
                      <a:pt x="26" y="922"/>
                      <a:pt x="0" y="895"/>
                      <a:pt x="0" y="862"/>
                    </a:cubicBezTo>
                    <a:close/>
                    <a:moveTo>
                      <a:pt x="383" y="862"/>
                    </a:moveTo>
                    <a:cubicBezTo>
                      <a:pt x="383" y="828"/>
                      <a:pt x="409" y="801"/>
                      <a:pt x="441" y="801"/>
                    </a:cubicBezTo>
                    <a:cubicBezTo>
                      <a:pt x="472" y="801"/>
                      <a:pt x="498" y="828"/>
                      <a:pt x="498" y="862"/>
                    </a:cubicBezTo>
                    <a:cubicBezTo>
                      <a:pt x="498" y="895"/>
                      <a:pt x="472" y="922"/>
                      <a:pt x="441" y="922"/>
                    </a:cubicBezTo>
                    <a:cubicBezTo>
                      <a:pt x="409" y="922"/>
                      <a:pt x="383" y="895"/>
                      <a:pt x="383" y="862"/>
                    </a:cubicBezTo>
                    <a:close/>
                    <a:moveTo>
                      <a:pt x="766" y="862"/>
                    </a:moveTo>
                    <a:cubicBezTo>
                      <a:pt x="766" y="828"/>
                      <a:pt x="792" y="801"/>
                      <a:pt x="824" y="801"/>
                    </a:cubicBezTo>
                    <a:cubicBezTo>
                      <a:pt x="855" y="801"/>
                      <a:pt x="881" y="828"/>
                      <a:pt x="881" y="862"/>
                    </a:cubicBezTo>
                    <a:cubicBezTo>
                      <a:pt x="881" y="895"/>
                      <a:pt x="855" y="922"/>
                      <a:pt x="824" y="922"/>
                    </a:cubicBezTo>
                    <a:cubicBezTo>
                      <a:pt x="792" y="922"/>
                      <a:pt x="766" y="895"/>
                      <a:pt x="766" y="862"/>
                    </a:cubicBezTo>
                    <a:close/>
                    <a:moveTo>
                      <a:pt x="1149" y="862"/>
                    </a:moveTo>
                    <a:cubicBezTo>
                      <a:pt x="1149" y="828"/>
                      <a:pt x="1175" y="801"/>
                      <a:pt x="1207" y="801"/>
                    </a:cubicBezTo>
                    <a:cubicBezTo>
                      <a:pt x="1238" y="801"/>
                      <a:pt x="1264" y="828"/>
                      <a:pt x="1264" y="862"/>
                    </a:cubicBezTo>
                    <a:cubicBezTo>
                      <a:pt x="1264" y="895"/>
                      <a:pt x="1238" y="922"/>
                      <a:pt x="1207" y="922"/>
                    </a:cubicBezTo>
                    <a:cubicBezTo>
                      <a:pt x="1175" y="922"/>
                      <a:pt x="1149" y="895"/>
                      <a:pt x="1149" y="862"/>
                    </a:cubicBezTo>
                    <a:close/>
                    <a:moveTo>
                      <a:pt x="1532" y="862"/>
                    </a:moveTo>
                    <a:cubicBezTo>
                      <a:pt x="1532" y="828"/>
                      <a:pt x="1558" y="801"/>
                      <a:pt x="1590" y="801"/>
                    </a:cubicBezTo>
                    <a:cubicBezTo>
                      <a:pt x="1621" y="801"/>
                      <a:pt x="1647" y="828"/>
                      <a:pt x="1647" y="862"/>
                    </a:cubicBezTo>
                    <a:cubicBezTo>
                      <a:pt x="1647" y="895"/>
                      <a:pt x="1621" y="922"/>
                      <a:pt x="1590" y="922"/>
                    </a:cubicBezTo>
                    <a:cubicBezTo>
                      <a:pt x="1558" y="922"/>
                      <a:pt x="1532" y="895"/>
                      <a:pt x="1532" y="862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思源黑体 CN Light" panose="020B0300000000000000" charset="-122"/>
                </a:endParaRPr>
              </a:p>
            </p:txBody>
          </p:sp>
        </p:grp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7905003-0E07-B426-011A-7546D4684FD8}"/>
                </a:ext>
              </a:extLst>
            </p:cNvPr>
            <p:cNvSpPr/>
            <p:nvPr/>
          </p:nvSpPr>
          <p:spPr>
            <a:xfrm>
              <a:off x="555898" y="1904821"/>
              <a:ext cx="2821557" cy="2821557"/>
            </a:xfrm>
            <a:prstGeom prst="ellipse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D3F0CFCB-B831-3766-BC9E-7272CCF25C7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181137" y="2107526"/>
            <a:ext cx="3841731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913765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kern="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rPr>
              <a:t>数据的探索</a:t>
            </a:r>
          </a:p>
        </p:txBody>
      </p:sp>
      <p:sp>
        <p:nvSpPr>
          <p:cNvPr id="41" name="圆角矩形 20">
            <a:extLst>
              <a:ext uri="{FF2B5EF4-FFF2-40B4-BE49-F238E27FC236}">
                <a16:creationId xmlns:a16="http://schemas.microsoft.com/office/drawing/2014/main" id="{705D2734-4B45-E1F8-DADB-0E17149C7C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85911" y="1481551"/>
            <a:ext cx="1532102" cy="434074"/>
          </a:xfrm>
          <a:prstGeom prst="roundRect">
            <a:avLst>
              <a:gd name="adj" fmla="val 50000"/>
            </a:avLst>
          </a:pr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PART 03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241F489-208A-0DEE-6D82-8EB88E11EB69}"/>
              </a:ext>
            </a:extLst>
          </p:cNvPr>
          <p:cNvSpPr txBox="1"/>
          <p:nvPr/>
        </p:nvSpPr>
        <p:spPr>
          <a:xfrm>
            <a:off x="5768726" y="1236275"/>
            <a:ext cx="2435811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5400">
                <a:gradFill>
                  <a:gsLst>
                    <a:gs pos="84000">
                      <a:srgbClr val="0960E5">
                        <a:alpha val="32000"/>
                      </a:srgb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PART</a:t>
            </a:r>
            <a:endParaRPr lang="zh-CN" altLang="en-US" sz="5400"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Bold" panose="020B0800000000000000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DA26A9A-D716-7D19-C272-1C32364F8B34}"/>
              </a:ext>
            </a:extLst>
          </p:cNvPr>
          <p:cNvGrpSpPr/>
          <p:nvPr/>
        </p:nvGrpSpPr>
        <p:grpSpPr>
          <a:xfrm>
            <a:off x="4185912" y="2081786"/>
            <a:ext cx="3710903" cy="865115"/>
            <a:chOff x="5852478" y="2100373"/>
            <a:chExt cx="5315585" cy="1330921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7BE8CFEC-61EC-6D8C-6788-2C41FC76358A}"/>
                </a:ext>
              </a:extLst>
            </p:cNvPr>
            <p:cNvCxnSpPr/>
            <p:nvPr/>
          </p:nvCxnSpPr>
          <p:spPr>
            <a:xfrm>
              <a:off x="5852478" y="3431294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1A6C7E8-9CD2-D96B-1DB3-4004BB63EC7B}"/>
                </a:ext>
              </a:extLst>
            </p:cNvPr>
            <p:cNvCxnSpPr/>
            <p:nvPr/>
          </p:nvCxnSpPr>
          <p:spPr>
            <a:xfrm>
              <a:off x="5875973" y="2100373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CC12752B-E992-C140-CED5-F7DD290C7417}"/>
              </a:ext>
            </a:extLst>
          </p:cNvPr>
          <p:cNvSpPr/>
          <p:nvPr/>
        </p:nvSpPr>
        <p:spPr>
          <a:xfrm>
            <a:off x="4292689" y="3472731"/>
            <a:ext cx="659273" cy="47822"/>
          </a:xfrm>
          <a:custGeom>
            <a:avLst/>
            <a:gdLst>
              <a:gd name="connsiteX0" fmla="*/ 881551 w 914727"/>
              <a:gd name="connsiteY0" fmla="*/ 0 h 66352"/>
              <a:gd name="connsiteX1" fmla="*/ 914727 w 914727"/>
              <a:gd name="connsiteY1" fmla="*/ 33176 h 66352"/>
              <a:gd name="connsiteX2" fmla="*/ 881551 w 914727"/>
              <a:gd name="connsiteY2" fmla="*/ 66352 h 66352"/>
              <a:gd name="connsiteX3" fmla="*/ 848375 w 914727"/>
              <a:gd name="connsiteY3" fmla="*/ 33176 h 66352"/>
              <a:gd name="connsiteX4" fmla="*/ 881551 w 914727"/>
              <a:gd name="connsiteY4" fmla="*/ 0 h 66352"/>
              <a:gd name="connsiteX5" fmla="*/ 669458 w 914727"/>
              <a:gd name="connsiteY5" fmla="*/ 0 h 66352"/>
              <a:gd name="connsiteX6" fmla="*/ 702634 w 914727"/>
              <a:gd name="connsiteY6" fmla="*/ 33176 h 66352"/>
              <a:gd name="connsiteX7" fmla="*/ 669458 w 914727"/>
              <a:gd name="connsiteY7" fmla="*/ 66352 h 66352"/>
              <a:gd name="connsiteX8" fmla="*/ 636282 w 914727"/>
              <a:gd name="connsiteY8" fmla="*/ 33176 h 66352"/>
              <a:gd name="connsiteX9" fmla="*/ 669458 w 914727"/>
              <a:gd name="connsiteY9" fmla="*/ 0 h 66352"/>
              <a:gd name="connsiteX10" fmla="*/ 457364 w 914727"/>
              <a:gd name="connsiteY10" fmla="*/ 0 h 66352"/>
              <a:gd name="connsiteX11" fmla="*/ 490540 w 914727"/>
              <a:gd name="connsiteY11" fmla="*/ 33176 h 66352"/>
              <a:gd name="connsiteX12" fmla="*/ 457364 w 914727"/>
              <a:gd name="connsiteY12" fmla="*/ 66352 h 66352"/>
              <a:gd name="connsiteX13" fmla="*/ 424188 w 914727"/>
              <a:gd name="connsiteY13" fmla="*/ 33176 h 66352"/>
              <a:gd name="connsiteX14" fmla="*/ 457364 w 914727"/>
              <a:gd name="connsiteY14" fmla="*/ 0 h 66352"/>
              <a:gd name="connsiteX15" fmla="*/ 245270 w 914727"/>
              <a:gd name="connsiteY15" fmla="*/ 0 h 66352"/>
              <a:gd name="connsiteX16" fmla="*/ 278446 w 914727"/>
              <a:gd name="connsiteY16" fmla="*/ 33176 h 66352"/>
              <a:gd name="connsiteX17" fmla="*/ 245270 w 914727"/>
              <a:gd name="connsiteY17" fmla="*/ 66352 h 66352"/>
              <a:gd name="connsiteX18" fmla="*/ 212094 w 914727"/>
              <a:gd name="connsiteY18" fmla="*/ 33176 h 66352"/>
              <a:gd name="connsiteX19" fmla="*/ 245270 w 914727"/>
              <a:gd name="connsiteY19" fmla="*/ 0 h 66352"/>
              <a:gd name="connsiteX20" fmla="*/ 33176 w 914727"/>
              <a:gd name="connsiteY20" fmla="*/ 0 h 66352"/>
              <a:gd name="connsiteX21" fmla="*/ 66352 w 914727"/>
              <a:gd name="connsiteY21" fmla="*/ 33176 h 66352"/>
              <a:gd name="connsiteX22" fmla="*/ 33176 w 914727"/>
              <a:gd name="connsiteY22" fmla="*/ 66352 h 66352"/>
              <a:gd name="connsiteX23" fmla="*/ 0 w 914727"/>
              <a:gd name="connsiteY23" fmla="*/ 33176 h 66352"/>
              <a:gd name="connsiteX24" fmla="*/ 33176 w 914727"/>
              <a:gd name="connsiteY24" fmla="*/ 0 h 6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14727" h="66352">
                <a:moveTo>
                  <a:pt x="881551" y="0"/>
                </a:moveTo>
                <a:cubicBezTo>
                  <a:pt x="899874" y="0"/>
                  <a:pt x="914727" y="14853"/>
                  <a:pt x="914727" y="33176"/>
                </a:cubicBezTo>
                <a:cubicBezTo>
                  <a:pt x="914727" y="51499"/>
                  <a:pt x="899874" y="66352"/>
                  <a:pt x="881551" y="66352"/>
                </a:cubicBezTo>
                <a:cubicBezTo>
                  <a:pt x="863228" y="66352"/>
                  <a:pt x="848375" y="51499"/>
                  <a:pt x="848375" y="33176"/>
                </a:cubicBezTo>
                <a:cubicBezTo>
                  <a:pt x="848375" y="14853"/>
                  <a:pt x="863228" y="0"/>
                  <a:pt x="881551" y="0"/>
                </a:cubicBezTo>
                <a:close/>
                <a:moveTo>
                  <a:pt x="669458" y="0"/>
                </a:moveTo>
                <a:cubicBezTo>
                  <a:pt x="687781" y="0"/>
                  <a:pt x="702634" y="14853"/>
                  <a:pt x="702634" y="33176"/>
                </a:cubicBezTo>
                <a:cubicBezTo>
                  <a:pt x="702634" y="51499"/>
                  <a:pt x="687781" y="66352"/>
                  <a:pt x="669458" y="66352"/>
                </a:cubicBezTo>
                <a:cubicBezTo>
                  <a:pt x="651135" y="66352"/>
                  <a:pt x="636282" y="51499"/>
                  <a:pt x="636282" y="33176"/>
                </a:cubicBezTo>
                <a:cubicBezTo>
                  <a:pt x="636282" y="14853"/>
                  <a:pt x="651135" y="0"/>
                  <a:pt x="669458" y="0"/>
                </a:cubicBezTo>
                <a:close/>
                <a:moveTo>
                  <a:pt x="457364" y="0"/>
                </a:moveTo>
                <a:cubicBezTo>
                  <a:pt x="475687" y="0"/>
                  <a:pt x="490540" y="14853"/>
                  <a:pt x="490540" y="33176"/>
                </a:cubicBezTo>
                <a:cubicBezTo>
                  <a:pt x="490540" y="51499"/>
                  <a:pt x="475687" y="66352"/>
                  <a:pt x="457364" y="66352"/>
                </a:cubicBezTo>
                <a:cubicBezTo>
                  <a:pt x="439041" y="66352"/>
                  <a:pt x="424188" y="51499"/>
                  <a:pt x="424188" y="33176"/>
                </a:cubicBezTo>
                <a:cubicBezTo>
                  <a:pt x="424188" y="14853"/>
                  <a:pt x="439041" y="0"/>
                  <a:pt x="457364" y="0"/>
                </a:cubicBezTo>
                <a:close/>
                <a:moveTo>
                  <a:pt x="245270" y="0"/>
                </a:moveTo>
                <a:cubicBezTo>
                  <a:pt x="263593" y="0"/>
                  <a:pt x="278446" y="14853"/>
                  <a:pt x="278446" y="33176"/>
                </a:cubicBezTo>
                <a:cubicBezTo>
                  <a:pt x="278446" y="51499"/>
                  <a:pt x="263593" y="66352"/>
                  <a:pt x="245270" y="66352"/>
                </a:cubicBezTo>
                <a:cubicBezTo>
                  <a:pt x="226947" y="66352"/>
                  <a:pt x="212094" y="51499"/>
                  <a:pt x="212094" y="33176"/>
                </a:cubicBezTo>
                <a:cubicBezTo>
                  <a:pt x="212094" y="14853"/>
                  <a:pt x="226947" y="0"/>
                  <a:pt x="245270" y="0"/>
                </a:cubicBezTo>
                <a:close/>
                <a:moveTo>
                  <a:pt x="33176" y="0"/>
                </a:moveTo>
                <a:cubicBezTo>
                  <a:pt x="51499" y="0"/>
                  <a:pt x="66352" y="14853"/>
                  <a:pt x="66352" y="33176"/>
                </a:cubicBezTo>
                <a:cubicBezTo>
                  <a:pt x="66352" y="51499"/>
                  <a:pt x="51499" y="66352"/>
                  <a:pt x="33176" y="66352"/>
                </a:cubicBezTo>
                <a:cubicBezTo>
                  <a:pt x="14853" y="66352"/>
                  <a:pt x="0" y="51499"/>
                  <a:pt x="0" y="33176"/>
                </a:cubicBez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C6FBDCB-2876-8E80-3598-817BBBFD0129}"/>
              </a:ext>
            </a:extLst>
          </p:cNvPr>
          <p:cNvGrpSpPr/>
          <p:nvPr/>
        </p:nvGrpSpPr>
        <p:grpSpPr>
          <a:xfrm>
            <a:off x="4181136" y="2980272"/>
            <a:ext cx="4173268" cy="382844"/>
            <a:chOff x="546813" y="2402625"/>
            <a:chExt cx="4727985" cy="40434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91C9040-3840-1ACA-19B5-59951BAF0231}"/>
                </a:ext>
              </a:extLst>
            </p:cNvPr>
            <p:cNvSpPr/>
            <p:nvPr/>
          </p:nvSpPr>
          <p:spPr>
            <a:xfrm>
              <a:off x="546813" y="2605320"/>
              <a:ext cx="4727985" cy="154825"/>
            </a:xfrm>
            <a:prstGeom prst="roundRect">
              <a:avLst>
                <a:gd name="adj" fmla="val 50000"/>
              </a:avLst>
            </a:prstGeom>
            <a:gradFill>
              <a:gsLst>
                <a:gs pos="99000">
                  <a:srgbClr val="0960E5"/>
                </a:gs>
                <a:gs pos="0">
                  <a:schemeClr val="bg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F15B130-9D78-9184-8D70-6E086A6E92FA}"/>
                </a:ext>
              </a:extLst>
            </p:cNvPr>
            <p:cNvSpPr/>
            <p:nvPr/>
          </p:nvSpPr>
          <p:spPr>
            <a:xfrm>
              <a:off x="576997" y="2402625"/>
              <a:ext cx="4626885" cy="40434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[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数据可视化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特征工程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4132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AB940-FDA8-9500-0674-D4F7B5E5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69AC1A6A-C903-47EF-8F8F-DFF517D080DD}"/>
              </a:ext>
            </a:extLst>
          </p:cNvPr>
          <p:cNvSpPr/>
          <p:nvPr/>
        </p:nvSpPr>
        <p:spPr>
          <a:xfrm>
            <a:off x="722166" y="642236"/>
            <a:ext cx="2024979" cy="304959"/>
          </a:xfrm>
          <a:prstGeom prst="roundRect">
            <a:avLst>
              <a:gd name="adj" fmla="val 50000"/>
            </a:avLst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研究发展势态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1F5AB83-8566-4ADE-0B04-0BC0500B026F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AC745B0-5DAF-6662-B1FE-7CBF961BD295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B7C9998B-54F4-53C1-0A51-7334387B1D09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FBD252D-3B65-0B7B-52A1-5F50454F1F5D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数据的可视化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5E908EEE-1EBA-4123-4D0D-0AF44209965D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6DD223DF-77CF-4EE2-71F6-3D998AF622CE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3F0046D8-552D-A5BA-3C3D-C5E723128118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0B43DCB-5104-D2C6-6DB7-7AE48A5982F6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76414524-A5AB-E980-976D-811FDACBB316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42566806-6693-8EF2-EF3E-5AD67A526418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C5DEFA5-21A9-6DA1-5D14-7E63E4935767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F866CB8-A609-B63F-A63C-129F7A78BD12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EA6F77B7-542E-2FE3-F52B-9F675ADB976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4" y="989379"/>
            <a:ext cx="2846195" cy="168968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C912998-5E04-10EA-018C-2CACAC32768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064143"/>
            <a:ext cx="2795927" cy="166827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02DC16A-34CC-B9FB-25FC-9F0F2C7E815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8" y="3169554"/>
            <a:ext cx="2869192" cy="1414526"/>
          </a:xfrm>
          <a:prstGeom prst="rect">
            <a:avLst/>
          </a:prstGeom>
        </p:spPr>
      </p:pic>
      <p:sp>
        <p:nvSpPr>
          <p:cNvPr id="69" name="Freeform 108">
            <a:extLst>
              <a:ext uri="{FF2B5EF4-FFF2-40B4-BE49-F238E27FC236}">
                <a16:creationId xmlns:a16="http://schemas.microsoft.com/office/drawing/2014/main" id="{44DAD8F7-1D67-C396-ECAD-6EF3BDC54B23}"/>
              </a:ext>
            </a:extLst>
          </p:cNvPr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3533981" y="4818370"/>
            <a:ext cx="163723" cy="149165"/>
          </a:xfrm>
          <a:custGeom>
            <a:avLst/>
            <a:gdLst>
              <a:gd name="T0" fmla="*/ 97 w 115"/>
              <a:gd name="T1" fmla="*/ 48 h 115"/>
              <a:gd name="T2" fmla="*/ 91 w 115"/>
              <a:gd name="T3" fmla="*/ 41 h 115"/>
              <a:gd name="T4" fmla="*/ 102 w 115"/>
              <a:gd name="T5" fmla="*/ 26 h 115"/>
              <a:gd name="T6" fmla="*/ 94 w 115"/>
              <a:gd name="T7" fmla="*/ 13 h 115"/>
              <a:gd name="T8" fmla="*/ 79 w 115"/>
              <a:gd name="T9" fmla="*/ 23 h 115"/>
              <a:gd name="T10" fmla="*/ 70 w 115"/>
              <a:gd name="T11" fmla="*/ 22 h 115"/>
              <a:gd name="T12" fmla="*/ 67 w 115"/>
              <a:gd name="T13" fmla="*/ 3 h 115"/>
              <a:gd name="T14" fmla="*/ 52 w 115"/>
              <a:gd name="T15" fmla="*/ 0 h 115"/>
              <a:gd name="T16" fmla="*/ 48 w 115"/>
              <a:gd name="T17" fmla="*/ 18 h 115"/>
              <a:gd name="T18" fmla="*/ 41 w 115"/>
              <a:gd name="T19" fmla="*/ 24 h 115"/>
              <a:gd name="T20" fmla="*/ 26 w 115"/>
              <a:gd name="T21" fmla="*/ 13 h 115"/>
              <a:gd name="T22" fmla="*/ 13 w 115"/>
              <a:gd name="T23" fmla="*/ 21 h 115"/>
              <a:gd name="T24" fmla="*/ 23 w 115"/>
              <a:gd name="T25" fmla="*/ 36 h 115"/>
              <a:gd name="T26" fmla="*/ 22 w 115"/>
              <a:gd name="T27" fmla="*/ 45 h 115"/>
              <a:gd name="T28" fmla="*/ 4 w 115"/>
              <a:gd name="T29" fmla="*/ 48 h 115"/>
              <a:gd name="T30" fmla="*/ 0 w 115"/>
              <a:gd name="T31" fmla="*/ 63 h 115"/>
              <a:gd name="T32" fmla="*/ 18 w 115"/>
              <a:gd name="T33" fmla="*/ 66 h 115"/>
              <a:gd name="T34" fmla="*/ 24 w 115"/>
              <a:gd name="T35" fmla="*/ 73 h 115"/>
              <a:gd name="T36" fmla="*/ 13 w 115"/>
              <a:gd name="T37" fmla="*/ 89 h 115"/>
              <a:gd name="T38" fmla="*/ 21 w 115"/>
              <a:gd name="T39" fmla="*/ 102 h 115"/>
              <a:gd name="T40" fmla="*/ 36 w 115"/>
              <a:gd name="T41" fmla="*/ 92 h 115"/>
              <a:gd name="T42" fmla="*/ 45 w 115"/>
              <a:gd name="T43" fmla="*/ 92 h 115"/>
              <a:gd name="T44" fmla="*/ 48 w 115"/>
              <a:gd name="T45" fmla="*/ 111 h 115"/>
              <a:gd name="T46" fmla="*/ 63 w 115"/>
              <a:gd name="T47" fmla="*/ 115 h 115"/>
              <a:gd name="T48" fmla="*/ 67 w 115"/>
              <a:gd name="T49" fmla="*/ 97 h 115"/>
              <a:gd name="T50" fmla="*/ 74 w 115"/>
              <a:gd name="T51" fmla="*/ 91 h 115"/>
              <a:gd name="T52" fmla="*/ 89 w 115"/>
              <a:gd name="T53" fmla="*/ 102 h 115"/>
              <a:gd name="T54" fmla="*/ 102 w 115"/>
              <a:gd name="T55" fmla="*/ 94 h 115"/>
              <a:gd name="T56" fmla="*/ 92 w 115"/>
              <a:gd name="T57" fmla="*/ 79 h 115"/>
              <a:gd name="T58" fmla="*/ 93 w 115"/>
              <a:gd name="T59" fmla="*/ 70 h 115"/>
              <a:gd name="T60" fmla="*/ 112 w 115"/>
              <a:gd name="T61" fmla="*/ 66 h 115"/>
              <a:gd name="T62" fmla="*/ 115 w 115"/>
              <a:gd name="T63" fmla="*/ 52 h 115"/>
              <a:gd name="T64" fmla="*/ 58 w 115"/>
              <a:gd name="T65" fmla="*/ 79 h 115"/>
              <a:gd name="T66" fmla="*/ 58 w 115"/>
              <a:gd name="T67" fmla="*/ 36 h 115"/>
              <a:gd name="T68" fmla="*/ 58 w 115"/>
              <a:gd name="T69" fmla="*/ 79 h 115"/>
              <a:gd name="T70" fmla="*/ 49 w 115"/>
              <a:gd name="T71" fmla="*/ 57 h 115"/>
              <a:gd name="T72" fmla="*/ 67 w 115"/>
              <a:gd name="T73" fmla="*/ 57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115">
                <a:moveTo>
                  <a:pt x="112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5" y="48"/>
                  <a:pt x="93" y="47"/>
                  <a:pt x="93" y="45"/>
                </a:cubicBezTo>
                <a:cubicBezTo>
                  <a:pt x="91" y="41"/>
                  <a:pt x="91" y="41"/>
                  <a:pt x="91" y="41"/>
                </a:cubicBezTo>
                <a:cubicBezTo>
                  <a:pt x="90" y="40"/>
                  <a:pt x="91" y="37"/>
                  <a:pt x="92" y="3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4"/>
                  <a:pt x="104" y="22"/>
                  <a:pt x="102" y="21"/>
                </a:cubicBezTo>
                <a:cubicBezTo>
                  <a:pt x="94" y="13"/>
                  <a:pt x="94" y="13"/>
                  <a:pt x="94" y="13"/>
                </a:cubicBezTo>
                <a:cubicBezTo>
                  <a:pt x="93" y="11"/>
                  <a:pt x="91" y="11"/>
                  <a:pt x="89" y="13"/>
                </a:cubicBezTo>
                <a:cubicBezTo>
                  <a:pt x="79" y="23"/>
                  <a:pt x="79" y="23"/>
                  <a:pt x="79" y="23"/>
                </a:cubicBezTo>
                <a:cubicBezTo>
                  <a:pt x="78" y="24"/>
                  <a:pt x="75" y="25"/>
                  <a:pt x="74" y="24"/>
                </a:cubicBezTo>
                <a:cubicBezTo>
                  <a:pt x="70" y="22"/>
                  <a:pt x="70" y="22"/>
                  <a:pt x="70" y="22"/>
                </a:cubicBezTo>
                <a:cubicBezTo>
                  <a:pt x="68" y="22"/>
                  <a:pt x="67" y="20"/>
                  <a:pt x="67" y="18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0" y="0"/>
                  <a:pt x="48" y="1"/>
                  <a:pt x="48" y="3"/>
                </a:cubicBezTo>
                <a:cubicBezTo>
                  <a:pt x="48" y="18"/>
                  <a:pt x="48" y="18"/>
                  <a:pt x="48" y="18"/>
                </a:cubicBezTo>
                <a:cubicBezTo>
                  <a:pt x="48" y="20"/>
                  <a:pt x="47" y="22"/>
                  <a:pt x="45" y="22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5"/>
                  <a:pt x="37" y="24"/>
                  <a:pt x="36" y="23"/>
                </a:cubicBezTo>
                <a:cubicBezTo>
                  <a:pt x="26" y="13"/>
                  <a:pt x="26" y="13"/>
                  <a:pt x="26" y="13"/>
                </a:cubicBezTo>
                <a:cubicBezTo>
                  <a:pt x="25" y="11"/>
                  <a:pt x="22" y="11"/>
                  <a:pt x="21" y="13"/>
                </a:cubicBezTo>
                <a:cubicBezTo>
                  <a:pt x="13" y="21"/>
                  <a:pt x="13" y="21"/>
                  <a:pt x="13" y="21"/>
                </a:cubicBezTo>
                <a:cubicBezTo>
                  <a:pt x="12" y="22"/>
                  <a:pt x="12" y="24"/>
                  <a:pt x="13" y="26"/>
                </a:cubicBezTo>
                <a:cubicBezTo>
                  <a:pt x="23" y="36"/>
                  <a:pt x="23" y="36"/>
                  <a:pt x="23" y="36"/>
                </a:cubicBezTo>
                <a:cubicBezTo>
                  <a:pt x="24" y="37"/>
                  <a:pt x="25" y="40"/>
                  <a:pt x="24" y="41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0" y="48"/>
                  <a:pt x="1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5"/>
                  <a:pt x="2" y="66"/>
                  <a:pt x="4" y="66"/>
                </a:cubicBezTo>
                <a:cubicBezTo>
                  <a:pt x="18" y="66"/>
                  <a:pt x="18" y="66"/>
                  <a:pt x="18" y="66"/>
                </a:cubicBezTo>
                <a:cubicBezTo>
                  <a:pt x="20" y="66"/>
                  <a:pt x="22" y="68"/>
                  <a:pt x="22" y="70"/>
                </a:cubicBezTo>
                <a:cubicBezTo>
                  <a:pt x="24" y="73"/>
                  <a:pt x="24" y="73"/>
                  <a:pt x="24" y="73"/>
                </a:cubicBezTo>
                <a:cubicBezTo>
                  <a:pt x="25" y="75"/>
                  <a:pt x="24" y="78"/>
                  <a:pt x="23" y="79"/>
                </a:cubicBezTo>
                <a:cubicBezTo>
                  <a:pt x="13" y="89"/>
                  <a:pt x="13" y="89"/>
                  <a:pt x="13" y="89"/>
                </a:cubicBezTo>
                <a:cubicBezTo>
                  <a:pt x="12" y="90"/>
                  <a:pt x="12" y="93"/>
                  <a:pt x="13" y="94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103"/>
                  <a:pt x="25" y="103"/>
                  <a:pt x="26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0"/>
                  <a:pt x="40" y="90"/>
                  <a:pt x="41" y="91"/>
                </a:cubicBezTo>
                <a:cubicBezTo>
                  <a:pt x="45" y="92"/>
                  <a:pt x="45" y="92"/>
                  <a:pt x="45" y="92"/>
                </a:cubicBezTo>
                <a:cubicBezTo>
                  <a:pt x="47" y="93"/>
                  <a:pt x="48" y="95"/>
                  <a:pt x="48" y="9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8" y="113"/>
                  <a:pt x="50" y="115"/>
                  <a:pt x="52" y="115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5" y="115"/>
                  <a:pt x="67" y="113"/>
                  <a:pt x="67" y="111"/>
                </a:cubicBezTo>
                <a:cubicBezTo>
                  <a:pt x="67" y="97"/>
                  <a:pt x="67" y="97"/>
                  <a:pt x="67" y="97"/>
                </a:cubicBezTo>
                <a:cubicBezTo>
                  <a:pt x="67" y="95"/>
                  <a:pt x="68" y="93"/>
                  <a:pt x="70" y="92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8" y="90"/>
                  <a:pt x="79" y="92"/>
                </a:cubicBezTo>
                <a:cubicBezTo>
                  <a:pt x="89" y="102"/>
                  <a:pt x="89" y="102"/>
                  <a:pt x="89" y="102"/>
                </a:cubicBezTo>
                <a:cubicBezTo>
                  <a:pt x="91" y="103"/>
                  <a:pt x="93" y="103"/>
                  <a:pt x="94" y="102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04" y="93"/>
                  <a:pt x="104" y="90"/>
                  <a:pt x="102" y="89"/>
                </a:cubicBezTo>
                <a:cubicBezTo>
                  <a:pt x="92" y="79"/>
                  <a:pt x="92" y="79"/>
                  <a:pt x="92" y="79"/>
                </a:cubicBezTo>
                <a:cubicBezTo>
                  <a:pt x="91" y="78"/>
                  <a:pt x="90" y="75"/>
                  <a:pt x="91" y="73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68"/>
                  <a:pt x="95" y="66"/>
                  <a:pt x="97" y="66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3" y="66"/>
                  <a:pt x="115" y="65"/>
                  <a:pt x="115" y="6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15" y="50"/>
                  <a:pt x="113" y="48"/>
                  <a:pt x="112" y="48"/>
                </a:cubicBezTo>
                <a:close/>
                <a:moveTo>
                  <a:pt x="58" y="79"/>
                </a:moveTo>
                <a:cubicBezTo>
                  <a:pt x="46" y="79"/>
                  <a:pt x="36" y="69"/>
                  <a:pt x="36" y="57"/>
                </a:cubicBezTo>
                <a:cubicBezTo>
                  <a:pt x="36" y="46"/>
                  <a:pt x="46" y="36"/>
                  <a:pt x="58" y="36"/>
                </a:cubicBezTo>
                <a:cubicBezTo>
                  <a:pt x="69" y="36"/>
                  <a:pt x="79" y="46"/>
                  <a:pt x="79" y="57"/>
                </a:cubicBezTo>
                <a:cubicBezTo>
                  <a:pt x="79" y="69"/>
                  <a:pt x="69" y="79"/>
                  <a:pt x="58" y="79"/>
                </a:cubicBezTo>
                <a:close/>
                <a:moveTo>
                  <a:pt x="58" y="48"/>
                </a:moveTo>
                <a:cubicBezTo>
                  <a:pt x="53" y="48"/>
                  <a:pt x="49" y="52"/>
                  <a:pt x="49" y="57"/>
                </a:cubicBezTo>
                <a:cubicBezTo>
                  <a:pt x="49" y="62"/>
                  <a:pt x="53" y="66"/>
                  <a:pt x="58" y="66"/>
                </a:cubicBezTo>
                <a:cubicBezTo>
                  <a:pt x="63" y="66"/>
                  <a:pt x="67" y="62"/>
                  <a:pt x="67" y="57"/>
                </a:cubicBezTo>
                <a:cubicBezTo>
                  <a:pt x="67" y="52"/>
                  <a:pt x="63" y="48"/>
                  <a:pt x="58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39" tIns="45719" rIns="91439" bIns="45719" numCol="1" anchor="t" anchorCtr="0" compatLnSpc="1"/>
          <a:lstStyle/>
          <a:p>
            <a:pPr defTabSz="1219200">
              <a:defRPr/>
            </a:pPr>
            <a:endParaRPr lang="zh-CN" altLang="en-US" sz="2400" kern="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D4B16F7B-0AC5-7C75-1196-C1210648AF53}"/>
              </a:ext>
            </a:extLst>
          </p:cNvPr>
          <p:cNvSpPr txBox="1"/>
          <p:nvPr/>
        </p:nvSpPr>
        <p:spPr>
          <a:xfrm>
            <a:off x="3312593" y="1153141"/>
            <a:ext cx="1107996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2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年度发文趋势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39CB78D9-DE5E-D124-0067-AFDCC94AA6B9}"/>
              </a:ext>
            </a:extLst>
          </p:cNvPr>
          <p:cNvSpPr txBox="1"/>
          <p:nvPr/>
        </p:nvSpPr>
        <p:spPr>
          <a:xfrm>
            <a:off x="2942141" y="1468163"/>
            <a:ext cx="1581163" cy="1204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核心趋势：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爆发式增长，年增长率超过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20%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，说明 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ADHD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是当前国际心理学与精神医学的研究热点。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关键发现：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2023-2024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年增速最快。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1E6101C6-70DC-788B-79D1-46988E5C464D}"/>
              </a:ext>
            </a:extLst>
          </p:cNvPr>
          <p:cNvGrpSpPr/>
          <p:nvPr/>
        </p:nvGrpSpPr>
        <p:grpSpPr>
          <a:xfrm>
            <a:off x="2942141" y="1042713"/>
            <a:ext cx="425056" cy="409006"/>
            <a:chOff x="3216452" y="846582"/>
            <a:chExt cx="594591" cy="538929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FFAAF0B8-E1D7-0754-C747-7C1D4EFA64B0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AD2C3836-2E98-D5C3-2E96-4A3B74E1F610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88" name="KSO_Shape">
              <a:extLst>
                <a:ext uri="{FF2B5EF4-FFF2-40B4-BE49-F238E27FC236}">
                  <a16:creationId xmlns:a16="http://schemas.microsoft.com/office/drawing/2014/main" id="{031C2F53-A370-EAC6-DF7B-82A3E1A3A1A2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3441378" y="1066155"/>
              <a:ext cx="162875" cy="119691"/>
            </a:xfrm>
            <a:custGeom>
              <a:avLst/>
              <a:gdLst>
                <a:gd name="T0" fmla="*/ 104753 w 3040062"/>
                <a:gd name="T1" fmla="*/ 1241540 h 2303463"/>
                <a:gd name="T2" fmla="*/ 251725 w 3040062"/>
                <a:gd name="T3" fmla="*/ 1260899 h 2303463"/>
                <a:gd name="T4" fmla="*/ 265692 w 3040062"/>
                <a:gd name="T5" fmla="*/ 1110467 h 2303463"/>
                <a:gd name="T6" fmla="*/ 844867 w 3040062"/>
                <a:gd name="T7" fmla="*/ 970596 h 2303463"/>
                <a:gd name="T8" fmla="*/ 870584 w 3040062"/>
                <a:gd name="T9" fmla="*/ 987377 h 2303463"/>
                <a:gd name="T10" fmla="*/ 872172 w 3040062"/>
                <a:gd name="T11" fmla="*/ 1402771 h 2303463"/>
                <a:gd name="T12" fmla="*/ 848359 w 3040062"/>
                <a:gd name="T13" fmla="*/ 1421768 h 2303463"/>
                <a:gd name="T14" fmla="*/ 615315 w 3040062"/>
                <a:gd name="T15" fmla="*/ 1415119 h 2303463"/>
                <a:gd name="T16" fmla="*/ 603250 w 3040062"/>
                <a:gd name="T17" fmla="*/ 1002891 h 2303463"/>
                <a:gd name="T18" fmla="*/ 617855 w 3040062"/>
                <a:gd name="T19" fmla="*/ 975662 h 2303463"/>
                <a:gd name="T20" fmla="*/ 1240437 w 3040062"/>
                <a:gd name="T21" fmla="*/ 749300 h 2303463"/>
                <a:gd name="T22" fmla="*/ 1265867 w 3040062"/>
                <a:gd name="T23" fmla="*/ 766421 h 2303463"/>
                <a:gd name="T24" fmla="*/ 1267138 w 3040062"/>
                <a:gd name="T25" fmla="*/ 1402743 h 2303463"/>
                <a:gd name="T26" fmla="*/ 1243616 w 3040062"/>
                <a:gd name="T27" fmla="*/ 1421766 h 2303463"/>
                <a:gd name="T28" fmla="*/ 1010298 w 3040062"/>
                <a:gd name="T29" fmla="*/ 1415108 h 2303463"/>
                <a:gd name="T30" fmla="*/ 998537 w 3040062"/>
                <a:gd name="T31" fmla="*/ 782273 h 2303463"/>
                <a:gd name="T32" fmla="*/ 1012841 w 3040062"/>
                <a:gd name="T33" fmla="*/ 755007 h 2303463"/>
                <a:gd name="T34" fmla="*/ 2175011 w 3040062"/>
                <a:gd name="T35" fmla="*/ 666432 h 2303463"/>
                <a:gd name="T36" fmla="*/ 2235666 w 3040062"/>
                <a:gd name="T37" fmla="*/ 692135 h 2303463"/>
                <a:gd name="T38" fmla="*/ 2277268 w 3040062"/>
                <a:gd name="T39" fmla="*/ 742271 h 2303463"/>
                <a:gd name="T40" fmla="*/ 2290605 w 3040062"/>
                <a:gd name="T41" fmla="*/ 1286150 h 2303463"/>
                <a:gd name="T42" fmla="*/ 2948603 w 3040062"/>
                <a:gd name="T43" fmla="*/ 1365796 h 2303463"/>
                <a:gd name="T44" fmla="*/ 3005765 w 3040062"/>
                <a:gd name="T45" fmla="*/ 1408316 h 2303463"/>
                <a:gd name="T46" fmla="*/ 3036887 w 3040062"/>
                <a:gd name="T47" fmla="*/ 1473366 h 2303463"/>
                <a:gd name="T48" fmla="*/ 3035616 w 3040062"/>
                <a:gd name="T49" fmla="*/ 2191451 h 2303463"/>
                <a:gd name="T50" fmla="*/ 3001319 w 3040062"/>
                <a:gd name="T51" fmla="*/ 2254597 h 2303463"/>
                <a:gd name="T52" fmla="*/ 2941934 w 3040062"/>
                <a:gd name="T53" fmla="*/ 2294578 h 2303463"/>
                <a:gd name="T54" fmla="*/ 2171200 w 3040062"/>
                <a:gd name="T55" fmla="*/ 2303146 h 2303463"/>
                <a:gd name="T56" fmla="*/ 2113403 w 3040062"/>
                <a:gd name="T57" fmla="*/ 2292040 h 2303463"/>
                <a:gd name="T58" fmla="*/ 1552263 w 3040062"/>
                <a:gd name="T59" fmla="*/ 1741815 h 2303463"/>
                <a:gd name="T60" fmla="*/ 1526223 w 3040062"/>
                <a:gd name="T61" fmla="*/ 1686919 h 2303463"/>
                <a:gd name="T62" fmla="*/ 1529081 w 3040062"/>
                <a:gd name="T63" fmla="*/ 1626946 h 2303463"/>
                <a:gd name="T64" fmla="*/ 1560520 w 3040062"/>
                <a:gd name="T65" fmla="*/ 1574272 h 2303463"/>
                <a:gd name="T66" fmla="*/ 1612919 w 3040062"/>
                <a:gd name="T67" fmla="*/ 1542858 h 2303463"/>
                <a:gd name="T68" fmla="*/ 1673891 w 3040062"/>
                <a:gd name="T69" fmla="*/ 1539685 h 2303463"/>
                <a:gd name="T70" fmla="*/ 1728513 w 3040062"/>
                <a:gd name="T71" fmla="*/ 1565705 h 2303463"/>
                <a:gd name="T72" fmla="*/ 2024167 w 3040062"/>
                <a:gd name="T73" fmla="*/ 760992 h 2303463"/>
                <a:gd name="T74" fmla="*/ 2057829 w 3040062"/>
                <a:gd name="T75" fmla="*/ 704828 h 2303463"/>
                <a:gd name="T76" fmla="*/ 2113721 w 3040062"/>
                <a:gd name="T77" fmla="*/ 670875 h 2303463"/>
                <a:gd name="T78" fmla="*/ 1640947 w 3040062"/>
                <a:gd name="T79" fmla="*/ 485773 h 2303463"/>
                <a:gd name="T80" fmla="*/ 1662436 w 3040062"/>
                <a:gd name="T81" fmla="*/ 507334 h 2303463"/>
                <a:gd name="T82" fmla="*/ 1658328 w 3040062"/>
                <a:gd name="T83" fmla="*/ 1408133 h 2303463"/>
                <a:gd name="T84" fmla="*/ 1631151 w 3040062"/>
                <a:gd name="T85" fmla="*/ 1422401 h 2303463"/>
                <a:gd name="T86" fmla="*/ 1401409 w 3040062"/>
                <a:gd name="T87" fmla="*/ 1410669 h 2303463"/>
                <a:gd name="T88" fmla="*/ 1394457 w 3040062"/>
                <a:gd name="T89" fmla="*/ 510505 h 2303463"/>
                <a:gd name="T90" fmla="*/ 1413734 w 3040062"/>
                <a:gd name="T91" fmla="*/ 486725 h 2303463"/>
                <a:gd name="T92" fmla="*/ 2856582 w 3040062"/>
                <a:gd name="T93" fmla="*/ 2539 h 2303463"/>
                <a:gd name="T94" fmla="*/ 2942924 w 3040062"/>
                <a:gd name="T95" fmla="*/ 45384 h 2303463"/>
                <a:gd name="T96" fmla="*/ 3001649 w 3040062"/>
                <a:gd name="T97" fmla="*/ 130121 h 2303463"/>
                <a:gd name="T98" fmla="*/ 3021012 w 3040062"/>
                <a:gd name="T99" fmla="*/ 1276768 h 2303463"/>
                <a:gd name="T100" fmla="*/ 2944193 w 3040062"/>
                <a:gd name="T101" fmla="*/ 1247252 h 2303463"/>
                <a:gd name="T102" fmla="*/ 374889 w 3040062"/>
                <a:gd name="T103" fmla="*/ 1959424 h 2303463"/>
                <a:gd name="T104" fmla="*/ 127291 w 3040062"/>
                <a:gd name="T105" fmla="*/ 2259336 h 2303463"/>
                <a:gd name="T106" fmla="*/ 50472 w 3040062"/>
                <a:gd name="T107" fmla="*/ 2198402 h 2303463"/>
                <a:gd name="T108" fmla="*/ 6349 w 3040062"/>
                <a:gd name="T109" fmla="*/ 2100970 h 2303463"/>
                <a:gd name="T110" fmla="*/ 3809 w 3040062"/>
                <a:gd name="T111" fmla="*/ 183438 h 2303463"/>
                <a:gd name="T112" fmla="*/ 44441 w 3040062"/>
                <a:gd name="T113" fmla="*/ 83468 h 2303463"/>
                <a:gd name="T114" fmla="*/ 118720 w 3040062"/>
                <a:gd name="T115" fmla="*/ 17773 h 2303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040062" h="2303463">
                  <a:moveTo>
                    <a:pt x="124116" y="1098725"/>
                  </a:moveTo>
                  <a:lnTo>
                    <a:pt x="120307" y="1099042"/>
                  </a:lnTo>
                  <a:lnTo>
                    <a:pt x="116498" y="1099994"/>
                  </a:lnTo>
                  <a:lnTo>
                    <a:pt x="113324" y="1101898"/>
                  </a:lnTo>
                  <a:lnTo>
                    <a:pt x="110467" y="1104120"/>
                  </a:lnTo>
                  <a:lnTo>
                    <a:pt x="108245" y="1107294"/>
                  </a:lnTo>
                  <a:lnTo>
                    <a:pt x="106340" y="1110467"/>
                  </a:lnTo>
                  <a:lnTo>
                    <a:pt x="105071" y="1114276"/>
                  </a:lnTo>
                  <a:lnTo>
                    <a:pt x="104753" y="1118084"/>
                  </a:lnTo>
                  <a:lnTo>
                    <a:pt x="104753" y="1241540"/>
                  </a:lnTo>
                  <a:lnTo>
                    <a:pt x="105071" y="1245348"/>
                  </a:lnTo>
                  <a:lnTo>
                    <a:pt x="106340" y="1249157"/>
                  </a:lnTo>
                  <a:lnTo>
                    <a:pt x="108245" y="1252330"/>
                  </a:lnTo>
                  <a:lnTo>
                    <a:pt x="110467" y="1255187"/>
                  </a:lnTo>
                  <a:lnTo>
                    <a:pt x="113324" y="1257726"/>
                  </a:lnTo>
                  <a:lnTo>
                    <a:pt x="116498" y="1259312"/>
                  </a:lnTo>
                  <a:lnTo>
                    <a:pt x="120307" y="1260899"/>
                  </a:lnTo>
                  <a:lnTo>
                    <a:pt x="124116" y="1261217"/>
                  </a:lnTo>
                  <a:lnTo>
                    <a:pt x="247598" y="1261217"/>
                  </a:lnTo>
                  <a:lnTo>
                    <a:pt x="251725" y="1260899"/>
                  </a:lnTo>
                  <a:lnTo>
                    <a:pt x="255216" y="1259312"/>
                  </a:lnTo>
                  <a:lnTo>
                    <a:pt x="258708" y="1257726"/>
                  </a:lnTo>
                  <a:lnTo>
                    <a:pt x="261565" y="1255187"/>
                  </a:lnTo>
                  <a:lnTo>
                    <a:pt x="264105" y="1252330"/>
                  </a:lnTo>
                  <a:lnTo>
                    <a:pt x="265692" y="1249157"/>
                  </a:lnTo>
                  <a:lnTo>
                    <a:pt x="266644" y="1245348"/>
                  </a:lnTo>
                  <a:lnTo>
                    <a:pt x="266961" y="1241540"/>
                  </a:lnTo>
                  <a:lnTo>
                    <a:pt x="266961" y="1118084"/>
                  </a:lnTo>
                  <a:lnTo>
                    <a:pt x="266644" y="1114276"/>
                  </a:lnTo>
                  <a:lnTo>
                    <a:pt x="265692" y="1110467"/>
                  </a:lnTo>
                  <a:lnTo>
                    <a:pt x="264105" y="1107294"/>
                  </a:lnTo>
                  <a:lnTo>
                    <a:pt x="261565" y="1104120"/>
                  </a:lnTo>
                  <a:lnTo>
                    <a:pt x="258708" y="1101898"/>
                  </a:lnTo>
                  <a:lnTo>
                    <a:pt x="255216" y="1099994"/>
                  </a:lnTo>
                  <a:lnTo>
                    <a:pt x="251725" y="1099042"/>
                  </a:lnTo>
                  <a:lnTo>
                    <a:pt x="247598" y="1098725"/>
                  </a:lnTo>
                  <a:lnTo>
                    <a:pt x="124116" y="1098725"/>
                  </a:lnTo>
                  <a:close/>
                  <a:moveTo>
                    <a:pt x="636270" y="969963"/>
                  </a:moveTo>
                  <a:lnTo>
                    <a:pt x="841692" y="969963"/>
                  </a:lnTo>
                  <a:lnTo>
                    <a:pt x="844867" y="970596"/>
                  </a:lnTo>
                  <a:lnTo>
                    <a:pt x="848359" y="970913"/>
                  </a:lnTo>
                  <a:lnTo>
                    <a:pt x="851534" y="971546"/>
                  </a:lnTo>
                  <a:lnTo>
                    <a:pt x="854709" y="972813"/>
                  </a:lnTo>
                  <a:lnTo>
                    <a:pt x="857567" y="974396"/>
                  </a:lnTo>
                  <a:lnTo>
                    <a:pt x="860107" y="975662"/>
                  </a:lnTo>
                  <a:lnTo>
                    <a:pt x="862647" y="977878"/>
                  </a:lnTo>
                  <a:lnTo>
                    <a:pt x="865187" y="979778"/>
                  </a:lnTo>
                  <a:lnTo>
                    <a:pt x="867092" y="982311"/>
                  </a:lnTo>
                  <a:lnTo>
                    <a:pt x="868997" y="984844"/>
                  </a:lnTo>
                  <a:lnTo>
                    <a:pt x="870584" y="987377"/>
                  </a:lnTo>
                  <a:lnTo>
                    <a:pt x="872172" y="990226"/>
                  </a:lnTo>
                  <a:lnTo>
                    <a:pt x="873124" y="993076"/>
                  </a:lnTo>
                  <a:lnTo>
                    <a:pt x="873760" y="996242"/>
                  </a:lnTo>
                  <a:lnTo>
                    <a:pt x="874712" y="999725"/>
                  </a:lnTo>
                  <a:lnTo>
                    <a:pt x="874712" y="1002891"/>
                  </a:lnTo>
                  <a:lnTo>
                    <a:pt x="874712" y="1389790"/>
                  </a:lnTo>
                  <a:lnTo>
                    <a:pt x="874712" y="1393273"/>
                  </a:lnTo>
                  <a:lnTo>
                    <a:pt x="873760" y="1396439"/>
                  </a:lnTo>
                  <a:lnTo>
                    <a:pt x="873124" y="1399605"/>
                  </a:lnTo>
                  <a:lnTo>
                    <a:pt x="872172" y="1402771"/>
                  </a:lnTo>
                  <a:lnTo>
                    <a:pt x="870584" y="1405304"/>
                  </a:lnTo>
                  <a:lnTo>
                    <a:pt x="868997" y="1408154"/>
                  </a:lnTo>
                  <a:lnTo>
                    <a:pt x="867092" y="1410686"/>
                  </a:lnTo>
                  <a:lnTo>
                    <a:pt x="865187" y="1413219"/>
                  </a:lnTo>
                  <a:lnTo>
                    <a:pt x="862647" y="1415119"/>
                  </a:lnTo>
                  <a:lnTo>
                    <a:pt x="860107" y="1417019"/>
                  </a:lnTo>
                  <a:lnTo>
                    <a:pt x="857567" y="1418602"/>
                  </a:lnTo>
                  <a:lnTo>
                    <a:pt x="854709" y="1420185"/>
                  </a:lnTo>
                  <a:lnTo>
                    <a:pt x="851534" y="1421135"/>
                  </a:lnTo>
                  <a:lnTo>
                    <a:pt x="848359" y="1421768"/>
                  </a:lnTo>
                  <a:lnTo>
                    <a:pt x="844867" y="1422401"/>
                  </a:lnTo>
                  <a:lnTo>
                    <a:pt x="841692" y="1422401"/>
                  </a:lnTo>
                  <a:lnTo>
                    <a:pt x="636270" y="1422401"/>
                  </a:lnTo>
                  <a:lnTo>
                    <a:pt x="632777" y="1422401"/>
                  </a:lnTo>
                  <a:lnTo>
                    <a:pt x="629920" y="1421768"/>
                  </a:lnTo>
                  <a:lnTo>
                    <a:pt x="626745" y="1421135"/>
                  </a:lnTo>
                  <a:lnTo>
                    <a:pt x="623570" y="1420185"/>
                  </a:lnTo>
                  <a:lnTo>
                    <a:pt x="620713" y="1418602"/>
                  </a:lnTo>
                  <a:lnTo>
                    <a:pt x="617855" y="1417019"/>
                  </a:lnTo>
                  <a:lnTo>
                    <a:pt x="615315" y="1415119"/>
                  </a:lnTo>
                  <a:lnTo>
                    <a:pt x="613093" y="1413219"/>
                  </a:lnTo>
                  <a:lnTo>
                    <a:pt x="610870" y="1410686"/>
                  </a:lnTo>
                  <a:lnTo>
                    <a:pt x="608965" y="1408154"/>
                  </a:lnTo>
                  <a:lnTo>
                    <a:pt x="607378" y="1405304"/>
                  </a:lnTo>
                  <a:lnTo>
                    <a:pt x="606108" y="1402771"/>
                  </a:lnTo>
                  <a:lnTo>
                    <a:pt x="605155" y="1399605"/>
                  </a:lnTo>
                  <a:lnTo>
                    <a:pt x="603885" y="1396439"/>
                  </a:lnTo>
                  <a:lnTo>
                    <a:pt x="603568" y="1393273"/>
                  </a:lnTo>
                  <a:lnTo>
                    <a:pt x="603250" y="1389790"/>
                  </a:lnTo>
                  <a:lnTo>
                    <a:pt x="603250" y="1002891"/>
                  </a:lnTo>
                  <a:lnTo>
                    <a:pt x="603568" y="999725"/>
                  </a:lnTo>
                  <a:lnTo>
                    <a:pt x="603885" y="996242"/>
                  </a:lnTo>
                  <a:lnTo>
                    <a:pt x="605155" y="993076"/>
                  </a:lnTo>
                  <a:lnTo>
                    <a:pt x="606108" y="990226"/>
                  </a:lnTo>
                  <a:lnTo>
                    <a:pt x="607378" y="987377"/>
                  </a:lnTo>
                  <a:lnTo>
                    <a:pt x="608965" y="984844"/>
                  </a:lnTo>
                  <a:lnTo>
                    <a:pt x="610870" y="982311"/>
                  </a:lnTo>
                  <a:lnTo>
                    <a:pt x="613093" y="979778"/>
                  </a:lnTo>
                  <a:lnTo>
                    <a:pt x="615315" y="977878"/>
                  </a:lnTo>
                  <a:lnTo>
                    <a:pt x="617855" y="975662"/>
                  </a:lnTo>
                  <a:lnTo>
                    <a:pt x="620713" y="974396"/>
                  </a:lnTo>
                  <a:lnTo>
                    <a:pt x="623570" y="972813"/>
                  </a:lnTo>
                  <a:lnTo>
                    <a:pt x="626745" y="971546"/>
                  </a:lnTo>
                  <a:lnTo>
                    <a:pt x="629920" y="970913"/>
                  </a:lnTo>
                  <a:lnTo>
                    <a:pt x="632777" y="970596"/>
                  </a:lnTo>
                  <a:lnTo>
                    <a:pt x="636270" y="969963"/>
                  </a:lnTo>
                  <a:close/>
                  <a:moveTo>
                    <a:pt x="1027781" y="749300"/>
                  </a:moveTo>
                  <a:lnTo>
                    <a:pt x="1031278" y="749300"/>
                  </a:lnTo>
                  <a:lnTo>
                    <a:pt x="1236940" y="749300"/>
                  </a:lnTo>
                  <a:lnTo>
                    <a:pt x="1240437" y="749300"/>
                  </a:lnTo>
                  <a:lnTo>
                    <a:pt x="1243616" y="750251"/>
                  </a:lnTo>
                  <a:lnTo>
                    <a:pt x="1246476" y="750885"/>
                  </a:lnTo>
                  <a:lnTo>
                    <a:pt x="1249655" y="751837"/>
                  </a:lnTo>
                  <a:lnTo>
                    <a:pt x="1252516" y="753105"/>
                  </a:lnTo>
                  <a:lnTo>
                    <a:pt x="1255377" y="755007"/>
                  </a:lnTo>
                  <a:lnTo>
                    <a:pt x="1257920" y="756592"/>
                  </a:lnTo>
                  <a:lnTo>
                    <a:pt x="1260145" y="758812"/>
                  </a:lnTo>
                  <a:lnTo>
                    <a:pt x="1262370" y="761348"/>
                  </a:lnTo>
                  <a:lnTo>
                    <a:pt x="1264595" y="763567"/>
                  </a:lnTo>
                  <a:lnTo>
                    <a:pt x="1265867" y="766421"/>
                  </a:lnTo>
                  <a:lnTo>
                    <a:pt x="1267138" y="769274"/>
                  </a:lnTo>
                  <a:lnTo>
                    <a:pt x="1268410" y="772445"/>
                  </a:lnTo>
                  <a:lnTo>
                    <a:pt x="1269363" y="775615"/>
                  </a:lnTo>
                  <a:lnTo>
                    <a:pt x="1269681" y="778786"/>
                  </a:lnTo>
                  <a:lnTo>
                    <a:pt x="1269999" y="782273"/>
                  </a:lnTo>
                  <a:lnTo>
                    <a:pt x="1269999" y="1389744"/>
                  </a:lnTo>
                  <a:lnTo>
                    <a:pt x="1269681" y="1393231"/>
                  </a:lnTo>
                  <a:lnTo>
                    <a:pt x="1269363" y="1396402"/>
                  </a:lnTo>
                  <a:lnTo>
                    <a:pt x="1268410" y="1399572"/>
                  </a:lnTo>
                  <a:lnTo>
                    <a:pt x="1267138" y="1402743"/>
                  </a:lnTo>
                  <a:lnTo>
                    <a:pt x="1265867" y="1405279"/>
                  </a:lnTo>
                  <a:lnTo>
                    <a:pt x="1264595" y="1408133"/>
                  </a:lnTo>
                  <a:lnTo>
                    <a:pt x="1262370" y="1410669"/>
                  </a:lnTo>
                  <a:lnTo>
                    <a:pt x="1260145" y="1413206"/>
                  </a:lnTo>
                  <a:lnTo>
                    <a:pt x="1257920" y="1415108"/>
                  </a:lnTo>
                  <a:lnTo>
                    <a:pt x="1255377" y="1417010"/>
                  </a:lnTo>
                  <a:lnTo>
                    <a:pt x="1252516" y="1418595"/>
                  </a:lnTo>
                  <a:lnTo>
                    <a:pt x="1249655" y="1420181"/>
                  </a:lnTo>
                  <a:lnTo>
                    <a:pt x="1246476" y="1421132"/>
                  </a:lnTo>
                  <a:lnTo>
                    <a:pt x="1243616" y="1421766"/>
                  </a:lnTo>
                  <a:lnTo>
                    <a:pt x="1240437" y="1422400"/>
                  </a:lnTo>
                  <a:lnTo>
                    <a:pt x="1236940" y="1422400"/>
                  </a:lnTo>
                  <a:lnTo>
                    <a:pt x="1031278" y="1422400"/>
                  </a:lnTo>
                  <a:lnTo>
                    <a:pt x="1027781" y="1422400"/>
                  </a:lnTo>
                  <a:lnTo>
                    <a:pt x="1024602" y="1421766"/>
                  </a:lnTo>
                  <a:lnTo>
                    <a:pt x="1021424" y="1421132"/>
                  </a:lnTo>
                  <a:lnTo>
                    <a:pt x="1018245" y="1420181"/>
                  </a:lnTo>
                  <a:lnTo>
                    <a:pt x="1015384" y="1418595"/>
                  </a:lnTo>
                  <a:lnTo>
                    <a:pt x="1012841" y="1417010"/>
                  </a:lnTo>
                  <a:lnTo>
                    <a:pt x="1010298" y="1415108"/>
                  </a:lnTo>
                  <a:lnTo>
                    <a:pt x="1007755" y="1413206"/>
                  </a:lnTo>
                  <a:lnTo>
                    <a:pt x="1005848" y="1410669"/>
                  </a:lnTo>
                  <a:lnTo>
                    <a:pt x="1003941" y="1408133"/>
                  </a:lnTo>
                  <a:lnTo>
                    <a:pt x="1002351" y="1405279"/>
                  </a:lnTo>
                  <a:lnTo>
                    <a:pt x="1000762" y="1402743"/>
                  </a:lnTo>
                  <a:lnTo>
                    <a:pt x="999808" y="1399572"/>
                  </a:lnTo>
                  <a:lnTo>
                    <a:pt x="999173" y="1396402"/>
                  </a:lnTo>
                  <a:lnTo>
                    <a:pt x="998537" y="1393231"/>
                  </a:lnTo>
                  <a:lnTo>
                    <a:pt x="998537" y="1389744"/>
                  </a:lnTo>
                  <a:lnTo>
                    <a:pt x="998537" y="782273"/>
                  </a:lnTo>
                  <a:lnTo>
                    <a:pt x="998537" y="778786"/>
                  </a:lnTo>
                  <a:lnTo>
                    <a:pt x="999173" y="775615"/>
                  </a:lnTo>
                  <a:lnTo>
                    <a:pt x="999808" y="772445"/>
                  </a:lnTo>
                  <a:lnTo>
                    <a:pt x="1000762" y="769274"/>
                  </a:lnTo>
                  <a:lnTo>
                    <a:pt x="1002351" y="766421"/>
                  </a:lnTo>
                  <a:lnTo>
                    <a:pt x="1003941" y="763567"/>
                  </a:lnTo>
                  <a:lnTo>
                    <a:pt x="1005848" y="761348"/>
                  </a:lnTo>
                  <a:lnTo>
                    <a:pt x="1007755" y="758812"/>
                  </a:lnTo>
                  <a:lnTo>
                    <a:pt x="1010298" y="756592"/>
                  </a:lnTo>
                  <a:lnTo>
                    <a:pt x="1012841" y="755007"/>
                  </a:lnTo>
                  <a:lnTo>
                    <a:pt x="1015384" y="753105"/>
                  </a:lnTo>
                  <a:lnTo>
                    <a:pt x="1018245" y="751837"/>
                  </a:lnTo>
                  <a:lnTo>
                    <a:pt x="1021424" y="750885"/>
                  </a:lnTo>
                  <a:lnTo>
                    <a:pt x="1024602" y="750251"/>
                  </a:lnTo>
                  <a:lnTo>
                    <a:pt x="1027781" y="749300"/>
                  </a:lnTo>
                  <a:close/>
                  <a:moveTo>
                    <a:pt x="2147065" y="665163"/>
                  </a:moveTo>
                  <a:lnTo>
                    <a:pt x="2154052" y="665163"/>
                  </a:lnTo>
                  <a:lnTo>
                    <a:pt x="2161038" y="665163"/>
                  </a:lnTo>
                  <a:lnTo>
                    <a:pt x="2168025" y="665798"/>
                  </a:lnTo>
                  <a:lnTo>
                    <a:pt x="2175011" y="666432"/>
                  </a:lnTo>
                  <a:lnTo>
                    <a:pt x="2181680" y="667702"/>
                  </a:lnTo>
                  <a:lnTo>
                    <a:pt x="2188349" y="669288"/>
                  </a:lnTo>
                  <a:lnTo>
                    <a:pt x="2194700" y="670875"/>
                  </a:lnTo>
                  <a:lnTo>
                    <a:pt x="2201369" y="673413"/>
                  </a:lnTo>
                  <a:lnTo>
                    <a:pt x="2207085" y="675952"/>
                  </a:lnTo>
                  <a:lnTo>
                    <a:pt x="2213437" y="678173"/>
                  </a:lnTo>
                  <a:lnTo>
                    <a:pt x="2219471" y="681346"/>
                  </a:lnTo>
                  <a:lnTo>
                    <a:pt x="2224869" y="684519"/>
                  </a:lnTo>
                  <a:lnTo>
                    <a:pt x="2230585" y="688327"/>
                  </a:lnTo>
                  <a:lnTo>
                    <a:pt x="2235666" y="692135"/>
                  </a:lnTo>
                  <a:lnTo>
                    <a:pt x="2241065" y="695943"/>
                  </a:lnTo>
                  <a:lnTo>
                    <a:pt x="2245829" y="700702"/>
                  </a:lnTo>
                  <a:lnTo>
                    <a:pt x="2250910" y="704828"/>
                  </a:lnTo>
                  <a:lnTo>
                    <a:pt x="2255356" y="709587"/>
                  </a:lnTo>
                  <a:lnTo>
                    <a:pt x="2259484" y="714347"/>
                  </a:lnTo>
                  <a:lnTo>
                    <a:pt x="2263612" y="719741"/>
                  </a:lnTo>
                  <a:lnTo>
                    <a:pt x="2267423" y="724819"/>
                  </a:lnTo>
                  <a:lnTo>
                    <a:pt x="2270916" y="730530"/>
                  </a:lnTo>
                  <a:lnTo>
                    <a:pt x="2274092" y="736559"/>
                  </a:lnTo>
                  <a:lnTo>
                    <a:pt x="2277268" y="742271"/>
                  </a:lnTo>
                  <a:lnTo>
                    <a:pt x="2280126" y="748300"/>
                  </a:lnTo>
                  <a:lnTo>
                    <a:pt x="2282666" y="754646"/>
                  </a:lnTo>
                  <a:lnTo>
                    <a:pt x="2284572" y="760992"/>
                  </a:lnTo>
                  <a:lnTo>
                    <a:pt x="2286477" y="767021"/>
                  </a:lnTo>
                  <a:lnTo>
                    <a:pt x="2287747" y="773685"/>
                  </a:lnTo>
                  <a:lnTo>
                    <a:pt x="2289018" y="780349"/>
                  </a:lnTo>
                  <a:lnTo>
                    <a:pt x="2289970" y="787330"/>
                  </a:lnTo>
                  <a:lnTo>
                    <a:pt x="2290605" y="794311"/>
                  </a:lnTo>
                  <a:lnTo>
                    <a:pt x="2290605" y="801292"/>
                  </a:lnTo>
                  <a:lnTo>
                    <a:pt x="2290605" y="1286150"/>
                  </a:lnTo>
                  <a:lnTo>
                    <a:pt x="2884137" y="1353738"/>
                  </a:lnTo>
                  <a:lnTo>
                    <a:pt x="2890488" y="1354055"/>
                  </a:lnTo>
                  <a:lnTo>
                    <a:pt x="2898110" y="1354372"/>
                  </a:lnTo>
                  <a:lnTo>
                    <a:pt x="2905732" y="1355007"/>
                  </a:lnTo>
                  <a:lnTo>
                    <a:pt x="2913353" y="1355642"/>
                  </a:lnTo>
                  <a:lnTo>
                    <a:pt x="2920657" y="1357228"/>
                  </a:lnTo>
                  <a:lnTo>
                    <a:pt x="2927644" y="1358815"/>
                  </a:lnTo>
                  <a:lnTo>
                    <a:pt x="2934948" y="1361036"/>
                  </a:lnTo>
                  <a:lnTo>
                    <a:pt x="2941934" y="1362940"/>
                  </a:lnTo>
                  <a:lnTo>
                    <a:pt x="2948603" y="1365796"/>
                  </a:lnTo>
                  <a:lnTo>
                    <a:pt x="2955272" y="1368969"/>
                  </a:lnTo>
                  <a:lnTo>
                    <a:pt x="2961941" y="1372142"/>
                  </a:lnTo>
                  <a:lnTo>
                    <a:pt x="2968292" y="1375633"/>
                  </a:lnTo>
                  <a:lnTo>
                    <a:pt x="2974008" y="1379758"/>
                  </a:lnTo>
                  <a:lnTo>
                    <a:pt x="2980042" y="1383883"/>
                  </a:lnTo>
                  <a:lnTo>
                    <a:pt x="2985758" y="1388008"/>
                  </a:lnTo>
                  <a:lnTo>
                    <a:pt x="2990839" y="1393085"/>
                  </a:lnTo>
                  <a:lnTo>
                    <a:pt x="2996238" y="1397845"/>
                  </a:lnTo>
                  <a:lnTo>
                    <a:pt x="3001319" y="1403239"/>
                  </a:lnTo>
                  <a:lnTo>
                    <a:pt x="3005765" y="1408316"/>
                  </a:lnTo>
                  <a:lnTo>
                    <a:pt x="3010529" y="1414345"/>
                  </a:lnTo>
                  <a:lnTo>
                    <a:pt x="3014657" y="1419739"/>
                  </a:lnTo>
                  <a:lnTo>
                    <a:pt x="3018468" y="1426086"/>
                  </a:lnTo>
                  <a:lnTo>
                    <a:pt x="3021961" y="1432432"/>
                  </a:lnTo>
                  <a:lnTo>
                    <a:pt x="3025454" y="1438778"/>
                  </a:lnTo>
                  <a:lnTo>
                    <a:pt x="3028312" y="1445125"/>
                  </a:lnTo>
                  <a:lnTo>
                    <a:pt x="3030853" y="1452106"/>
                  </a:lnTo>
                  <a:lnTo>
                    <a:pt x="3033393" y="1459087"/>
                  </a:lnTo>
                  <a:lnTo>
                    <a:pt x="3035616" y="1466067"/>
                  </a:lnTo>
                  <a:lnTo>
                    <a:pt x="3036887" y="1473366"/>
                  </a:lnTo>
                  <a:lnTo>
                    <a:pt x="3038474" y="1480664"/>
                  </a:lnTo>
                  <a:lnTo>
                    <a:pt x="3039427" y="1488280"/>
                  </a:lnTo>
                  <a:lnTo>
                    <a:pt x="3040062" y="1495895"/>
                  </a:lnTo>
                  <a:lnTo>
                    <a:pt x="3040062" y="1503511"/>
                  </a:lnTo>
                  <a:lnTo>
                    <a:pt x="3040062" y="2154008"/>
                  </a:lnTo>
                  <a:lnTo>
                    <a:pt x="3040062" y="2161623"/>
                  </a:lnTo>
                  <a:lnTo>
                    <a:pt x="3039427" y="2169556"/>
                  </a:lnTo>
                  <a:lnTo>
                    <a:pt x="3038474" y="2177172"/>
                  </a:lnTo>
                  <a:lnTo>
                    <a:pt x="3036887" y="2184470"/>
                  </a:lnTo>
                  <a:lnTo>
                    <a:pt x="3035616" y="2191451"/>
                  </a:lnTo>
                  <a:lnTo>
                    <a:pt x="3033393" y="2198749"/>
                  </a:lnTo>
                  <a:lnTo>
                    <a:pt x="3030853" y="2205730"/>
                  </a:lnTo>
                  <a:lnTo>
                    <a:pt x="3028312" y="2212394"/>
                  </a:lnTo>
                  <a:lnTo>
                    <a:pt x="3025454" y="2219057"/>
                  </a:lnTo>
                  <a:lnTo>
                    <a:pt x="3021961" y="2225404"/>
                  </a:lnTo>
                  <a:lnTo>
                    <a:pt x="3018468" y="2231433"/>
                  </a:lnTo>
                  <a:lnTo>
                    <a:pt x="3014657" y="2237779"/>
                  </a:lnTo>
                  <a:lnTo>
                    <a:pt x="3010529" y="2243808"/>
                  </a:lnTo>
                  <a:lnTo>
                    <a:pt x="3005765" y="2249202"/>
                  </a:lnTo>
                  <a:lnTo>
                    <a:pt x="3001319" y="2254597"/>
                  </a:lnTo>
                  <a:lnTo>
                    <a:pt x="2996238" y="2259674"/>
                  </a:lnTo>
                  <a:lnTo>
                    <a:pt x="2990839" y="2264433"/>
                  </a:lnTo>
                  <a:lnTo>
                    <a:pt x="2985758" y="2269510"/>
                  </a:lnTo>
                  <a:lnTo>
                    <a:pt x="2980042" y="2273953"/>
                  </a:lnTo>
                  <a:lnTo>
                    <a:pt x="2974008" y="2278078"/>
                  </a:lnTo>
                  <a:lnTo>
                    <a:pt x="2968292" y="2281886"/>
                  </a:lnTo>
                  <a:lnTo>
                    <a:pt x="2961941" y="2285376"/>
                  </a:lnTo>
                  <a:lnTo>
                    <a:pt x="2955272" y="2288867"/>
                  </a:lnTo>
                  <a:lnTo>
                    <a:pt x="2948603" y="2291723"/>
                  </a:lnTo>
                  <a:lnTo>
                    <a:pt x="2941934" y="2294578"/>
                  </a:lnTo>
                  <a:lnTo>
                    <a:pt x="2934948" y="2297117"/>
                  </a:lnTo>
                  <a:lnTo>
                    <a:pt x="2927644" y="2298703"/>
                  </a:lnTo>
                  <a:lnTo>
                    <a:pt x="2920657" y="2300607"/>
                  </a:lnTo>
                  <a:lnTo>
                    <a:pt x="2913353" y="2301877"/>
                  </a:lnTo>
                  <a:lnTo>
                    <a:pt x="2905732" y="2302829"/>
                  </a:lnTo>
                  <a:lnTo>
                    <a:pt x="2898110" y="2303146"/>
                  </a:lnTo>
                  <a:lnTo>
                    <a:pt x="2890488" y="2303463"/>
                  </a:lnTo>
                  <a:lnTo>
                    <a:pt x="2177552" y="2303463"/>
                  </a:lnTo>
                  <a:lnTo>
                    <a:pt x="2173423" y="2303146"/>
                  </a:lnTo>
                  <a:lnTo>
                    <a:pt x="2171200" y="2303146"/>
                  </a:lnTo>
                  <a:lnTo>
                    <a:pt x="2169613" y="2303146"/>
                  </a:lnTo>
                  <a:lnTo>
                    <a:pt x="2162944" y="2303146"/>
                  </a:lnTo>
                  <a:lnTo>
                    <a:pt x="2156275" y="2303146"/>
                  </a:lnTo>
                  <a:lnTo>
                    <a:pt x="2149924" y="2302511"/>
                  </a:lnTo>
                  <a:lnTo>
                    <a:pt x="2143572" y="2301559"/>
                  </a:lnTo>
                  <a:lnTo>
                    <a:pt x="2137538" y="2300607"/>
                  </a:lnTo>
                  <a:lnTo>
                    <a:pt x="2131187" y="2298703"/>
                  </a:lnTo>
                  <a:lnTo>
                    <a:pt x="2125153" y="2297117"/>
                  </a:lnTo>
                  <a:lnTo>
                    <a:pt x="2119437" y="2294896"/>
                  </a:lnTo>
                  <a:lnTo>
                    <a:pt x="2113403" y="2292040"/>
                  </a:lnTo>
                  <a:lnTo>
                    <a:pt x="2107370" y="2289501"/>
                  </a:lnTo>
                  <a:lnTo>
                    <a:pt x="2101971" y="2286645"/>
                  </a:lnTo>
                  <a:lnTo>
                    <a:pt x="2096572" y="2283155"/>
                  </a:lnTo>
                  <a:lnTo>
                    <a:pt x="2091491" y="2279665"/>
                  </a:lnTo>
                  <a:lnTo>
                    <a:pt x="2086093" y="2275222"/>
                  </a:lnTo>
                  <a:lnTo>
                    <a:pt x="2081329" y="2271097"/>
                  </a:lnTo>
                  <a:lnTo>
                    <a:pt x="2076883" y="2266972"/>
                  </a:lnTo>
                  <a:lnTo>
                    <a:pt x="1560520" y="1751334"/>
                  </a:lnTo>
                  <a:lnTo>
                    <a:pt x="1556074" y="1746574"/>
                  </a:lnTo>
                  <a:lnTo>
                    <a:pt x="1552263" y="1741815"/>
                  </a:lnTo>
                  <a:lnTo>
                    <a:pt x="1548135" y="1737055"/>
                  </a:lnTo>
                  <a:lnTo>
                    <a:pt x="1544642" y="1731661"/>
                  </a:lnTo>
                  <a:lnTo>
                    <a:pt x="1541466" y="1726583"/>
                  </a:lnTo>
                  <a:lnTo>
                    <a:pt x="1538291" y="1720872"/>
                  </a:lnTo>
                  <a:lnTo>
                    <a:pt x="1535432" y="1715477"/>
                  </a:lnTo>
                  <a:lnTo>
                    <a:pt x="1532892" y="1709766"/>
                  </a:lnTo>
                  <a:lnTo>
                    <a:pt x="1530987" y="1704054"/>
                  </a:lnTo>
                  <a:lnTo>
                    <a:pt x="1529081" y="1698342"/>
                  </a:lnTo>
                  <a:lnTo>
                    <a:pt x="1527493" y="1692631"/>
                  </a:lnTo>
                  <a:lnTo>
                    <a:pt x="1526223" y="1686919"/>
                  </a:lnTo>
                  <a:lnTo>
                    <a:pt x="1525270" y="1680890"/>
                  </a:lnTo>
                  <a:lnTo>
                    <a:pt x="1524635" y="1674544"/>
                  </a:lnTo>
                  <a:lnTo>
                    <a:pt x="1524000" y="1668515"/>
                  </a:lnTo>
                  <a:lnTo>
                    <a:pt x="1524000" y="1662803"/>
                  </a:lnTo>
                  <a:lnTo>
                    <a:pt x="1524000" y="1656774"/>
                  </a:lnTo>
                  <a:lnTo>
                    <a:pt x="1524635" y="1650428"/>
                  </a:lnTo>
                  <a:lnTo>
                    <a:pt x="1525270" y="1644716"/>
                  </a:lnTo>
                  <a:lnTo>
                    <a:pt x="1526223" y="1638687"/>
                  </a:lnTo>
                  <a:lnTo>
                    <a:pt x="1527493" y="1632658"/>
                  </a:lnTo>
                  <a:lnTo>
                    <a:pt x="1529081" y="1626946"/>
                  </a:lnTo>
                  <a:lnTo>
                    <a:pt x="1530987" y="1621235"/>
                  </a:lnTo>
                  <a:lnTo>
                    <a:pt x="1532892" y="1615523"/>
                  </a:lnTo>
                  <a:lnTo>
                    <a:pt x="1535432" y="1609811"/>
                  </a:lnTo>
                  <a:lnTo>
                    <a:pt x="1538291" y="1604417"/>
                  </a:lnTo>
                  <a:lnTo>
                    <a:pt x="1541466" y="1599023"/>
                  </a:lnTo>
                  <a:lnTo>
                    <a:pt x="1544642" y="1593628"/>
                  </a:lnTo>
                  <a:lnTo>
                    <a:pt x="1548135" y="1588551"/>
                  </a:lnTo>
                  <a:lnTo>
                    <a:pt x="1552263" y="1583474"/>
                  </a:lnTo>
                  <a:lnTo>
                    <a:pt x="1556074" y="1578714"/>
                  </a:lnTo>
                  <a:lnTo>
                    <a:pt x="1560520" y="1574272"/>
                  </a:lnTo>
                  <a:lnTo>
                    <a:pt x="1564966" y="1569830"/>
                  </a:lnTo>
                  <a:lnTo>
                    <a:pt x="1570047" y="1565705"/>
                  </a:lnTo>
                  <a:lnTo>
                    <a:pt x="1574811" y="1561897"/>
                  </a:lnTo>
                  <a:lnTo>
                    <a:pt x="1579574" y="1558406"/>
                  </a:lnTo>
                  <a:lnTo>
                    <a:pt x="1584973" y="1554916"/>
                  </a:lnTo>
                  <a:lnTo>
                    <a:pt x="1590054" y="1552060"/>
                  </a:lnTo>
                  <a:lnTo>
                    <a:pt x="1595770" y="1549521"/>
                  </a:lnTo>
                  <a:lnTo>
                    <a:pt x="1601486" y="1546666"/>
                  </a:lnTo>
                  <a:lnTo>
                    <a:pt x="1606885" y="1544444"/>
                  </a:lnTo>
                  <a:lnTo>
                    <a:pt x="1612919" y="1542858"/>
                  </a:lnTo>
                  <a:lnTo>
                    <a:pt x="1618635" y="1540954"/>
                  </a:lnTo>
                  <a:lnTo>
                    <a:pt x="1624669" y="1539685"/>
                  </a:lnTo>
                  <a:lnTo>
                    <a:pt x="1630702" y="1538733"/>
                  </a:lnTo>
                  <a:lnTo>
                    <a:pt x="1637054" y="1538098"/>
                  </a:lnTo>
                  <a:lnTo>
                    <a:pt x="1642770" y="1537463"/>
                  </a:lnTo>
                  <a:lnTo>
                    <a:pt x="1649121" y="1537146"/>
                  </a:lnTo>
                  <a:lnTo>
                    <a:pt x="1655473" y="1537463"/>
                  </a:lnTo>
                  <a:lnTo>
                    <a:pt x="1661824" y="1538098"/>
                  </a:lnTo>
                  <a:lnTo>
                    <a:pt x="1667858" y="1538733"/>
                  </a:lnTo>
                  <a:lnTo>
                    <a:pt x="1673891" y="1539685"/>
                  </a:lnTo>
                  <a:lnTo>
                    <a:pt x="1679925" y="1540954"/>
                  </a:lnTo>
                  <a:lnTo>
                    <a:pt x="1685641" y="1542858"/>
                  </a:lnTo>
                  <a:lnTo>
                    <a:pt x="1691675" y="1544444"/>
                  </a:lnTo>
                  <a:lnTo>
                    <a:pt x="1697391" y="1546666"/>
                  </a:lnTo>
                  <a:lnTo>
                    <a:pt x="1702790" y="1549521"/>
                  </a:lnTo>
                  <a:lnTo>
                    <a:pt x="1708506" y="1552060"/>
                  </a:lnTo>
                  <a:lnTo>
                    <a:pt x="1713587" y="1554916"/>
                  </a:lnTo>
                  <a:lnTo>
                    <a:pt x="1718986" y="1558406"/>
                  </a:lnTo>
                  <a:lnTo>
                    <a:pt x="1723749" y="1561897"/>
                  </a:lnTo>
                  <a:lnTo>
                    <a:pt x="1728513" y="1565705"/>
                  </a:lnTo>
                  <a:lnTo>
                    <a:pt x="1733594" y="1569830"/>
                  </a:lnTo>
                  <a:lnTo>
                    <a:pt x="1738040" y="1574272"/>
                  </a:lnTo>
                  <a:lnTo>
                    <a:pt x="2017816" y="1853827"/>
                  </a:lnTo>
                  <a:lnTo>
                    <a:pt x="2017816" y="801292"/>
                  </a:lnTo>
                  <a:lnTo>
                    <a:pt x="2018133" y="794311"/>
                  </a:lnTo>
                  <a:lnTo>
                    <a:pt x="2018451" y="787330"/>
                  </a:lnTo>
                  <a:lnTo>
                    <a:pt x="2019404" y="780349"/>
                  </a:lnTo>
                  <a:lnTo>
                    <a:pt x="2020674" y="773685"/>
                  </a:lnTo>
                  <a:lnTo>
                    <a:pt x="2021944" y="767021"/>
                  </a:lnTo>
                  <a:lnTo>
                    <a:pt x="2024167" y="760992"/>
                  </a:lnTo>
                  <a:lnTo>
                    <a:pt x="2026073" y="754646"/>
                  </a:lnTo>
                  <a:lnTo>
                    <a:pt x="2028613" y="748300"/>
                  </a:lnTo>
                  <a:lnTo>
                    <a:pt x="2031471" y="742271"/>
                  </a:lnTo>
                  <a:lnTo>
                    <a:pt x="2034329" y="736559"/>
                  </a:lnTo>
                  <a:lnTo>
                    <a:pt x="2037823" y="730530"/>
                  </a:lnTo>
                  <a:lnTo>
                    <a:pt x="2040998" y="724819"/>
                  </a:lnTo>
                  <a:lnTo>
                    <a:pt x="2045127" y="719741"/>
                  </a:lnTo>
                  <a:lnTo>
                    <a:pt x="2048937" y="714347"/>
                  </a:lnTo>
                  <a:lnTo>
                    <a:pt x="2053383" y="709587"/>
                  </a:lnTo>
                  <a:lnTo>
                    <a:pt x="2057829" y="704828"/>
                  </a:lnTo>
                  <a:lnTo>
                    <a:pt x="2062275" y="700702"/>
                  </a:lnTo>
                  <a:lnTo>
                    <a:pt x="2067674" y="695943"/>
                  </a:lnTo>
                  <a:lnTo>
                    <a:pt x="2072437" y="692135"/>
                  </a:lnTo>
                  <a:lnTo>
                    <a:pt x="2078154" y="688327"/>
                  </a:lnTo>
                  <a:lnTo>
                    <a:pt x="2083552" y="684519"/>
                  </a:lnTo>
                  <a:lnTo>
                    <a:pt x="2089268" y="681346"/>
                  </a:lnTo>
                  <a:lnTo>
                    <a:pt x="2095302" y="678173"/>
                  </a:lnTo>
                  <a:lnTo>
                    <a:pt x="2101018" y="675952"/>
                  </a:lnTo>
                  <a:lnTo>
                    <a:pt x="2107370" y="673413"/>
                  </a:lnTo>
                  <a:lnTo>
                    <a:pt x="2113721" y="670875"/>
                  </a:lnTo>
                  <a:lnTo>
                    <a:pt x="2120390" y="669288"/>
                  </a:lnTo>
                  <a:lnTo>
                    <a:pt x="2127059" y="667702"/>
                  </a:lnTo>
                  <a:lnTo>
                    <a:pt x="2133728" y="666432"/>
                  </a:lnTo>
                  <a:lnTo>
                    <a:pt x="2140079" y="665798"/>
                  </a:lnTo>
                  <a:lnTo>
                    <a:pt x="2147065" y="665163"/>
                  </a:lnTo>
                  <a:close/>
                  <a:moveTo>
                    <a:pt x="1426690" y="484188"/>
                  </a:moveTo>
                  <a:lnTo>
                    <a:pt x="1631151" y="484188"/>
                  </a:lnTo>
                  <a:lnTo>
                    <a:pt x="1634627" y="484505"/>
                  </a:lnTo>
                  <a:lnTo>
                    <a:pt x="1637787" y="484822"/>
                  </a:lnTo>
                  <a:lnTo>
                    <a:pt x="1640947" y="485773"/>
                  </a:lnTo>
                  <a:lnTo>
                    <a:pt x="1644107" y="486725"/>
                  </a:lnTo>
                  <a:lnTo>
                    <a:pt x="1646635" y="488310"/>
                  </a:lnTo>
                  <a:lnTo>
                    <a:pt x="1649479" y="489895"/>
                  </a:lnTo>
                  <a:lnTo>
                    <a:pt x="1652008" y="491798"/>
                  </a:lnTo>
                  <a:lnTo>
                    <a:pt x="1654536" y="493700"/>
                  </a:lnTo>
                  <a:lnTo>
                    <a:pt x="1656432" y="496237"/>
                  </a:lnTo>
                  <a:lnTo>
                    <a:pt x="1658328" y="498773"/>
                  </a:lnTo>
                  <a:lnTo>
                    <a:pt x="1659908" y="501310"/>
                  </a:lnTo>
                  <a:lnTo>
                    <a:pt x="1661488" y="504164"/>
                  </a:lnTo>
                  <a:lnTo>
                    <a:pt x="1662436" y="507334"/>
                  </a:lnTo>
                  <a:lnTo>
                    <a:pt x="1663068" y="510505"/>
                  </a:lnTo>
                  <a:lnTo>
                    <a:pt x="1663700" y="513676"/>
                  </a:lnTo>
                  <a:lnTo>
                    <a:pt x="1663700" y="517164"/>
                  </a:lnTo>
                  <a:lnTo>
                    <a:pt x="1663700" y="1389743"/>
                  </a:lnTo>
                  <a:lnTo>
                    <a:pt x="1663700" y="1393231"/>
                  </a:lnTo>
                  <a:lnTo>
                    <a:pt x="1663068" y="1396401"/>
                  </a:lnTo>
                  <a:lnTo>
                    <a:pt x="1662436" y="1399572"/>
                  </a:lnTo>
                  <a:lnTo>
                    <a:pt x="1661488" y="1402743"/>
                  </a:lnTo>
                  <a:lnTo>
                    <a:pt x="1659908" y="1405279"/>
                  </a:lnTo>
                  <a:lnTo>
                    <a:pt x="1658328" y="1408133"/>
                  </a:lnTo>
                  <a:lnTo>
                    <a:pt x="1656432" y="1410669"/>
                  </a:lnTo>
                  <a:lnTo>
                    <a:pt x="1654536" y="1413206"/>
                  </a:lnTo>
                  <a:lnTo>
                    <a:pt x="1652008" y="1415108"/>
                  </a:lnTo>
                  <a:lnTo>
                    <a:pt x="1649479" y="1417011"/>
                  </a:lnTo>
                  <a:lnTo>
                    <a:pt x="1646635" y="1418596"/>
                  </a:lnTo>
                  <a:lnTo>
                    <a:pt x="1644107" y="1420182"/>
                  </a:lnTo>
                  <a:lnTo>
                    <a:pt x="1640947" y="1421133"/>
                  </a:lnTo>
                  <a:lnTo>
                    <a:pt x="1637787" y="1421767"/>
                  </a:lnTo>
                  <a:lnTo>
                    <a:pt x="1634627" y="1422401"/>
                  </a:lnTo>
                  <a:lnTo>
                    <a:pt x="1631151" y="1422401"/>
                  </a:lnTo>
                  <a:lnTo>
                    <a:pt x="1426690" y="1422401"/>
                  </a:lnTo>
                  <a:lnTo>
                    <a:pt x="1423214" y="1422401"/>
                  </a:lnTo>
                  <a:lnTo>
                    <a:pt x="1420054" y="1421767"/>
                  </a:lnTo>
                  <a:lnTo>
                    <a:pt x="1416894" y="1421133"/>
                  </a:lnTo>
                  <a:lnTo>
                    <a:pt x="1413734" y="1420182"/>
                  </a:lnTo>
                  <a:lnTo>
                    <a:pt x="1411206" y="1418596"/>
                  </a:lnTo>
                  <a:lnTo>
                    <a:pt x="1408362" y="1417011"/>
                  </a:lnTo>
                  <a:lnTo>
                    <a:pt x="1405834" y="1415108"/>
                  </a:lnTo>
                  <a:lnTo>
                    <a:pt x="1403622" y="1413206"/>
                  </a:lnTo>
                  <a:lnTo>
                    <a:pt x="1401409" y="1410669"/>
                  </a:lnTo>
                  <a:lnTo>
                    <a:pt x="1399513" y="1408133"/>
                  </a:lnTo>
                  <a:lnTo>
                    <a:pt x="1397933" y="1405279"/>
                  </a:lnTo>
                  <a:lnTo>
                    <a:pt x="1396669" y="1402743"/>
                  </a:lnTo>
                  <a:lnTo>
                    <a:pt x="1395405" y="1399572"/>
                  </a:lnTo>
                  <a:lnTo>
                    <a:pt x="1394457" y="1396401"/>
                  </a:lnTo>
                  <a:lnTo>
                    <a:pt x="1394141" y="1393231"/>
                  </a:lnTo>
                  <a:lnTo>
                    <a:pt x="1393825" y="1389743"/>
                  </a:lnTo>
                  <a:lnTo>
                    <a:pt x="1393825" y="517164"/>
                  </a:lnTo>
                  <a:lnTo>
                    <a:pt x="1394141" y="513676"/>
                  </a:lnTo>
                  <a:lnTo>
                    <a:pt x="1394457" y="510505"/>
                  </a:lnTo>
                  <a:lnTo>
                    <a:pt x="1395405" y="507334"/>
                  </a:lnTo>
                  <a:lnTo>
                    <a:pt x="1396669" y="504164"/>
                  </a:lnTo>
                  <a:lnTo>
                    <a:pt x="1397933" y="501310"/>
                  </a:lnTo>
                  <a:lnTo>
                    <a:pt x="1399513" y="498773"/>
                  </a:lnTo>
                  <a:lnTo>
                    <a:pt x="1401409" y="496237"/>
                  </a:lnTo>
                  <a:lnTo>
                    <a:pt x="1403622" y="493700"/>
                  </a:lnTo>
                  <a:lnTo>
                    <a:pt x="1405834" y="491798"/>
                  </a:lnTo>
                  <a:lnTo>
                    <a:pt x="1408362" y="489895"/>
                  </a:lnTo>
                  <a:lnTo>
                    <a:pt x="1411206" y="488310"/>
                  </a:lnTo>
                  <a:lnTo>
                    <a:pt x="1413734" y="486725"/>
                  </a:lnTo>
                  <a:lnTo>
                    <a:pt x="1416894" y="485773"/>
                  </a:lnTo>
                  <a:lnTo>
                    <a:pt x="1420054" y="484822"/>
                  </a:lnTo>
                  <a:lnTo>
                    <a:pt x="1423214" y="484505"/>
                  </a:lnTo>
                  <a:lnTo>
                    <a:pt x="1426690" y="484188"/>
                  </a:lnTo>
                  <a:close/>
                  <a:moveTo>
                    <a:pt x="183794" y="0"/>
                  </a:moveTo>
                  <a:lnTo>
                    <a:pt x="193952" y="0"/>
                  </a:lnTo>
                  <a:lnTo>
                    <a:pt x="2827060" y="0"/>
                  </a:lnTo>
                  <a:lnTo>
                    <a:pt x="2837218" y="0"/>
                  </a:lnTo>
                  <a:lnTo>
                    <a:pt x="2847059" y="952"/>
                  </a:lnTo>
                  <a:lnTo>
                    <a:pt x="2856582" y="2539"/>
                  </a:lnTo>
                  <a:lnTo>
                    <a:pt x="2866105" y="4443"/>
                  </a:lnTo>
                  <a:lnTo>
                    <a:pt x="2875628" y="6982"/>
                  </a:lnTo>
                  <a:lnTo>
                    <a:pt x="2884516" y="10156"/>
                  </a:lnTo>
                  <a:lnTo>
                    <a:pt x="2893721" y="13964"/>
                  </a:lnTo>
                  <a:lnTo>
                    <a:pt x="2902292" y="17773"/>
                  </a:lnTo>
                  <a:lnTo>
                    <a:pt x="2911180" y="22851"/>
                  </a:lnTo>
                  <a:lnTo>
                    <a:pt x="2919433" y="27611"/>
                  </a:lnTo>
                  <a:lnTo>
                    <a:pt x="2927369" y="33324"/>
                  </a:lnTo>
                  <a:lnTo>
                    <a:pt x="2935623" y="39036"/>
                  </a:lnTo>
                  <a:lnTo>
                    <a:pt x="2942924" y="45384"/>
                  </a:lnTo>
                  <a:lnTo>
                    <a:pt x="2950225" y="52366"/>
                  </a:lnTo>
                  <a:lnTo>
                    <a:pt x="2957525" y="59665"/>
                  </a:lnTo>
                  <a:lnTo>
                    <a:pt x="2964192" y="67282"/>
                  </a:lnTo>
                  <a:lnTo>
                    <a:pt x="2970540" y="74899"/>
                  </a:lnTo>
                  <a:lnTo>
                    <a:pt x="2976571" y="83468"/>
                  </a:lnTo>
                  <a:lnTo>
                    <a:pt x="2982285" y="92037"/>
                  </a:lnTo>
                  <a:lnTo>
                    <a:pt x="2987682" y="101240"/>
                  </a:lnTo>
                  <a:lnTo>
                    <a:pt x="2992761" y="110444"/>
                  </a:lnTo>
                  <a:lnTo>
                    <a:pt x="2997522" y="119965"/>
                  </a:lnTo>
                  <a:lnTo>
                    <a:pt x="3001649" y="130121"/>
                  </a:lnTo>
                  <a:lnTo>
                    <a:pt x="3005458" y="140276"/>
                  </a:lnTo>
                  <a:lnTo>
                    <a:pt x="3008950" y="150749"/>
                  </a:lnTo>
                  <a:lnTo>
                    <a:pt x="3012124" y="161540"/>
                  </a:lnTo>
                  <a:lnTo>
                    <a:pt x="3014663" y="172330"/>
                  </a:lnTo>
                  <a:lnTo>
                    <a:pt x="3016885" y="183438"/>
                  </a:lnTo>
                  <a:lnTo>
                    <a:pt x="3018473" y="194546"/>
                  </a:lnTo>
                  <a:lnTo>
                    <a:pt x="3019742" y="205971"/>
                  </a:lnTo>
                  <a:lnTo>
                    <a:pt x="3020695" y="218031"/>
                  </a:lnTo>
                  <a:lnTo>
                    <a:pt x="3021012" y="229774"/>
                  </a:lnTo>
                  <a:lnTo>
                    <a:pt x="3021012" y="1276768"/>
                  </a:lnTo>
                  <a:lnTo>
                    <a:pt x="3013711" y="1272642"/>
                  </a:lnTo>
                  <a:lnTo>
                    <a:pt x="3006410" y="1268833"/>
                  </a:lnTo>
                  <a:lnTo>
                    <a:pt x="2999109" y="1265342"/>
                  </a:lnTo>
                  <a:lnTo>
                    <a:pt x="2991808" y="1262169"/>
                  </a:lnTo>
                  <a:lnTo>
                    <a:pt x="2983872" y="1258995"/>
                  </a:lnTo>
                  <a:lnTo>
                    <a:pt x="2976254" y="1256139"/>
                  </a:lnTo>
                  <a:lnTo>
                    <a:pt x="2968318" y="1253282"/>
                  </a:lnTo>
                  <a:lnTo>
                    <a:pt x="2960382" y="1251061"/>
                  </a:lnTo>
                  <a:lnTo>
                    <a:pt x="2952129" y="1248839"/>
                  </a:lnTo>
                  <a:lnTo>
                    <a:pt x="2944193" y="1247252"/>
                  </a:lnTo>
                  <a:lnTo>
                    <a:pt x="2935940" y="1245348"/>
                  </a:lnTo>
                  <a:lnTo>
                    <a:pt x="2927369" y="1244079"/>
                  </a:lnTo>
                  <a:lnTo>
                    <a:pt x="2919116" y="1242809"/>
                  </a:lnTo>
                  <a:lnTo>
                    <a:pt x="2910863" y="1242175"/>
                  </a:lnTo>
                  <a:lnTo>
                    <a:pt x="2901975" y="1241540"/>
                  </a:lnTo>
                  <a:lnTo>
                    <a:pt x="2893404" y="1241540"/>
                  </a:lnTo>
                  <a:lnTo>
                    <a:pt x="2646123" y="1213294"/>
                  </a:lnTo>
                  <a:lnTo>
                    <a:pt x="2646123" y="313876"/>
                  </a:lnTo>
                  <a:lnTo>
                    <a:pt x="374889" y="313876"/>
                  </a:lnTo>
                  <a:lnTo>
                    <a:pt x="374889" y="1959424"/>
                  </a:lnTo>
                  <a:lnTo>
                    <a:pt x="1610021" y="1959424"/>
                  </a:lnTo>
                  <a:lnTo>
                    <a:pt x="1923646" y="2273300"/>
                  </a:lnTo>
                  <a:lnTo>
                    <a:pt x="193952" y="2273300"/>
                  </a:lnTo>
                  <a:lnTo>
                    <a:pt x="183794" y="2273300"/>
                  </a:lnTo>
                  <a:lnTo>
                    <a:pt x="173953" y="2272348"/>
                  </a:lnTo>
                  <a:lnTo>
                    <a:pt x="164113" y="2270761"/>
                  </a:lnTo>
                  <a:lnTo>
                    <a:pt x="154908" y="2268857"/>
                  </a:lnTo>
                  <a:lnTo>
                    <a:pt x="145385" y="2266318"/>
                  </a:lnTo>
                  <a:lnTo>
                    <a:pt x="136496" y="2263144"/>
                  </a:lnTo>
                  <a:lnTo>
                    <a:pt x="127291" y="2259336"/>
                  </a:lnTo>
                  <a:lnTo>
                    <a:pt x="118720" y="2255528"/>
                  </a:lnTo>
                  <a:lnTo>
                    <a:pt x="109832" y="2250450"/>
                  </a:lnTo>
                  <a:lnTo>
                    <a:pt x="101579" y="2245689"/>
                  </a:lnTo>
                  <a:lnTo>
                    <a:pt x="93326" y="2240294"/>
                  </a:lnTo>
                  <a:lnTo>
                    <a:pt x="85390" y="2234264"/>
                  </a:lnTo>
                  <a:lnTo>
                    <a:pt x="77771" y="2227917"/>
                  </a:lnTo>
                  <a:lnTo>
                    <a:pt x="70470" y="2220935"/>
                  </a:lnTo>
                  <a:lnTo>
                    <a:pt x="63487" y="2213635"/>
                  </a:lnTo>
                  <a:lnTo>
                    <a:pt x="56821" y="2206018"/>
                  </a:lnTo>
                  <a:lnTo>
                    <a:pt x="50472" y="2198402"/>
                  </a:lnTo>
                  <a:lnTo>
                    <a:pt x="44441" y="2189833"/>
                  </a:lnTo>
                  <a:lnTo>
                    <a:pt x="38727" y="2181264"/>
                  </a:lnTo>
                  <a:lnTo>
                    <a:pt x="33013" y="2172060"/>
                  </a:lnTo>
                  <a:lnTo>
                    <a:pt x="28252" y="2162856"/>
                  </a:lnTo>
                  <a:lnTo>
                    <a:pt x="23490" y="2153335"/>
                  </a:lnTo>
                  <a:lnTo>
                    <a:pt x="19364" y="2143180"/>
                  </a:lnTo>
                  <a:lnTo>
                    <a:pt x="15237" y="2133024"/>
                  </a:lnTo>
                  <a:lnTo>
                    <a:pt x="11745" y="2122551"/>
                  </a:lnTo>
                  <a:lnTo>
                    <a:pt x="8888" y="2112078"/>
                  </a:lnTo>
                  <a:lnTo>
                    <a:pt x="6349" y="2100970"/>
                  </a:lnTo>
                  <a:lnTo>
                    <a:pt x="3809" y="2089862"/>
                  </a:lnTo>
                  <a:lnTo>
                    <a:pt x="2540" y="2078754"/>
                  </a:lnTo>
                  <a:lnTo>
                    <a:pt x="952" y="2067329"/>
                  </a:lnTo>
                  <a:lnTo>
                    <a:pt x="318" y="2055269"/>
                  </a:lnTo>
                  <a:lnTo>
                    <a:pt x="0" y="2043844"/>
                  </a:lnTo>
                  <a:lnTo>
                    <a:pt x="0" y="229774"/>
                  </a:lnTo>
                  <a:lnTo>
                    <a:pt x="318" y="218031"/>
                  </a:lnTo>
                  <a:lnTo>
                    <a:pt x="952" y="205971"/>
                  </a:lnTo>
                  <a:lnTo>
                    <a:pt x="2540" y="194546"/>
                  </a:lnTo>
                  <a:lnTo>
                    <a:pt x="3809" y="183438"/>
                  </a:lnTo>
                  <a:lnTo>
                    <a:pt x="6349" y="172330"/>
                  </a:lnTo>
                  <a:lnTo>
                    <a:pt x="8888" y="161540"/>
                  </a:lnTo>
                  <a:lnTo>
                    <a:pt x="11745" y="150749"/>
                  </a:lnTo>
                  <a:lnTo>
                    <a:pt x="15237" y="140276"/>
                  </a:lnTo>
                  <a:lnTo>
                    <a:pt x="19364" y="130121"/>
                  </a:lnTo>
                  <a:lnTo>
                    <a:pt x="23490" y="119965"/>
                  </a:lnTo>
                  <a:lnTo>
                    <a:pt x="28252" y="110444"/>
                  </a:lnTo>
                  <a:lnTo>
                    <a:pt x="33013" y="101240"/>
                  </a:lnTo>
                  <a:lnTo>
                    <a:pt x="38727" y="92037"/>
                  </a:lnTo>
                  <a:lnTo>
                    <a:pt x="44441" y="83468"/>
                  </a:lnTo>
                  <a:lnTo>
                    <a:pt x="50472" y="74899"/>
                  </a:lnTo>
                  <a:lnTo>
                    <a:pt x="56821" y="67282"/>
                  </a:lnTo>
                  <a:lnTo>
                    <a:pt x="63487" y="59665"/>
                  </a:lnTo>
                  <a:lnTo>
                    <a:pt x="70470" y="52366"/>
                  </a:lnTo>
                  <a:lnTo>
                    <a:pt x="77771" y="45384"/>
                  </a:lnTo>
                  <a:lnTo>
                    <a:pt x="85390" y="39036"/>
                  </a:lnTo>
                  <a:lnTo>
                    <a:pt x="93326" y="33324"/>
                  </a:lnTo>
                  <a:lnTo>
                    <a:pt x="101579" y="27611"/>
                  </a:lnTo>
                  <a:lnTo>
                    <a:pt x="109832" y="22851"/>
                  </a:lnTo>
                  <a:lnTo>
                    <a:pt x="118720" y="17773"/>
                  </a:lnTo>
                  <a:lnTo>
                    <a:pt x="127291" y="13964"/>
                  </a:lnTo>
                  <a:lnTo>
                    <a:pt x="136496" y="10156"/>
                  </a:lnTo>
                  <a:lnTo>
                    <a:pt x="145385" y="6982"/>
                  </a:lnTo>
                  <a:lnTo>
                    <a:pt x="154908" y="4443"/>
                  </a:lnTo>
                  <a:lnTo>
                    <a:pt x="164113" y="2539"/>
                  </a:lnTo>
                  <a:lnTo>
                    <a:pt x="173953" y="952"/>
                  </a:lnTo>
                  <a:lnTo>
                    <a:pt x="183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思源宋体 CN Light" panose="02020300000000000000" pitchFamily="18" charset="-122"/>
                <a:ea typeface="思源宋体 CN Light" panose="02020300000000000000" pitchFamily="18" charset="-122"/>
                <a:cs typeface="思源宋体 CN Light" panose="02020300000000000000" charset="-122"/>
                <a:sym typeface="+mn-lt"/>
              </a:endParaRPr>
            </a:p>
          </p:txBody>
        </p:sp>
      </p:grpSp>
      <p:sp>
        <p:nvSpPr>
          <p:cNvPr id="90" name="文本框 89">
            <a:extLst>
              <a:ext uri="{FF2B5EF4-FFF2-40B4-BE49-F238E27FC236}">
                <a16:creationId xmlns:a16="http://schemas.microsoft.com/office/drawing/2014/main" id="{FF4F4138-53A2-6219-9D31-596839564D8E}"/>
              </a:ext>
            </a:extLst>
          </p:cNvPr>
          <p:cNvSpPr txBox="1"/>
          <p:nvPr/>
        </p:nvSpPr>
        <p:spPr>
          <a:xfrm>
            <a:off x="7826790" y="1153141"/>
            <a:ext cx="1287532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2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国家发文量前</a:t>
            </a:r>
            <a:r>
              <a:rPr lang="en-US" altLang="zh-CN" sz="12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10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8584E481-A5A7-D358-69DC-438E990E8547}"/>
              </a:ext>
            </a:extLst>
          </p:cNvPr>
          <p:cNvSpPr txBox="1"/>
          <p:nvPr/>
        </p:nvSpPr>
        <p:spPr>
          <a:xfrm>
            <a:off x="7414778" y="1468163"/>
            <a:ext cx="1687662" cy="1470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三足鼎立：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美国（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1656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篇）、英国（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617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篇）、中国（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486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篇） 位列前三。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关键发现：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美国发文量占比超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25%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，是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ADHD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研究的绝对核心。中国位列第三，说明我国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ADHD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研究已进入国际第一梯队，但与美英仍有差距。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F59E566-F816-24D4-C47C-C904CE4E0111}"/>
              </a:ext>
            </a:extLst>
          </p:cNvPr>
          <p:cNvGrpSpPr/>
          <p:nvPr/>
        </p:nvGrpSpPr>
        <p:grpSpPr>
          <a:xfrm>
            <a:off x="7456338" y="1042713"/>
            <a:ext cx="425056" cy="409006"/>
            <a:chOff x="3216452" y="846582"/>
            <a:chExt cx="594591" cy="538929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88B5B193-9EF1-3C73-0759-86B2075BC829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297753B2-DDAB-0AF3-6F56-8AF4785CC225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96" name="Freeform 108">
            <a:extLst>
              <a:ext uri="{FF2B5EF4-FFF2-40B4-BE49-F238E27FC236}">
                <a16:creationId xmlns:a16="http://schemas.microsoft.com/office/drawing/2014/main" id="{92561015-E4A6-E564-FFBB-CA4ECEE78442}"/>
              </a:ext>
            </a:extLst>
          </p:cNvPr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7610447" y="1187742"/>
            <a:ext cx="127932" cy="112446"/>
          </a:xfrm>
          <a:custGeom>
            <a:avLst/>
            <a:gdLst>
              <a:gd name="T0" fmla="*/ 97 w 115"/>
              <a:gd name="T1" fmla="*/ 48 h 115"/>
              <a:gd name="T2" fmla="*/ 91 w 115"/>
              <a:gd name="T3" fmla="*/ 41 h 115"/>
              <a:gd name="T4" fmla="*/ 102 w 115"/>
              <a:gd name="T5" fmla="*/ 26 h 115"/>
              <a:gd name="T6" fmla="*/ 94 w 115"/>
              <a:gd name="T7" fmla="*/ 13 h 115"/>
              <a:gd name="T8" fmla="*/ 79 w 115"/>
              <a:gd name="T9" fmla="*/ 23 h 115"/>
              <a:gd name="T10" fmla="*/ 70 w 115"/>
              <a:gd name="T11" fmla="*/ 22 h 115"/>
              <a:gd name="T12" fmla="*/ 67 w 115"/>
              <a:gd name="T13" fmla="*/ 3 h 115"/>
              <a:gd name="T14" fmla="*/ 52 w 115"/>
              <a:gd name="T15" fmla="*/ 0 h 115"/>
              <a:gd name="T16" fmla="*/ 48 w 115"/>
              <a:gd name="T17" fmla="*/ 18 h 115"/>
              <a:gd name="T18" fmla="*/ 41 w 115"/>
              <a:gd name="T19" fmla="*/ 24 h 115"/>
              <a:gd name="T20" fmla="*/ 26 w 115"/>
              <a:gd name="T21" fmla="*/ 13 h 115"/>
              <a:gd name="T22" fmla="*/ 13 w 115"/>
              <a:gd name="T23" fmla="*/ 21 h 115"/>
              <a:gd name="T24" fmla="*/ 23 w 115"/>
              <a:gd name="T25" fmla="*/ 36 h 115"/>
              <a:gd name="T26" fmla="*/ 22 w 115"/>
              <a:gd name="T27" fmla="*/ 45 h 115"/>
              <a:gd name="T28" fmla="*/ 4 w 115"/>
              <a:gd name="T29" fmla="*/ 48 h 115"/>
              <a:gd name="T30" fmla="*/ 0 w 115"/>
              <a:gd name="T31" fmla="*/ 63 h 115"/>
              <a:gd name="T32" fmla="*/ 18 w 115"/>
              <a:gd name="T33" fmla="*/ 66 h 115"/>
              <a:gd name="T34" fmla="*/ 24 w 115"/>
              <a:gd name="T35" fmla="*/ 73 h 115"/>
              <a:gd name="T36" fmla="*/ 13 w 115"/>
              <a:gd name="T37" fmla="*/ 89 h 115"/>
              <a:gd name="T38" fmla="*/ 21 w 115"/>
              <a:gd name="T39" fmla="*/ 102 h 115"/>
              <a:gd name="T40" fmla="*/ 36 w 115"/>
              <a:gd name="T41" fmla="*/ 92 h 115"/>
              <a:gd name="T42" fmla="*/ 45 w 115"/>
              <a:gd name="T43" fmla="*/ 92 h 115"/>
              <a:gd name="T44" fmla="*/ 48 w 115"/>
              <a:gd name="T45" fmla="*/ 111 h 115"/>
              <a:gd name="T46" fmla="*/ 63 w 115"/>
              <a:gd name="T47" fmla="*/ 115 h 115"/>
              <a:gd name="T48" fmla="*/ 67 w 115"/>
              <a:gd name="T49" fmla="*/ 97 h 115"/>
              <a:gd name="T50" fmla="*/ 74 w 115"/>
              <a:gd name="T51" fmla="*/ 91 h 115"/>
              <a:gd name="T52" fmla="*/ 89 w 115"/>
              <a:gd name="T53" fmla="*/ 102 h 115"/>
              <a:gd name="T54" fmla="*/ 102 w 115"/>
              <a:gd name="T55" fmla="*/ 94 h 115"/>
              <a:gd name="T56" fmla="*/ 92 w 115"/>
              <a:gd name="T57" fmla="*/ 79 h 115"/>
              <a:gd name="T58" fmla="*/ 93 w 115"/>
              <a:gd name="T59" fmla="*/ 70 h 115"/>
              <a:gd name="T60" fmla="*/ 112 w 115"/>
              <a:gd name="T61" fmla="*/ 66 h 115"/>
              <a:gd name="T62" fmla="*/ 115 w 115"/>
              <a:gd name="T63" fmla="*/ 52 h 115"/>
              <a:gd name="T64" fmla="*/ 58 w 115"/>
              <a:gd name="T65" fmla="*/ 79 h 115"/>
              <a:gd name="T66" fmla="*/ 58 w 115"/>
              <a:gd name="T67" fmla="*/ 36 h 115"/>
              <a:gd name="T68" fmla="*/ 58 w 115"/>
              <a:gd name="T69" fmla="*/ 79 h 115"/>
              <a:gd name="T70" fmla="*/ 49 w 115"/>
              <a:gd name="T71" fmla="*/ 57 h 115"/>
              <a:gd name="T72" fmla="*/ 67 w 115"/>
              <a:gd name="T73" fmla="*/ 57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115">
                <a:moveTo>
                  <a:pt x="112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5" y="48"/>
                  <a:pt x="93" y="47"/>
                  <a:pt x="93" y="45"/>
                </a:cubicBezTo>
                <a:cubicBezTo>
                  <a:pt x="91" y="41"/>
                  <a:pt x="91" y="41"/>
                  <a:pt x="91" y="41"/>
                </a:cubicBezTo>
                <a:cubicBezTo>
                  <a:pt x="90" y="40"/>
                  <a:pt x="91" y="37"/>
                  <a:pt x="92" y="3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4"/>
                  <a:pt x="104" y="22"/>
                  <a:pt x="102" y="21"/>
                </a:cubicBezTo>
                <a:cubicBezTo>
                  <a:pt x="94" y="13"/>
                  <a:pt x="94" y="13"/>
                  <a:pt x="94" y="13"/>
                </a:cubicBezTo>
                <a:cubicBezTo>
                  <a:pt x="93" y="11"/>
                  <a:pt x="91" y="11"/>
                  <a:pt x="89" y="13"/>
                </a:cubicBezTo>
                <a:cubicBezTo>
                  <a:pt x="79" y="23"/>
                  <a:pt x="79" y="23"/>
                  <a:pt x="79" y="23"/>
                </a:cubicBezTo>
                <a:cubicBezTo>
                  <a:pt x="78" y="24"/>
                  <a:pt x="75" y="25"/>
                  <a:pt x="74" y="24"/>
                </a:cubicBezTo>
                <a:cubicBezTo>
                  <a:pt x="70" y="22"/>
                  <a:pt x="70" y="22"/>
                  <a:pt x="70" y="22"/>
                </a:cubicBezTo>
                <a:cubicBezTo>
                  <a:pt x="68" y="22"/>
                  <a:pt x="67" y="20"/>
                  <a:pt x="67" y="18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0" y="0"/>
                  <a:pt x="48" y="1"/>
                  <a:pt x="48" y="3"/>
                </a:cubicBezTo>
                <a:cubicBezTo>
                  <a:pt x="48" y="18"/>
                  <a:pt x="48" y="18"/>
                  <a:pt x="48" y="18"/>
                </a:cubicBezTo>
                <a:cubicBezTo>
                  <a:pt x="48" y="20"/>
                  <a:pt x="47" y="22"/>
                  <a:pt x="45" y="22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5"/>
                  <a:pt x="37" y="24"/>
                  <a:pt x="36" y="23"/>
                </a:cubicBezTo>
                <a:cubicBezTo>
                  <a:pt x="26" y="13"/>
                  <a:pt x="26" y="13"/>
                  <a:pt x="26" y="13"/>
                </a:cubicBezTo>
                <a:cubicBezTo>
                  <a:pt x="25" y="11"/>
                  <a:pt x="22" y="11"/>
                  <a:pt x="21" y="13"/>
                </a:cubicBezTo>
                <a:cubicBezTo>
                  <a:pt x="13" y="21"/>
                  <a:pt x="13" y="21"/>
                  <a:pt x="13" y="21"/>
                </a:cubicBezTo>
                <a:cubicBezTo>
                  <a:pt x="12" y="22"/>
                  <a:pt x="12" y="24"/>
                  <a:pt x="13" y="26"/>
                </a:cubicBezTo>
                <a:cubicBezTo>
                  <a:pt x="23" y="36"/>
                  <a:pt x="23" y="36"/>
                  <a:pt x="23" y="36"/>
                </a:cubicBezTo>
                <a:cubicBezTo>
                  <a:pt x="24" y="37"/>
                  <a:pt x="25" y="40"/>
                  <a:pt x="24" y="41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0" y="48"/>
                  <a:pt x="1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5"/>
                  <a:pt x="2" y="66"/>
                  <a:pt x="4" y="66"/>
                </a:cubicBezTo>
                <a:cubicBezTo>
                  <a:pt x="18" y="66"/>
                  <a:pt x="18" y="66"/>
                  <a:pt x="18" y="66"/>
                </a:cubicBezTo>
                <a:cubicBezTo>
                  <a:pt x="20" y="66"/>
                  <a:pt x="22" y="68"/>
                  <a:pt x="22" y="70"/>
                </a:cubicBezTo>
                <a:cubicBezTo>
                  <a:pt x="24" y="73"/>
                  <a:pt x="24" y="73"/>
                  <a:pt x="24" y="73"/>
                </a:cubicBezTo>
                <a:cubicBezTo>
                  <a:pt x="25" y="75"/>
                  <a:pt x="24" y="78"/>
                  <a:pt x="23" y="79"/>
                </a:cubicBezTo>
                <a:cubicBezTo>
                  <a:pt x="13" y="89"/>
                  <a:pt x="13" y="89"/>
                  <a:pt x="13" y="89"/>
                </a:cubicBezTo>
                <a:cubicBezTo>
                  <a:pt x="12" y="90"/>
                  <a:pt x="12" y="93"/>
                  <a:pt x="13" y="94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103"/>
                  <a:pt x="25" y="103"/>
                  <a:pt x="26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0"/>
                  <a:pt x="40" y="90"/>
                  <a:pt x="41" y="91"/>
                </a:cubicBezTo>
                <a:cubicBezTo>
                  <a:pt x="45" y="92"/>
                  <a:pt x="45" y="92"/>
                  <a:pt x="45" y="92"/>
                </a:cubicBezTo>
                <a:cubicBezTo>
                  <a:pt x="47" y="93"/>
                  <a:pt x="48" y="95"/>
                  <a:pt x="48" y="9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8" y="113"/>
                  <a:pt x="50" y="115"/>
                  <a:pt x="52" y="115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5" y="115"/>
                  <a:pt x="67" y="113"/>
                  <a:pt x="67" y="111"/>
                </a:cubicBezTo>
                <a:cubicBezTo>
                  <a:pt x="67" y="97"/>
                  <a:pt x="67" y="97"/>
                  <a:pt x="67" y="97"/>
                </a:cubicBezTo>
                <a:cubicBezTo>
                  <a:pt x="67" y="95"/>
                  <a:pt x="68" y="93"/>
                  <a:pt x="70" y="92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8" y="90"/>
                  <a:pt x="79" y="92"/>
                </a:cubicBezTo>
                <a:cubicBezTo>
                  <a:pt x="89" y="102"/>
                  <a:pt x="89" y="102"/>
                  <a:pt x="89" y="102"/>
                </a:cubicBezTo>
                <a:cubicBezTo>
                  <a:pt x="91" y="103"/>
                  <a:pt x="93" y="103"/>
                  <a:pt x="94" y="102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04" y="93"/>
                  <a:pt x="104" y="90"/>
                  <a:pt x="102" y="89"/>
                </a:cubicBezTo>
                <a:cubicBezTo>
                  <a:pt x="92" y="79"/>
                  <a:pt x="92" y="79"/>
                  <a:pt x="92" y="79"/>
                </a:cubicBezTo>
                <a:cubicBezTo>
                  <a:pt x="91" y="78"/>
                  <a:pt x="90" y="75"/>
                  <a:pt x="91" y="73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68"/>
                  <a:pt x="95" y="66"/>
                  <a:pt x="97" y="66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3" y="66"/>
                  <a:pt x="115" y="65"/>
                  <a:pt x="115" y="6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15" y="50"/>
                  <a:pt x="113" y="48"/>
                  <a:pt x="112" y="48"/>
                </a:cubicBezTo>
                <a:close/>
                <a:moveTo>
                  <a:pt x="58" y="79"/>
                </a:moveTo>
                <a:cubicBezTo>
                  <a:pt x="46" y="79"/>
                  <a:pt x="36" y="69"/>
                  <a:pt x="36" y="57"/>
                </a:cubicBezTo>
                <a:cubicBezTo>
                  <a:pt x="36" y="46"/>
                  <a:pt x="46" y="36"/>
                  <a:pt x="58" y="36"/>
                </a:cubicBezTo>
                <a:cubicBezTo>
                  <a:pt x="69" y="36"/>
                  <a:pt x="79" y="46"/>
                  <a:pt x="79" y="57"/>
                </a:cubicBezTo>
                <a:cubicBezTo>
                  <a:pt x="79" y="69"/>
                  <a:pt x="69" y="79"/>
                  <a:pt x="58" y="79"/>
                </a:cubicBezTo>
                <a:close/>
                <a:moveTo>
                  <a:pt x="58" y="48"/>
                </a:moveTo>
                <a:cubicBezTo>
                  <a:pt x="53" y="48"/>
                  <a:pt x="49" y="52"/>
                  <a:pt x="49" y="57"/>
                </a:cubicBezTo>
                <a:cubicBezTo>
                  <a:pt x="49" y="62"/>
                  <a:pt x="53" y="66"/>
                  <a:pt x="58" y="66"/>
                </a:cubicBezTo>
                <a:cubicBezTo>
                  <a:pt x="63" y="66"/>
                  <a:pt x="67" y="62"/>
                  <a:pt x="67" y="57"/>
                </a:cubicBezTo>
                <a:cubicBezTo>
                  <a:pt x="67" y="52"/>
                  <a:pt x="63" y="48"/>
                  <a:pt x="58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39" tIns="45719" rIns="91439" bIns="45719" numCol="1" anchor="t" anchorCtr="0" compatLnSpc="1"/>
          <a:lstStyle/>
          <a:p>
            <a:pPr defTabSz="1219200">
              <a:defRPr/>
            </a:pPr>
            <a:endParaRPr lang="zh-CN" altLang="en-US" sz="2400" kern="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CBCE47A-2BCE-BF37-97E8-E30FC4DB18BB}"/>
              </a:ext>
            </a:extLst>
          </p:cNvPr>
          <p:cNvSpPr txBox="1"/>
          <p:nvPr/>
        </p:nvSpPr>
        <p:spPr>
          <a:xfrm>
            <a:off x="3303386" y="3159946"/>
            <a:ext cx="113685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2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核心期刊前</a:t>
            </a:r>
            <a:r>
              <a:rPr lang="en-US" altLang="zh-CN" sz="12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10</a:t>
            </a:r>
            <a:endParaRPr lang="zh-CN" altLang="en-US" sz="1200" dirty="0"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FA60C1F-A043-3F05-237A-BEA205E83501}"/>
              </a:ext>
            </a:extLst>
          </p:cNvPr>
          <p:cNvSpPr txBox="1"/>
          <p:nvPr/>
        </p:nvSpPr>
        <p:spPr>
          <a:xfrm>
            <a:off x="2932934" y="3474968"/>
            <a:ext cx="1639066" cy="1367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核心期刊：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《Journal of Attention Disorders》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299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篇），其次是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《Frontiers in Psychiatry》《European Psychiatry》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等。</a:t>
            </a: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关键发现：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期刊分布较集中，学术交流平台相对固定。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5D7D459-5806-248E-53C2-8534BCA5A06E}"/>
              </a:ext>
            </a:extLst>
          </p:cNvPr>
          <p:cNvGrpSpPr/>
          <p:nvPr/>
        </p:nvGrpSpPr>
        <p:grpSpPr>
          <a:xfrm>
            <a:off x="2932934" y="3049518"/>
            <a:ext cx="425056" cy="409006"/>
            <a:chOff x="3216452" y="846582"/>
            <a:chExt cx="594591" cy="538929"/>
          </a:xfrm>
        </p:grpSpPr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115CDC00-9BA1-7D44-981F-98C149395AE7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0A93897C-ABEA-A9C8-A921-DE3E5BCAAFA9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104" name="KSO_Shape">
            <a:extLst>
              <a:ext uri="{FF2B5EF4-FFF2-40B4-BE49-F238E27FC236}">
                <a16:creationId xmlns:a16="http://schemas.microsoft.com/office/drawing/2014/main" id="{846C9859-4E32-A22C-C19E-6CA0CF962DB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084048" y="3187002"/>
            <a:ext cx="132404" cy="124997"/>
          </a:xfrm>
          <a:custGeom>
            <a:avLst/>
            <a:gdLst>
              <a:gd name="T0" fmla="*/ 2017136 w 3240087"/>
              <a:gd name="T1" fmla="*/ 1939157 h 2513013"/>
              <a:gd name="T2" fmla="*/ 792729 w 3240087"/>
              <a:gd name="T3" fmla="*/ 1060450 h 2513013"/>
              <a:gd name="T4" fmla="*/ 1301750 w 3240087"/>
              <a:gd name="T5" fmla="*/ 2513013 h 2513013"/>
              <a:gd name="T6" fmla="*/ 1554331 w 3240087"/>
              <a:gd name="T7" fmla="*/ 753428 h 2513013"/>
              <a:gd name="T8" fmla="*/ 1460048 w 3240087"/>
              <a:gd name="T9" fmla="*/ 768668 h 2513013"/>
              <a:gd name="T10" fmla="*/ 1385130 w 3240087"/>
              <a:gd name="T11" fmla="*/ 795338 h 2513013"/>
              <a:gd name="T12" fmla="*/ 1329893 w 3240087"/>
              <a:gd name="T13" fmla="*/ 833438 h 2513013"/>
              <a:gd name="T14" fmla="*/ 1294022 w 3240087"/>
              <a:gd name="T15" fmla="*/ 883285 h 2513013"/>
              <a:gd name="T16" fmla="*/ 1277514 w 3240087"/>
              <a:gd name="T17" fmla="*/ 944880 h 2513013"/>
              <a:gd name="T18" fmla="*/ 1278784 w 3240087"/>
              <a:gd name="T19" fmla="*/ 999173 h 2513013"/>
              <a:gd name="T20" fmla="*/ 1289577 w 3240087"/>
              <a:gd name="T21" fmla="*/ 1043940 h 2513013"/>
              <a:gd name="T22" fmla="*/ 1309259 w 3240087"/>
              <a:gd name="T23" fmla="*/ 1084263 h 2513013"/>
              <a:gd name="T24" fmla="*/ 1365448 w 3240087"/>
              <a:gd name="T25" fmla="*/ 1148715 h 2513013"/>
              <a:gd name="T26" fmla="*/ 1452112 w 3240087"/>
              <a:gd name="T27" fmla="*/ 1200786 h 2513013"/>
              <a:gd name="T28" fmla="*/ 1598774 w 3240087"/>
              <a:gd name="T29" fmla="*/ 1275081 h 2513013"/>
              <a:gd name="T30" fmla="*/ 1631472 w 3240087"/>
              <a:gd name="T31" fmla="*/ 1300163 h 2513013"/>
              <a:gd name="T32" fmla="*/ 1648614 w 3240087"/>
              <a:gd name="T33" fmla="*/ 1327786 h 2513013"/>
              <a:gd name="T34" fmla="*/ 1658455 w 3240087"/>
              <a:gd name="T35" fmla="*/ 1403668 h 2513013"/>
              <a:gd name="T36" fmla="*/ 1653376 w 3240087"/>
              <a:gd name="T37" fmla="*/ 1450658 h 2513013"/>
              <a:gd name="T38" fmla="*/ 1632741 w 3240087"/>
              <a:gd name="T39" fmla="*/ 1471931 h 2513013"/>
              <a:gd name="T40" fmla="*/ 1595917 w 3240087"/>
              <a:gd name="T41" fmla="*/ 1477328 h 2513013"/>
              <a:gd name="T42" fmla="*/ 1572426 w 3240087"/>
              <a:gd name="T43" fmla="*/ 1469708 h 2513013"/>
              <a:gd name="T44" fmla="*/ 1562902 w 3240087"/>
              <a:gd name="T45" fmla="*/ 1457008 h 2513013"/>
              <a:gd name="T46" fmla="*/ 1555601 w 3240087"/>
              <a:gd name="T47" fmla="*/ 1406208 h 2513013"/>
              <a:gd name="T48" fmla="*/ 1280689 w 3240087"/>
              <a:gd name="T49" fmla="*/ 1341121 h 2513013"/>
              <a:gd name="T50" fmla="*/ 1292117 w 3240087"/>
              <a:gd name="T51" fmla="*/ 1434783 h 2513013"/>
              <a:gd name="T52" fmla="*/ 1312751 w 3240087"/>
              <a:gd name="T53" fmla="*/ 1484313 h 2513013"/>
              <a:gd name="T54" fmla="*/ 1334655 w 3240087"/>
              <a:gd name="T55" fmla="*/ 1514158 h 2513013"/>
              <a:gd name="T56" fmla="*/ 1362591 w 3240087"/>
              <a:gd name="T57" fmla="*/ 1538288 h 2513013"/>
              <a:gd name="T58" fmla="*/ 1427986 w 3240087"/>
              <a:gd name="T59" fmla="*/ 1573848 h 2513013"/>
              <a:gd name="T60" fmla="*/ 1500999 w 3240087"/>
              <a:gd name="T61" fmla="*/ 1596073 h 2513013"/>
              <a:gd name="T62" fmla="*/ 1680359 w 3240087"/>
              <a:gd name="T63" fmla="*/ 1684973 h 2513013"/>
              <a:gd name="T64" fmla="*/ 1761626 w 3240087"/>
              <a:gd name="T65" fmla="*/ 1591628 h 2513013"/>
              <a:gd name="T66" fmla="*/ 1840672 w 3240087"/>
              <a:gd name="T67" fmla="*/ 1562101 h 2513013"/>
              <a:gd name="T68" fmla="*/ 1900035 w 3240087"/>
              <a:gd name="T69" fmla="*/ 1518286 h 2513013"/>
              <a:gd name="T70" fmla="*/ 1939716 w 3240087"/>
              <a:gd name="T71" fmla="*/ 1461136 h 2513013"/>
              <a:gd name="T72" fmla="*/ 1959398 w 3240087"/>
              <a:gd name="T73" fmla="*/ 1390333 h 2513013"/>
              <a:gd name="T74" fmla="*/ 1960350 w 3240087"/>
              <a:gd name="T75" fmla="*/ 1316038 h 2513013"/>
              <a:gd name="T76" fmla="*/ 1951779 w 3240087"/>
              <a:gd name="T77" fmla="*/ 1271271 h 2513013"/>
              <a:gd name="T78" fmla="*/ 1935907 w 3240087"/>
              <a:gd name="T79" fmla="*/ 1232536 h 2513013"/>
              <a:gd name="T80" fmla="*/ 1890194 w 3240087"/>
              <a:gd name="T81" fmla="*/ 1173798 h 2513013"/>
              <a:gd name="T82" fmla="*/ 1817180 w 3240087"/>
              <a:gd name="T83" fmla="*/ 1128078 h 2513013"/>
              <a:gd name="T84" fmla="*/ 1674327 w 3240087"/>
              <a:gd name="T85" fmla="*/ 1059180 h 2513013"/>
              <a:gd name="T86" fmla="*/ 1581949 w 3240087"/>
              <a:gd name="T87" fmla="*/ 1008380 h 2513013"/>
              <a:gd name="T88" fmla="*/ 1566394 w 3240087"/>
              <a:gd name="T89" fmla="*/ 989013 h 2513013"/>
              <a:gd name="T90" fmla="*/ 1557823 w 3240087"/>
              <a:gd name="T91" fmla="*/ 962025 h 2513013"/>
              <a:gd name="T92" fmla="*/ 1557823 w 3240087"/>
              <a:gd name="T93" fmla="*/ 918528 h 2513013"/>
              <a:gd name="T94" fmla="*/ 1572108 w 3240087"/>
              <a:gd name="T95" fmla="*/ 890905 h 2513013"/>
              <a:gd name="T96" fmla="*/ 1600361 w 3240087"/>
              <a:gd name="T97" fmla="*/ 879793 h 2513013"/>
              <a:gd name="T98" fmla="*/ 1636551 w 3240087"/>
              <a:gd name="T99" fmla="*/ 886143 h 2513013"/>
              <a:gd name="T100" fmla="*/ 1649249 w 3240087"/>
              <a:gd name="T101" fmla="*/ 901700 h 2513013"/>
              <a:gd name="T102" fmla="*/ 1656233 w 3240087"/>
              <a:gd name="T103" fmla="*/ 956310 h 2513013"/>
              <a:gd name="T104" fmla="*/ 1932732 w 3240087"/>
              <a:gd name="T105" fmla="*/ 964883 h 2513013"/>
              <a:gd name="T106" fmla="*/ 1923844 w 3240087"/>
              <a:gd name="T107" fmla="*/ 900748 h 2513013"/>
              <a:gd name="T108" fmla="*/ 1897495 w 3240087"/>
              <a:gd name="T109" fmla="*/ 847725 h 2513013"/>
              <a:gd name="T110" fmla="*/ 1853370 w 3240087"/>
              <a:gd name="T111" fmla="*/ 806450 h 2513013"/>
              <a:gd name="T112" fmla="*/ 1790832 w 3240087"/>
              <a:gd name="T113" fmla="*/ 775970 h 2513013"/>
              <a:gd name="T114" fmla="*/ 1710834 w 3240087"/>
              <a:gd name="T115" fmla="*/ 757238 h 2513013"/>
              <a:gd name="T116" fmla="*/ 2640012 w 3240087"/>
              <a:gd name="T117" fmla="*/ 871220 h 2513013"/>
              <a:gd name="T118" fmla="*/ 1619408 w 3240087"/>
              <a:gd name="T119" fmla="*/ 0 h 2513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40087" h="2513013">
                <a:moveTo>
                  <a:pt x="2446710" y="1060450"/>
                </a:moveTo>
                <a:lnTo>
                  <a:pt x="3240087" y="1736769"/>
                </a:lnTo>
                <a:lnTo>
                  <a:pt x="2830848" y="1736769"/>
                </a:lnTo>
                <a:lnTo>
                  <a:pt x="2956352" y="2513013"/>
                </a:lnTo>
                <a:lnTo>
                  <a:pt x="1936750" y="2513013"/>
                </a:lnTo>
                <a:lnTo>
                  <a:pt x="2017136" y="1939157"/>
                </a:lnTo>
                <a:lnTo>
                  <a:pt x="2275453" y="1939157"/>
                </a:lnTo>
                <a:lnTo>
                  <a:pt x="2351708" y="1939157"/>
                </a:lnTo>
                <a:lnTo>
                  <a:pt x="2338681" y="1859852"/>
                </a:lnTo>
                <a:lnTo>
                  <a:pt x="2238278" y="1237778"/>
                </a:lnTo>
                <a:lnTo>
                  <a:pt x="2446710" y="1060450"/>
                </a:lnTo>
                <a:close/>
                <a:moveTo>
                  <a:pt x="792729" y="1060450"/>
                </a:moveTo>
                <a:lnTo>
                  <a:pt x="988531" y="1227309"/>
                </a:lnTo>
                <a:lnTo>
                  <a:pt x="899991" y="1861120"/>
                </a:lnTo>
                <a:lnTo>
                  <a:pt x="889201" y="1939157"/>
                </a:lnTo>
                <a:lnTo>
                  <a:pt x="963460" y="1939157"/>
                </a:lnTo>
                <a:lnTo>
                  <a:pt x="1209085" y="1939157"/>
                </a:lnTo>
                <a:lnTo>
                  <a:pt x="1301750" y="2513013"/>
                </a:lnTo>
                <a:lnTo>
                  <a:pt x="283389" y="2513013"/>
                </a:lnTo>
                <a:lnTo>
                  <a:pt x="391604" y="1736769"/>
                </a:lnTo>
                <a:lnTo>
                  <a:pt x="0" y="1736769"/>
                </a:lnTo>
                <a:lnTo>
                  <a:pt x="792729" y="1060450"/>
                </a:lnTo>
                <a:close/>
                <a:moveTo>
                  <a:pt x="1554331" y="686118"/>
                </a:moveTo>
                <a:lnTo>
                  <a:pt x="1554331" y="753428"/>
                </a:lnTo>
                <a:lnTo>
                  <a:pt x="1537189" y="755015"/>
                </a:lnTo>
                <a:lnTo>
                  <a:pt x="1520681" y="757238"/>
                </a:lnTo>
                <a:lnTo>
                  <a:pt x="1504491" y="759778"/>
                </a:lnTo>
                <a:lnTo>
                  <a:pt x="1489254" y="762318"/>
                </a:lnTo>
                <a:lnTo>
                  <a:pt x="1474334" y="765175"/>
                </a:lnTo>
                <a:lnTo>
                  <a:pt x="1460048" y="768668"/>
                </a:lnTo>
                <a:lnTo>
                  <a:pt x="1446080" y="772160"/>
                </a:lnTo>
                <a:lnTo>
                  <a:pt x="1432747" y="776288"/>
                </a:lnTo>
                <a:lnTo>
                  <a:pt x="1420049" y="780415"/>
                </a:lnTo>
                <a:lnTo>
                  <a:pt x="1407986" y="785178"/>
                </a:lnTo>
                <a:lnTo>
                  <a:pt x="1396241" y="789940"/>
                </a:lnTo>
                <a:lnTo>
                  <a:pt x="1385130" y="795338"/>
                </a:lnTo>
                <a:lnTo>
                  <a:pt x="1374654" y="800735"/>
                </a:lnTo>
                <a:lnTo>
                  <a:pt x="1364496" y="806768"/>
                </a:lnTo>
                <a:lnTo>
                  <a:pt x="1354972" y="813118"/>
                </a:lnTo>
                <a:lnTo>
                  <a:pt x="1345766" y="819468"/>
                </a:lnTo>
                <a:lnTo>
                  <a:pt x="1337512" y="826453"/>
                </a:lnTo>
                <a:lnTo>
                  <a:pt x="1329893" y="833438"/>
                </a:lnTo>
                <a:lnTo>
                  <a:pt x="1322592" y="841375"/>
                </a:lnTo>
                <a:lnTo>
                  <a:pt x="1315608" y="848995"/>
                </a:lnTo>
                <a:lnTo>
                  <a:pt x="1309259" y="857250"/>
                </a:lnTo>
                <a:lnTo>
                  <a:pt x="1303863" y="865505"/>
                </a:lnTo>
                <a:lnTo>
                  <a:pt x="1298466" y="874395"/>
                </a:lnTo>
                <a:lnTo>
                  <a:pt x="1294022" y="883285"/>
                </a:lnTo>
                <a:lnTo>
                  <a:pt x="1289895" y="892810"/>
                </a:lnTo>
                <a:lnTo>
                  <a:pt x="1286403" y="902653"/>
                </a:lnTo>
                <a:lnTo>
                  <a:pt x="1283546" y="912813"/>
                </a:lnTo>
                <a:lnTo>
                  <a:pt x="1281006" y="922973"/>
                </a:lnTo>
                <a:lnTo>
                  <a:pt x="1279101" y="933768"/>
                </a:lnTo>
                <a:lnTo>
                  <a:pt x="1277514" y="944880"/>
                </a:lnTo>
                <a:lnTo>
                  <a:pt x="1276879" y="955993"/>
                </a:lnTo>
                <a:lnTo>
                  <a:pt x="1276562" y="967423"/>
                </a:lnTo>
                <a:lnTo>
                  <a:pt x="1276562" y="975678"/>
                </a:lnTo>
                <a:lnTo>
                  <a:pt x="1277197" y="983615"/>
                </a:lnTo>
                <a:lnTo>
                  <a:pt x="1277514" y="991553"/>
                </a:lnTo>
                <a:lnTo>
                  <a:pt x="1278784" y="999173"/>
                </a:lnTo>
                <a:lnTo>
                  <a:pt x="1279736" y="1006793"/>
                </a:lnTo>
                <a:lnTo>
                  <a:pt x="1281006" y="1014413"/>
                </a:lnTo>
                <a:lnTo>
                  <a:pt x="1282911" y="1021715"/>
                </a:lnTo>
                <a:lnTo>
                  <a:pt x="1284815" y="1029335"/>
                </a:lnTo>
                <a:lnTo>
                  <a:pt x="1287038" y="1036638"/>
                </a:lnTo>
                <a:lnTo>
                  <a:pt x="1289577" y="1043940"/>
                </a:lnTo>
                <a:lnTo>
                  <a:pt x="1292117" y="1050925"/>
                </a:lnTo>
                <a:lnTo>
                  <a:pt x="1294974" y="1057910"/>
                </a:lnTo>
                <a:lnTo>
                  <a:pt x="1298148" y="1064260"/>
                </a:lnTo>
                <a:lnTo>
                  <a:pt x="1301640" y="1070928"/>
                </a:lnTo>
                <a:lnTo>
                  <a:pt x="1305450" y="1077595"/>
                </a:lnTo>
                <a:lnTo>
                  <a:pt x="1309259" y="1084263"/>
                </a:lnTo>
                <a:lnTo>
                  <a:pt x="1317830" y="1096963"/>
                </a:lnTo>
                <a:lnTo>
                  <a:pt x="1326719" y="1108710"/>
                </a:lnTo>
                <a:lnTo>
                  <a:pt x="1335925" y="1119823"/>
                </a:lnTo>
                <a:lnTo>
                  <a:pt x="1345131" y="1129983"/>
                </a:lnTo>
                <a:lnTo>
                  <a:pt x="1355290" y="1139825"/>
                </a:lnTo>
                <a:lnTo>
                  <a:pt x="1365448" y="1148715"/>
                </a:lnTo>
                <a:lnTo>
                  <a:pt x="1376241" y="1156653"/>
                </a:lnTo>
                <a:lnTo>
                  <a:pt x="1387352" y="1164273"/>
                </a:lnTo>
                <a:lnTo>
                  <a:pt x="1400050" y="1171893"/>
                </a:lnTo>
                <a:lnTo>
                  <a:pt x="1414970" y="1180466"/>
                </a:lnTo>
                <a:lnTo>
                  <a:pt x="1432430" y="1189991"/>
                </a:lnTo>
                <a:lnTo>
                  <a:pt x="1452112" y="1200786"/>
                </a:lnTo>
                <a:lnTo>
                  <a:pt x="1474968" y="1212216"/>
                </a:lnTo>
                <a:lnTo>
                  <a:pt x="1500047" y="1224916"/>
                </a:lnTo>
                <a:lnTo>
                  <a:pt x="1557506" y="1253173"/>
                </a:lnTo>
                <a:lnTo>
                  <a:pt x="1575283" y="1262063"/>
                </a:lnTo>
                <a:lnTo>
                  <a:pt x="1591473" y="1270953"/>
                </a:lnTo>
                <a:lnTo>
                  <a:pt x="1598774" y="1275081"/>
                </a:lnTo>
                <a:lnTo>
                  <a:pt x="1605441" y="1279208"/>
                </a:lnTo>
                <a:lnTo>
                  <a:pt x="1611472" y="1283336"/>
                </a:lnTo>
                <a:lnTo>
                  <a:pt x="1617186" y="1287463"/>
                </a:lnTo>
                <a:lnTo>
                  <a:pt x="1622265" y="1291591"/>
                </a:lnTo>
                <a:lnTo>
                  <a:pt x="1627345" y="1296036"/>
                </a:lnTo>
                <a:lnTo>
                  <a:pt x="1631472" y="1300163"/>
                </a:lnTo>
                <a:lnTo>
                  <a:pt x="1635281" y="1303973"/>
                </a:lnTo>
                <a:lnTo>
                  <a:pt x="1638773" y="1307783"/>
                </a:lnTo>
                <a:lnTo>
                  <a:pt x="1641630" y="1311911"/>
                </a:lnTo>
                <a:lnTo>
                  <a:pt x="1643535" y="1315721"/>
                </a:lnTo>
                <a:lnTo>
                  <a:pt x="1645757" y="1319531"/>
                </a:lnTo>
                <a:lnTo>
                  <a:pt x="1648614" y="1327786"/>
                </a:lnTo>
                <a:lnTo>
                  <a:pt x="1651471" y="1337311"/>
                </a:lnTo>
                <a:lnTo>
                  <a:pt x="1653376" y="1348106"/>
                </a:lnTo>
                <a:lnTo>
                  <a:pt x="1655280" y="1360171"/>
                </a:lnTo>
                <a:lnTo>
                  <a:pt x="1656868" y="1373188"/>
                </a:lnTo>
                <a:lnTo>
                  <a:pt x="1657502" y="1388111"/>
                </a:lnTo>
                <a:lnTo>
                  <a:pt x="1658455" y="1403668"/>
                </a:lnTo>
                <a:lnTo>
                  <a:pt x="1658772" y="1420813"/>
                </a:lnTo>
                <a:lnTo>
                  <a:pt x="1658455" y="1427798"/>
                </a:lnTo>
                <a:lnTo>
                  <a:pt x="1657502" y="1434148"/>
                </a:lnTo>
                <a:lnTo>
                  <a:pt x="1656550" y="1439863"/>
                </a:lnTo>
                <a:lnTo>
                  <a:pt x="1655280" y="1445578"/>
                </a:lnTo>
                <a:lnTo>
                  <a:pt x="1653376" y="1450658"/>
                </a:lnTo>
                <a:lnTo>
                  <a:pt x="1650836" y="1455421"/>
                </a:lnTo>
                <a:lnTo>
                  <a:pt x="1648296" y="1459548"/>
                </a:lnTo>
                <a:lnTo>
                  <a:pt x="1645122" y="1463358"/>
                </a:lnTo>
                <a:lnTo>
                  <a:pt x="1641630" y="1466851"/>
                </a:lnTo>
                <a:lnTo>
                  <a:pt x="1637503" y="1469708"/>
                </a:lnTo>
                <a:lnTo>
                  <a:pt x="1632741" y="1471931"/>
                </a:lnTo>
                <a:lnTo>
                  <a:pt x="1627980" y="1474153"/>
                </a:lnTo>
                <a:lnTo>
                  <a:pt x="1622265" y="1475423"/>
                </a:lnTo>
                <a:lnTo>
                  <a:pt x="1616869" y="1477011"/>
                </a:lnTo>
                <a:lnTo>
                  <a:pt x="1610520" y="1477646"/>
                </a:lnTo>
                <a:lnTo>
                  <a:pt x="1603536" y="1477646"/>
                </a:lnTo>
                <a:lnTo>
                  <a:pt x="1595917" y="1477328"/>
                </a:lnTo>
                <a:lnTo>
                  <a:pt x="1588933" y="1476693"/>
                </a:lnTo>
                <a:lnTo>
                  <a:pt x="1582584" y="1474788"/>
                </a:lnTo>
                <a:lnTo>
                  <a:pt x="1579727" y="1473836"/>
                </a:lnTo>
                <a:lnTo>
                  <a:pt x="1577188" y="1472566"/>
                </a:lnTo>
                <a:lnTo>
                  <a:pt x="1574648" y="1471296"/>
                </a:lnTo>
                <a:lnTo>
                  <a:pt x="1572426" y="1469708"/>
                </a:lnTo>
                <a:lnTo>
                  <a:pt x="1570521" y="1467803"/>
                </a:lnTo>
                <a:lnTo>
                  <a:pt x="1568299" y="1466216"/>
                </a:lnTo>
                <a:lnTo>
                  <a:pt x="1566712" y="1463993"/>
                </a:lnTo>
                <a:lnTo>
                  <a:pt x="1565124" y="1461771"/>
                </a:lnTo>
                <a:lnTo>
                  <a:pt x="1563855" y="1459548"/>
                </a:lnTo>
                <a:lnTo>
                  <a:pt x="1562902" y="1457008"/>
                </a:lnTo>
                <a:lnTo>
                  <a:pt x="1561632" y="1454151"/>
                </a:lnTo>
                <a:lnTo>
                  <a:pt x="1560680" y="1450976"/>
                </a:lnTo>
                <a:lnTo>
                  <a:pt x="1559093" y="1442721"/>
                </a:lnTo>
                <a:lnTo>
                  <a:pt x="1557506" y="1432561"/>
                </a:lnTo>
                <a:lnTo>
                  <a:pt x="1556553" y="1420496"/>
                </a:lnTo>
                <a:lnTo>
                  <a:pt x="1555601" y="1406208"/>
                </a:lnTo>
                <a:lnTo>
                  <a:pt x="1554649" y="1390016"/>
                </a:lnTo>
                <a:lnTo>
                  <a:pt x="1554331" y="1371918"/>
                </a:lnTo>
                <a:lnTo>
                  <a:pt x="1554331" y="1351598"/>
                </a:lnTo>
                <a:lnTo>
                  <a:pt x="1554331" y="1300163"/>
                </a:lnTo>
                <a:lnTo>
                  <a:pt x="1280689" y="1300163"/>
                </a:lnTo>
                <a:lnTo>
                  <a:pt x="1280689" y="1341121"/>
                </a:lnTo>
                <a:lnTo>
                  <a:pt x="1281006" y="1358266"/>
                </a:lnTo>
                <a:lnTo>
                  <a:pt x="1281641" y="1375093"/>
                </a:lnTo>
                <a:lnTo>
                  <a:pt x="1283546" y="1390968"/>
                </a:lnTo>
                <a:lnTo>
                  <a:pt x="1285450" y="1406208"/>
                </a:lnTo>
                <a:lnTo>
                  <a:pt x="1288625" y="1420813"/>
                </a:lnTo>
                <a:lnTo>
                  <a:pt x="1292117" y="1434783"/>
                </a:lnTo>
                <a:lnTo>
                  <a:pt x="1296561" y="1448436"/>
                </a:lnTo>
                <a:lnTo>
                  <a:pt x="1301005" y="1460818"/>
                </a:lnTo>
                <a:lnTo>
                  <a:pt x="1303863" y="1466851"/>
                </a:lnTo>
                <a:lnTo>
                  <a:pt x="1306402" y="1472566"/>
                </a:lnTo>
                <a:lnTo>
                  <a:pt x="1309577" y="1478598"/>
                </a:lnTo>
                <a:lnTo>
                  <a:pt x="1312751" y="1484313"/>
                </a:lnTo>
                <a:lnTo>
                  <a:pt x="1315926" y="1489393"/>
                </a:lnTo>
                <a:lnTo>
                  <a:pt x="1319418" y="1494791"/>
                </a:lnTo>
                <a:lnTo>
                  <a:pt x="1322910" y="1499871"/>
                </a:lnTo>
                <a:lnTo>
                  <a:pt x="1326719" y="1504951"/>
                </a:lnTo>
                <a:lnTo>
                  <a:pt x="1330528" y="1509713"/>
                </a:lnTo>
                <a:lnTo>
                  <a:pt x="1334655" y="1514158"/>
                </a:lnTo>
                <a:lnTo>
                  <a:pt x="1339100" y="1518603"/>
                </a:lnTo>
                <a:lnTo>
                  <a:pt x="1343544" y="1523048"/>
                </a:lnTo>
                <a:lnTo>
                  <a:pt x="1347988" y="1527176"/>
                </a:lnTo>
                <a:lnTo>
                  <a:pt x="1352432" y="1530986"/>
                </a:lnTo>
                <a:lnTo>
                  <a:pt x="1357512" y="1534796"/>
                </a:lnTo>
                <a:lnTo>
                  <a:pt x="1362591" y="1538288"/>
                </a:lnTo>
                <a:lnTo>
                  <a:pt x="1372749" y="1545273"/>
                </a:lnTo>
                <a:lnTo>
                  <a:pt x="1383543" y="1551941"/>
                </a:lnTo>
                <a:lnTo>
                  <a:pt x="1394336" y="1557656"/>
                </a:lnTo>
                <a:lnTo>
                  <a:pt x="1405129" y="1563688"/>
                </a:lnTo>
                <a:lnTo>
                  <a:pt x="1416240" y="1569086"/>
                </a:lnTo>
                <a:lnTo>
                  <a:pt x="1427986" y="1573848"/>
                </a:lnTo>
                <a:lnTo>
                  <a:pt x="1439731" y="1578611"/>
                </a:lnTo>
                <a:lnTo>
                  <a:pt x="1451477" y="1583056"/>
                </a:lnTo>
                <a:lnTo>
                  <a:pt x="1463540" y="1586866"/>
                </a:lnTo>
                <a:lnTo>
                  <a:pt x="1475921" y="1590358"/>
                </a:lnTo>
                <a:lnTo>
                  <a:pt x="1488619" y="1593216"/>
                </a:lnTo>
                <a:lnTo>
                  <a:pt x="1500999" y="1596073"/>
                </a:lnTo>
                <a:lnTo>
                  <a:pt x="1514015" y="1598613"/>
                </a:lnTo>
                <a:lnTo>
                  <a:pt x="1527348" y="1600201"/>
                </a:lnTo>
                <a:lnTo>
                  <a:pt x="1540363" y="1602106"/>
                </a:lnTo>
                <a:lnTo>
                  <a:pt x="1554331" y="1603058"/>
                </a:lnTo>
                <a:lnTo>
                  <a:pt x="1554331" y="1684973"/>
                </a:lnTo>
                <a:lnTo>
                  <a:pt x="1680359" y="1684973"/>
                </a:lnTo>
                <a:lnTo>
                  <a:pt x="1680359" y="1605916"/>
                </a:lnTo>
                <a:lnTo>
                  <a:pt x="1697819" y="1603693"/>
                </a:lnTo>
                <a:lnTo>
                  <a:pt x="1714326" y="1601471"/>
                </a:lnTo>
                <a:lnTo>
                  <a:pt x="1730516" y="1598613"/>
                </a:lnTo>
                <a:lnTo>
                  <a:pt x="1746071" y="1595121"/>
                </a:lnTo>
                <a:lnTo>
                  <a:pt x="1761626" y="1591628"/>
                </a:lnTo>
                <a:lnTo>
                  <a:pt x="1775912" y="1587818"/>
                </a:lnTo>
                <a:lnTo>
                  <a:pt x="1790197" y="1583373"/>
                </a:lnTo>
                <a:lnTo>
                  <a:pt x="1803212" y="1578293"/>
                </a:lnTo>
                <a:lnTo>
                  <a:pt x="1816228" y="1573531"/>
                </a:lnTo>
                <a:lnTo>
                  <a:pt x="1828926" y="1567816"/>
                </a:lnTo>
                <a:lnTo>
                  <a:pt x="1840672" y="1562101"/>
                </a:lnTo>
                <a:lnTo>
                  <a:pt x="1851782" y="1555751"/>
                </a:lnTo>
                <a:lnTo>
                  <a:pt x="1862576" y="1549083"/>
                </a:lnTo>
                <a:lnTo>
                  <a:pt x="1872734" y="1541781"/>
                </a:lnTo>
                <a:lnTo>
                  <a:pt x="1882575" y="1534478"/>
                </a:lnTo>
                <a:lnTo>
                  <a:pt x="1891464" y="1526858"/>
                </a:lnTo>
                <a:lnTo>
                  <a:pt x="1900035" y="1518286"/>
                </a:lnTo>
                <a:lnTo>
                  <a:pt x="1907971" y="1510031"/>
                </a:lnTo>
                <a:lnTo>
                  <a:pt x="1915590" y="1500823"/>
                </a:lnTo>
                <a:lnTo>
                  <a:pt x="1922256" y="1491616"/>
                </a:lnTo>
                <a:lnTo>
                  <a:pt x="1928605" y="1481773"/>
                </a:lnTo>
                <a:lnTo>
                  <a:pt x="1934319" y="1471613"/>
                </a:lnTo>
                <a:lnTo>
                  <a:pt x="1939716" y="1461136"/>
                </a:lnTo>
                <a:lnTo>
                  <a:pt x="1944160" y="1450341"/>
                </a:lnTo>
                <a:lnTo>
                  <a:pt x="1948287" y="1439228"/>
                </a:lnTo>
                <a:lnTo>
                  <a:pt x="1951779" y="1427798"/>
                </a:lnTo>
                <a:lnTo>
                  <a:pt x="1954954" y="1415416"/>
                </a:lnTo>
                <a:lnTo>
                  <a:pt x="1957493" y="1403351"/>
                </a:lnTo>
                <a:lnTo>
                  <a:pt x="1959398" y="1390333"/>
                </a:lnTo>
                <a:lnTo>
                  <a:pt x="1960985" y="1377633"/>
                </a:lnTo>
                <a:lnTo>
                  <a:pt x="1961620" y="1363981"/>
                </a:lnTo>
                <a:lnTo>
                  <a:pt x="1961938" y="1350011"/>
                </a:lnTo>
                <a:lnTo>
                  <a:pt x="1961620" y="1332866"/>
                </a:lnTo>
                <a:lnTo>
                  <a:pt x="1960985" y="1324611"/>
                </a:lnTo>
                <a:lnTo>
                  <a:pt x="1960350" y="1316038"/>
                </a:lnTo>
                <a:lnTo>
                  <a:pt x="1959398" y="1308418"/>
                </a:lnTo>
                <a:lnTo>
                  <a:pt x="1958128" y="1300481"/>
                </a:lnTo>
                <a:lnTo>
                  <a:pt x="1957176" y="1292861"/>
                </a:lnTo>
                <a:lnTo>
                  <a:pt x="1955271" y="1285558"/>
                </a:lnTo>
                <a:lnTo>
                  <a:pt x="1953684" y="1278256"/>
                </a:lnTo>
                <a:lnTo>
                  <a:pt x="1951779" y="1271271"/>
                </a:lnTo>
                <a:lnTo>
                  <a:pt x="1949875" y="1264286"/>
                </a:lnTo>
                <a:lnTo>
                  <a:pt x="1947335" y="1257618"/>
                </a:lnTo>
                <a:lnTo>
                  <a:pt x="1944795" y="1250951"/>
                </a:lnTo>
                <a:lnTo>
                  <a:pt x="1942256" y="1244601"/>
                </a:lnTo>
                <a:lnTo>
                  <a:pt x="1939081" y="1238251"/>
                </a:lnTo>
                <a:lnTo>
                  <a:pt x="1935907" y="1232536"/>
                </a:lnTo>
                <a:lnTo>
                  <a:pt x="1929240" y="1221106"/>
                </a:lnTo>
                <a:lnTo>
                  <a:pt x="1922256" y="1210311"/>
                </a:lnTo>
                <a:lnTo>
                  <a:pt x="1914637" y="1200151"/>
                </a:lnTo>
                <a:lnTo>
                  <a:pt x="1907019" y="1190626"/>
                </a:lnTo>
                <a:lnTo>
                  <a:pt x="1898448" y="1182053"/>
                </a:lnTo>
                <a:lnTo>
                  <a:pt x="1890194" y="1173798"/>
                </a:lnTo>
                <a:lnTo>
                  <a:pt x="1880988" y="1166178"/>
                </a:lnTo>
                <a:lnTo>
                  <a:pt x="1872099" y="1159510"/>
                </a:lnTo>
                <a:lnTo>
                  <a:pt x="1861306" y="1152843"/>
                </a:lnTo>
                <a:lnTo>
                  <a:pt x="1848608" y="1145223"/>
                </a:lnTo>
                <a:lnTo>
                  <a:pt x="1834005" y="1136968"/>
                </a:lnTo>
                <a:lnTo>
                  <a:pt x="1817180" y="1128078"/>
                </a:lnTo>
                <a:lnTo>
                  <a:pt x="1798451" y="1118553"/>
                </a:lnTo>
                <a:lnTo>
                  <a:pt x="1777499" y="1108075"/>
                </a:lnTo>
                <a:lnTo>
                  <a:pt x="1754642" y="1097280"/>
                </a:lnTo>
                <a:lnTo>
                  <a:pt x="1729881" y="1085215"/>
                </a:lnTo>
                <a:lnTo>
                  <a:pt x="1700358" y="1071880"/>
                </a:lnTo>
                <a:lnTo>
                  <a:pt x="1674327" y="1059180"/>
                </a:lnTo>
                <a:lnTo>
                  <a:pt x="1651471" y="1047750"/>
                </a:lnTo>
                <a:lnTo>
                  <a:pt x="1631472" y="1037590"/>
                </a:lnTo>
                <a:lnTo>
                  <a:pt x="1614329" y="1028383"/>
                </a:lnTo>
                <a:lnTo>
                  <a:pt x="1600679" y="1020445"/>
                </a:lnTo>
                <a:lnTo>
                  <a:pt x="1589568" y="1013778"/>
                </a:lnTo>
                <a:lnTo>
                  <a:pt x="1581949" y="1008380"/>
                </a:lnTo>
                <a:lnTo>
                  <a:pt x="1578775" y="1005840"/>
                </a:lnTo>
                <a:lnTo>
                  <a:pt x="1575918" y="1002665"/>
                </a:lnTo>
                <a:lnTo>
                  <a:pt x="1573378" y="999808"/>
                </a:lnTo>
                <a:lnTo>
                  <a:pt x="1570838" y="996315"/>
                </a:lnTo>
                <a:lnTo>
                  <a:pt x="1568299" y="992823"/>
                </a:lnTo>
                <a:lnTo>
                  <a:pt x="1566394" y="989013"/>
                </a:lnTo>
                <a:lnTo>
                  <a:pt x="1564489" y="985203"/>
                </a:lnTo>
                <a:lnTo>
                  <a:pt x="1562902" y="981075"/>
                </a:lnTo>
                <a:lnTo>
                  <a:pt x="1560998" y="976630"/>
                </a:lnTo>
                <a:lnTo>
                  <a:pt x="1560045" y="971868"/>
                </a:lnTo>
                <a:lnTo>
                  <a:pt x="1559093" y="967105"/>
                </a:lnTo>
                <a:lnTo>
                  <a:pt x="1557823" y="962025"/>
                </a:lnTo>
                <a:lnTo>
                  <a:pt x="1557188" y="956310"/>
                </a:lnTo>
                <a:lnTo>
                  <a:pt x="1556871" y="950595"/>
                </a:lnTo>
                <a:lnTo>
                  <a:pt x="1556236" y="938848"/>
                </a:lnTo>
                <a:lnTo>
                  <a:pt x="1556553" y="931863"/>
                </a:lnTo>
                <a:lnTo>
                  <a:pt x="1557188" y="924878"/>
                </a:lnTo>
                <a:lnTo>
                  <a:pt x="1557823" y="918528"/>
                </a:lnTo>
                <a:lnTo>
                  <a:pt x="1559410" y="913130"/>
                </a:lnTo>
                <a:lnTo>
                  <a:pt x="1560998" y="907415"/>
                </a:lnTo>
                <a:lnTo>
                  <a:pt x="1563537" y="902653"/>
                </a:lnTo>
                <a:lnTo>
                  <a:pt x="1566077" y="898525"/>
                </a:lnTo>
                <a:lnTo>
                  <a:pt x="1568616" y="894398"/>
                </a:lnTo>
                <a:lnTo>
                  <a:pt x="1572108" y="890905"/>
                </a:lnTo>
                <a:lnTo>
                  <a:pt x="1575600" y="888048"/>
                </a:lnTo>
                <a:lnTo>
                  <a:pt x="1579727" y="885190"/>
                </a:lnTo>
                <a:lnTo>
                  <a:pt x="1584489" y="882968"/>
                </a:lnTo>
                <a:lnTo>
                  <a:pt x="1589251" y="881698"/>
                </a:lnTo>
                <a:lnTo>
                  <a:pt x="1594647" y="880745"/>
                </a:lnTo>
                <a:lnTo>
                  <a:pt x="1600361" y="879793"/>
                </a:lnTo>
                <a:lnTo>
                  <a:pt x="1606393" y="879475"/>
                </a:lnTo>
                <a:lnTo>
                  <a:pt x="1613694" y="879793"/>
                </a:lnTo>
                <a:lnTo>
                  <a:pt x="1620678" y="880745"/>
                </a:lnTo>
                <a:lnTo>
                  <a:pt x="1626710" y="882015"/>
                </a:lnTo>
                <a:lnTo>
                  <a:pt x="1632106" y="883920"/>
                </a:lnTo>
                <a:lnTo>
                  <a:pt x="1636551" y="886143"/>
                </a:lnTo>
                <a:lnTo>
                  <a:pt x="1640995" y="889318"/>
                </a:lnTo>
                <a:lnTo>
                  <a:pt x="1642582" y="890905"/>
                </a:lnTo>
                <a:lnTo>
                  <a:pt x="1644487" y="892810"/>
                </a:lnTo>
                <a:lnTo>
                  <a:pt x="1645757" y="894715"/>
                </a:lnTo>
                <a:lnTo>
                  <a:pt x="1647027" y="896620"/>
                </a:lnTo>
                <a:lnTo>
                  <a:pt x="1649249" y="901700"/>
                </a:lnTo>
                <a:lnTo>
                  <a:pt x="1651471" y="907733"/>
                </a:lnTo>
                <a:lnTo>
                  <a:pt x="1652741" y="915035"/>
                </a:lnTo>
                <a:lnTo>
                  <a:pt x="1654011" y="923608"/>
                </a:lnTo>
                <a:lnTo>
                  <a:pt x="1655280" y="933450"/>
                </a:lnTo>
                <a:lnTo>
                  <a:pt x="1655915" y="944245"/>
                </a:lnTo>
                <a:lnTo>
                  <a:pt x="1656233" y="956310"/>
                </a:lnTo>
                <a:lnTo>
                  <a:pt x="1656550" y="969645"/>
                </a:lnTo>
                <a:lnTo>
                  <a:pt x="1656550" y="1004570"/>
                </a:lnTo>
                <a:lnTo>
                  <a:pt x="1930193" y="1004570"/>
                </a:lnTo>
                <a:lnTo>
                  <a:pt x="1932097" y="981393"/>
                </a:lnTo>
                <a:lnTo>
                  <a:pt x="1932732" y="972503"/>
                </a:lnTo>
                <a:lnTo>
                  <a:pt x="1932732" y="964883"/>
                </a:lnTo>
                <a:lnTo>
                  <a:pt x="1932732" y="953453"/>
                </a:lnTo>
                <a:lnTo>
                  <a:pt x="1932097" y="942340"/>
                </a:lnTo>
                <a:lnTo>
                  <a:pt x="1930510" y="931545"/>
                </a:lnTo>
                <a:lnTo>
                  <a:pt x="1928923" y="920750"/>
                </a:lnTo>
                <a:lnTo>
                  <a:pt x="1926701" y="910590"/>
                </a:lnTo>
                <a:lnTo>
                  <a:pt x="1923844" y="900748"/>
                </a:lnTo>
                <a:lnTo>
                  <a:pt x="1920987" y="891223"/>
                </a:lnTo>
                <a:lnTo>
                  <a:pt x="1916860" y="881698"/>
                </a:lnTo>
                <a:lnTo>
                  <a:pt x="1912733" y="873125"/>
                </a:lnTo>
                <a:lnTo>
                  <a:pt x="1908288" y="864235"/>
                </a:lnTo>
                <a:lnTo>
                  <a:pt x="1903209" y="855980"/>
                </a:lnTo>
                <a:lnTo>
                  <a:pt x="1897495" y="847725"/>
                </a:lnTo>
                <a:lnTo>
                  <a:pt x="1891146" y="840105"/>
                </a:lnTo>
                <a:lnTo>
                  <a:pt x="1884480" y="832485"/>
                </a:lnTo>
                <a:lnTo>
                  <a:pt x="1877496" y="825500"/>
                </a:lnTo>
                <a:lnTo>
                  <a:pt x="1869877" y="818833"/>
                </a:lnTo>
                <a:lnTo>
                  <a:pt x="1861623" y="812165"/>
                </a:lnTo>
                <a:lnTo>
                  <a:pt x="1853370" y="806450"/>
                </a:lnTo>
                <a:lnTo>
                  <a:pt x="1844163" y="800418"/>
                </a:lnTo>
                <a:lnTo>
                  <a:pt x="1834322" y="795020"/>
                </a:lnTo>
                <a:lnTo>
                  <a:pt x="1824164" y="789623"/>
                </a:lnTo>
                <a:lnTo>
                  <a:pt x="1813688" y="784860"/>
                </a:lnTo>
                <a:lnTo>
                  <a:pt x="1802577" y="780098"/>
                </a:lnTo>
                <a:lnTo>
                  <a:pt x="1790832" y="775970"/>
                </a:lnTo>
                <a:lnTo>
                  <a:pt x="1779086" y="772160"/>
                </a:lnTo>
                <a:lnTo>
                  <a:pt x="1766388" y="768350"/>
                </a:lnTo>
                <a:lnTo>
                  <a:pt x="1753055" y="765175"/>
                </a:lnTo>
                <a:lnTo>
                  <a:pt x="1739405" y="762000"/>
                </a:lnTo>
                <a:lnTo>
                  <a:pt x="1725754" y="759778"/>
                </a:lnTo>
                <a:lnTo>
                  <a:pt x="1710834" y="757238"/>
                </a:lnTo>
                <a:lnTo>
                  <a:pt x="1695914" y="755015"/>
                </a:lnTo>
                <a:lnTo>
                  <a:pt x="1680359" y="753428"/>
                </a:lnTo>
                <a:lnTo>
                  <a:pt x="1680359" y="686118"/>
                </a:lnTo>
                <a:lnTo>
                  <a:pt x="1554331" y="686118"/>
                </a:lnTo>
                <a:close/>
                <a:moveTo>
                  <a:pt x="1619408" y="0"/>
                </a:moveTo>
                <a:lnTo>
                  <a:pt x="2640012" y="871220"/>
                </a:lnTo>
                <a:lnTo>
                  <a:pt x="2113362" y="871220"/>
                </a:lnTo>
                <a:lnTo>
                  <a:pt x="2274944" y="1871663"/>
                </a:lnTo>
                <a:lnTo>
                  <a:pt x="963555" y="1871663"/>
                </a:lnTo>
                <a:lnTo>
                  <a:pt x="1103234" y="871220"/>
                </a:lnTo>
                <a:lnTo>
                  <a:pt x="598487" y="871220"/>
                </a:lnTo>
                <a:lnTo>
                  <a:pt x="16194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240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6C9DD02-B106-2608-18D8-0B2BBB4FC48E}"/>
              </a:ext>
            </a:extLst>
          </p:cNvPr>
          <p:cNvSpPr/>
          <p:nvPr/>
        </p:nvSpPr>
        <p:spPr>
          <a:xfrm>
            <a:off x="5515714" y="4272592"/>
            <a:ext cx="2414926" cy="409006"/>
          </a:xfrm>
          <a:prstGeom prst="roundRect">
            <a:avLst>
              <a:gd name="adj" fmla="val 50000"/>
            </a:avLst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发表期刊分布集中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FBD3ABD-9A1A-2E7A-B6C6-6207AE0B1140}"/>
              </a:ext>
            </a:extLst>
          </p:cNvPr>
          <p:cNvSpPr/>
          <p:nvPr/>
        </p:nvSpPr>
        <p:spPr>
          <a:xfrm>
            <a:off x="5492822" y="3713834"/>
            <a:ext cx="2614377" cy="409006"/>
          </a:xfrm>
          <a:prstGeom prst="roundRect">
            <a:avLst>
              <a:gd name="adj" fmla="val 50000"/>
            </a:avLst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美、英、中三足鼎立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EA87A1C-CD1F-4341-B2FF-D2F525E21E45}"/>
              </a:ext>
            </a:extLst>
          </p:cNvPr>
          <p:cNvSpPr/>
          <p:nvPr/>
        </p:nvSpPr>
        <p:spPr>
          <a:xfrm>
            <a:off x="5515714" y="3152733"/>
            <a:ext cx="2414926" cy="409006"/>
          </a:xfrm>
          <a:prstGeom prst="roundRect">
            <a:avLst>
              <a:gd name="adj" fmla="val 50000"/>
            </a:avLst>
          </a:pr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研究热度持续走高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C9E01C3-314B-0C21-66C2-230324F44BA1}"/>
              </a:ext>
            </a:extLst>
          </p:cNvPr>
          <p:cNvSpPr txBox="1"/>
          <p:nvPr/>
        </p:nvSpPr>
        <p:spPr>
          <a:xfrm>
            <a:off x="908579" y="2678089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年度发文趋势图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1094F5-4983-8B2A-FA1A-772A5BE22E11}"/>
              </a:ext>
            </a:extLst>
          </p:cNvPr>
          <p:cNvSpPr txBox="1"/>
          <p:nvPr/>
        </p:nvSpPr>
        <p:spPr>
          <a:xfrm>
            <a:off x="5479153" y="2734362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国家发文数量图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788FDA-D7DE-78E2-2574-D17256E74E86}"/>
              </a:ext>
            </a:extLst>
          </p:cNvPr>
          <p:cNvSpPr txBox="1"/>
          <p:nvPr/>
        </p:nvSpPr>
        <p:spPr>
          <a:xfrm>
            <a:off x="944976" y="4552606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期刊发文数量图</a:t>
            </a:r>
          </a:p>
        </p:txBody>
      </p:sp>
    </p:spTree>
    <p:extLst>
      <p:ext uri="{BB962C8B-B14F-4D97-AF65-F5344CB8AC3E}">
        <p14:creationId xmlns:p14="http://schemas.microsoft.com/office/powerpoint/2010/main" val="1630090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CFC75-9491-F92C-C808-7BDF3CE69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13339E44-B366-3166-6770-9641DF5ADE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79" y="2877687"/>
            <a:ext cx="4020853" cy="2168314"/>
          </a:xfrm>
          <a:prstGeom prst="rect">
            <a:avLst/>
          </a:prstGeom>
        </p:spPr>
      </p:pic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A32D9806-B3C1-689E-DC62-57F4157546D8}"/>
              </a:ext>
            </a:extLst>
          </p:cNvPr>
          <p:cNvSpPr/>
          <p:nvPr/>
        </p:nvSpPr>
        <p:spPr>
          <a:xfrm>
            <a:off x="722166" y="642236"/>
            <a:ext cx="2024979" cy="304959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研究热点分析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DCEF25D-9D25-128E-96E4-0D770C147B0C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66F0DA0-2B76-AA64-A825-3CEC0A328956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A2B45C7D-39F6-8027-5656-D3A713F6A662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BE9C389-4FEC-2401-7E6C-A78BA947C43A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数据的可视化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ACDDD1EA-BB8F-7AED-8DB5-AACA1EEC2D94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A50CC3FA-1E3D-3576-5644-2BBB35891586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3F06061-FF81-12EB-6D26-DB87FBC40EF2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BC60F3B-2618-858E-98B7-FE17148E0ED2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7CED732-018F-73A3-A449-BD78B180B173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B716889-04A4-17BF-8485-754DAB903828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BDBC266-F7B3-CC7B-C91A-2DF5A784D737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D75BF56-FCD6-CCC0-CFF0-6F1FEEC10F9F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26BC239C-B315-51B0-9092-FB0B6FEE323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3" y="1092462"/>
            <a:ext cx="2841109" cy="163995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56B12E6C-7F56-33BF-FE99-6A14879F8C0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83" y="1161096"/>
            <a:ext cx="2667303" cy="1531065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6BA971AA-2F77-FDB5-F1D2-3E6F722DC454}"/>
              </a:ext>
            </a:extLst>
          </p:cNvPr>
          <p:cNvSpPr txBox="1"/>
          <p:nvPr/>
        </p:nvSpPr>
        <p:spPr>
          <a:xfrm>
            <a:off x="7826790" y="1153141"/>
            <a:ext cx="1107996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2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高频研究主题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1563145C-EB19-CF28-560D-F009C5749552}"/>
              </a:ext>
            </a:extLst>
          </p:cNvPr>
          <p:cNvSpPr txBox="1"/>
          <p:nvPr/>
        </p:nvSpPr>
        <p:spPr>
          <a:xfrm>
            <a:off x="7261862" y="1468163"/>
            <a:ext cx="1882138" cy="1347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核心主题：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Attention Deficit Hyperactivity Disorder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5501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篇）、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Children's Physical and Motor Development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709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）、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Autism Spectrum Disorder Research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665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），常与儿童发展、自闭症谱系障碍等议题交叉研究。</a:t>
            </a: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4EAD8675-E634-8ABB-65D2-DB468F117BAA}"/>
              </a:ext>
            </a:extLst>
          </p:cNvPr>
          <p:cNvGrpSpPr/>
          <p:nvPr/>
        </p:nvGrpSpPr>
        <p:grpSpPr>
          <a:xfrm>
            <a:off x="7456338" y="1042713"/>
            <a:ext cx="425056" cy="409006"/>
            <a:chOff x="3216452" y="846582"/>
            <a:chExt cx="594591" cy="538929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E469D6BB-DF43-4DBE-B109-62C1B38D1B75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A13104E7-085A-7E1D-85B5-437F59E3310D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96" name="Freeform 108">
            <a:extLst>
              <a:ext uri="{FF2B5EF4-FFF2-40B4-BE49-F238E27FC236}">
                <a16:creationId xmlns:a16="http://schemas.microsoft.com/office/drawing/2014/main" id="{310389B4-EAF6-8A86-9B64-84A8F0C911A9}"/>
              </a:ext>
            </a:extLst>
          </p:cNvPr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7610447" y="1187742"/>
            <a:ext cx="127932" cy="112446"/>
          </a:xfrm>
          <a:custGeom>
            <a:avLst/>
            <a:gdLst>
              <a:gd name="T0" fmla="*/ 97 w 115"/>
              <a:gd name="T1" fmla="*/ 48 h 115"/>
              <a:gd name="T2" fmla="*/ 91 w 115"/>
              <a:gd name="T3" fmla="*/ 41 h 115"/>
              <a:gd name="T4" fmla="*/ 102 w 115"/>
              <a:gd name="T5" fmla="*/ 26 h 115"/>
              <a:gd name="T6" fmla="*/ 94 w 115"/>
              <a:gd name="T7" fmla="*/ 13 h 115"/>
              <a:gd name="T8" fmla="*/ 79 w 115"/>
              <a:gd name="T9" fmla="*/ 23 h 115"/>
              <a:gd name="T10" fmla="*/ 70 w 115"/>
              <a:gd name="T11" fmla="*/ 22 h 115"/>
              <a:gd name="T12" fmla="*/ 67 w 115"/>
              <a:gd name="T13" fmla="*/ 3 h 115"/>
              <a:gd name="T14" fmla="*/ 52 w 115"/>
              <a:gd name="T15" fmla="*/ 0 h 115"/>
              <a:gd name="T16" fmla="*/ 48 w 115"/>
              <a:gd name="T17" fmla="*/ 18 h 115"/>
              <a:gd name="T18" fmla="*/ 41 w 115"/>
              <a:gd name="T19" fmla="*/ 24 h 115"/>
              <a:gd name="T20" fmla="*/ 26 w 115"/>
              <a:gd name="T21" fmla="*/ 13 h 115"/>
              <a:gd name="T22" fmla="*/ 13 w 115"/>
              <a:gd name="T23" fmla="*/ 21 h 115"/>
              <a:gd name="T24" fmla="*/ 23 w 115"/>
              <a:gd name="T25" fmla="*/ 36 h 115"/>
              <a:gd name="T26" fmla="*/ 22 w 115"/>
              <a:gd name="T27" fmla="*/ 45 h 115"/>
              <a:gd name="T28" fmla="*/ 4 w 115"/>
              <a:gd name="T29" fmla="*/ 48 h 115"/>
              <a:gd name="T30" fmla="*/ 0 w 115"/>
              <a:gd name="T31" fmla="*/ 63 h 115"/>
              <a:gd name="T32" fmla="*/ 18 w 115"/>
              <a:gd name="T33" fmla="*/ 66 h 115"/>
              <a:gd name="T34" fmla="*/ 24 w 115"/>
              <a:gd name="T35" fmla="*/ 73 h 115"/>
              <a:gd name="T36" fmla="*/ 13 w 115"/>
              <a:gd name="T37" fmla="*/ 89 h 115"/>
              <a:gd name="T38" fmla="*/ 21 w 115"/>
              <a:gd name="T39" fmla="*/ 102 h 115"/>
              <a:gd name="T40" fmla="*/ 36 w 115"/>
              <a:gd name="T41" fmla="*/ 92 h 115"/>
              <a:gd name="T42" fmla="*/ 45 w 115"/>
              <a:gd name="T43" fmla="*/ 92 h 115"/>
              <a:gd name="T44" fmla="*/ 48 w 115"/>
              <a:gd name="T45" fmla="*/ 111 h 115"/>
              <a:gd name="T46" fmla="*/ 63 w 115"/>
              <a:gd name="T47" fmla="*/ 115 h 115"/>
              <a:gd name="T48" fmla="*/ 67 w 115"/>
              <a:gd name="T49" fmla="*/ 97 h 115"/>
              <a:gd name="T50" fmla="*/ 74 w 115"/>
              <a:gd name="T51" fmla="*/ 91 h 115"/>
              <a:gd name="T52" fmla="*/ 89 w 115"/>
              <a:gd name="T53" fmla="*/ 102 h 115"/>
              <a:gd name="T54" fmla="*/ 102 w 115"/>
              <a:gd name="T55" fmla="*/ 94 h 115"/>
              <a:gd name="T56" fmla="*/ 92 w 115"/>
              <a:gd name="T57" fmla="*/ 79 h 115"/>
              <a:gd name="T58" fmla="*/ 93 w 115"/>
              <a:gd name="T59" fmla="*/ 70 h 115"/>
              <a:gd name="T60" fmla="*/ 112 w 115"/>
              <a:gd name="T61" fmla="*/ 66 h 115"/>
              <a:gd name="T62" fmla="*/ 115 w 115"/>
              <a:gd name="T63" fmla="*/ 52 h 115"/>
              <a:gd name="T64" fmla="*/ 58 w 115"/>
              <a:gd name="T65" fmla="*/ 79 h 115"/>
              <a:gd name="T66" fmla="*/ 58 w 115"/>
              <a:gd name="T67" fmla="*/ 36 h 115"/>
              <a:gd name="T68" fmla="*/ 58 w 115"/>
              <a:gd name="T69" fmla="*/ 79 h 115"/>
              <a:gd name="T70" fmla="*/ 49 w 115"/>
              <a:gd name="T71" fmla="*/ 57 h 115"/>
              <a:gd name="T72" fmla="*/ 67 w 115"/>
              <a:gd name="T73" fmla="*/ 57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115">
                <a:moveTo>
                  <a:pt x="112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5" y="48"/>
                  <a:pt x="93" y="47"/>
                  <a:pt x="93" y="45"/>
                </a:cubicBezTo>
                <a:cubicBezTo>
                  <a:pt x="91" y="41"/>
                  <a:pt x="91" y="41"/>
                  <a:pt x="91" y="41"/>
                </a:cubicBezTo>
                <a:cubicBezTo>
                  <a:pt x="90" y="40"/>
                  <a:pt x="91" y="37"/>
                  <a:pt x="92" y="3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4"/>
                  <a:pt x="104" y="22"/>
                  <a:pt x="102" y="21"/>
                </a:cubicBezTo>
                <a:cubicBezTo>
                  <a:pt x="94" y="13"/>
                  <a:pt x="94" y="13"/>
                  <a:pt x="94" y="13"/>
                </a:cubicBezTo>
                <a:cubicBezTo>
                  <a:pt x="93" y="11"/>
                  <a:pt x="91" y="11"/>
                  <a:pt x="89" y="13"/>
                </a:cubicBezTo>
                <a:cubicBezTo>
                  <a:pt x="79" y="23"/>
                  <a:pt x="79" y="23"/>
                  <a:pt x="79" y="23"/>
                </a:cubicBezTo>
                <a:cubicBezTo>
                  <a:pt x="78" y="24"/>
                  <a:pt x="75" y="25"/>
                  <a:pt x="74" y="24"/>
                </a:cubicBezTo>
                <a:cubicBezTo>
                  <a:pt x="70" y="22"/>
                  <a:pt x="70" y="22"/>
                  <a:pt x="70" y="22"/>
                </a:cubicBezTo>
                <a:cubicBezTo>
                  <a:pt x="68" y="22"/>
                  <a:pt x="67" y="20"/>
                  <a:pt x="67" y="18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0" y="0"/>
                  <a:pt x="48" y="1"/>
                  <a:pt x="48" y="3"/>
                </a:cubicBezTo>
                <a:cubicBezTo>
                  <a:pt x="48" y="18"/>
                  <a:pt x="48" y="18"/>
                  <a:pt x="48" y="18"/>
                </a:cubicBezTo>
                <a:cubicBezTo>
                  <a:pt x="48" y="20"/>
                  <a:pt x="47" y="22"/>
                  <a:pt x="45" y="22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5"/>
                  <a:pt x="37" y="24"/>
                  <a:pt x="36" y="23"/>
                </a:cubicBezTo>
                <a:cubicBezTo>
                  <a:pt x="26" y="13"/>
                  <a:pt x="26" y="13"/>
                  <a:pt x="26" y="13"/>
                </a:cubicBezTo>
                <a:cubicBezTo>
                  <a:pt x="25" y="11"/>
                  <a:pt x="22" y="11"/>
                  <a:pt x="21" y="13"/>
                </a:cubicBezTo>
                <a:cubicBezTo>
                  <a:pt x="13" y="21"/>
                  <a:pt x="13" y="21"/>
                  <a:pt x="13" y="21"/>
                </a:cubicBezTo>
                <a:cubicBezTo>
                  <a:pt x="12" y="22"/>
                  <a:pt x="12" y="24"/>
                  <a:pt x="13" y="26"/>
                </a:cubicBezTo>
                <a:cubicBezTo>
                  <a:pt x="23" y="36"/>
                  <a:pt x="23" y="36"/>
                  <a:pt x="23" y="36"/>
                </a:cubicBezTo>
                <a:cubicBezTo>
                  <a:pt x="24" y="37"/>
                  <a:pt x="25" y="40"/>
                  <a:pt x="24" y="41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0" y="48"/>
                  <a:pt x="1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5"/>
                  <a:pt x="2" y="66"/>
                  <a:pt x="4" y="66"/>
                </a:cubicBezTo>
                <a:cubicBezTo>
                  <a:pt x="18" y="66"/>
                  <a:pt x="18" y="66"/>
                  <a:pt x="18" y="66"/>
                </a:cubicBezTo>
                <a:cubicBezTo>
                  <a:pt x="20" y="66"/>
                  <a:pt x="22" y="68"/>
                  <a:pt x="22" y="70"/>
                </a:cubicBezTo>
                <a:cubicBezTo>
                  <a:pt x="24" y="73"/>
                  <a:pt x="24" y="73"/>
                  <a:pt x="24" y="73"/>
                </a:cubicBezTo>
                <a:cubicBezTo>
                  <a:pt x="25" y="75"/>
                  <a:pt x="24" y="78"/>
                  <a:pt x="23" y="79"/>
                </a:cubicBezTo>
                <a:cubicBezTo>
                  <a:pt x="13" y="89"/>
                  <a:pt x="13" y="89"/>
                  <a:pt x="13" y="89"/>
                </a:cubicBezTo>
                <a:cubicBezTo>
                  <a:pt x="12" y="90"/>
                  <a:pt x="12" y="93"/>
                  <a:pt x="13" y="94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103"/>
                  <a:pt x="25" y="103"/>
                  <a:pt x="26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0"/>
                  <a:pt x="40" y="90"/>
                  <a:pt x="41" y="91"/>
                </a:cubicBezTo>
                <a:cubicBezTo>
                  <a:pt x="45" y="92"/>
                  <a:pt x="45" y="92"/>
                  <a:pt x="45" y="92"/>
                </a:cubicBezTo>
                <a:cubicBezTo>
                  <a:pt x="47" y="93"/>
                  <a:pt x="48" y="95"/>
                  <a:pt x="48" y="9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8" y="113"/>
                  <a:pt x="50" y="115"/>
                  <a:pt x="52" y="115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5" y="115"/>
                  <a:pt x="67" y="113"/>
                  <a:pt x="67" y="111"/>
                </a:cubicBezTo>
                <a:cubicBezTo>
                  <a:pt x="67" y="97"/>
                  <a:pt x="67" y="97"/>
                  <a:pt x="67" y="97"/>
                </a:cubicBezTo>
                <a:cubicBezTo>
                  <a:pt x="67" y="95"/>
                  <a:pt x="68" y="93"/>
                  <a:pt x="70" y="92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8" y="90"/>
                  <a:pt x="79" y="92"/>
                </a:cubicBezTo>
                <a:cubicBezTo>
                  <a:pt x="89" y="102"/>
                  <a:pt x="89" y="102"/>
                  <a:pt x="89" y="102"/>
                </a:cubicBezTo>
                <a:cubicBezTo>
                  <a:pt x="91" y="103"/>
                  <a:pt x="93" y="103"/>
                  <a:pt x="94" y="102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04" y="93"/>
                  <a:pt x="104" y="90"/>
                  <a:pt x="102" y="89"/>
                </a:cubicBezTo>
                <a:cubicBezTo>
                  <a:pt x="92" y="79"/>
                  <a:pt x="92" y="79"/>
                  <a:pt x="92" y="79"/>
                </a:cubicBezTo>
                <a:cubicBezTo>
                  <a:pt x="91" y="78"/>
                  <a:pt x="90" y="75"/>
                  <a:pt x="91" y="73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68"/>
                  <a:pt x="95" y="66"/>
                  <a:pt x="97" y="66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3" y="66"/>
                  <a:pt x="115" y="65"/>
                  <a:pt x="115" y="6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15" y="50"/>
                  <a:pt x="113" y="48"/>
                  <a:pt x="112" y="48"/>
                </a:cubicBezTo>
                <a:close/>
                <a:moveTo>
                  <a:pt x="58" y="79"/>
                </a:moveTo>
                <a:cubicBezTo>
                  <a:pt x="46" y="79"/>
                  <a:pt x="36" y="69"/>
                  <a:pt x="36" y="57"/>
                </a:cubicBezTo>
                <a:cubicBezTo>
                  <a:pt x="36" y="46"/>
                  <a:pt x="46" y="36"/>
                  <a:pt x="58" y="36"/>
                </a:cubicBezTo>
                <a:cubicBezTo>
                  <a:pt x="69" y="36"/>
                  <a:pt x="79" y="46"/>
                  <a:pt x="79" y="57"/>
                </a:cubicBezTo>
                <a:cubicBezTo>
                  <a:pt x="79" y="69"/>
                  <a:pt x="69" y="79"/>
                  <a:pt x="58" y="79"/>
                </a:cubicBezTo>
                <a:close/>
                <a:moveTo>
                  <a:pt x="58" y="48"/>
                </a:moveTo>
                <a:cubicBezTo>
                  <a:pt x="53" y="48"/>
                  <a:pt x="49" y="52"/>
                  <a:pt x="49" y="57"/>
                </a:cubicBezTo>
                <a:cubicBezTo>
                  <a:pt x="49" y="62"/>
                  <a:pt x="53" y="66"/>
                  <a:pt x="58" y="66"/>
                </a:cubicBezTo>
                <a:cubicBezTo>
                  <a:pt x="63" y="66"/>
                  <a:pt x="67" y="62"/>
                  <a:pt x="67" y="57"/>
                </a:cubicBezTo>
                <a:cubicBezTo>
                  <a:pt x="67" y="52"/>
                  <a:pt x="63" y="48"/>
                  <a:pt x="58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39" tIns="45719" rIns="91439" bIns="45719" numCol="1" anchor="t" anchorCtr="0" compatLnSpc="1"/>
          <a:lstStyle/>
          <a:p>
            <a:pPr defTabSz="1219200">
              <a:defRPr/>
            </a:pPr>
            <a:endParaRPr lang="zh-CN" altLang="en-US" sz="2400" kern="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0F3D22-CC42-12BF-AD83-5F465FAA2AB9}"/>
              </a:ext>
            </a:extLst>
          </p:cNvPr>
          <p:cNvSpPr txBox="1"/>
          <p:nvPr/>
        </p:nvSpPr>
        <p:spPr>
          <a:xfrm>
            <a:off x="3352103" y="1161096"/>
            <a:ext cx="1107996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2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高频研究概念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1E77BD-6011-1B68-A230-7CFE7AE9D6C7}"/>
              </a:ext>
            </a:extLst>
          </p:cNvPr>
          <p:cNvSpPr txBox="1"/>
          <p:nvPr/>
        </p:nvSpPr>
        <p:spPr>
          <a:xfrm>
            <a:off x="2940091" y="1476118"/>
            <a:ext cx="1687662" cy="163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核心概念：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研究主要集中在心理学、精神病学和临床医学领域。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关键细分：</a:t>
            </a:r>
            <a:r>
              <a:rPr lang="en-US" altLang="zh-CN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Attention deficit hyperactivity </a:t>
            </a:r>
            <a:r>
              <a:rPr lang="en-US" altLang="zh-CN" sz="700" dirty="0" err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disorde</a:t>
            </a:r>
            <a:r>
              <a:rPr lang="zh-CN" altLang="en-US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3694</a:t>
            </a:r>
            <a:r>
              <a:rPr lang="zh-CN" altLang="en-US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）、</a:t>
            </a:r>
            <a:r>
              <a:rPr lang="en-US" altLang="zh-CN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Clinical psychology</a:t>
            </a:r>
            <a:r>
              <a:rPr lang="zh-CN" altLang="en-US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3456</a:t>
            </a:r>
            <a:r>
              <a:rPr lang="zh-CN" altLang="en-US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）、</a:t>
            </a:r>
            <a:r>
              <a:rPr lang="en-US" altLang="zh-CN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Developmental psychology</a:t>
            </a:r>
            <a:r>
              <a:rPr lang="zh-CN" altLang="en-US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2134</a:t>
            </a:r>
            <a:r>
              <a:rPr lang="zh-CN" altLang="en-US" sz="7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，反映出 </a:t>
            </a:r>
            <a:r>
              <a:rPr lang="en-US" altLang="zh-CN" sz="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ADHD </a:t>
            </a:r>
            <a:r>
              <a:rPr lang="zh-CN" altLang="en-US" sz="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研究的核心方向是临床干预与儿童发展。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6CA68FC-B0EB-6A4B-E58A-4865189C7F40}"/>
              </a:ext>
            </a:extLst>
          </p:cNvPr>
          <p:cNvGrpSpPr/>
          <p:nvPr/>
        </p:nvGrpSpPr>
        <p:grpSpPr>
          <a:xfrm>
            <a:off x="2981651" y="1050668"/>
            <a:ext cx="425056" cy="409006"/>
            <a:chOff x="3216452" y="846582"/>
            <a:chExt cx="594591" cy="538929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905A5944-9939-09AD-9FB4-FF9DCCE255AE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14643DF-EEDB-33FC-5E28-17E77B369D48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20" name="KSO_Shape">
            <a:extLst>
              <a:ext uri="{FF2B5EF4-FFF2-40B4-BE49-F238E27FC236}">
                <a16:creationId xmlns:a16="http://schemas.microsoft.com/office/drawing/2014/main" id="{61F7C8BB-D914-15EC-AC15-75F65D5501D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3140740" y="1203094"/>
            <a:ext cx="100486" cy="87268"/>
          </a:xfrm>
          <a:custGeom>
            <a:avLst/>
            <a:gdLst>
              <a:gd name="T0" fmla="*/ 104753 w 3040062"/>
              <a:gd name="T1" fmla="*/ 1241540 h 2303463"/>
              <a:gd name="T2" fmla="*/ 251725 w 3040062"/>
              <a:gd name="T3" fmla="*/ 1260899 h 2303463"/>
              <a:gd name="T4" fmla="*/ 265692 w 3040062"/>
              <a:gd name="T5" fmla="*/ 1110467 h 2303463"/>
              <a:gd name="T6" fmla="*/ 844867 w 3040062"/>
              <a:gd name="T7" fmla="*/ 970596 h 2303463"/>
              <a:gd name="T8" fmla="*/ 870584 w 3040062"/>
              <a:gd name="T9" fmla="*/ 987377 h 2303463"/>
              <a:gd name="T10" fmla="*/ 872172 w 3040062"/>
              <a:gd name="T11" fmla="*/ 1402771 h 2303463"/>
              <a:gd name="T12" fmla="*/ 848359 w 3040062"/>
              <a:gd name="T13" fmla="*/ 1421768 h 2303463"/>
              <a:gd name="T14" fmla="*/ 615315 w 3040062"/>
              <a:gd name="T15" fmla="*/ 1415119 h 2303463"/>
              <a:gd name="T16" fmla="*/ 603250 w 3040062"/>
              <a:gd name="T17" fmla="*/ 1002891 h 2303463"/>
              <a:gd name="T18" fmla="*/ 617855 w 3040062"/>
              <a:gd name="T19" fmla="*/ 975662 h 2303463"/>
              <a:gd name="T20" fmla="*/ 1240437 w 3040062"/>
              <a:gd name="T21" fmla="*/ 749300 h 2303463"/>
              <a:gd name="T22" fmla="*/ 1265867 w 3040062"/>
              <a:gd name="T23" fmla="*/ 766421 h 2303463"/>
              <a:gd name="T24" fmla="*/ 1267138 w 3040062"/>
              <a:gd name="T25" fmla="*/ 1402743 h 2303463"/>
              <a:gd name="T26" fmla="*/ 1243616 w 3040062"/>
              <a:gd name="T27" fmla="*/ 1421766 h 2303463"/>
              <a:gd name="T28" fmla="*/ 1010298 w 3040062"/>
              <a:gd name="T29" fmla="*/ 1415108 h 2303463"/>
              <a:gd name="T30" fmla="*/ 998537 w 3040062"/>
              <a:gd name="T31" fmla="*/ 782273 h 2303463"/>
              <a:gd name="T32" fmla="*/ 1012841 w 3040062"/>
              <a:gd name="T33" fmla="*/ 755007 h 2303463"/>
              <a:gd name="T34" fmla="*/ 2175011 w 3040062"/>
              <a:gd name="T35" fmla="*/ 666432 h 2303463"/>
              <a:gd name="T36" fmla="*/ 2235666 w 3040062"/>
              <a:gd name="T37" fmla="*/ 692135 h 2303463"/>
              <a:gd name="T38" fmla="*/ 2277268 w 3040062"/>
              <a:gd name="T39" fmla="*/ 742271 h 2303463"/>
              <a:gd name="T40" fmla="*/ 2290605 w 3040062"/>
              <a:gd name="T41" fmla="*/ 1286150 h 2303463"/>
              <a:gd name="T42" fmla="*/ 2948603 w 3040062"/>
              <a:gd name="T43" fmla="*/ 1365796 h 2303463"/>
              <a:gd name="T44" fmla="*/ 3005765 w 3040062"/>
              <a:gd name="T45" fmla="*/ 1408316 h 2303463"/>
              <a:gd name="T46" fmla="*/ 3036887 w 3040062"/>
              <a:gd name="T47" fmla="*/ 1473366 h 2303463"/>
              <a:gd name="T48" fmla="*/ 3035616 w 3040062"/>
              <a:gd name="T49" fmla="*/ 2191451 h 2303463"/>
              <a:gd name="T50" fmla="*/ 3001319 w 3040062"/>
              <a:gd name="T51" fmla="*/ 2254597 h 2303463"/>
              <a:gd name="T52" fmla="*/ 2941934 w 3040062"/>
              <a:gd name="T53" fmla="*/ 2294578 h 2303463"/>
              <a:gd name="T54" fmla="*/ 2171200 w 3040062"/>
              <a:gd name="T55" fmla="*/ 2303146 h 2303463"/>
              <a:gd name="T56" fmla="*/ 2113403 w 3040062"/>
              <a:gd name="T57" fmla="*/ 2292040 h 2303463"/>
              <a:gd name="T58" fmla="*/ 1552263 w 3040062"/>
              <a:gd name="T59" fmla="*/ 1741815 h 2303463"/>
              <a:gd name="T60" fmla="*/ 1526223 w 3040062"/>
              <a:gd name="T61" fmla="*/ 1686919 h 2303463"/>
              <a:gd name="T62" fmla="*/ 1529081 w 3040062"/>
              <a:gd name="T63" fmla="*/ 1626946 h 2303463"/>
              <a:gd name="T64" fmla="*/ 1560520 w 3040062"/>
              <a:gd name="T65" fmla="*/ 1574272 h 2303463"/>
              <a:gd name="T66" fmla="*/ 1612919 w 3040062"/>
              <a:gd name="T67" fmla="*/ 1542858 h 2303463"/>
              <a:gd name="T68" fmla="*/ 1673891 w 3040062"/>
              <a:gd name="T69" fmla="*/ 1539685 h 2303463"/>
              <a:gd name="T70" fmla="*/ 1728513 w 3040062"/>
              <a:gd name="T71" fmla="*/ 1565705 h 2303463"/>
              <a:gd name="T72" fmla="*/ 2024167 w 3040062"/>
              <a:gd name="T73" fmla="*/ 760992 h 2303463"/>
              <a:gd name="T74" fmla="*/ 2057829 w 3040062"/>
              <a:gd name="T75" fmla="*/ 704828 h 2303463"/>
              <a:gd name="T76" fmla="*/ 2113721 w 3040062"/>
              <a:gd name="T77" fmla="*/ 670875 h 2303463"/>
              <a:gd name="T78" fmla="*/ 1640947 w 3040062"/>
              <a:gd name="T79" fmla="*/ 485773 h 2303463"/>
              <a:gd name="T80" fmla="*/ 1662436 w 3040062"/>
              <a:gd name="T81" fmla="*/ 507334 h 2303463"/>
              <a:gd name="T82" fmla="*/ 1658328 w 3040062"/>
              <a:gd name="T83" fmla="*/ 1408133 h 2303463"/>
              <a:gd name="T84" fmla="*/ 1631151 w 3040062"/>
              <a:gd name="T85" fmla="*/ 1422401 h 2303463"/>
              <a:gd name="T86" fmla="*/ 1401409 w 3040062"/>
              <a:gd name="T87" fmla="*/ 1410669 h 2303463"/>
              <a:gd name="T88" fmla="*/ 1394457 w 3040062"/>
              <a:gd name="T89" fmla="*/ 510505 h 2303463"/>
              <a:gd name="T90" fmla="*/ 1413734 w 3040062"/>
              <a:gd name="T91" fmla="*/ 486725 h 2303463"/>
              <a:gd name="T92" fmla="*/ 2856582 w 3040062"/>
              <a:gd name="T93" fmla="*/ 2539 h 2303463"/>
              <a:gd name="T94" fmla="*/ 2942924 w 3040062"/>
              <a:gd name="T95" fmla="*/ 45384 h 2303463"/>
              <a:gd name="T96" fmla="*/ 3001649 w 3040062"/>
              <a:gd name="T97" fmla="*/ 130121 h 2303463"/>
              <a:gd name="T98" fmla="*/ 3021012 w 3040062"/>
              <a:gd name="T99" fmla="*/ 1276768 h 2303463"/>
              <a:gd name="T100" fmla="*/ 2944193 w 3040062"/>
              <a:gd name="T101" fmla="*/ 1247252 h 2303463"/>
              <a:gd name="T102" fmla="*/ 374889 w 3040062"/>
              <a:gd name="T103" fmla="*/ 1959424 h 2303463"/>
              <a:gd name="T104" fmla="*/ 127291 w 3040062"/>
              <a:gd name="T105" fmla="*/ 2259336 h 2303463"/>
              <a:gd name="T106" fmla="*/ 50472 w 3040062"/>
              <a:gd name="T107" fmla="*/ 2198402 h 2303463"/>
              <a:gd name="T108" fmla="*/ 6349 w 3040062"/>
              <a:gd name="T109" fmla="*/ 2100970 h 2303463"/>
              <a:gd name="T110" fmla="*/ 3809 w 3040062"/>
              <a:gd name="T111" fmla="*/ 183438 h 2303463"/>
              <a:gd name="T112" fmla="*/ 44441 w 3040062"/>
              <a:gd name="T113" fmla="*/ 83468 h 2303463"/>
              <a:gd name="T114" fmla="*/ 118720 w 3040062"/>
              <a:gd name="T115" fmla="*/ 17773 h 23034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40062" h="2303463">
                <a:moveTo>
                  <a:pt x="124116" y="1098725"/>
                </a:moveTo>
                <a:lnTo>
                  <a:pt x="120307" y="1099042"/>
                </a:lnTo>
                <a:lnTo>
                  <a:pt x="116498" y="1099994"/>
                </a:lnTo>
                <a:lnTo>
                  <a:pt x="113324" y="1101898"/>
                </a:lnTo>
                <a:lnTo>
                  <a:pt x="110467" y="1104120"/>
                </a:lnTo>
                <a:lnTo>
                  <a:pt x="108245" y="1107294"/>
                </a:lnTo>
                <a:lnTo>
                  <a:pt x="106340" y="1110467"/>
                </a:lnTo>
                <a:lnTo>
                  <a:pt x="105071" y="1114276"/>
                </a:lnTo>
                <a:lnTo>
                  <a:pt x="104753" y="1118084"/>
                </a:lnTo>
                <a:lnTo>
                  <a:pt x="104753" y="1241540"/>
                </a:lnTo>
                <a:lnTo>
                  <a:pt x="105071" y="1245348"/>
                </a:lnTo>
                <a:lnTo>
                  <a:pt x="106340" y="1249157"/>
                </a:lnTo>
                <a:lnTo>
                  <a:pt x="108245" y="1252330"/>
                </a:lnTo>
                <a:lnTo>
                  <a:pt x="110467" y="1255187"/>
                </a:lnTo>
                <a:lnTo>
                  <a:pt x="113324" y="1257726"/>
                </a:lnTo>
                <a:lnTo>
                  <a:pt x="116498" y="1259312"/>
                </a:lnTo>
                <a:lnTo>
                  <a:pt x="120307" y="1260899"/>
                </a:lnTo>
                <a:lnTo>
                  <a:pt x="124116" y="1261217"/>
                </a:lnTo>
                <a:lnTo>
                  <a:pt x="247598" y="1261217"/>
                </a:lnTo>
                <a:lnTo>
                  <a:pt x="251725" y="1260899"/>
                </a:lnTo>
                <a:lnTo>
                  <a:pt x="255216" y="1259312"/>
                </a:lnTo>
                <a:lnTo>
                  <a:pt x="258708" y="1257726"/>
                </a:lnTo>
                <a:lnTo>
                  <a:pt x="261565" y="1255187"/>
                </a:lnTo>
                <a:lnTo>
                  <a:pt x="264105" y="1252330"/>
                </a:lnTo>
                <a:lnTo>
                  <a:pt x="265692" y="1249157"/>
                </a:lnTo>
                <a:lnTo>
                  <a:pt x="266644" y="1245348"/>
                </a:lnTo>
                <a:lnTo>
                  <a:pt x="266961" y="1241540"/>
                </a:lnTo>
                <a:lnTo>
                  <a:pt x="266961" y="1118084"/>
                </a:lnTo>
                <a:lnTo>
                  <a:pt x="266644" y="1114276"/>
                </a:lnTo>
                <a:lnTo>
                  <a:pt x="265692" y="1110467"/>
                </a:lnTo>
                <a:lnTo>
                  <a:pt x="264105" y="1107294"/>
                </a:lnTo>
                <a:lnTo>
                  <a:pt x="261565" y="1104120"/>
                </a:lnTo>
                <a:lnTo>
                  <a:pt x="258708" y="1101898"/>
                </a:lnTo>
                <a:lnTo>
                  <a:pt x="255216" y="1099994"/>
                </a:lnTo>
                <a:lnTo>
                  <a:pt x="251725" y="1099042"/>
                </a:lnTo>
                <a:lnTo>
                  <a:pt x="247598" y="1098725"/>
                </a:lnTo>
                <a:lnTo>
                  <a:pt x="124116" y="1098725"/>
                </a:lnTo>
                <a:close/>
                <a:moveTo>
                  <a:pt x="636270" y="969963"/>
                </a:moveTo>
                <a:lnTo>
                  <a:pt x="841692" y="969963"/>
                </a:lnTo>
                <a:lnTo>
                  <a:pt x="844867" y="970596"/>
                </a:lnTo>
                <a:lnTo>
                  <a:pt x="848359" y="970913"/>
                </a:lnTo>
                <a:lnTo>
                  <a:pt x="851534" y="971546"/>
                </a:lnTo>
                <a:lnTo>
                  <a:pt x="854709" y="972813"/>
                </a:lnTo>
                <a:lnTo>
                  <a:pt x="857567" y="974396"/>
                </a:lnTo>
                <a:lnTo>
                  <a:pt x="860107" y="975662"/>
                </a:lnTo>
                <a:lnTo>
                  <a:pt x="862647" y="977878"/>
                </a:lnTo>
                <a:lnTo>
                  <a:pt x="865187" y="979778"/>
                </a:lnTo>
                <a:lnTo>
                  <a:pt x="867092" y="982311"/>
                </a:lnTo>
                <a:lnTo>
                  <a:pt x="868997" y="984844"/>
                </a:lnTo>
                <a:lnTo>
                  <a:pt x="870584" y="987377"/>
                </a:lnTo>
                <a:lnTo>
                  <a:pt x="872172" y="990226"/>
                </a:lnTo>
                <a:lnTo>
                  <a:pt x="873124" y="993076"/>
                </a:lnTo>
                <a:lnTo>
                  <a:pt x="873760" y="996242"/>
                </a:lnTo>
                <a:lnTo>
                  <a:pt x="874712" y="999725"/>
                </a:lnTo>
                <a:lnTo>
                  <a:pt x="874712" y="1002891"/>
                </a:lnTo>
                <a:lnTo>
                  <a:pt x="874712" y="1389790"/>
                </a:lnTo>
                <a:lnTo>
                  <a:pt x="874712" y="1393273"/>
                </a:lnTo>
                <a:lnTo>
                  <a:pt x="873760" y="1396439"/>
                </a:lnTo>
                <a:lnTo>
                  <a:pt x="873124" y="1399605"/>
                </a:lnTo>
                <a:lnTo>
                  <a:pt x="872172" y="1402771"/>
                </a:lnTo>
                <a:lnTo>
                  <a:pt x="870584" y="1405304"/>
                </a:lnTo>
                <a:lnTo>
                  <a:pt x="868997" y="1408154"/>
                </a:lnTo>
                <a:lnTo>
                  <a:pt x="867092" y="1410686"/>
                </a:lnTo>
                <a:lnTo>
                  <a:pt x="865187" y="1413219"/>
                </a:lnTo>
                <a:lnTo>
                  <a:pt x="862647" y="1415119"/>
                </a:lnTo>
                <a:lnTo>
                  <a:pt x="860107" y="1417019"/>
                </a:lnTo>
                <a:lnTo>
                  <a:pt x="857567" y="1418602"/>
                </a:lnTo>
                <a:lnTo>
                  <a:pt x="854709" y="1420185"/>
                </a:lnTo>
                <a:lnTo>
                  <a:pt x="851534" y="1421135"/>
                </a:lnTo>
                <a:lnTo>
                  <a:pt x="848359" y="1421768"/>
                </a:lnTo>
                <a:lnTo>
                  <a:pt x="844867" y="1422401"/>
                </a:lnTo>
                <a:lnTo>
                  <a:pt x="841692" y="1422401"/>
                </a:lnTo>
                <a:lnTo>
                  <a:pt x="636270" y="1422401"/>
                </a:lnTo>
                <a:lnTo>
                  <a:pt x="632777" y="1422401"/>
                </a:lnTo>
                <a:lnTo>
                  <a:pt x="629920" y="1421768"/>
                </a:lnTo>
                <a:lnTo>
                  <a:pt x="626745" y="1421135"/>
                </a:lnTo>
                <a:lnTo>
                  <a:pt x="623570" y="1420185"/>
                </a:lnTo>
                <a:lnTo>
                  <a:pt x="620713" y="1418602"/>
                </a:lnTo>
                <a:lnTo>
                  <a:pt x="617855" y="1417019"/>
                </a:lnTo>
                <a:lnTo>
                  <a:pt x="615315" y="1415119"/>
                </a:lnTo>
                <a:lnTo>
                  <a:pt x="613093" y="1413219"/>
                </a:lnTo>
                <a:lnTo>
                  <a:pt x="610870" y="1410686"/>
                </a:lnTo>
                <a:lnTo>
                  <a:pt x="608965" y="1408154"/>
                </a:lnTo>
                <a:lnTo>
                  <a:pt x="607378" y="1405304"/>
                </a:lnTo>
                <a:lnTo>
                  <a:pt x="606108" y="1402771"/>
                </a:lnTo>
                <a:lnTo>
                  <a:pt x="605155" y="1399605"/>
                </a:lnTo>
                <a:lnTo>
                  <a:pt x="603885" y="1396439"/>
                </a:lnTo>
                <a:lnTo>
                  <a:pt x="603568" y="1393273"/>
                </a:lnTo>
                <a:lnTo>
                  <a:pt x="603250" y="1389790"/>
                </a:lnTo>
                <a:lnTo>
                  <a:pt x="603250" y="1002891"/>
                </a:lnTo>
                <a:lnTo>
                  <a:pt x="603568" y="999725"/>
                </a:lnTo>
                <a:lnTo>
                  <a:pt x="603885" y="996242"/>
                </a:lnTo>
                <a:lnTo>
                  <a:pt x="605155" y="993076"/>
                </a:lnTo>
                <a:lnTo>
                  <a:pt x="606108" y="990226"/>
                </a:lnTo>
                <a:lnTo>
                  <a:pt x="607378" y="987377"/>
                </a:lnTo>
                <a:lnTo>
                  <a:pt x="608965" y="984844"/>
                </a:lnTo>
                <a:lnTo>
                  <a:pt x="610870" y="982311"/>
                </a:lnTo>
                <a:lnTo>
                  <a:pt x="613093" y="979778"/>
                </a:lnTo>
                <a:lnTo>
                  <a:pt x="615315" y="977878"/>
                </a:lnTo>
                <a:lnTo>
                  <a:pt x="617855" y="975662"/>
                </a:lnTo>
                <a:lnTo>
                  <a:pt x="620713" y="974396"/>
                </a:lnTo>
                <a:lnTo>
                  <a:pt x="623570" y="972813"/>
                </a:lnTo>
                <a:lnTo>
                  <a:pt x="626745" y="971546"/>
                </a:lnTo>
                <a:lnTo>
                  <a:pt x="629920" y="970913"/>
                </a:lnTo>
                <a:lnTo>
                  <a:pt x="632777" y="970596"/>
                </a:lnTo>
                <a:lnTo>
                  <a:pt x="636270" y="969963"/>
                </a:lnTo>
                <a:close/>
                <a:moveTo>
                  <a:pt x="1027781" y="749300"/>
                </a:moveTo>
                <a:lnTo>
                  <a:pt x="1031278" y="749300"/>
                </a:lnTo>
                <a:lnTo>
                  <a:pt x="1236940" y="749300"/>
                </a:lnTo>
                <a:lnTo>
                  <a:pt x="1240437" y="749300"/>
                </a:lnTo>
                <a:lnTo>
                  <a:pt x="1243616" y="750251"/>
                </a:lnTo>
                <a:lnTo>
                  <a:pt x="1246476" y="750885"/>
                </a:lnTo>
                <a:lnTo>
                  <a:pt x="1249655" y="751837"/>
                </a:lnTo>
                <a:lnTo>
                  <a:pt x="1252516" y="753105"/>
                </a:lnTo>
                <a:lnTo>
                  <a:pt x="1255377" y="755007"/>
                </a:lnTo>
                <a:lnTo>
                  <a:pt x="1257920" y="756592"/>
                </a:lnTo>
                <a:lnTo>
                  <a:pt x="1260145" y="758812"/>
                </a:lnTo>
                <a:lnTo>
                  <a:pt x="1262370" y="761348"/>
                </a:lnTo>
                <a:lnTo>
                  <a:pt x="1264595" y="763567"/>
                </a:lnTo>
                <a:lnTo>
                  <a:pt x="1265867" y="766421"/>
                </a:lnTo>
                <a:lnTo>
                  <a:pt x="1267138" y="769274"/>
                </a:lnTo>
                <a:lnTo>
                  <a:pt x="1268410" y="772445"/>
                </a:lnTo>
                <a:lnTo>
                  <a:pt x="1269363" y="775615"/>
                </a:lnTo>
                <a:lnTo>
                  <a:pt x="1269681" y="778786"/>
                </a:lnTo>
                <a:lnTo>
                  <a:pt x="1269999" y="782273"/>
                </a:lnTo>
                <a:lnTo>
                  <a:pt x="1269999" y="1389744"/>
                </a:lnTo>
                <a:lnTo>
                  <a:pt x="1269681" y="1393231"/>
                </a:lnTo>
                <a:lnTo>
                  <a:pt x="1269363" y="1396402"/>
                </a:lnTo>
                <a:lnTo>
                  <a:pt x="1268410" y="1399572"/>
                </a:lnTo>
                <a:lnTo>
                  <a:pt x="1267138" y="1402743"/>
                </a:lnTo>
                <a:lnTo>
                  <a:pt x="1265867" y="1405279"/>
                </a:lnTo>
                <a:lnTo>
                  <a:pt x="1264595" y="1408133"/>
                </a:lnTo>
                <a:lnTo>
                  <a:pt x="1262370" y="1410669"/>
                </a:lnTo>
                <a:lnTo>
                  <a:pt x="1260145" y="1413206"/>
                </a:lnTo>
                <a:lnTo>
                  <a:pt x="1257920" y="1415108"/>
                </a:lnTo>
                <a:lnTo>
                  <a:pt x="1255377" y="1417010"/>
                </a:lnTo>
                <a:lnTo>
                  <a:pt x="1252516" y="1418595"/>
                </a:lnTo>
                <a:lnTo>
                  <a:pt x="1249655" y="1420181"/>
                </a:lnTo>
                <a:lnTo>
                  <a:pt x="1246476" y="1421132"/>
                </a:lnTo>
                <a:lnTo>
                  <a:pt x="1243616" y="1421766"/>
                </a:lnTo>
                <a:lnTo>
                  <a:pt x="1240437" y="1422400"/>
                </a:lnTo>
                <a:lnTo>
                  <a:pt x="1236940" y="1422400"/>
                </a:lnTo>
                <a:lnTo>
                  <a:pt x="1031278" y="1422400"/>
                </a:lnTo>
                <a:lnTo>
                  <a:pt x="1027781" y="1422400"/>
                </a:lnTo>
                <a:lnTo>
                  <a:pt x="1024602" y="1421766"/>
                </a:lnTo>
                <a:lnTo>
                  <a:pt x="1021424" y="1421132"/>
                </a:lnTo>
                <a:lnTo>
                  <a:pt x="1018245" y="1420181"/>
                </a:lnTo>
                <a:lnTo>
                  <a:pt x="1015384" y="1418595"/>
                </a:lnTo>
                <a:lnTo>
                  <a:pt x="1012841" y="1417010"/>
                </a:lnTo>
                <a:lnTo>
                  <a:pt x="1010298" y="1415108"/>
                </a:lnTo>
                <a:lnTo>
                  <a:pt x="1007755" y="1413206"/>
                </a:lnTo>
                <a:lnTo>
                  <a:pt x="1005848" y="1410669"/>
                </a:lnTo>
                <a:lnTo>
                  <a:pt x="1003941" y="1408133"/>
                </a:lnTo>
                <a:lnTo>
                  <a:pt x="1002351" y="1405279"/>
                </a:lnTo>
                <a:lnTo>
                  <a:pt x="1000762" y="1402743"/>
                </a:lnTo>
                <a:lnTo>
                  <a:pt x="999808" y="1399572"/>
                </a:lnTo>
                <a:lnTo>
                  <a:pt x="999173" y="1396402"/>
                </a:lnTo>
                <a:lnTo>
                  <a:pt x="998537" y="1393231"/>
                </a:lnTo>
                <a:lnTo>
                  <a:pt x="998537" y="1389744"/>
                </a:lnTo>
                <a:lnTo>
                  <a:pt x="998537" y="782273"/>
                </a:lnTo>
                <a:lnTo>
                  <a:pt x="998537" y="778786"/>
                </a:lnTo>
                <a:lnTo>
                  <a:pt x="999173" y="775615"/>
                </a:lnTo>
                <a:lnTo>
                  <a:pt x="999808" y="772445"/>
                </a:lnTo>
                <a:lnTo>
                  <a:pt x="1000762" y="769274"/>
                </a:lnTo>
                <a:lnTo>
                  <a:pt x="1002351" y="766421"/>
                </a:lnTo>
                <a:lnTo>
                  <a:pt x="1003941" y="763567"/>
                </a:lnTo>
                <a:lnTo>
                  <a:pt x="1005848" y="761348"/>
                </a:lnTo>
                <a:lnTo>
                  <a:pt x="1007755" y="758812"/>
                </a:lnTo>
                <a:lnTo>
                  <a:pt x="1010298" y="756592"/>
                </a:lnTo>
                <a:lnTo>
                  <a:pt x="1012841" y="755007"/>
                </a:lnTo>
                <a:lnTo>
                  <a:pt x="1015384" y="753105"/>
                </a:lnTo>
                <a:lnTo>
                  <a:pt x="1018245" y="751837"/>
                </a:lnTo>
                <a:lnTo>
                  <a:pt x="1021424" y="750885"/>
                </a:lnTo>
                <a:lnTo>
                  <a:pt x="1024602" y="750251"/>
                </a:lnTo>
                <a:lnTo>
                  <a:pt x="1027781" y="749300"/>
                </a:lnTo>
                <a:close/>
                <a:moveTo>
                  <a:pt x="2147065" y="665163"/>
                </a:moveTo>
                <a:lnTo>
                  <a:pt x="2154052" y="665163"/>
                </a:lnTo>
                <a:lnTo>
                  <a:pt x="2161038" y="665163"/>
                </a:lnTo>
                <a:lnTo>
                  <a:pt x="2168025" y="665798"/>
                </a:lnTo>
                <a:lnTo>
                  <a:pt x="2175011" y="666432"/>
                </a:lnTo>
                <a:lnTo>
                  <a:pt x="2181680" y="667702"/>
                </a:lnTo>
                <a:lnTo>
                  <a:pt x="2188349" y="669288"/>
                </a:lnTo>
                <a:lnTo>
                  <a:pt x="2194700" y="670875"/>
                </a:lnTo>
                <a:lnTo>
                  <a:pt x="2201369" y="673413"/>
                </a:lnTo>
                <a:lnTo>
                  <a:pt x="2207085" y="675952"/>
                </a:lnTo>
                <a:lnTo>
                  <a:pt x="2213437" y="678173"/>
                </a:lnTo>
                <a:lnTo>
                  <a:pt x="2219471" y="681346"/>
                </a:lnTo>
                <a:lnTo>
                  <a:pt x="2224869" y="684519"/>
                </a:lnTo>
                <a:lnTo>
                  <a:pt x="2230585" y="688327"/>
                </a:lnTo>
                <a:lnTo>
                  <a:pt x="2235666" y="692135"/>
                </a:lnTo>
                <a:lnTo>
                  <a:pt x="2241065" y="695943"/>
                </a:lnTo>
                <a:lnTo>
                  <a:pt x="2245829" y="700702"/>
                </a:lnTo>
                <a:lnTo>
                  <a:pt x="2250910" y="704828"/>
                </a:lnTo>
                <a:lnTo>
                  <a:pt x="2255356" y="709587"/>
                </a:lnTo>
                <a:lnTo>
                  <a:pt x="2259484" y="714347"/>
                </a:lnTo>
                <a:lnTo>
                  <a:pt x="2263612" y="719741"/>
                </a:lnTo>
                <a:lnTo>
                  <a:pt x="2267423" y="724819"/>
                </a:lnTo>
                <a:lnTo>
                  <a:pt x="2270916" y="730530"/>
                </a:lnTo>
                <a:lnTo>
                  <a:pt x="2274092" y="736559"/>
                </a:lnTo>
                <a:lnTo>
                  <a:pt x="2277268" y="742271"/>
                </a:lnTo>
                <a:lnTo>
                  <a:pt x="2280126" y="748300"/>
                </a:lnTo>
                <a:lnTo>
                  <a:pt x="2282666" y="754646"/>
                </a:lnTo>
                <a:lnTo>
                  <a:pt x="2284572" y="760992"/>
                </a:lnTo>
                <a:lnTo>
                  <a:pt x="2286477" y="767021"/>
                </a:lnTo>
                <a:lnTo>
                  <a:pt x="2287747" y="773685"/>
                </a:lnTo>
                <a:lnTo>
                  <a:pt x="2289018" y="780349"/>
                </a:lnTo>
                <a:lnTo>
                  <a:pt x="2289970" y="787330"/>
                </a:lnTo>
                <a:lnTo>
                  <a:pt x="2290605" y="794311"/>
                </a:lnTo>
                <a:lnTo>
                  <a:pt x="2290605" y="801292"/>
                </a:lnTo>
                <a:lnTo>
                  <a:pt x="2290605" y="1286150"/>
                </a:lnTo>
                <a:lnTo>
                  <a:pt x="2884137" y="1353738"/>
                </a:lnTo>
                <a:lnTo>
                  <a:pt x="2890488" y="1354055"/>
                </a:lnTo>
                <a:lnTo>
                  <a:pt x="2898110" y="1354372"/>
                </a:lnTo>
                <a:lnTo>
                  <a:pt x="2905732" y="1355007"/>
                </a:lnTo>
                <a:lnTo>
                  <a:pt x="2913353" y="1355642"/>
                </a:lnTo>
                <a:lnTo>
                  <a:pt x="2920657" y="1357228"/>
                </a:lnTo>
                <a:lnTo>
                  <a:pt x="2927644" y="1358815"/>
                </a:lnTo>
                <a:lnTo>
                  <a:pt x="2934948" y="1361036"/>
                </a:lnTo>
                <a:lnTo>
                  <a:pt x="2941934" y="1362940"/>
                </a:lnTo>
                <a:lnTo>
                  <a:pt x="2948603" y="1365796"/>
                </a:lnTo>
                <a:lnTo>
                  <a:pt x="2955272" y="1368969"/>
                </a:lnTo>
                <a:lnTo>
                  <a:pt x="2961941" y="1372142"/>
                </a:lnTo>
                <a:lnTo>
                  <a:pt x="2968292" y="1375633"/>
                </a:lnTo>
                <a:lnTo>
                  <a:pt x="2974008" y="1379758"/>
                </a:lnTo>
                <a:lnTo>
                  <a:pt x="2980042" y="1383883"/>
                </a:lnTo>
                <a:lnTo>
                  <a:pt x="2985758" y="1388008"/>
                </a:lnTo>
                <a:lnTo>
                  <a:pt x="2990839" y="1393085"/>
                </a:lnTo>
                <a:lnTo>
                  <a:pt x="2996238" y="1397845"/>
                </a:lnTo>
                <a:lnTo>
                  <a:pt x="3001319" y="1403239"/>
                </a:lnTo>
                <a:lnTo>
                  <a:pt x="3005765" y="1408316"/>
                </a:lnTo>
                <a:lnTo>
                  <a:pt x="3010529" y="1414345"/>
                </a:lnTo>
                <a:lnTo>
                  <a:pt x="3014657" y="1419739"/>
                </a:lnTo>
                <a:lnTo>
                  <a:pt x="3018468" y="1426086"/>
                </a:lnTo>
                <a:lnTo>
                  <a:pt x="3021961" y="1432432"/>
                </a:lnTo>
                <a:lnTo>
                  <a:pt x="3025454" y="1438778"/>
                </a:lnTo>
                <a:lnTo>
                  <a:pt x="3028312" y="1445125"/>
                </a:lnTo>
                <a:lnTo>
                  <a:pt x="3030853" y="1452106"/>
                </a:lnTo>
                <a:lnTo>
                  <a:pt x="3033393" y="1459087"/>
                </a:lnTo>
                <a:lnTo>
                  <a:pt x="3035616" y="1466067"/>
                </a:lnTo>
                <a:lnTo>
                  <a:pt x="3036887" y="1473366"/>
                </a:lnTo>
                <a:lnTo>
                  <a:pt x="3038474" y="1480664"/>
                </a:lnTo>
                <a:lnTo>
                  <a:pt x="3039427" y="1488280"/>
                </a:lnTo>
                <a:lnTo>
                  <a:pt x="3040062" y="1495895"/>
                </a:lnTo>
                <a:lnTo>
                  <a:pt x="3040062" y="1503511"/>
                </a:lnTo>
                <a:lnTo>
                  <a:pt x="3040062" y="2154008"/>
                </a:lnTo>
                <a:lnTo>
                  <a:pt x="3040062" y="2161623"/>
                </a:lnTo>
                <a:lnTo>
                  <a:pt x="3039427" y="2169556"/>
                </a:lnTo>
                <a:lnTo>
                  <a:pt x="3038474" y="2177172"/>
                </a:lnTo>
                <a:lnTo>
                  <a:pt x="3036887" y="2184470"/>
                </a:lnTo>
                <a:lnTo>
                  <a:pt x="3035616" y="2191451"/>
                </a:lnTo>
                <a:lnTo>
                  <a:pt x="3033393" y="2198749"/>
                </a:lnTo>
                <a:lnTo>
                  <a:pt x="3030853" y="2205730"/>
                </a:lnTo>
                <a:lnTo>
                  <a:pt x="3028312" y="2212394"/>
                </a:lnTo>
                <a:lnTo>
                  <a:pt x="3025454" y="2219057"/>
                </a:lnTo>
                <a:lnTo>
                  <a:pt x="3021961" y="2225404"/>
                </a:lnTo>
                <a:lnTo>
                  <a:pt x="3018468" y="2231433"/>
                </a:lnTo>
                <a:lnTo>
                  <a:pt x="3014657" y="2237779"/>
                </a:lnTo>
                <a:lnTo>
                  <a:pt x="3010529" y="2243808"/>
                </a:lnTo>
                <a:lnTo>
                  <a:pt x="3005765" y="2249202"/>
                </a:lnTo>
                <a:lnTo>
                  <a:pt x="3001319" y="2254597"/>
                </a:lnTo>
                <a:lnTo>
                  <a:pt x="2996238" y="2259674"/>
                </a:lnTo>
                <a:lnTo>
                  <a:pt x="2990839" y="2264433"/>
                </a:lnTo>
                <a:lnTo>
                  <a:pt x="2985758" y="2269510"/>
                </a:lnTo>
                <a:lnTo>
                  <a:pt x="2980042" y="2273953"/>
                </a:lnTo>
                <a:lnTo>
                  <a:pt x="2974008" y="2278078"/>
                </a:lnTo>
                <a:lnTo>
                  <a:pt x="2968292" y="2281886"/>
                </a:lnTo>
                <a:lnTo>
                  <a:pt x="2961941" y="2285376"/>
                </a:lnTo>
                <a:lnTo>
                  <a:pt x="2955272" y="2288867"/>
                </a:lnTo>
                <a:lnTo>
                  <a:pt x="2948603" y="2291723"/>
                </a:lnTo>
                <a:lnTo>
                  <a:pt x="2941934" y="2294578"/>
                </a:lnTo>
                <a:lnTo>
                  <a:pt x="2934948" y="2297117"/>
                </a:lnTo>
                <a:lnTo>
                  <a:pt x="2927644" y="2298703"/>
                </a:lnTo>
                <a:lnTo>
                  <a:pt x="2920657" y="2300607"/>
                </a:lnTo>
                <a:lnTo>
                  <a:pt x="2913353" y="2301877"/>
                </a:lnTo>
                <a:lnTo>
                  <a:pt x="2905732" y="2302829"/>
                </a:lnTo>
                <a:lnTo>
                  <a:pt x="2898110" y="2303146"/>
                </a:lnTo>
                <a:lnTo>
                  <a:pt x="2890488" y="2303463"/>
                </a:lnTo>
                <a:lnTo>
                  <a:pt x="2177552" y="2303463"/>
                </a:lnTo>
                <a:lnTo>
                  <a:pt x="2173423" y="2303146"/>
                </a:lnTo>
                <a:lnTo>
                  <a:pt x="2171200" y="2303146"/>
                </a:lnTo>
                <a:lnTo>
                  <a:pt x="2169613" y="2303146"/>
                </a:lnTo>
                <a:lnTo>
                  <a:pt x="2162944" y="2303146"/>
                </a:lnTo>
                <a:lnTo>
                  <a:pt x="2156275" y="2303146"/>
                </a:lnTo>
                <a:lnTo>
                  <a:pt x="2149924" y="2302511"/>
                </a:lnTo>
                <a:lnTo>
                  <a:pt x="2143572" y="2301559"/>
                </a:lnTo>
                <a:lnTo>
                  <a:pt x="2137538" y="2300607"/>
                </a:lnTo>
                <a:lnTo>
                  <a:pt x="2131187" y="2298703"/>
                </a:lnTo>
                <a:lnTo>
                  <a:pt x="2125153" y="2297117"/>
                </a:lnTo>
                <a:lnTo>
                  <a:pt x="2119437" y="2294896"/>
                </a:lnTo>
                <a:lnTo>
                  <a:pt x="2113403" y="2292040"/>
                </a:lnTo>
                <a:lnTo>
                  <a:pt x="2107370" y="2289501"/>
                </a:lnTo>
                <a:lnTo>
                  <a:pt x="2101971" y="2286645"/>
                </a:lnTo>
                <a:lnTo>
                  <a:pt x="2096572" y="2283155"/>
                </a:lnTo>
                <a:lnTo>
                  <a:pt x="2091491" y="2279665"/>
                </a:lnTo>
                <a:lnTo>
                  <a:pt x="2086093" y="2275222"/>
                </a:lnTo>
                <a:lnTo>
                  <a:pt x="2081329" y="2271097"/>
                </a:lnTo>
                <a:lnTo>
                  <a:pt x="2076883" y="2266972"/>
                </a:lnTo>
                <a:lnTo>
                  <a:pt x="1560520" y="1751334"/>
                </a:lnTo>
                <a:lnTo>
                  <a:pt x="1556074" y="1746574"/>
                </a:lnTo>
                <a:lnTo>
                  <a:pt x="1552263" y="1741815"/>
                </a:lnTo>
                <a:lnTo>
                  <a:pt x="1548135" y="1737055"/>
                </a:lnTo>
                <a:lnTo>
                  <a:pt x="1544642" y="1731661"/>
                </a:lnTo>
                <a:lnTo>
                  <a:pt x="1541466" y="1726583"/>
                </a:lnTo>
                <a:lnTo>
                  <a:pt x="1538291" y="1720872"/>
                </a:lnTo>
                <a:lnTo>
                  <a:pt x="1535432" y="1715477"/>
                </a:lnTo>
                <a:lnTo>
                  <a:pt x="1532892" y="1709766"/>
                </a:lnTo>
                <a:lnTo>
                  <a:pt x="1530987" y="1704054"/>
                </a:lnTo>
                <a:lnTo>
                  <a:pt x="1529081" y="1698342"/>
                </a:lnTo>
                <a:lnTo>
                  <a:pt x="1527493" y="1692631"/>
                </a:lnTo>
                <a:lnTo>
                  <a:pt x="1526223" y="1686919"/>
                </a:lnTo>
                <a:lnTo>
                  <a:pt x="1525270" y="1680890"/>
                </a:lnTo>
                <a:lnTo>
                  <a:pt x="1524635" y="1674544"/>
                </a:lnTo>
                <a:lnTo>
                  <a:pt x="1524000" y="1668515"/>
                </a:lnTo>
                <a:lnTo>
                  <a:pt x="1524000" y="1662803"/>
                </a:lnTo>
                <a:lnTo>
                  <a:pt x="1524000" y="1656774"/>
                </a:lnTo>
                <a:lnTo>
                  <a:pt x="1524635" y="1650428"/>
                </a:lnTo>
                <a:lnTo>
                  <a:pt x="1525270" y="1644716"/>
                </a:lnTo>
                <a:lnTo>
                  <a:pt x="1526223" y="1638687"/>
                </a:lnTo>
                <a:lnTo>
                  <a:pt x="1527493" y="1632658"/>
                </a:lnTo>
                <a:lnTo>
                  <a:pt x="1529081" y="1626946"/>
                </a:lnTo>
                <a:lnTo>
                  <a:pt x="1530987" y="1621235"/>
                </a:lnTo>
                <a:lnTo>
                  <a:pt x="1532892" y="1615523"/>
                </a:lnTo>
                <a:lnTo>
                  <a:pt x="1535432" y="1609811"/>
                </a:lnTo>
                <a:lnTo>
                  <a:pt x="1538291" y="1604417"/>
                </a:lnTo>
                <a:lnTo>
                  <a:pt x="1541466" y="1599023"/>
                </a:lnTo>
                <a:lnTo>
                  <a:pt x="1544642" y="1593628"/>
                </a:lnTo>
                <a:lnTo>
                  <a:pt x="1548135" y="1588551"/>
                </a:lnTo>
                <a:lnTo>
                  <a:pt x="1552263" y="1583474"/>
                </a:lnTo>
                <a:lnTo>
                  <a:pt x="1556074" y="1578714"/>
                </a:lnTo>
                <a:lnTo>
                  <a:pt x="1560520" y="1574272"/>
                </a:lnTo>
                <a:lnTo>
                  <a:pt x="1564966" y="1569830"/>
                </a:lnTo>
                <a:lnTo>
                  <a:pt x="1570047" y="1565705"/>
                </a:lnTo>
                <a:lnTo>
                  <a:pt x="1574811" y="1561897"/>
                </a:lnTo>
                <a:lnTo>
                  <a:pt x="1579574" y="1558406"/>
                </a:lnTo>
                <a:lnTo>
                  <a:pt x="1584973" y="1554916"/>
                </a:lnTo>
                <a:lnTo>
                  <a:pt x="1590054" y="1552060"/>
                </a:lnTo>
                <a:lnTo>
                  <a:pt x="1595770" y="1549521"/>
                </a:lnTo>
                <a:lnTo>
                  <a:pt x="1601486" y="1546666"/>
                </a:lnTo>
                <a:lnTo>
                  <a:pt x="1606885" y="1544444"/>
                </a:lnTo>
                <a:lnTo>
                  <a:pt x="1612919" y="1542858"/>
                </a:lnTo>
                <a:lnTo>
                  <a:pt x="1618635" y="1540954"/>
                </a:lnTo>
                <a:lnTo>
                  <a:pt x="1624669" y="1539685"/>
                </a:lnTo>
                <a:lnTo>
                  <a:pt x="1630702" y="1538733"/>
                </a:lnTo>
                <a:lnTo>
                  <a:pt x="1637054" y="1538098"/>
                </a:lnTo>
                <a:lnTo>
                  <a:pt x="1642770" y="1537463"/>
                </a:lnTo>
                <a:lnTo>
                  <a:pt x="1649121" y="1537146"/>
                </a:lnTo>
                <a:lnTo>
                  <a:pt x="1655473" y="1537463"/>
                </a:lnTo>
                <a:lnTo>
                  <a:pt x="1661824" y="1538098"/>
                </a:lnTo>
                <a:lnTo>
                  <a:pt x="1667858" y="1538733"/>
                </a:lnTo>
                <a:lnTo>
                  <a:pt x="1673891" y="1539685"/>
                </a:lnTo>
                <a:lnTo>
                  <a:pt x="1679925" y="1540954"/>
                </a:lnTo>
                <a:lnTo>
                  <a:pt x="1685641" y="1542858"/>
                </a:lnTo>
                <a:lnTo>
                  <a:pt x="1691675" y="1544444"/>
                </a:lnTo>
                <a:lnTo>
                  <a:pt x="1697391" y="1546666"/>
                </a:lnTo>
                <a:lnTo>
                  <a:pt x="1702790" y="1549521"/>
                </a:lnTo>
                <a:lnTo>
                  <a:pt x="1708506" y="1552060"/>
                </a:lnTo>
                <a:lnTo>
                  <a:pt x="1713587" y="1554916"/>
                </a:lnTo>
                <a:lnTo>
                  <a:pt x="1718986" y="1558406"/>
                </a:lnTo>
                <a:lnTo>
                  <a:pt x="1723749" y="1561897"/>
                </a:lnTo>
                <a:lnTo>
                  <a:pt x="1728513" y="1565705"/>
                </a:lnTo>
                <a:lnTo>
                  <a:pt x="1733594" y="1569830"/>
                </a:lnTo>
                <a:lnTo>
                  <a:pt x="1738040" y="1574272"/>
                </a:lnTo>
                <a:lnTo>
                  <a:pt x="2017816" y="1853827"/>
                </a:lnTo>
                <a:lnTo>
                  <a:pt x="2017816" y="801292"/>
                </a:lnTo>
                <a:lnTo>
                  <a:pt x="2018133" y="794311"/>
                </a:lnTo>
                <a:lnTo>
                  <a:pt x="2018451" y="787330"/>
                </a:lnTo>
                <a:lnTo>
                  <a:pt x="2019404" y="780349"/>
                </a:lnTo>
                <a:lnTo>
                  <a:pt x="2020674" y="773685"/>
                </a:lnTo>
                <a:lnTo>
                  <a:pt x="2021944" y="767021"/>
                </a:lnTo>
                <a:lnTo>
                  <a:pt x="2024167" y="760992"/>
                </a:lnTo>
                <a:lnTo>
                  <a:pt x="2026073" y="754646"/>
                </a:lnTo>
                <a:lnTo>
                  <a:pt x="2028613" y="748300"/>
                </a:lnTo>
                <a:lnTo>
                  <a:pt x="2031471" y="742271"/>
                </a:lnTo>
                <a:lnTo>
                  <a:pt x="2034329" y="736559"/>
                </a:lnTo>
                <a:lnTo>
                  <a:pt x="2037823" y="730530"/>
                </a:lnTo>
                <a:lnTo>
                  <a:pt x="2040998" y="724819"/>
                </a:lnTo>
                <a:lnTo>
                  <a:pt x="2045127" y="719741"/>
                </a:lnTo>
                <a:lnTo>
                  <a:pt x="2048937" y="714347"/>
                </a:lnTo>
                <a:lnTo>
                  <a:pt x="2053383" y="709587"/>
                </a:lnTo>
                <a:lnTo>
                  <a:pt x="2057829" y="704828"/>
                </a:lnTo>
                <a:lnTo>
                  <a:pt x="2062275" y="700702"/>
                </a:lnTo>
                <a:lnTo>
                  <a:pt x="2067674" y="695943"/>
                </a:lnTo>
                <a:lnTo>
                  <a:pt x="2072437" y="692135"/>
                </a:lnTo>
                <a:lnTo>
                  <a:pt x="2078154" y="688327"/>
                </a:lnTo>
                <a:lnTo>
                  <a:pt x="2083552" y="684519"/>
                </a:lnTo>
                <a:lnTo>
                  <a:pt x="2089268" y="681346"/>
                </a:lnTo>
                <a:lnTo>
                  <a:pt x="2095302" y="678173"/>
                </a:lnTo>
                <a:lnTo>
                  <a:pt x="2101018" y="675952"/>
                </a:lnTo>
                <a:lnTo>
                  <a:pt x="2107370" y="673413"/>
                </a:lnTo>
                <a:lnTo>
                  <a:pt x="2113721" y="670875"/>
                </a:lnTo>
                <a:lnTo>
                  <a:pt x="2120390" y="669288"/>
                </a:lnTo>
                <a:lnTo>
                  <a:pt x="2127059" y="667702"/>
                </a:lnTo>
                <a:lnTo>
                  <a:pt x="2133728" y="666432"/>
                </a:lnTo>
                <a:lnTo>
                  <a:pt x="2140079" y="665798"/>
                </a:lnTo>
                <a:lnTo>
                  <a:pt x="2147065" y="665163"/>
                </a:lnTo>
                <a:close/>
                <a:moveTo>
                  <a:pt x="1426690" y="484188"/>
                </a:moveTo>
                <a:lnTo>
                  <a:pt x="1631151" y="484188"/>
                </a:lnTo>
                <a:lnTo>
                  <a:pt x="1634627" y="484505"/>
                </a:lnTo>
                <a:lnTo>
                  <a:pt x="1637787" y="484822"/>
                </a:lnTo>
                <a:lnTo>
                  <a:pt x="1640947" y="485773"/>
                </a:lnTo>
                <a:lnTo>
                  <a:pt x="1644107" y="486725"/>
                </a:lnTo>
                <a:lnTo>
                  <a:pt x="1646635" y="488310"/>
                </a:lnTo>
                <a:lnTo>
                  <a:pt x="1649479" y="489895"/>
                </a:lnTo>
                <a:lnTo>
                  <a:pt x="1652008" y="491798"/>
                </a:lnTo>
                <a:lnTo>
                  <a:pt x="1654536" y="493700"/>
                </a:lnTo>
                <a:lnTo>
                  <a:pt x="1656432" y="496237"/>
                </a:lnTo>
                <a:lnTo>
                  <a:pt x="1658328" y="498773"/>
                </a:lnTo>
                <a:lnTo>
                  <a:pt x="1659908" y="501310"/>
                </a:lnTo>
                <a:lnTo>
                  <a:pt x="1661488" y="504164"/>
                </a:lnTo>
                <a:lnTo>
                  <a:pt x="1662436" y="507334"/>
                </a:lnTo>
                <a:lnTo>
                  <a:pt x="1663068" y="510505"/>
                </a:lnTo>
                <a:lnTo>
                  <a:pt x="1663700" y="513676"/>
                </a:lnTo>
                <a:lnTo>
                  <a:pt x="1663700" y="517164"/>
                </a:lnTo>
                <a:lnTo>
                  <a:pt x="1663700" y="1389743"/>
                </a:lnTo>
                <a:lnTo>
                  <a:pt x="1663700" y="1393231"/>
                </a:lnTo>
                <a:lnTo>
                  <a:pt x="1663068" y="1396401"/>
                </a:lnTo>
                <a:lnTo>
                  <a:pt x="1662436" y="1399572"/>
                </a:lnTo>
                <a:lnTo>
                  <a:pt x="1661488" y="1402743"/>
                </a:lnTo>
                <a:lnTo>
                  <a:pt x="1659908" y="1405279"/>
                </a:lnTo>
                <a:lnTo>
                  <a:pt x="1658328" y="1408133"/>
                </a:lnTo>
                <a:lnTo>
                  <a:pt x="1656432" y="1410669"/>
                </a:lnTo>
                <a:lnTo>
                  <a:pt x="1654536" y="1413206"/>
                </a:lnTo>
                <a:lnTo>
                  <a:pt x="1652008" y="1415108"/>
                </a:lnTo>
                <a:lnTo>
                  <a:pt x="1649479" y="1417011"/>
                </a:lnTo>
                <a:lnTo>
                  <a:pt x="1646635" y="1418596"/>
                </a:lnTo>
                <a:lnTo>
                  <a:pt x="1644107" y="1420182"/>
                </a:lnTo>
                <a:lnTo>
                  <a:pt x="1640947" y="1421133"/>
                </a:lnTo>
                <a:lnTo>
                  <a:pt x="1637787" y="1421767"/>
                </a:lnTo>
                <a:lnTo>
                  <a:pt x="1634627" y="1422401"/>
                </a:lnTo>
                <a:lnTo>
                  <a:pt x="1631151" y="1422401"/>
                </a:lnTo>
                <a:lnTo>
                  <a:pt x="1426690" y="1422401"/>
                </a:lnTo>
                <a:lnTo>
                  <a:pt x="1423214" y="1422401"/>
                </a:lnTo>
                <a:lnTo>
                  <a:pt x="1420054" y="1421767"/>
                </a:lnTo>
                <a:lnTo>
                  <a:pt x="1416894" y="1421133"/>
                </a:lnTo>
                <a:lnTo>
                  <a:pt x="1413734" y="1420182"/>
                </a:lnTo>
                <a:lnTo>
                  <a:pt x="1411206" y="1418596"/>
                </a:lnTo>
                <a:lnTo>
                  <a:pt x="1408362" y="1417011"/>
                </a:lnTo>
                <a:lnTo>
                  <a:pt x="1405834" y="1415108"/>
                </a:lnTo>
                <a:lnTo>
                  <a:pt x="1403622" y="1413206"/>
                </a:lnTo>
                <a:lnTo>
                  <a:pt x="1401409" y="1410669"/>
                </a:lnTo>
                <a:lnTo>
                  <a:pt x="1399513" y="1408133"/>
                </a:lnTo>
                <a:lnTo>
                  <a:pt x="1397933" y="1405279"/>
                </a:lnTo>
                <a:lnTo>
                  <a:pt x="1396669" y="1402743"/>
                </a:lnTo>
                <a:lnTo>
                  <a:pt x="1395405" y="1399572"/>
                </a:lnTo>
                <a:lnTo>
                  <a:pt x="1394457" y="1396401"/>
                </a:lnTo>
                <a:lnTo>
                  <a:pt x="1394141" y="1393231"/>
                </a:lnTo>
                <a:lnTo>
                  <a:pt x="1393825" y="1389743"/>
                </a:lnTo>
                <a:lnTo>
                  <a:pt x="1393825" y="517164"/>
                </a:lnTo>
                <a:lnTo>
                  <a:pt x="1394141" y="513676"/>
                </a:lnTo>
                <a:lnTo>
                  <a:pt x="1394457" y="510505"/>
                </a:lnTo>
                <a:lnTo>
                  <a:pt x="1395405" y="507334"/>
                </a:lnTo>
                <a:lnTo>
                  <a:pt x="1396669" y="504164"/>
                </a:lnTo>
                <a:lnTo>
                  <a:pt x="1397933" y="501310"/>
                </a:lnTo>
                <a:lnTo>
                  <a:pt x="1399513" y="498773"/>
                </a:lnTo>
                <a:lnTo>
                  <a:pt x="1401409" y="496237"/>
                </a:lnTo>
                <a:lnTo>
                  <a:pt x="1403622" y="493700"/>
                </a:lnTo>
                <a:lnTo>
                  <a:pt x="1405834" y="491798"/>
                </a:lnTo>
                <a:lnTo>
                  <a:pt x="1408362" y="489895"/>
                </a:lnTo>
                <a:lnTo>
                  <a:pt x="1411206" y="488310"/>
                </a:lnTo>
                <a:lnTo>
                  <a:pt x="1413734" y="486725"/>
                </a:lnTo>
                <a:lnTo>
                  <a:pt x="1416894" y="485773"/>
                </a:lnTo>
                <a:lnTo>
                  <a:pt x="1420054" y="484822"/>
                </a:lnTo>
                <a:lnTo>
                  <a:pt x="1423214" y="484505"/>
                </a:lnTo>
                <a:lnTo>
                  <a:pt x="1426690" y="484188"/>
                </a:lnTo>
                <a:close/>
                <a:moveTo>
                  <a:pt x="183794" y="0"/>
                </a:moveTo>
                <a:lnTo>
                  <a:pt x="193952" y="0"/>
                </a:lnTo>
                <a:lnTo>
                  <a:pt x="2827060" y="0"/>
                </a:lnTo>
                <a:lnTo>
                  <a:pt x="2837218" y="0"/>
                </a:lnTo>
                <a:lnTo>
                  <a:pt x="2847059" y="952"/>
                </a:lnTo>
                <a:lnTo>
                  <a:pt x="2856582" y="2539"/>
                </a:lnTo>
                <a:lnTo>
                  <a:pt x="2866105" y="4443"/>
                </a:lnTo>
                <a:lnTo>
                  <a:pt x="2875628" y="6982"/>
                </a:lnTo>
                <a:lnTo>
                  <a:pt x="2884516" y="10156"/>
                </a:lnTo>
                <a:lnTo>
                  <a:pt x="2893721" y="13964"/>
                </a:lnTo>
                <a:lnTo>
                  <a:pt x="2902292" y="17773"/>
                </a:lnTo>
                <a:lnTo>
                  <a:pt x="2911180" y="22851"/>
                </a:lnTo>
                <a:lnTo>
                  <a:pt x="2919433" y="27611"/>
                </a:lnTo>
                <a:lnTo>
                  <a:pt x="2927369" y="33324"/>
                </a:lnTo>
                <a:lnTo>
                  <a:pt x="2935623" y="39036"/>
                </a:lnTo>
                <a:lnTo>
                  <a:pt x="2942924" y="45384"/>
                </a:lnTo>
                <a:lnTo>
                  <a:pt x="2950225" y="52366"/>
                </a:lnTo>
                <a:lnTo>
                  <a:pt x="2957525" y="59665"/>
                </a:lnTo>
                <a:lnTo>
                  <a:pt x="2964192" y="67282"/>
                </a:lnTo>
                <a:lnTo>
                  <a:pt x="2970540" y="74899"/>
                </a:lnTo>
                <a:lnTo>
                  <a:pt x="2976571" y="83468"/>
                </a:lnTo>
                <a:lnTo>
                  <a:pt x="2982285" y="92037"/>
                </a:lnTo>
                <a:lnTo>
                  <a:pt x="2987682" y="101240"/>
                </a:lnTo>
                <a:lnTo>
                  <a:pt x="2992761" y="110444"/>
                </a:lnTo>
                <a:lnTo>
                  <a:pt x="2997522" y="119965"/>
                </a:lnTo>
                <a:lnTo>
                  <a:pt x="3001649" y="130121"/>
                </a:lnTo>
                <a:lnTo>
                  <a:pt x="3005458" y="140276"/>
                </a:lnTo>
                <a:lnTo>
                  <a:pt x="3008950" y="150749"/>
                </a:lnTo>
                <a:lnTo>
                  <a:pt x="3012124" y="161540"/>
                </a:lnTo>
                <a:lnTo>
                  <a:pt x="3014663" y="172330"/>
                </a:lnTo>
                <a:lnTo>
                  <a:pt x="3016885" y="183438"/>
                </a:lnTo>
                <a:lnTo>
                  <a:pt x="3018473" y="194546"/>
                </a:lnTo>
                <a:lnTo>
                  <a:pt x="3019742" y="205971"/>
                </a:lnTo>
                <a:lnTo>
                  <a:pt x="3020695" y="218031"/>
                </a:lnTo>
                <a:lnTo>
                  <a:pt x="3021012" y="229774"/>
                </a:lnTo>
                <a:lnTo>
                  <a:pt x="3021012" y="1276768"/>
                </a:lnTo>
                <a:lnTo>
                  <a:pt x="3013711" y="1272642"/>
                </a:lnTo>
                <a:lnTo>
                  <a:pt x="3006410" y="1268833"/>
                </a:lnTo>
                <a:lnTo>
                  <a:pt x="2999109" y="1265342"/>
                </a:lnTo>
                <a:lnTo>
                  <a:pt x="2991808" y="1262169"/>
                </a:lnTo>
                <a:lnTo>
                  <a:pt x="2983872" y="1258995"/>
                </a:lnTo>
                <a:lnTo>
                  <a:pt x="2976254" y="1256139"/>
                </a:lnTo>
                <a:lnTo>
                  <a:pt x="2968318" y="1253282"/>
                </a:lnTo>
                <a:lnTo>
                  <a:pt x="2960382" y="1251061"/>
                </a:lnTo>
                <a:lnTo>
                  <a:pt x="2952129" y="1248839"/>
                </a:lnTo>
                <a:lnTo>
                  <a:pt x="2944193" y="1247252"/>
                </a:lnTo>
                <a:lnTo>
                  <a:pt x="2935940" y="1245348"/>
                </a:lnTo>
                <a:lnTo>
                  <a:pt x="2927369" y="1244079"/>
                </a:lnTo>
                <a:lnTo>
                  <a:pt x="2919116" y="1242809"/>
                </a:lnTo>
                <a:lnTo>
                  <a:pt x="2910863" y="1242175"/>
                </a:lnTo>
                <a:lnTo>
                  <a:pt x="2901975" y="1241540"/>
                </a:lnTo>
                <a:lnTo>
                  <a:pt x="2893404" y="1241540"/>
                </a:lnTo>
                <a:lnTo>
                  <a:pt x="2646123" y="1213294"/>
                </a:lnTo>
                <a:lnTo>
                  <a:pt x="2646123" y="313876"/>
                </a:lnTo>
                <a:lnTo>
                  <a:pt x="374889" y="313876"/>
                </a:lnTo>
                <a:lnTo>
                  <a:pt x="374889" y="1959424"/>
                </a:lnTo>
                <a:lnTo>
                  <a:pt x="1610021" y="1959424"/>
                </a:lnTo>
                <a:lnTo>
                  <a:pt x="1923646" y="2273300"/>
                </a:lnTo>
                <a:lnTo>
                  <a:pt x="193952" y="2273300"/>
                </a:lnTo>
                <a:lnTo>
                  <a:pt x="183794" y="2273300"/>
                </a:lnTo>
                <a:lnTo>
                  <a:pt x="173953" y="2272348"/>
                </a:lnTo>
                <a:lnTo>
                  <a:pt x="164113" y="2270761"/>
                </a:lnTo>
                <a:lnTo>
                  <a:pt x="154908" y="2268857"/>
                </a:lnTo>
                <a:lnTo>
                  <a:pt x="145385" y="2266318"/>
                </a:lnTo>
                <a:lnTo>
                  <a:pt x="136496" y="2263144"/>
                </a:lnTo>
                <a:lnTo>
                  <a:pt x="127291" y="2259336"/>
                </a:lnTo>
                <a:lnTo>
                  <a:pt x="118720" y="2255528"/>
                </a:lnTo>
                <a:lnTo>
                  <a:pt x="109832" y="2250450"/>
                </a:lnTo>
                <a:lnTo>
                  <a:pt x="101579" y="2245689"/>
                </a:lnTo>
                <a:lnTo>
                  <a:pt x="93326" y="2240294"/>
                </a:lnTo>
                <a:lnTo>
                  <a:pt x="85390" y="2234264"/>
                </a:lnTo>
                <a:lnTo>
                  <a:pt x="77771" y="2227917"/>
                </a:lnTo>
                <a:lnTo>
                  <a:pt x="70470" y="2220935"/>
                </a:lnTo>
                <a:lnTo>
                  <a:pt x="63487" y="2213635"/>
                </a:lnTo>
                <a:lnTo>
                  <a:pt x="56821" y="2206018"/>
                </a:lnTo>
                <a:lnTo>
                  <a:pt x="50472" y="2198402"/>
                </a:lnTo>
                <a:lnTo>
                  <a:pt x="44441" y="2189833"/>
                </a:lnTo>
                <a:lnTo>
                  <a:pt x="38727" y="2181264"/>
                </a:lnTo>
                <a:lnTo>
                  <a:pt x="33013" y="2172060"/>
                </a:lnTo>
                <a:lnTo>
                  <a:pt x="28252" y="2162856"/>
                </a:lnTo>
                <a:lnTo>
                  <a:pt x="23490" y="2153335"/>
                </a:lnTo>
                <a:lnTo>
                  <a:pt x="19364" y="2143180"/>
                </a:lnTo>
                <a:lnTo>
                  <a:pt x="15237" y="2133024"/>
                </a:lnTo>
                <a:lnTo>
                  <a:pt x="11745" y="2122551"/>
                </a:lnTo>
                <a:lnTo>
                  <a:pt x="8888" y="2112078"/>
                </a:lnTo>
                <a:lnTo>
                  <a:pt x="6349" y="2100970"/>
                </a:lnTo>
                <a:lnTo>
                  <a:pt x="3809" y="2089862"/>
                </a:lnTo>
                <a:lnTo>
                  <a:pt x="2540" y="2078754"/>
                </a:lnTo>
                <a:lnTo>
                  <a:pt x="952" y="2067329"/>
                </a:lnTo>
                <a:lnTo>
                  <a:pt x="318" y="2055269"/>
                </a:lnTo>
                <a:lnTo>
                  <a:pt x="0" y="2043844"/>
                </a:lnTo>
                <a:lnTo>
                  <a:pt x="0" y="229774"/>
                </a:lnTo>
                <a:lnTo>
                  <a:pt x="318" y="218031"/>
                </a:lnTo>
                <a:lnTo>
                  <a:pt x="952" y="205971"/>
                </a:lnTo>
                <a:lnTo>
                  <a:pt x="2540" y="194546"/>
                </a:lnTo>
                <a:lnTo>
                  <a:pt x="3809" y="183438"/>
                </a:lnTo>
                <a:lnTo>
                  <a:pt x="6349" y="172330"/>
                </a:lnTo>
                <a:lnTo>
                  <a:pt x="8888" y="161540"/>
                </a:lnTo>
                <a:lnTo>
                  <a:pt x="11745" y="150749"/>
                </a:lnTo>
                <a:lnTo>
                  <a:pt x="15237" y="140276"/>
                </a:lnTo>
                <a:lnTo>
                  <a:pt x="19364" y="130121"/>
                </a:lnTo>
                <a:lnTo>
                  <a:pt x="23490" y="119965"/>
                </a:lnTo>
                <a:lnTo>
                  <a:pt x="28252" y="110444"/>
                </a:lnTo>
                <a:lnTo>
                  <a:pt x="33013" y="101240"/>
                </a:lnTo>
                <a:lnTo>
                  <a:pt x="38727" y="92037"/>
                </a:lnTo>
                <a:lnTo>
                  <a:pt x="44441" y="83468"/>
                </a:lnTo>
                <a:lnTo>
                  <a:pt x="50472" y="74899"/>
                </a:lnTo>
                <a:lnTo>
                  <a:pt x="56821" y="67282"/>
                </a:lnTo>
                <a:lnTo>
                  <a:pt x="63487" y="59665"/>
                </a:lnTo>
                <a:lnTo>
                  <a:pt x="70470" y="52366"/>
                </a:lnTo>
                <a:lnTo>
                  <a:pt x="77771" y="45384"/>
                </a:lnTo>
                <a:lnTo>
                  <a:pt x="85390" y="39036"/>
                </a:lnTo>
                <a:lnTo>
                  <a:pt x="93326" y="33324"/>
                </a:lnTo>
                <a:lnTo>
                  <a:pt x="101579" y="27611"/>
                </a:lnTo>
                <a:lnTo>
                  <a:pt x="109832" y="22851"/>
                </a:lnTo>
                <a:lnTo>
                  <a:pt x="118720" y="17773"/>
                </a:lnTo>
                <a:lnTo>
                  <a:pt x="127291" y="13964"/>
                </a:lnTo>
                <a:lnTo>
                  <a:pt x="136496" y="10156"/>
                </a:lnTo>
                <a:lnTo>
                  <a:pt x="145385" y="6982"/>
                </a:lnTo>
                <a:lnTo>
                  <a:pt x="154908" y="4443"/>
                </a:lnTo>
                <a:lnTo>
                  <a:pt x="164113" y="2539"/>
                </a:lnTo>
                <a:lnTo>
                  <a:pt x="173953" y="952"/>
                </a:lnTo>
                <a:lnTo>
                  <a:pt x="1837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240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655B699-5511-FA92-4E6B-3C9513E36DF8}"/>
              </a:ext>
            </a:extLst>
          </p:cNvPr>
          <p:cNvSpPr/>
          <p:nvPr/>
        </p:nvSpPr>
        <p:spPr>
          <a:xfrm>
            <a:off x="4948852" y="4085345"/>
            <a:ext cx="3704081" cy="409006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child</a:t>
            </a:r>
            <a:r>
              <a:rPr lang="zh-CN" altLang="en-US" sz="12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intervention</a:t>
            </a:r>
            <a:r>
              <a:rPr lang="zh-CN" altLang="en-US" sz="12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treatment</a:t>
            </a:r>
            <a:r>
              <a:rPr lang="zh-CN" altLang="en-US" sz="12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symptom</a:t>
            </a:r>
            <a:r>
              <a:rPr lang="zh-CN" altLang="en-US" sz="12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patient </a:t>
            </a:r>
            <a:r>
              <a:rPr lang="zh-CN" altLang="en-US" sz="12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等高频词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F420AFB-976F-4D00-5417-71EC16753F23}"/>
              </a:ext>
            </a:extLst>
          </p:cNvPr>
          <p:cNvSpPr/>
          <p:nvPr/>
        </p:nvSpPr>
        <p:spPr>
          <a:xfrm>
            <a:off x="4925960" y="3526587"/>
            <a:ext cx="3396772" cy="409006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儿童发展、自闭症谱系障碍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93AB9B4-C384-D923-EC8D-964DF2B17836}"/>
              </a:ext>
            </a:extLst>
          </p:cNvPr>
          <p:cNvSpPr/>
          <p:nvPr/>
        </p:nvSpPr>
        <p:spPr>
          <a:xfrm>
            <a:off x="4948852" y="2965486"/>
            <a:ext cx="2614376" cy="409006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临床干预与儿童发展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42F9D8D-66C8-02B6-8B58-838328A720D7}"/>
              </a:ext>
            </a:extLst>
          </p:cNvPr>
          <p:cNvSpPr/>
          <p:nvPr/>
        </p:nvSpPr>
        <p:spPr>
          <a:xfrm>
            <a:off x="467127" y="3344333"/>
            <a:ext cx="896006" cy="275694"/>
          </a:xfrm>
          <a:prstGeom prst="rect">
            <a:avLst/>
          </a:prstGeom>
          <a:noFill/>
          <a:ln w="19050">
            <a:solidFill>
              <a:srgbClr val="137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828336E-D183-5107-EBCD-CE4BFD5FE553}"/>
              </a:ext>
            </a:extLst>
          </p:cNvPr>
          <p:cNvSpPr/>
          <p:nvPr/>
        </p:nvSpPr>
        <p:spPr>
          <a:xfrm>
            <a:off x="3095636" y="4806263"/>
            <a:ext cx="1256232" cy="275694"/>
          </a:xfrm>
          <a:prstGeom prst="rect">
            <a:avLst/>
          </a:prstGeom>
          <a:noFill/>
          <a:ln w="19050">
            <a:solidFill>
              <a:srgbClr val="137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14118A-2913-88A0-29C8-E5D5E7A0D382}"/>
              </a:ext>
            </a:extLst>
          </p:cNvPr>
          <p:cNvSpPr/>
          <p:nvPr/>
        </p:nvSpPr>
        <p:spPr>
          <a:xfrm>
            <a:off x="1373745" y="3976625"/>
            <a:ext cx="1278525" cy="275694"/>
          </a:xfrm>
          <a:prstGeom prst="rect">
            <a:avLst/>
          </a:prstGeom>
          <a:noFill/>
          <a:ln w="19050">
            <a:solidFill>
              <a:srgbClr val="137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98D6739-58E9-4BB3-8019-A525B9A7A568}"/>
              </a:ext>
            </a:extLst>
          </p:cNvPr>
          <p:cNvSpPr/>
          <p:nvPr/>
        </p:nvSpPr>
        <p:spPr>
          <a:xfrm>
            <a:off x="2767444" y="3996104"/>
            <a:ext cx="1278525" cy="275694"/>
          </a:xfrm>
          <a:prstGeom prst="rect">
            <a:avLst/>
          </a:prstGeom>
          <a:noFill/>
          <a:ln w="19050">
            <a:solidFill>
              <a:srgbClr val="137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AAACD290-8560-362C-8848-ECB3FDA2E872}"/>
              </a:ext>
            </a:extLst>
          </p:cNvPr>
          <p:cNvSpPr/>
          <p:nvPr/>
        </p:nvSpPr>
        <p:spPr>
          <a:xfrm>
            <a:off x="4948852" y="4644103"/>
            <a:ext cx="3983480" cy="409006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儿童群体、干预治疗和症状管理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8AB2DB2-7CE8-85DE-E671-26049A435BE0}"/>
              </a:ext>
            </a:extLst>
          </p:cNvPr>
          <p:cNvSpPr txBox="1"/>
          <p:nvPr/>
        </p:nvSpPr>
        <p:spPr>
          <a:xfrm>
            <a:off x="1373745" y="268194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高频概念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670A026-8C56-5542-D3CC-38F1F1D690EA}"/>
              </a:ext>
            </a:extLst>
          </p:cNvPr>
          <p:cNvSpPr txBox="1"/>
          <p:nvPr/>
        </p:nvSpPr>
        <p:spPr>
          <a:xfrm>
            <a:off x="5967230" y="2630634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高频主题</a:t>
            </a:r>
          </a:p>
        </p:txBody>
      </p:sp>
    </p:spTree>
    <p:extLst>
      <p:ext uri="{BB962C8B-B14F-4D97-AF65-F5344CB8AC3E}">
        <p14:creationId xmlns:p14="http://schemas.microsoft.com/office/powerpoint/2010/main" val="3697801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6ECA5-3301-89CA-E1A0-2E63B0145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id="{AE60A41A-35BE-D7D3-4A2C-6DC34CB3D02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623" y="2807605"/>
            <a:ext cx="3431211" cy="2445458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70BE7A9C-686D-69AF-D0F4-74E8429B766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2" y="2828347"/>
            <a:ext cx="2192558" cy="2289688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AB086B2-365E-A583-8DDD-4F178575F2C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224" y="1027152"/>
            <a:ext cx="2923791" cy="1735755"/>
          </a:xfrm>
          <a:prstGeom prst="rect">
            <a:avLst/>
          </a:prstGeom>
        </p:spPr>
      </p:pic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AFEB577A-7B60-C295-168E-540730811ABE}"/>
              </a:ext>
            </a:extLst>
          </p:cNvPr>
          <p:cNvSpPr/>
          <p:nvPr/>
        </p:nvSpPr>
        <p:spPr>
          <a:xfrm>
            <a:off x="722166" y="642236"/>
            <a:ext cx="2024979" cy="304959"/>
          </a:xfrm>
          <a:prstGeom prst="roundRect">
            <a:avLst>
              <a:gd name="adj" fmla="val 50000"/>
            </a:avLst>
          </a:prstGeom>
          <a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合作模式分析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EFD9F41-AA4F-1952-6FA7-30630828E261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3E810879-6A93-40EA-CA06-FF0756511241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5418E262-16C4-DB50-28D7-9FD34CC3A668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F49C48B-8B4D-595D-8B69-5ABD0BA309FA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数据的可视化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188A6B4-3DC3-002F-4460-F3E56200423F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A5D6721A-4495-5009-A678-502895CE12AB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851FD65E-56F6-A82C-E840-512BEC2F9448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33D40AD-C10A-A5E1-4B08-7EEDFE971147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9843259-2229-1360-CD7A-8D79ECD9F1C7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BE92191-FDD1-9135-EC97-61FB08B178B5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B102681-7C4C-5346-5D1B-F76518B37F25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9FD3EBB3-8A3E-D11B-9E40-DAB7824C3C39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sp>
        <p:nvSpPr>
          <p:cNvPr id="69" name="Freeform 108">
            <a:extLst>
              <a:ext uri="{FF2B5EF4-FFF2-40B4-BE49-F238E27FC236}">
                <a16:creationId xmlns:a16="http://schemas.microsoft.com/office/drawing/2014/main" id="{62A333F9-0125-00CD-4971-ABC8BD9880DA}"/>
              </a:ext>
            </a:extLst>
          </p:cNvPr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3533981" y="4950348"/>
            <a:ext cx="163723" cy="149165"/>
          </a:xfrm>
          <a:custGeom>
            <a:avLst/>
            <a:gdLst>
              <a:gd name="T0" fmla="*/ 97 w 115"/>
              <a:gd name="T1" fmla="*/ 48 h 115"/>
              <a:gd name="T2" fmla="*/ 91 w 115"/>
              <a:gd name="T3" fmla="*/ 41 h 115"/>
              <a:gd name="T4" fmla="*/ 102 w 115"/>
              <a:gd name="T5" fmla="*/ 26 h 115"/>
              <a:gd name="T6" fmla="*/ 94 w 115"/>
              <a:gd name="T7" fmla="*/ 13 h 115"/>
              <a:gd name="T8" fmla="*/ 79 w 115"/>
              <a:gd name="T9" fmla="*/ 23 h 115"/>
              <a:gd name="T10" fmla="*/ 70 w 115"/>
              <a:gd name="T11" fmla="*/ 22 h 115"/>
              <a:gd name="T12" fmla="*/ 67 w 115"/>
              <a:gd name="T13" fmla="*/ 3 h 115"/>
              <a:gd name="T14" fmla="*/ 52 w 115"/>
              <a:gd name="T15" fmla="*/ 0 h 115"/>
              <a:gd name="T16" fmla="*/ 48 w 115"/>
              <a:gd name="T17" fmla="*/ 18 h 115"/>
              <a:gd name="T18" fmla="*/ 41 w 115"/>
              <a:gd name="T19" fmla="*/ 24 h 115"/>
              <a:gd name="T20" fmla="*/ 26 w 115"/>
              <a:gd name="T21" fmla="*/ 13 h 115"/>
              <a:gd name="T22" fmla="*/ 13 w 115"/>
              <a:gd name="T23" fmla="*/ 21 h 115"/>
              <a:gd name="T24" fmla="*/ 23 w 115"/>
              <a:gd name="T25" fmla="*/ 36 h 115"/>
              <a:gd name="T26" fmla="*/ 22 w 115"/>
              <a:gd name="T27" fmla="*/ 45 h 115"/>
              <a:gd name="T28" fmla="*/ 4 w 115"/>
              <a:gd name="T29" fmla="*/ 48 h 115"/>
              <a:gd name="T30" fmla="*/ 0 w 115"/>
              <a:gd name="T31" fmla="*/ 63 h 115"/>
              <a:gd name="T32" fmla="*/ 18 w 115"/>
              <a:gd name="T33" fmla="*/ 66 h 115"/>
              <a:gd name="T34" fmla="*/ 24 w 115"/>
              <a:gd name="T35" fmla="*/ 73 h 115"/>
              <a:gd name="T36" fmla="*/ 13 w 115"/>
              <a:gd name="T37" fmla="*/ 89 h 115"/>
              <a:gd name="T38" fmla="*/ 21 w 115"/>
              <a:gd name="T39" fmla="*/ 102 h 115"/>
              <a:gd name="T40" fmla="*/ 36 w 115"/>
              <a:gd name="T41" fmla="*/ 92 h 115"/>
              <a:gd name="T42" fmla="*/ 45 w 115"/>
              <a:gd name="T43" fmla="*/ 92 h 115"/>
              <a:gd name="T44" fmla="*/ 48 w 115"/>
              <a:gd name="T45" fmla="*/ 111 h 115"/>
              <a:gd name="T46" fmla="*/ 63 w 115"/>
              <a:gd name="T47" fmla="*/ 115 h 115"/>
              <a:gd name="T48" fmla="*/ 67 w 115"/>
              <a:gd name="T49" fmla="*/ 97 h 115"/>
              <a:gd name="T50" fmla="*/ 74 w 115"/>
              <a:gd name="T51" fmla="*/ 91 h 115"/>
              <a:gd name="T52" fmla="*/ 89 w 115"/>
              <a:gd name="T53" fmla="*/ 102 h 115"/>
              <a:gd name="T54" fmla="*/ 102 w 115"/>
              <a:gd name="T55" fmla="*/ 94 h 115"/>
              <a:gd name="T56" fmla="*/ 92 w 115"/>
              <a:gd name="T57" fmla="*/ 79 h 115"/>
              <a:gd name="T58" fmla="*/ 93 w 115"/>
              <a:gd name="T59" fmla="*/ 70 h 115"/>
              <a:gd name="T60" fmla="*/ 112 w 115"/>
              <a:gd name="T61" fmla="*/ 66 h 115"/>
              <a:gd name="T62" fmla="*/ 115 w 115"/>
              <a:gd name="T63" fmla="*/ 52 h 115"/>
              <a:gd name="T64" fmla="*/ 58 w 115"/>
              <a:gd name="T65" fmla="*/ 79 h 115"/>
              <a:gd name="T66" fmla="*/ 58 w 115"/>
              <a:gd name="T67" fmla="*/ 36 h 115"/>
              <a:gd name="T68" fmla="*/ 58 w 115"/>
              <a:gd name="T69" fmla="*/ 79 h 115"/>
              <a:gd name="T70" fmla="*/ 49 w 115"/>
              <a:gd name="T71" fmla="*/ 57 h 115"/>
              <a:gd name="T72" fmla="*/ 67 w 115"/>
              <a:gd name="T73" fmla="*/ 57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115">
                <a:moveTo>
                  <a:pt x="112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5" y="48"/>
                  <a:pt x="93" y="47"/>
                  <a:pt x="93" y="45"/>
                </a:cubicBezTo>
                <a:cubicBezTo>
                  <a:pt x="91" y="41"/>
                  <a:pt x="91" y="41"/>
                  <a:pt x="91" y="41"/>
                </a:cubicBezTo>
                <a:cubicBezTo>
                  <a:pt x="90" y="40"/>
                  <a:pt x="91" y="37"/>
                  <a:pt x="92" y="3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4"/>
                  <a:pt x="104" y="22"/>
                  <a:pt x="102" y="21"/>
                </a:cubicBezTo>
                <a:cubicBezTo>
                  <a:pt x="94" y="13"/>
                  <a:pt x="94" y="13"/>
                  <a:pt x="94" y="13"/>
                </a:cubicBezTo>
                <a:cubicBezTo>
                  <a:pt x="93" y="11"/>
                  <a:pt x="91" y="11"/>
                  <a:pt x="89" y="13"/>
                </a:cubicBezTo>
                <a:cubicBezTo>
                  <a:pt x="79" y="23"/>
                  <a:pt x="79" y="23"/>
                  <a:pt x="79" y="23"/>
                </a:cubicBezTo>
                <a:cubicBezTo>
                  <a:pt x="78" y="24"/>
                  <a:pt x="75" y="25"/>
                  <a:pt x="74" y="24"/>
                </a:cubicBezTo>
                <a:cubicBezTo>
                  <a:pt x="70" y="22"/>
                  <a:pt x="70" y="22"/>
                  <a:pt x="70" y="22"/>
                </a:cubicBezTo>
                <a:cubicBezTo>
                  <a:pt x="68" y="22"/>
                  <a:pt x="67" y="20"/>
                  <a:pt x="67" y="18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0" y="0"/>
                  <a:pt x="48" y="1"/>
                  <a:pt x="48" y="3"/>
                </a:cubicBezTo>
                <a:cubicBezTo>
                  <a:pt x="48" y="18"/>
                  <a:pt x="48" y="18"/>
                  <a:pt x="48" y="18"/>
                </a:cubicBezTo>
                <a:cubicBezTo>
                  <a:pt x="48" y="20"/>
                  <a:pt x="47" y="22"/>
                  <a:pt x="45" y="22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5"/>
                  <a:pt x="37" y="24"/>
                  <a:pt x="36" y="23"/>
                </a:cubicBezTo>
                <a:cubicBezTo>
                  <a:pt x="26" y="13"/>
                  <a:pt x="26" y="13"/>
                  <a:pt x="26" y="13"/>
                </a:cubicBezTo>
                <a:cubicBezTo>
                  <a:pt x="25" y="11"/>
                  <a:pt x="22" y="11"/>
                  <a:pt x="21" y="13"/>
                </a:cubicBezTo>
                <a:cubicBezTo>
                  <a:pt x="13" y="21"/>
                  <a:pt x="13" y="21"/>
                  <a:pt x="13" y="21"/>
                </a:cubicBezTo>
                <a:cubicBezTo>
                  <a:pt x="12" y="22"/>
                  <a:pt x="12" y="24"/>
                  <a:pt x="13" y="26"/>
                </a:cubicBezTo>
                <a:cubicBezTo>
                  <a:pt x="23" y="36"/>
                  <a:pt x="23" y="36"/>
                  <a:pt x="23" y="36"/>
                </a:cubicBezTo>
                <a:cubicBezTo>
                  <a:pt x="24" y="37"/>
                  <a:pt x="25" y="40"/>
                  <a:pt x="24" y="41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0" y="48"/>
                  <a:pt x="1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5"/>
                  <a:pt x="2" y="66"/>
                  <a:pt x="4" y="66"/>
                </a:cubicBezTo>
                <a:cubicBezTo>
                  <a:pt x="18" y="66"/>
                  <a:pt x="18" y="66"/>
                  <a:pt x="18" y="66"/>
                </a:cubicBezTo>
                <a:cubicBezTo>
                  <a:pt x="20" y="66"/>
                  <a:pt x="22" y="68"/>
                  <a:pt x="22" y="70"/>
                </a:cubicBezTo>
                <a:cubicBezTo>
                  <a:pt x="24" y="73"/>
                  <a:pt x="24" y="73"/>
                  <a:pt x="24" y="73"/>
                </a:cubicBezTo>
                <a:cubicBezTo>
                  <a:pt x="25" y="75"/>
                  <a:pt x="24" y="78"/>
                  <a:pt x="23" y="79"/>
                </a:cubicBezTo>
                <a:cubicBezTo>
                  <a:pt x="13" y="89"/>
                  <a:pt x="13" y="89"/>
                  <a:pt x="13" y="89"/>
                </a:cubicBezTo>
                <a:cubicBezTo>
                  <a:pt x="12" y="90"/>
                  <a:pt x="12" y="93"/>
                  <a:pt x="13" y="94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103"/>
                  <a:pt x="25" y="103"/>
                  <a:pt x="26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0"/>
                  <a:pt x="40" y="90"/>
                  <a:pt x="41" y="91"/>
                </a:cubicBezTo>
                <a:cubicBezTo>
                  <a:pt x="45" y="92"/>
                  <a:pt x="45" y="92"/>
                  <a:pt x="45" y="92"/>
                </a:cubicBezTo>
                <a:cubicBezTo>
                  <a:pt x="47" y="93"/>
                  <a:pt x="48" y="95"/>
                  <a:pt x="48" y="9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8" y="113"/>
                  <a:pt x="50" y="115"/>
                  <a:pt x="52" y="115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5" y="115"/>
                  <a:pt x="67" y="113"/>
                  <a:pt x="67" y="111"/>
                </a:cubicBezTo>
                <a:cubicBezTo>
                  <a:pt x="67" y="97"/>
                  <a:pt x="67" y="97"/>
                  <a:pt x="67" y="97"/>
                </a:cubicBezTo>
                <a:cubicBezTo>
                  <a:pt x="67" y="95"/>
                  <a:pt x="68" y="93"/>
                  <a:pt x="70" y="92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8" y="90"/>
                  <a:pt x="79" y="92"/>
                </a:cubicBezTo>
                <a:cubicBezTo>
                  <a:pt x="89" y="102"/>
                  <a:pt x="89" y="102"/>
                  <a:pt x="89" y="102"/>
                </a:cubicBezTo>
                <a:cubicBezTo>
                  <a:pt x="91" y="103"/>
                  <a:pt x="93" y="103"/>
                  <a:pt x="94" y="102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04" y="93"/>
                  <a:pt x="104" y="90"/>
                  <a:pt x="102" y="89"/>
                </a:cubicBezTo>
                <a:cubicBezTo>
                  <a:pt x="92" y="79"/>
                  <a:pt x="92" y="79"/>
                  <a:pt x="92" y="79"/>
                </a:cubicBezTo>
                <a:cubicBezTo>
                  <a:pt x="91" y="78"/>
                  <a:pt x="90" y="75"/>
                  <a:pt x="91" y="73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68"/>
                  <a:pt x="95" y="66"/>
                  <a:pt x="97" y="66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3" y="66"/>
                  <a:pt x="115" y="65"/>
                  <a:pt x="115" y="6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15" y="50"/>
                  <a:pt x="113" y="48"/>
                  <a:pt x="112" y="48"/>
                </a:cubicBezTo>
                <a:close/>
                <a:moveTo>
                  <a:pt x="58" y="79"/>
                </a:moveTo>
                <a:cubicBezTo>
                  <a:pt x="46" y="79"/>
                  <a:pt x="36" y="69"/>
                  <a:pt x="36" y="57"/>
                </a:cubicBezTo>
                <a:cubicBezTo>
                  <a:pt x="36" y="46"/>
                  <a:pt x="46" y="36"/>
                  <a:pt x="58" y="36"/>
                </a:cubicBezTo>
                <a:cubicBezTo>
                  <a:pt x="69" y="36"/>
                  <a:pt x="79" y="46"/>
                  <a:pt x="79" y="57"/>
                </a:cubicBezTo>
                <a:cubicBezTo>
                  <a:pt x="79" y="69"/>
                  <a:pt x="69" y="79"/>
                  <a:pt x="58" y="79"/>
                </a:cubicBezTo>
                <a:close/>
                <a:moveTo>
                  <a:pt x="58" y="48"/>
                </a:moveTo>
                <a:cubicBezTo>
                  <a:pt x="53" y="48"/>
                  <a:pt x="49" y="52"/>
                  <a:pt x="49" y="57"/>
                </a:cubicBezTo>
                <a:cubicBezTo>
                  <a:pt x="49" y="62"/>
                  <a:pt x="53" y="66"/>
                  <a:pt x="58" y="66"/>
                </a:cubicBezTo>
                <a:cubicBezTo>
                  <a:pt x="63" y="66"/>
                  <a:pt x="67" y="62"/>
                  <a:pt x="67" y="57"/>
                </a:cubicBezTo>
                <a:cubicBezTo>
                  <a:pt x="67" y="52"/>
                  <a:pt x="63" y="48"/>
                  <a:pt x="58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39" tIns="45719" rIns="91439" bIns="45719" numCol="1" anchor="t" anchorCtr="0" compatLnSpc="1"/>
          <a:lstStyle/>
          <a:p>
            <a:pPr defTabSz="1219200">
              <a:defRPr/>
            </a:pPr>
            <a:endParaRPr lang="zh-CN" altLang="en-US" sz="2400" kern="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7A98DF9F-19A3-5B08-B0F7-A5FADA4DA48D}"/>
              </a:ext>
            </a:extLst>
          </p:cNvPr>
          <p:cNvSpPr txBox="1"/>
          <p:nvPr/>
        </p:nvSpPr>
        <p:spPr>
          <a:xfrm>
            <a:off x="3312593" y="1153141"/>
            <a:ext cx="1107996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2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作者数量分布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E8B7C16-4E6E-98C1-8781-0DD58F25590F}"/>
              </a:ext>
            </a:extLst>
          </p:cNvPr>
          <p:cNvSpPr txBox="1"/>
          <p:nvPr/>
        </p:nvSpPr>
        <p:spPr>
          <a:xfrm>
            <a:off x="2942141" y="1468163"/>
            <a:ext cx="1581163" cy="1007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分布形态：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右偏分布，绝大多数文献集中在左侧</a:t>
            </a:r>
            <a:r>
              <a:rPr lang="zh-CN" altLang="en-US" sz="9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低作者数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区间。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峰值区间：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发文量最高的是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1-3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位作者的小团队研究。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D5906DEB-89D2-0A85-FE8A-867F9A3BB9A9}"/>
              </a:ext>
            </a:extLst>
          </p:cNvPr>
          <p:cNvGrpSpPr/>
          <p:nvPr/>
        </p:nvGrpSpPr>
        <p:grpSpPr>
          <a:xfrm>
            <a:off x="2942141" y="1042713"/>
            <a:ext cx="425056" cy="409006"/>
            <a:chOff x="3216452" y="846582"/>
            <a:chExt cx="594591" cy="538929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EFB42A67-B4BC-B80D-5B02-F0B26C4F954A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3D379608-7E71-EFA5-4BFA-CD03601182B7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88" name="KSO_Shape">
              <a:extLst>
                <a:ext uri="{FF2B5EF4-FFF2-40B4-BE49-F238E27FC236}">
                  <a16:creationId xmlns:a16="http://schemas.microsoft.com/office/drawing/2014/main" id="{D5F4B189-0F90-4EF6-12BC-AE0E66C091A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3441378" y="1066155"/>
              <a:ext cx="162875" cy="119691"/>
            </a:xfrm>
            <a:custGeom>
              <a:avLst/>
              <a:gdLst>
                <a:gd name="T0" fmla="*/ 104753 w 3040062"/>
                <a:gd name="T1" fmla="*/ 1241540 h 2303463"/>
                <a:gd name="T2" fmla="*/ 251725 w 3040062"/>
                <a:gd name="T3" fmla="*/ 1260899 h 2303463"/>
                <a:gd name="T4" fmla="*/ 265692 w 3040062"/>
                <a:gd name="T5" fmla="*/ 1110467 h 2303463"/>
                <a:gd name="T6" fmla="*/ 844867 w 3040062"/>
                <a:gd name="T7" fmla="*/ 970596 h 2303463"/>
                <a:gd name="T8" fmla="*/ 870584 w 3040062"/>
                <a:gd name="T9" fmla="*/ 987377 h 2303463"/>
                <a:gd name="T10" fmla="*/ 872172 w 3040062"/>
                <a:gd name="T11" fmla="*/ 1402771 h 2303463"/>
                <a:gd name="T12" fmla="*/ 848359 w 3040062"/>
                <a:gd name="T13" fmla="*/ 1421768 h 2303463"/>
                <a:gd name="T14" fmla="*/ 615315 w 3040062"/>
                <a:gd name="T15" fmla="*/ 1415119 h 2303463"/>
                <a:gd name="T16" fmla="*/ 603250 w 3040062"/>
                <a:gd name="T17" fmla="*/ 1002891 h 2303463"/>
                <a:gd name="T18" fmla="*/ 617855 w 3040062"/>
                <a:gd name="T19" fmla="*/ 975662 h 2303463"/>
                <a:gd name="T20" fmla="*/ 1240437 w 3040062"/>
                <a:gd name="T21" fmla="*/ 749300 h 2303463"/>
                <a:gd name="T22" fmla="*/ 1265867 w 3040062"/>
                <a:gd name="T23" fmla="*/ 766421 h 2303463"/>
                <a:gd name="T24" fmla="*/ 1267138 w 3040062"/>
                <a:gd name="T25" fmla="*/ 1402743 h 2303463"/>
                <a:gd name="T26" fmla="*/ 1243616 w 3040062"/>
                <a:gd name="T27" fmla="*/ 1421766 h 2303463"/>
                <a:gd name="T28" fmla="*/ 1010298 w 3040062"/>
                <a:gd name="T29" fmla="*/ 1415108 h 2303463"/>
                <a:gd name="T30" fmla="*/ 998537 w 3040062"/>
                <a:gd name="T31" fmla="*/ 782273 h 2303463"/>
                <a:gd name="T32" fmla="*/ 1012841 w 3040062"/>
                <a:gd name="T33" fmla="*/ 755007 h 2303463"/>
                <a:gd name="T34" fmla="*/ 2175011 w 3040062"/>
                <a:gd name="T35" fmla="*/ 666432 h 2303463"/>
                <a:gd name="T36" fmla="*/ 2235666 w 3040062"/>
                <a:gd name="T37" fmla="*/ 692135 h 2303463"/>
                <a:gd name="T38" fmla="*/ 2277268 w 3040062"/>
                <a:gd name="T39" fmla="*/ 742271 h 2303463"/>
                <a:gd name="T40" fmla="*/ 2290605 w 3040062"/>
                <a:gd name="T41" fmla="*/ 1286150 h 2303463"/>
                <a:gd name="T42" fmla="*/ 2948603 w 3040062"/>
                <a:gd name="T43" fmla="*/ 1365796 h 2303463"/>
                <a:gd name="T44" fmla="*/ 3005765 w 3040062"/>
                <a:gd name="T45" fmla="*/ 1408316 h 2303463"/>
                <a:gd name="T46" fmla="*/ 3036887 w 3040062"/>
                <a:gd name="T47" fmla="*/ 1473366 h 2303463"/>
                <a:gd name="T48" fmla="*/ 3035616 w 3040062"/>
                <a:gd name="T49" fmla="*/ 2191451 h 2303463"/>
                <a:gd name="T50" fmla="*/ 3001319 w 3040062"/>
                <a:gd name="T51" fmla="*/ 2254597 h 2303463"/>
                <a:gd name="T52" fmla="*/ 2941934 w 3040062"/>
                <a:gd name="T53" fmla="*/ 2294578 h 2303463"/>
                <a:gd name="T54" fmla="*/ 2171200 w 3040062"/>
                <a:gd name="T55" fmla="*/ 2303146 h 2303463"/>
                <a:gd name="T56" fmla="*/ 2113403 w 3040062"/>
                <a:gd name="T57" fmla="*/ 2292040 h 2303463"/>
                <a:gd name="T58" fmla="*/ 1552263 w 3040062"/>
                <a:gd name="T59" fmla="*/ 1741815 h 2303463"/>
                <a:gd name="T60" fmla="*/ 1526223 w 3040062"/>
                <a:gd name="T61" fmla="*/ 1686919 h 2303463"/>
                <a:gd name="T62" fmla="*/ 1529081 w 3040062"/>
                <a:gd name="T63" fmla="*/ 1626946 h 2303463"/>
                <a:gd name="T64" fmla="*/ 1560520 w 3040062"/>
                <a:gd name="T65" fmla="*/ 1574272 h 2303463"/>
                <a:gd name="T66" fmla="*/ 1612919 w 3040062"/>
                <a:gd name="T67" fmla="*/ 1542858 h 2303463"/>
                <a:gd name="T68" fmla="*/ 1673891 w 3040062"/>
                <a:gd name="T69" fmla="*/ 1539685 h 2303463"/>
                <a:gd name="T70" fmla="*/ 1728513 w 3040062"/>
                <a:gd name="T71" fmla="*/ 1565705 h 2303463"/>
                <a:gd name="T72" fmla="*/ 2024167 w 3040062"/>
                <a:gd name="T73" fmla="*/ 760992 h 2303463"/>
                <a:gd name="T74" fmla="*/ 2057829 w 3040062"/>
                <a:gd name="T75" fmla="*/ 704828 h 2303463"/>
                <a:gd name="T76" fmla="*/ 2113721 w 3040062"/>
                <a:gd name="T77" fmla="*/ 670875 h 2303463"/>
                <a:gd name="T78" fmla="*/ 1640947 w 3040062"/>
                <a:gd name="T79" fmla="*/ 485773 h 2303463"/>
                <a:gd name="T80" fmla="*/ 1662436 w 3040062"/>
                <a:gd name="T81" fmla="*/ 507334 h 2303463"/>
                <a:gd name="T82" fmla="*/ 1658328 w 3040062"/>
                <a:gd name="T83" fmla="*/ 1408133 h 2303463"/>
                <a:gd name="T84" fmla="*/ 1631151 w 3040062"/>
                <a:gd name="T85" fmla="*/ 1422401 h 2303463"/>
                <a:gd name="T86" fmla="*/ 1401409 w 3040062"/>
                <a:gd name="T87" fmla="*/ 1410669 h 2303463"/>
                <a:gd name="T88" fmla="*/ 1394457 w 3040062"/>
                <a:gd name="T89" fmla="*/ 510505 h 2303463"/>
                <a:gd name="T90" fmla="*/ 1413734 w 3040062"/>
                <a:gd name="T91" fmla="*/ 486725 h 2303463"/>
                <a:gd name="T92" fmla="*/ 2856582 w 3040062"/>
                <a:gd name="T93" fmla="*/ 2539 h 2303463"/>
                <a:gd name="T94" fmla="*/ 2942924 w 3040062"/>
                <a:gd name="T95" fmla="*/ 45384 h 2303463"/>
                <a:gd name="T96" fmla="*/ 3001649 w 3040062"/>
                <a:gd name="T97" fmla="*/ 130121 h 2303463"/>
                <a:gd name="T98" fmla="*/ 3021012 w 3040062"/>
                <a:gd name="T99" fmla="*/ 1276768 h 2303463"/>
                <a:gd name="T100" fmla="*/ 2944193 w 3040062"/>
                <a:gd name="T101" fmla="*/ 1247252 h 2303463"/>
                <a:gd name="T102" fmla="*/ 374889 w 3040062"/>
                <a:gd name="T103" fmla="*/ 1959424 h 2303463"/>
                <a:gd name="T104" fmla="*/ 127291 w 3040062"/>
                <a:gd name="T105" fmla="*/ 2259336 h 2303463"/>
                <a:gd name="T106" fmla="*/ 50472 w 3040062"/>
                <a:gd name="T107" fmla="*/ 2198402 h 2303463"/>
                <a:gd name="T108" fmla="*/ 6349 w 3040062"/>
                <a:gd name="T109" fmla="*/ 2100970 h 2303463"/>
                <a:gd name="T110" fmla="*/ 3809 w 3040062"/>
                <a:gd name="T111" fmla="*/ 183438 h 2303463"/>
                <a:gd name="T112" fmla="*/ 44441 w 3040062"/>
                <a:gd name="T113" fmla="*/ 83468 h 2303463"/>
                <a:gd name="T114" fmla="*/ 118720 w 3040062"/>
                <a:gd name="T115" fmla="*/ 17773 h 2303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040062" h="2303463">
                  <a:moveTo>
                    <a:pt x="124116" y="1098725"/>
                  </a:moveTo>
                  <a:lnTo>
                    <a:pt x="120307" y="1099042"/>
                  </a:lnTo>
                  <a:lnTo>
                    <a:pt x="116498" y="1099994"/>
                  </a:lnTo>
                  <a:lnTo>
                    <a:pt x="113324" y="1101898"/>
                  </a:lnTo>
                  <a:lnTo>
                    <a:pt x="110467" y="1104120"/>
                  </a:lnTo>
                  <a:lnTo>
                    <a:pt x="108245" y="1107294"/>
                  </a:lnTo>
                  <a:lnTo>
                    <a:pt x="106340" y="1110467"/>
                  </a:lnTo>
                  <a:lnTo>
                    <a:pt x="105071" y="1114276"/>
                  </a:lnTo>
                  <a:lnTo>
                    <a:pt x="104753" y="1118084"/>
                  </a:lnTo>
                  <a:lnTo>
                    <a:pt x="104753" y="1241540"/>
                  </a:lnTo>
                  <a:lnTo>
                    <a:pt x="105071" y="1245348"/>
                  </a:lnTo>
                  <a:lnTo>
                    <a:pt x="106340" y="1249157"/>
                  </a:lnTo>
                  <a:lnTo>
                    <a:pt x="108245" y="1252330"/>
                  </a:lnTo>
                  <a:lnTo>
                    <a:pt x="110467" y="1255187"/>
                  </a:lnTo>
                  <a:lnTo>
                    <a:pt x="113324" y="1257726"/>
                  </a:lnTo>
                  <a:lnTo>
                    <a:pt x="116498" y="1259312"/>
                  </a:lnTo>
                  <a:lnTo>
                    <a:pt x="120307" y="1260899"/>
                  </a:lnTo>
                  <a:lnTo>
                    <a:pt x="124116" y="1261217"/>
                  </a:lnTo>
                  <a:lnTo>
                    <a:pt x="247598" y="1261217"/>
                  </a:lnTo>
                  <a:lnTo>
                    <a:pt x="251725" y="1260899"/>
                  </a:lnTo>
                  <a:lnTo>
                    <a:pt x="255216" y="1259312"/>
                  </a:lnTo>
                  <a:lnTo>
                    <a:pt x="258708" y="1257726"/>
                  </a:lnTo>
                  <a:lnTo>
                    <a:pt x="261565" y="1255187"/>
                  </a:lnTo>
                  <a:lnTo>
                    <a:pt x="264105" y="1252330"/>
                  </a:lnTo>
                  <a:lnTo>
                    <a:pt x="265692" y="1249157"/>
                  </a:lnTo>
                  <a:lnTo>
                    <a:pt x="266644" y="1245348"/>
                  </a:lnTo>
                  <a:lnTo>
                    <a:pt x="266961" y="1241540"/>
                  </a:lnTo>
                  <a:lnTo>
                    <a:pt x="266961" y="1118084"/>
                  </a:lnTo>
                  <a:lnTo>
                    <a:pt x="266644" y="1114276"/>
                  </a:lnTo>
                  <a:lnTo>
                    <a:pt x="265692" y="1110467"/>
                  </a:lnTo>
                  <a:lnTo>
                    <a:pt x="264105" y="1107294"/>
                  </a:lnTo>
                  <a:lnTo>
                    <a:pt x="261565" y="1104120"/>
                  </a:lnTo>
                  <a:lnTo>
                    <a:pt x="258708" y="1101898"/>
                  </a:lnTo>
                  <a:lnTo>
                    <a:pt x="255216" y="1099994"/>
                  </a:lnTo>
                  <a:lnTo>
                    <a:pt x="251725" y="1099042"/>
                  </a:lnTo>
                  <a:lnTo>
                    <a:pt x="247598" y="1098725"/>
                  </a:lnTo>
                  <a:lnTo>
                    <a:pt x="124116" y="1098725"/>
                  </a:lnTo>
                  <a:close/>
                  <a:moveTo>
                    <a:pt x="636270" y="969963"/>
                  </a:moveTo>
                  <a:lnTo>
                    <a:pt x="841692" y="969963"/>
                  </a:lnTo>
                  <a:lnTo>
                    <a:pt x="844867" y="970596"/>
                  </a:lnTo>
                  <a:lnTo>
                    <a:pt x="848359" y="970913"/>
                  </a:lnTo>
                  <a:lnTo>
                    <a:pt x="851534" y="971546"/>
                  </a:lnTo>
                  <a:lnTo>
                    <a:pt x="854709" y="972813"/>
                  </a:lnTo>
                  <a:lnTo>
                    <a:pt x="857567" y="974396"/>
                  </a:lnTo>
                  <a:lnTo>
                    <a:pt x="860107" y="975662"/>
                  </a:lnTo>
                  <a:lnTo>
                    <a:pt x="862647" y="977878"/>
                  </a:lnTo>
                  <a:lnTo>
                    <a:pt x="865187" y="979778"/>
                  </a:lnTo>
                  <a:lnTo>
                    <a:pt x="867092" y="982311"/>
                  </a:lnTo>
                  <a:lnTo>
                    <a:pt x="868997" y="984844"/>
                  </a:lnTo>
                  <a:lnTo>
                    <a:pt x="870584" y="987377"/>
                  </a:lnTo>
                  <a:lnTo>
                    <a:pt x="872172" y="990226"/>
                  </a:lnTo>
                  <a:lnTo>
                    <a:pt x="873124" y="993076"/>
                  </a:lnTo>
                  <a:lnTo>
                    <a:pt x="873760" y="996242"/>
                  </a:lnTo>
                  <a:lnTo>
                    <a:pt x="874712" y="999725"/>
                  </a:lnTo>
                  <a:lnTo>
                    <a:pt x="874712" y="1002891"/>
                  </a:lnTo>
                  <a:lnTo>
                    <a:pt x="874712" y="1389790"/>
                  </a:lnTo>
                  <a:lnTo>
                    <a:pt x="874712" y="1393273"/>
                  </a:lnTo>
                  <a:lnTo>
                    <a:pt x="873760" y="1396439"/>
                  </a:lnTo>
                  <a:lnTo>
                    <a:pt x="873124" y="1399605"/>
                  </a:lnTo>
                  <a:lnTo>
                    <a:pt x="872172" y="1402771"/>
                  </a:lnTo>
                  <a:lnTo>
                    <a:pt x="870584" y="1405304"/>
                  </a:lnTo>
                  <a:lnTo>
                    <a:pt x="868997" y="1408154"/>
                  </a:lnTo>
                  <a:lnTo>
                    <a:pt x="867092" y="1410686"/>
                  </a:lnTo>
                  <a:lnTo>
                    <a:pt x="865187" y="1413219"/>
                  </a:lnTo>
                  <a:lnTo>
                    <a:pt x="862647" y="1415119"/>
                  </a:lnTo>
                  <a:lnTo>
                    <a:pt x="860107" y="1417019"/>
                  </a:lnTo>
                  <a:lnTo>
                    <a:pt x="857567" y="1418602"/>
                  </a:lnTo>
                  <a:lnTo>
                    <a:pt x="854709" y="1420185"/>
                  </a:lnTo>
                  <a:lnTo>
                    <a:pt x="851534" y="1421135"/>
                  </a:lnTo>
                  <a:lnTo>
                    <a:pt x="848359" y="1421768"/>
                  </a:lnTo>
                  <a:lnTo>
                    <a:pt x="844867" y="1422401"/>
                  </a:lnTo>
                  <a:lnTo>
                    <a:pt x="841692" y="1422401"/>
                  </a:lnTo>
                  <a:lnTo>
                    <a:pt x="636270" y="1422401"/>
                  </a:lnTo>
                  <a:lnTo>
                    <a:pt x="632777" y="1422401"/>
                  </a:lnTo>
                  <a:lnTo>
                    <a:pt x="629920" y="1421768"/>
                  </a:lnTo>
                  <a:lnTo>
                    <a:pt x="626745" y="1421135"/>
                  </a:lnTo>
                  <a:lnTo>
                    <a:pt x="623570" y="1420185"/>
                  </a:lnTo>
                  <a:lnTo>
                    <a:pt x="620713" y="1418602"/>
                  </a:lnTo>
                  <a:lnTo>
                    <a:pt x="617855" y="1417019"/>
                  </a:lnTo>
                  <a:lnTo>
                    <a:pt x="615315" y="1415119"/>
                  </a:lnTo>
                  <a:lnTo>
                    <a:pt x="613093" y="1413219"/>
                  </a:lnTo>
                  <a:lnTo>
                    <a:pt x="610870" y="1410686"/>
                  </a:lnTo>
                  <a:lnTo>
                    <a:pt x="608965" y="1408154"/>
                  </a:lnTo>
                  <a:lnTo>
                    <a:pt x="607378" y="1405304"/>
                  </a:lnTo>
                  <a:lnTo>
                    <a:pt x="606108" y="1402771"/>
                  </a:lnTo>
                  <a:lnTo>
                    <a:pt x="605155" y="1399605"/>
                  </a:lnTo>
                  <a:lnTo>
                    <a:pt x="603885" y="1396439"/>
                  </a:lnTo>
                  <a:lnTo>
                    <a:pt x="603568" y="1393273"/>
                  </a:lnTo>
                  <a:lnTo>
                    <a:pt x="603250" y="1389790"/>
                  </a:lnTo>
                  <a:lnTo>
                    <a:pt x="603250" y="1002891"/>
                  </a:lnTo>
                  <a:lnTo>
                    <a:pt x="603568" y="999725"/>
                  </a:lnTo>
                  <a:lnTo>
                    <a:pt x="603885" y="996242"/>
                  </a:lnTo>
                  <a:lnTo>
                    <a:pt x="605155" y="993076"/>
                  </a:lnTo>
                  <a:lnTo>
                    <a:pt x="606108" y="990226"/>
                  </a:lnTo>
                  <a:lnTo>
                    <a:pt x="607378" y="987377"/>
                  </a:lnTo>
                  <a:lnTo>
                    <a:pt x="608965" y="984844"/>
                  </a:lnTo>
                  <a:lnTo>
                    <a:pt x="610870" y="982311"/>
                  </a:lnTo>
                  <a:lnTo>
                    <a:pt x="613093" y="979778"/>
                  </a:lnTo>
                  <a:lnTo>
                    <a:pt x="615315" y="977878"/>
                  </a:lnTo>
                  <a:lnTo>
                    <a:pt x="617855" y="975662"/>
                  </a:lnTo>
                  <a:lnTo>
                    <a:pt x="620713" y="974396"/>
                  </a:lnTo>
                  <a:lnTo>
                    <a:pt x="623570" y="972813"/>
                  </a:lnTo>
                  <a:lnTo>
                    <a:pt x="626745" y="971546"/>
                  </a:lnTo>
                  <a:lnTo>
                    <a:pt x="629920" y="970913"/>
                  </a:lnTo>
                  <a:lnTo>
                    <a:pt x="632777" y="970596"/>
                  </a:lnTo>
                  <a:lnTo>
                    <a:pt x="636270" y="969963"/>
                  </a:lnTo>
                  <a:close/>
                  <a:moveTo>
                    <a:pt x="1027781" y="749300"/>
                  </a:moveTo>
                  <a:lnTo>
                    <a:pt x="1031278" y="749300"/>
                  </a:lnTo>
                  <a:lnTo>
                    <a:pt x="1236940" y="749300"/>
                  </a:lnTo>
                  <a:lnTo>
                    <a:pt x="1240437" y="749300"/>
                  </a:lnTo>
                  <a:lnTo>
                    <a:pt x="1243616" y="750251"/>
                  </a:lnTo>
                  <a:lnTo>
                    <a:pt x="1246476" y="750885"/>
                  </a:lnTo>
                  <a:lnTo>
                    <a:pt x="1249655" y="751837"/>
                  </a:lnTo>
                  <a:lnTo>
                    <a:pt x="1252516" y="753105"/>
                  </a:lnTo>
                  <a:lnTo>
                    <a:pt x="1255377" y="755007"/>
                  </a:lnTo>
                  <a:lnTo>
                    <a:pt x="1257920" y="756592"/>
                  </a:lnTo>
                  <a:lnTo>
                    <a:pt x="1260145" y="758812"/>
                  </a:lnTo>
                  <a:lnTo>
                    <a:pt x="1262370" y="761348"/>
                  </a:lnTo>
                  <a:lnTo>
                    <a:pt x="1264595" y="763567"/>
                  </a:lnTo>
                  <a:lnTo>
                    <a:pt x="1265867" y="766421"/>
                  </a:lnTo>
                  <a:lnTo>
                    <a:pt x="1267138" y="769274"/>
                  </a:lnTo>
                  <a:lnTo>
                    <a:pt x="1268410" y="772445"/>
                  </a:lnTo>
                  <a:lnTo>
                    <a:pt x="1269363" y="775615"/>
                  </a:lnTo>
                  <a:lnTo>
                    <a:pt x="1269681" y="778786"/>
                  </a:lnTo>
                  <a:lnTo>
                    <a:pt x="1269999" y="782273"/>
                  </a:lnTo>
                  <a:lnTo>
                    <a:pt x="1269999" y="1389744"/>
                  </a:lnTo>
                  <a:lnTo>
                    <a:pt x="1269681" y="1393231"/>
                  </a:lnTo>
                  <a:lnTo>
                    <a:pt x="1269363" y="1396402"/>
                  </a:lnTo>
                  <a:lnTo>
                    <a:pt x="1268410" y="1399572"/>
                  </a:lnTo>
                  <a:lnTo>
                    <a:pt x="1267138" y="1402743"/>
                  </a:lnTo>
                  <a:lnTo>
                    <a:pt x="1265867" y="1405279"/>
                  </a:lnTo>
                  <a:lnTo>
                    <a:pt x="1264595" y="1408133"/>
                  </a:lnTo>
                  <a:lnTo>
                    <a:pt x="1262370" y="1410669"/>
                  </a:lnTo>
                  <a:lnTo>
                    <a:pt x="1260145" y="1413206"/>
                  </a:lnTo>
                  <a:lnTo>
                    <a:pt x="1257920" y="1415108"/>
                  </a:lnTo>
                  <a:lnTo>
                    <a:pt x="1255377" y="1417010"/>
                  </a:lnTo>
                  <a:lnTo>
                    <a:pt x="1252516" y="1418595"/>
                  </a:lnTo>
                  <a:lnTo>
                    <a:pt x="1249655" y="1420181"/>
                  </a:lnTo>
                  <a:lnTo>
                    <a:pt x="1246476" y="1421132"/>
                  </a:lnTo>
                  <a:lnTo>
                    <a:pt x="1243616" y="1421766"/>
                  </a:lnTo>
                  <a:lnTo>
                    <a:pt x="1240437" y="1422400"/>
                  </a:lnTo>
                  <a:lnTo>
                    <a:pt x="1236940" y="1422400"/>
                  </a:lnTo>
                  <a:lnTo>
                    <a:pt x="1031278" y="1422400"/>
                  </a:lnTo>
                  <a:lnTo>
                    <a:pt x="1027781" y="1422400"/>
                  </a:lnTo>
                  <a:lnTo>
                    <a:pt x="1024602" y="1421766"/>
                  </a:lnTo>
                  <a:lnTo>
                    <a:pt x="1021424" y="1421132"/>
                  </a:lnTo>
                  <a:lnTo>
                    <a:pt x="1018245" y="1420181"/>
                  </a:lnTo>
                  <a:lnTo>
                    <a:pt x="1015384" y="1418595"/>
                  </a:lnTo>
                  <a:lnTo>
                    <a:pt x="1012841" y="1417010"/>
                  </a:lnTo>
                  <a:lnTo>
                    <a:pt x="1010298" y="1415108"/>
                  </a:lnTo>
                  <a:lnTo>
                    <a:pt x="1007755" y="1413206"/>
                  </a:lnTo>
                  <a:lnTo>
                    <a:pt x="1005848" y="1410669"/>
                  </a:lnTo>
                  <a:lnTo>
                    <a:pt x="1003941" y="1408133"/>
                  </a:lnTo>
                  <a:lnTo>
                    <a:pt x="1002351" y="1405279"/>
                  </a:lnTo>
                  <a:lnTo>
                    <a:pt x="1000762" y="1402743"/>
                  </a:lnTo>
                  <a:lnTo>
                    <a:pt x="999808" y="1399572"/>
                  </a:lnTo>
                  <a:lnTo>
                    <a:pt x="999173" y="1396402"/>
                  </a:lnTo>
                  <a:lnTo>
                    <a:pt x="998537" y="1393231"/>
                  </a:lnTo>
                  <a:lnTo>
                    <a:pt x="998537" y="1389744"/>
                  </a:lnTo>
                  <a:lnTo>
                    <a:pt x="998537" y="782273"/>
                  </a:lnTo>
                  <a:lnTo>
                    <a:pt x="998537" y="778786"/>
                  </a:lnTo>
                  <a:lnTo>
                    <a:pt x="999173" y="775615"/>
                  </a:lnTo>
                  <a:lnTo>
                    <a:pt x="999808" y="772445"/>
                  </a:lnTo>
                  <a:lnTo>
                    <a:pt x="1000762" y="769274"/>
                  </a:lnTo>
                  <a:lnTo>
                    <a:pt x="1002351" y="766421"/>
                  </a:lnTo>
                  <a:lnTo>
                    <a:pt x="1003941" y="763567"/>
                  </a:lnTo>
                  <a:lnTo>
                    <a:pt x="1005848" y="761348"/>
                  </a:lnTo>
                  <a:lnTo>
                    <a:pt x="1007755" y="758812"/>
                  </a:lnTo>
                  <a:lnTo>
                    <a:pt x="1010298" y="756592"/>
                  </a:lnTo>
                  <a:lnTo>
                    <a:pt x="1012841" y="755007"/>
                  </a:lnTo>
                  <a:lnTo>
                    <a:pt x="1015384" y="753105"/>
                  </a:lnTo>
                  <a:lnTo>
                    <a:pt x="1018245" y="751837"/>
                  </a:lnTo>
                  <a:lnTo>
                    <a:pt x="1021424" y="750885"/>
                  </a:lnTo>
                  <a:lnTo>
                    <a:pt x="1024602" y="750251"/>
                  </a:lnTo>
                  <a:lnTo>
                    <a:pt x="1027781" y="749300"/>
                  </a:lnTo>
                  <a:close/>
                  <a:moveTo>
                    <a:pt x="2147065" y="665163"/>
                  </a:moveTo>
                  <a:lnTo>
                    <a:pt x="2154052" y="665163"/>
                  </a:lnTo>
                  <a:lnTo>
                    <a:pt x="2161038" y="665163"/>
                  </a:lnTo>
                  <a:lnTo>
                    <a:pt x="2168025" y="665798"/>
                  </a:lnTo>
                  <a:lnTo>
                    <a:pt x="2175011" y="666432"/>
                  </a:lnTo>
                  <a:lnTo>
                    <a:pt x="2181680" y="667702"/>
                  </a:lnTo>
                  <a:lnTo>
                    <a:pt x="2188349" y="669288"/>
                  </a:lnTo>
                  <a:lnTo>
                    <a:pt x="2194700" y="670875"/>
                  </a:lnTo>
                  <a:lnTo>
                    <a:pt x="2201369" y="673413"/>
                  </a:lnTo>
                  <a:lnTo>
                    <a:pt x="2207085" y="675952"/>
                  </a:lnTo>
                  <a:lnTo>
                    <a:pt x="2213437" y="678173"/>
                  </a:lnTo>
                  <a:lnTo>
                    <a:pt x="2219471" y="681346"/>
                  </a:lnTo>
                  <a:lnTo>
                    <a:pt x="2224869" y="684519"/>
                  </a:lnTo>
                  <a:lnTo>
                    <a:pt x="2230585" y="688327"/>
                  </a:lnTo>
                  <a:lnTo>
                    <a:pt x="2235666" y="692135"/>
                  </a:lnTo>
                  <a:lnTo>
                    <a:pt x="2241065" y="695943"/>
                  </a:lnTo>
                  <a:lnTo>
                    <a:pt x="2245829" y="700702"/>
                  </a:lnTo>
                  <a:lnTo>
                    <a:pt x="2250910" y="704828"/>
                  </a:lnTo>
                  <a:lnTo>
                    <a:pt x="2255356" y="709587"/>
                  </a:lnTo>
                  <a:lnTo>
                    <a:pt x="2259484" y="714347"/>
                  </a:lnTo>
                  <a:lnTo>
                    <a:pt x="2263612" y="719741"/>
                  </a:lnTo>
                  <a:lnTo>
                    <a:pt x="2267423" y="724819"/>
                  </a:lnTo>
                  <a:lnTo>
                    <a:pt x="2270916" y="730530"/>
                  </a:lnTo>
                  <a:lnTo>
                    <a:pt x="2274092" y="736559"/>
                  </a:lnTo>
                  <a:lnTo>
                    <a:pt x="2277268" y="742271"/>
                  </a:lnTo>
                  <a:lnTo>
                    <a:pt x="2280126" y="748300"/>
                  </a:lnTo>
                  <a:lnTo>
                    <a:pt x="2282666" y="754646"/>
                  </a:lnTo>
                  <a:lnTo>
                    <a:pt x="2284572" y="760992"/>
                  </a:lnTo>
                  <a:lnTo>
                    <a:pt x="2286477" y="767021"/>
                  </a:lnTo>
                  <a:lnTo>
                    <a:pt x="2287747" y="773685"/>
                  </a:lnTo>
                  <a:lnTo>
                    <a:pt x="2289018" y="780349"/>
                  </a:lnTo>
                  <a:lnTo>
                    <a:pt x="2289970" y="787330"/>
                  </a:lnTo>
                  <a:lnTo>
                    <a:pt x="2290605" y="794311"/>
                  </a:lnTo>
                  <a:lnTo>
                    <a:pt x="2290605" y="801292"/>
                  </a:lnTo>
                  <a:lnTo>
                    <a:pt x="2290605" y="1286150"/>
                  </a:lnTo>
                  <a:lnTo>
                    <a:pt x="2884137" y="1353738"/>
                  </a:lnTo>
                  <a:lnTo>
                    <a:pt x="2890488" y="1354055"/>
                  </a:lnTo>
                  <a:lnTo>
                    <a:pt x="2898110" y="1354372"/>
                  </a:lnTo>
                  <a:lnTo>
                    <a:pt x="2905732" y="1355007"/>
                  </a:lnTo>
                  <a:lnTo>
                    <a:pt x="2913353" y="1355642"/>
                  </a:lnTo>
                  <a:lnTo>
                    <a:pt x="2920657" y="1357228"/>
                  </a:lnTo>
                  <a:lnTo>
                    <a:pt x="2927644" y="1358815"/>
                  </a:lnTo>
                  <a:lnTo>
                    <a:pt x="2934948" y="1361036"/>
                  </a:lnTo>
                  <a:lnTo>
                    <a:pt x="2941934" y="1362940"/>
                  </a:lnTo>
                  <a:lnTo>
                    <a:pt x="2948603" y="1365796"/>
                  </a:lnTo>
                  <a:lnTo>
                    <a:pt x="2955272" y="1368969"/>
                  </a:lnTo>
                  <a:lnTo>
                    <a:pt x="2961941" y="1372142"/>
                  </a:lnTo>
                  <a:lnTo>
                    <a:pt x="2968292" y="1375633"/>
                  </a:lnTo>
                  <a:lnTo>
                    <a:pt x="2974008" y="1379758"/>
                  </a:lnTo>
                  <a:lnTo>
                    <a:pt x="2980042" y="1383883"/>
                  </a:lnTo>
                  <a:lnTo>
                    <a:pt x="2985758" y="1388008"/>
                  </a:lnTo>
                  <a:lnTo>
                    <a:pt x="2990839" y="1393085"/>
                  </a:lnTo>
                  <a:lnTo>
                    <a:pt x="2996238" y="1397845"/>
                  </a:lnTo>
                  <a:lnTo>
                    <a:pt x="3001319" y="1403239"/>
                  </a:lnTo>
                  <a:lnTo>
                    <a:pt x="3005765" y="1408316"/>
                  </a:lnTo>
                  <a:lnTo>
                    <a:pt x="3010529" y="1414345"/>
                  </a:lnTo>
                  <a:lnTo>
                    <a:pt x="3014657" y="1419739"/>
                  </a:lnTo>
                  <a:lnTo>
                    <a:pt x="3018468" y="1426086"/>
                  </a:lnTo>
                  <a:lnTo>
                    <a:pt x="3021961" y="1432432"/>
                  </a:lnTo>
                  <a:lnTo>
                    <a:pt x="3025454" y="1438778"/>
                  </a:lnTo>
                  <a:lnTo>
                    <a:pt x="3028312" y="1445125"/>
                  </a:lnTo>
                  <a:lnTo>
                    <a:pt x="3030853" y="1452106"/>
                  </a:lnTo>
                  <a:lnTo>
                    <a:pt x="3033393" y="1459087"/>
                  </a:lnTo>
                  <a:lnTo>
                    <a:pt x="3035616" y="1466067"/>
                  </a:lnTo>
                  <a:lnTo>
                    <a:pt x="3036887" y="1473366"/>
                  </a:lnTo>
                  <a:lnTo>
                    <a:pt x="3038474" y="1480664"/>
                  </a:lnTo>
                  <a:lnTo>
                    <a:pt x="3039427" y="1488280"/>
                  </a:lnTo>
                  <a:lnTo>
                    <a:pt x="3040062" y="1495895"/>
                  </a:lnTo>
                  <a:lnTo>
                    <a:pt x="3040062" y="1503511"/>
                  </a:lnTo>
                  <a:lnTo>
                    <a:pt x="3040062" y="2154008"/>
                  </a:lnTo>
                  <a:lnTo>
                    <a:pt x="3040062" y="2161623"/>
                  </a:lnTo>
                  <a:lnTo>
                    <a:pt x="3039427" y="2169556"/>
                  </a:lnTo>
                  <a:lnTo>
                    <a:pt x="3038474" y="2177172"/>
                  </a:lnTo>
                  <a:lnTo>
                    <a:pt x="3036887" y="2184470"/>
                  </a:lnTo>
                  <a:lnTo>
                    <a:pt x="3035616" y="2191451"/>
                  </a:lnTo>
                  <a:lnTo>
                    <a:pt x="3033393" y="2198749"/>
                  </a:lnTo>
                  <a:lnTo>
                    <a:pt x="3030853" y="2205730"/>
                  </a:lnTo>
                  <a:lnTo>
                    <a:pt x="3028312" y="2212394"/>
                  </a:lnTo>
                  <a:lnTo>
                    <a:pt x="3025454" y="2219057"/>
                  </a:lnTo>
                  <a:lnTo>
                    <a:pt x="3021961" y="2225404"/>
                  </a:lnTo>
                  <a:lnTo>
                    <a:pt x="3018468" y="2231433"/>
                  </a:lnTo>
                  <a:lnTo>
                    <a:pt x="3014657" y="2237779"/>
                  </a:lnTo>
                  <a:lnTo>
                    <a:pt x="3010529" y="2243808"/>
                  </a:lnTo>
                  <a:lnTo>
                    <a:pt x="3005765" y="2249202"/>
                  </a:lnTo>
                  <a:lnTo>
                    <a:pt x="3001319" y="2254597"/>
                  </a:lnTo>
                  <a:lnTo>
                    <a:pt x="2996238" y="2259674"/>
                  </a:lnTo>
                  <a:lnTo>
                    <a:pt x="2990839" y="2264433"/>
                  </a:lnTo>
                  <a:lnTo>
                    <a:pt x="2985758" y="2269510"/>
                  </a:lnTo>
                  <a:lnTo>
                    <a:pt x="2980042" y="2273953"/>
                  </a:lnTo>
                  <a:lnTo>
                    <a:pt x="2974008" y="2278078"/>
                  </a:lnTo>
                  <a:lnTo>
                    <a:pt x="2968292" y="2281886"/>
                  </a:lnTo>
                  <a:lnTo>
                    <a:pt x="2961941" y="2285376"/>
                  </a:lnTo>
                  <a:lnTo>
                    <a:pt x="2955272" y="2288867"/>
                  </a:lnTo>
                  <a:lnTo>
                    <a:pt x="2948603" y="2291723"/>
                  </a:lnTo>
                  <a:lnTo>
                    <a:pt x="2941934" y="2294578"/>
                  </a:lnTo>
                  <a:lnTo>
                    <a:pt x="2934948" y="2297117"/>
                  </a:lnTo>
                  <a:lnTo>
                    <a:pt x="2927644" y="2298703"/>
                  </a:lnTo>
                  <a:lnTo>
                    <a:pt x="2920657" y="2300607"/>
                  </a:lnTo>
                  <a:lnTo>
                    <a:pt x="2913353" y="2301877"/>
                  </a:lnTo>
                  <a:lnTo>
                    <a:pt x="2905732" y="2302829"/>
                  </a:lnTo>
                  <a:lnTo>
                    <a:pt x="2898110" y="2303146"/>
                  </a:lnTo>
                  <a:lnTo>
                    <a:pt x="2890488" y="2303463"/>
                  </a:lnTo>
                  <a:lnTo>
                    <a:pt x="2177552" y="2303463"/>
                  </a:lnTo>
                  <a:lnTo>
                    <a:pt x="2173423" y="2303146"/>
                  </a:lnTo>
                  <a:lnTo>
                    <a:pt x="2171200" y="2303146"/>
                  </a:lnTo>
                  <a:lnTo>
                    <a:pt x="2169613" y="2303146"/>
                  </a:lnTo>
                  <a:lnTo>
                    <a:pt x="2162944" y="2303146"/>
                  </a:lnTo>
                  <a:lnTo>
                    <a:pt x="2156275" y="2303146"/>
                  </a:lnTo>
                  <a:lnTo>
                    <a:pt x="2149924" y="2302511"/>
                  </a:lnTo>
                  <a:lnTo>
                    <a:pt x="2143572" y="2301559"/>
                  </a:lnTo>
                  <a:lnTo>
                    <a:pt x="2137538" y="2300607"/>
                  </a:lnTo>
                  <a:lnTo>
                    <a:pt x="2131187" y="2298703"/>
                  </a:lnTo>
                  <a:lnTo>
                    <a:pt x="2125153" y="2297117"/>
                  </a:lnTo>
                  <a:lnTo>
                    <a:pt x="2119437" y="2294896"/>
                  </a:lnTo>
                  <a:lnTo>
                    <a:pt x="2113403" y="2292040"/>
                  </a:lnTo>
                  <a:lnTo>
                    <a:pt x="2107370" y="2289501"/>
                  </a:lnTo>
                  <a:lnTo>
                    <a:pt x="2101971" y="2286645"/>
                  </a:lnTo>
                  <a:lnTo>
                    <a:pt x="2096572" y="2283155"/>
                  </a:lnTo>
                  <a:lnTo>
                    <a:pt x="2091491" y="2279665"/>
                  </a:lnTo>
                  <a:lnTo>
                    <a:pt x="2086093" y="2275222"/>
                  </a:lnTo>
                  <a:lnTo>
                    <a:pt x="2081329" y="2271097"/>
                  </a:lnTo>
                  <a:lnTo>
                    <a:pt x="2076883" y="2266972"/>
                  </a:lnTo>
                  <a:lnTo>
                    <a:pt x="1560520" y="1751334"/>
                  </a:lnTo>
                  <a:lnTo>
                    <a:pt x="1556074" y="1746574"/>
                  </a:lnTo>
                  <a:lnTo>
                    <a:pt x="1552263" y="1741815"/>
                  </a:lnTo>
                  <a:lnTo>
                    <a:pt x="1548135" y="1737055"/>
                  </a:lnTo>
                  <a:lnTo>
                    <a:pt x="1544642" y="1731661"/>
                  </a:lnTo>
                  <a:lnTo>
                    <a:pt x="1541466" y="1726583"/>
                  </a:lnTo>
                  <a:lnTo>
                    <a:pt x="1538291" y="1720872"/>
                  </a:lnTo>
                  <a:lnTo>
                    <a:pt x="1535432" y="1715477"/>
                  </a:lnTo>
                  <a:lnTo>
                    <a:pt x="1532892" y="1709766"/>
                  </a:lnTo>
                  <a:lnTo>
                    <a:pt x="1530987" y="1704054"/>
                  </a:lnTo>
                  <a:lnTo>
                    <a:pt x="1529081" y="1698342"/>
                  </a:lnTo>
                  <a:lnTo>
                    <a:pt x="1527493" y="1692631"/>
                  </a:lnTo>
                  <a:lnTo>
                    <a:pt x="1526223" y="1686919"/>
                  </a:lnTo>
                  <a:lnTo>
                    <a:pt x="1525270" y="1680890"/>
                  </a:lnTo>
                  <a:lnTo>
                    <a:pt x="1524635" y="1674544"/>
                  </a:lnTo>
                  <a:lnTo>
                    <a:pt x="1524000" y="1668515"/>
                  </a:lnTo>
                  <a:lnTo>
                    <a:pt x="1524000" y="1662803"/>
                  </a:lnTo>
                  <a:lnTo>
                    <a:pt x="1524000" y="1656774"/>
                  </a:lnTo>
                  <a:lnTo>
                    <a:pt x="1524635" y="1650428"/>
                  </a:lnTo>
                  <a:lnTo>
                    <a:pt x="1525270" y="1644716"/>
                  </a:lnTo>
                  <a:lnTo>
                    <a:pt x="1526223" y="1638687"/>
                  </a:lnTo>
                  <a:lnTo>
                    <a:pt x="1527493" y="1632658"/>
                  </a:lnTo>
                  <a:lnTo>
                    <a:pt x="1529081" y="1626946"/>
                  </a:lnTo>
                  <a:lnTo>
                    <a:pt x="1530987" y="1621235"/>
                  </a:lnTo>
                  <a:lnTo>
                    <a:pt x="1532892" y="1615523"/>
                  </a:lnTo>
                  <a:lnTo>
                    <a:pt x="1535432" y="1609811"/>
                  </a:lnTo>
                  <a:lnTo>
                    <a:pt x="1538291" y="1604417"/>
                  </a:lnTo>
                  <a:lnTo>
                    <a:pt x="1541466" y="1599023"/>
                  </a:lnTo>
                  <a:lnTo>
                    <a:pt x="1544642" y="1593628"/>
                  </a:lnTo>
                  <a:lnTo>
                    <a:pt x="1548135" y="1588551"/>
                  </a:lnTo>
                  <a:lnTo>
                    <a:pt x="1552263" y="1583474"/>
                  </a:lnTo>
                  <a:lnTo>
                    <a:pt x="1556074" y="1578714"/>
                  </a:lnTo>
                  <a:lnTo>
                    <a:pt x="1560520" y="1574272"/>
                  </a:lnTo>
                  <a:lnTo>
                    <a:pt x="1564966" y="1569830"/>
                  </a:lnTo>
                  <a:lnTo>
                    <a:pt x="1570047" y="1565705"/>
                  </a:lnTo>
                  <a:lnTo>
                    <a:pt x="1574811" y="1561897"/>
                  </a:lnTo>
                  <a:lnTo>
                    <a:pt x="1579574" y="1558406"/>
                  </a:lnTo>
                  <a:lnTo>
                    <a:pt x="1584973" y="1554916"/>
                  </a:lnTo>
                  <a:lnTo>
                    <a:pt x="1590054" y="1552060"/>
                  </a:lnTo>
                  <a:lnTo>
                    <a:pt x="1595770" y="1549521"/>
                  </a:lnTo>
                  <a:lnTo>
                    <a:pt x="1601486" y="1546666"/>
                  </a:lnTo>
                  <a:lnTo>
                    <a:pt x="1606885" y="1544444"/>
                  </a:lnTo>
                  <a:lnTo>
                    <a:pt x="1612919" y="1542858"/>
                  </a:lnTo>
                  <a:lnTo>
                    <a:pt x="1618635" y="1540954"/>
                  </a:lnTo>
                  <a:lnTo>
                    <a:pt x="1624669" y="1539685"/>
                  </a:lnTo>
                  <a:lnTo>
                    <a:pt x="1630702" y="1538733"/>
                  </a:lnTo>
                  <a:lnTo>
                    <a:pt x="1637054" y="1538098"/>
                  </a:lnTo>
                  <a:lnTo>
                    <a:pt x="1642770" y="1537463"/>
                  </a:lnTo>
                  <a:lnTo>
                    <a:pt x="1649121" y="1537146"/>
                  </a:lnTo>
                  <a:lnTo>
                    <a:pt x="1655473" y="1537463"/>
                  </a:lnTo>
                  <a:lnTo>
                    <a:pt x="1661824" y="1538098"/>
                  </a:lnTo>
                  <a:lnTo>
                    <a:pt x="1667858" y="1538733"/>
                  </a:lnTo>
                  <a:lnTo>
                    <a:pt x="1673891" y="1539685"/>
                  </a:lnTo>
                  <a:lnTo>
                    <a:pt x="1679925" y="1540954"/>
                  </a:lnTo>
                  <a:lnTo>
                    <a:pt x="1685641" y="1542858"/>
                  </a:lnTo>
                  <a:lnTo>
                    <a:pt x="1691675" y="1544444"/>
                  </a:lnTo>
                  <a:lnTo>
                    <a:pt x="1697391" y="1546666"/>
                  </a:lnTo>
                  <a:lnTo>
                    <a:pt x="1702790" y="1549521"/>
                  </a:lnTo>
                  <a:lnTo>
                    <a:pt x="1708506" y="1552060"/>
                  </a:lnTo>
                  <a:lnTo>
                    <a:pt x="1713587" y="1554916"/>
                  </a:lnTo>
                  <a:lnTo>
                    <a:pt x="1718986" y="1558406"/>
                  </a:lnTo>
                  <a:lnTo>
                    <a:pt x="1723749" y="1561897"/>
                  </a:lnTo>
                  <a:lnTo>
                    <a:pt x="1728513" y="1565705"/>
                  </a:lnTo>
                  <a:lnTo>
                    <a:pt x="1733594" y="1569830"/>
                  </a:lnTo>
                  <a:lnTo>
                    <a:pt x="1738040" y="1574272"/>
                  </a:lnTo>
                  <a:lnTo>
                    <a:pt x="2017816" y="1853827"/>
                  </a:lnTo>
                  <a:lnTo>
                    <a:pt x="2017816" y="801292"/>
                  </a:lnTo>
                  <a:lnTo>
                    <a:pt x="2018133" y="794311"/>
                  </a:lnTo>
                  <a:lnTo>
                    <a:pt x="2018451" y="787330"/>
                  </a:lnTo>
                  <a:lnTo>
                    <a:pt x="2019404" y="780349"/>
                  </a:lnTo>
                  <a:lnTo>
                    <a:pt x="2020674" y="773685"/>
                  </a:lnTo>
                  <a:lnTo>
                    <a:pt x="2021944" y="767021"/>
                  </a:lnTo>
                  <a:lnTo>
                    <a:pt x="2024167" y="760992"/>
                  </a:lnTo>
                  <a:lnTo>
                    <a:pt x="2026073" y="754646"/>
                  </a:lnTo>
                  <a:lnTo>
                    <a:pt x="2028613" y="748300"/>
                  </a:lnTo>
                  <a:lnTo>
                    <a:pt x="2031471" y="742271"/>
                  </a:lnTo>
                  <a:lnTo>
                    <a:pt x="2034329" y="736559"/>
                  </a:lnTo>
                  <a:lnTo>
                    <a:pt x="2037823" y="730530"/>
                  </a:lnTo>
                  <a:lnTo>
                    <a:pt x="2040998" y="724819"/>
                  </a:lnTo>
                  <a:lnTo>
                    <a:pt x="2045127" y="719741"/>
                  </a:lnTo>
                  <a:lnTo>
                    <a:pt x="2048937" y="714347"/>
                  </a:lnTo>
                  <a:lnTo>
                    <a:pt x="2053383" y="709587"/>
                  </a:lnTo>
                  <a:lnTo>
                    <a:pt x="2057829" y="704828"/>
                  </a:lnTo>
                  <a:lnTo>
                    <a:pt x="2062275" y="700702"/>
                  </a:lnTo>
                  <a:lnTo>
                    <a:pt x="2067674" y="695943"/>
                  </a:lnTo>
                  <a:lnTo>
                    <a:pt x="2072437" y="692135"/>
                  </a:lnTo>
                  <a:lnTo>
                    <a:pt x="2078154" y="688327"/>
                  </a:lnTo>
                  <a:lnTo>
                    <a:pt x="2083552" y="684519"/>
                  </a:lnTo>
                  <a:lnTo>
                    <a:pt x="2089268" y="681346"/>
                  </a:lnTo>
                  <a:lnTo>
                    <a:pt x="2095302" y="678173"/>
                  </a:lnTo>
                  <a:lnTo>
                    <a:pt x="2101018" y="675952"/>
                  </a:lnTo>
                  <a:lnTo>
                    <a:pt x="2107370" y="673413"/>
                  </a:lnTo>
                  <a:lnTo>
                    <a:pt x="2113721" y="670875"/>
                  </a:lnTo>
                  <a:lnTo>
                    <a:pt x="2120390" y="669288"/>
                  </a:lnTo>
                  <a:lnTo>
                    <a:pt x="2127059" y="667702"/>
                  </a:lnTo>
                  <a:lnTo>
                    <a:pt x="2133728" y="666432"/>
                  </a:lnTo>
                  <a:lnTo>
                    <a:pt x="2140079" y="665798"/>
                  </a:lnTo>
                  <a:lnTo>
                    <a:pt x="2147065" y="665163"/>
                  </a:lnTo>
                  <a:close/>
                  <a:moveTo>
                    <a:pt x="1426690" y="484188"/>
                  </a:moveTo>
                  <a:lnTo>
                    <a:pt x="1631151" y="484188"/>
                  </a:lnTo>
                  <a:lnTo>
                    <a:pt x="1634627" y="484505"/>
                  </a:lnTo>
                  <a:lnTo>
                    <a:pt x="1637787" y="484822"/>
                  </a:lnTo>
                  <a:lnTo>
                    <a:pt x="1640947" y="485773"/>
                  </a:lnTo>
                  <a:lnTo>
                    <a:pt x="1644107" y="486725"/>
                  </a:lnTo>
                  <a:lnTo>
                    <a:pt x="1646635" y="488310"/>
                  </a:lnTo>
                  <a:lnTo>
                    <a:pt x="1649479" y="489895"/>
                  </a:lnTo>
                  <a:lnTo>
                    <a:pt x="1652008" y="491798"/>
                  </a:lnTo>
                  <a:lnTo>
                    <a:pt x="1654536" y="493700"/>
                  </a:lnTo>
                  <a:lnTo>
                    <a:pt x="1656432" y="496237"/>
                  </a:lnTo>
                  <a:lnTo>
                    <a:pt x="1658328" y="498773"/>
                  </a:lnTo>
                  <a:lnTo>
                    <a:pt x="1659908" y="501310"/>
                  </a:lnTo>
                  <a:lnTo>
                    <a:pt x="1661488" y="504164"/>
                  </a:lnTo>
                  <a:lnTo>
                    <a:pt x="1662436" y="507334"/>
                  </a:lnTo>
                  <a:lnTo>
                    <a:pt x="1663068" y="510505"/>
                  </a:lnTo>
                  <a:lnTo>
                    <a:pt x="1663700" y="513676"/>
                  </a:lnTo>
                  <a:lnTo>
                    <a:pt x="1663700" y="517164"/>
                  </a:lnTo>
                  <a:lnTo>
                    <a:pt x="1663700" y="1389743"/>
                  </a:lnTo>
                  <a:lnTo>
                    <a:pt x="1663700" y="1393231"/>
                  </a:lnTo>
                  <a:lnTo>
                    <a:pt x="1663068" y="1396401"/>
                  </a:lnTo>
                  <a:lnTo>
                    <a:pt x="1662436" y="1399572"/>
                  </a:lnTo>
                  <a:lnTo>
                    <a:pt x="1661488" y="1402743"/>
                  </a:lnTo>
                  <a:lnTo>
                    <a:pt x="1659908" y="1405279"/>
                  </a:lnTo>
                  <a:lnTo>
                    <a:pt x="1658328" y="1408133"/>
                  </a:lnTo>
                  <a:lnTo>
                    <a:pt x="1656432" y="1410669"/>
                  </a:lnTo>
                  <a:lnTo>
                    <a:pt x="1654536" y="1413206"/>
                  </a:lnTo>
                  <a:lnTo>
                    <a:pt x="1652008" y="1415108"/>
                  </a:lnTo>
                  <a:lnTo>
                    <a:pt x="1649479" y="1417011"/>
                  </a:lnTo>
                  <a:lnTo>
                    <a:pt x="1646635" y="1418596"/>
                  </a:lnTo>
                  <a:lnTo>
                    <a:pt x="1644107" y="1420182"/>
                  </a:lnTo>
                  <a:lnTo>
                    <a:pt x="1640947" y="1421133"/>
                  </a:lnTo>
                  <a:lnTo>
                    <a:pt x="1637787" y="1421767"/>
                  </a:lnTo>
                  <a:lnTo>
                    <a:pt x="1634627" y="1422401"/>
                  </a:lnTo>
                  <a:lnTo>
                    <a:pt x="1631151" y="1422401"/>
                  </a:lnTo>
                  <a:lnTo>
                    <a:pt x="1426690" y="1422401"/>
                  </a:lnTo>
                  <a:lnTo>
                    <a:pt x="1423214" y="1422401"/>
                  </a:lnTo>
                  <a:lnTo>
                    <a:pt x="1420054" y="1421767"/>
                  </a:lnTo>
                  <a:lnTo>
                    <a:pt x="1416894" y="1421133"/>
                  </a:lnTo>
                  <a:lnTo>
                    <a:pt x="1413734" y="1420182"/>
                  </a:lnTo>
                  <a:lnTo>
                    <a:pt x="1411206" y="1418596"/>
                  </a:lnTo>
                  <a:lnTo>
                    <a:pt x="1408362" y="1417011"/>
                  </a:lnTo>
                  <a:lnTo>
                    <a:pt x="1405834" y="1415108"/>
                  </a:lnTo>
                  <a:lnTo>
                    <a:pt x="1403622" y="1413206"/>
                  </a:lnTo>
                  <a:lnTo>
                    <a:pt x="1401409" y="1410669"/>
                  </a:lnTo>
                  <a:lnTo>
                    <a:pt x="1399513" y="1408133"/>
                  </a:lnTo>
                  <a:lnTo>
                    <a:pt x="1397933" y="1405279"/>
                  </a:lnTo>
                  <a:lnTo>
                    <a:pt x="1396669" y="1402743"/>
                  </a:lnTo>
                  <a:lnTo>
                    <a:pt x="1395405" y="1399572"/>
                  </a:lnTo>
                  <a:lnTo>
                    <a:pt x="1394457" y="1396401"/>
                  </a:lnTo>
                  <a:lnTo>
                    <a:pt x="1394141" y="1393231"/>
                  </a:lnTo>
                  <a:lnTo>
                    <a:pt x="1393825" y="1389743"/>
                  </a:lnTo>
                  <a:lnTo>
                    <a:pt x="1393825" y="517164"/>
                  </a:lnTo>
                  <a:lnTo>
                    <a:pt x="1394141" y="513676"/>
                  </a:lnTo>
                  <a:lnTo>
                    <a:pt x="1394457" y="510505"/>
                  </a:lnTo>
                  <a:lnTo>
                    <a:pt x="1395405" y="507334"/>
                  </a:lnTo>
                  <a:lnTo>
                    <a:pt x="1396669" y="504164"/>
                  </a:lnTo>
                  <a:lnTo>
                    <a:pt x="1397933" y="501310"/>
                  </a:lnTo>
                  <a:lnTo>
                    <a:pt x="1399513" y="498773"/>
                  </a:lnTo>
                  <a:lnTo>
                    <a:pt x="1401409" y="496237"/>
                  </a:lnTo>
                  <a:lnTo>
                    <a:pt x="1403622" y="493700"/>
                  </a:lnTo>
                  <a:lnTo>
                    <a:pt x="1405834" y="491798"/>
                  </a:lnTo>
                  <a:lnTo>
                    <a:pt x="1408362" y="489895"/>
                  </a:lnTo>
                  <a:lnTo>
                    <a:pt x="1411206" y="488310"/>
                  </a:lnTo>
                  <a:lnTo>
                    <a:pt x="1413734" y="486725"/>
                  </a:lnTo>
                  <a:lnTo>
                    <a:pt x="1416894" y="485773"/>
                  </a:lnTo>
                  <a:lnTo>
                    <a:pt x="1420054" y="484822"/>
                  </a:lnTo>
                  <a:lnTo>
                    <a:pt x="1423214" y="484505"/>
                  </a:lnTo>
                  <a:lnTo>
                    <a:pt x="1426690" y="484188"/>
                  </a:lnTo>
                  <a:close/>
                  <a:moveTo>
                    <a:pt x="183794" y="0"/>
                  </a:moveTo>
                  <a:lnTo>
                    <a:pt x="193952" y="0"/>
                  </a:lnTo>
                  <a:lnTo>
                    <a:pt x="2827060" y="0"/>
                  </a:lnTo>
                  <a:lnTo>
                    <a:pt x="2837218" y="0"/>
                  </a:lnTo>
                  <a:lnTo>
                    <a:pt x="2847059" y="952"/>
                  </a:lnTo>
                  <a:lnTo>
                    <a:pt x="2856582" y="2539"/>
                  </a:lnTo>
                  <a:lnTo>
                    <a:pt x="2866105" y="4443"/>
                  </a:lnTo>
                  <a:lnTo>
                    <a:pt x="2875628" y="6982"/>
                  </a:lnTo>
                  <a:lnTo>
                    <a:pt x="2884516" y="10156"/>
                  </a:lnTo>
                  <a:lnTo>
                    <a:pt x="2893721" y="13964"/>
                  </a:lnTo>
                  <a:lnTo>
                    <a:pt x="2902292" y="17773"/>
                  </a:lnTo>
                  <a:lnTo>
                    <a:pt x="2911180" y="22851"/>
                  </a:lnTo>
                  <a:lnTo>
                    <a:pt x="2919433" y="27611"/>
                  </a:lnTo>
                  <a:lnTo>
                    <a:pt x="2927369" y="33324"/>
                  </a:lnTo>
                  <a:lnTo>
                    <a:pt x="2935623" y="39036"/>
                  </a:lnTo>
                  <a:lnTo>
                    <a:pt x="2942924" y="45384"/>
                  </a:lnTo>
                  <a:lnTo>
                    <a:pt x="2950225" y="52366"/>
                  </a:lnTo>
                  <a:lnTo>
                    <a:pt x="2957525" y="59665"/>
                  </a:lnTo>
                  <a:lnTo>
                    <a:pt x="2964192" y="67282"/>
                  </a:lnTo>
                  <a:lnTo>
                    <a:pt x="2970540" y="74899"/>
                  </a:lnTo>
                  <a:lnTo>
                    <a:pt x="2976571" y="83468"/>
                  </a:lnTo>
                  <a:lnTo>
                    <a:pt x="2982285" y="92037"/>
                  </a:lnTo>
                  <a:lnTo>
                    <a:pt x="2987682" y="101240"/>
                  </a:lnTo>
                  <a:lnTo>
                    <a:pt x="2992761" y="110444"/>
                  </a:lnTo>
                  <a:lnTo>
                    <a:pt x="2997522" y="119965"/>
                  </a:lnTo>
                  <a:lnTo>
                    <a:pt x="3001649" y="130121"/>
                  </a:lnTo>
                  <a:lnTo>
                    <a:pt x="3005458" y="140276"/>
                  </a:lnTo>
                  <a:lnTo>
                    <a:pt x="3008950" y="150749"/>
                  </a:lnTo>
                  <a:lnTo>
                    <a:pt x="3012124" y="161540"/>
                  </a:lnTo>
                  <a:lnTo>
                    <a:pt x="3014663" y="172330"/>
                  </a:lnTo>
                  <a:lnTo>
                    <a:pt x="3016885" y="183438"/>
                  </a:lnTo>
                  <a:lnTo>
                    <a:pt x="3018473" y="194546"/>
                  </a:lnTo>
                  <a:lnTo>
                    <a:pt x="3019742" y="205971"/>
                  </a:lnTo>
                  <a:lnTo>
                    <a:pt x="3020695" y="218031"/>
                  </a:lnTo>
                  <a:lnTo>
                    <a:pt x="3021012" y="229774"/>
                  </a:lnTo>
                  <a:lnTo>
                    <a:pt x="3021012" y="1276768"/>
                  </a:lnTo>
                  <a:lnTo>
                    <a:pt x="3013711" y="1272642"/>
                  </a:lnTo>
                  <a:lnTo>
                    <a:pt x="3006410" y="1268833"/>
                  </a:lnTo>
                  <a:lnTo>
                    <a:pt x="2999109" y="1265342"/>
                  </a:lnTo>
                  <a:lnTo>
                    <a:pt x="2991808" y="1262169"/>
                  </a:lnTo>
                  <a:lnTo>
                    <a:pt x="2983872" y="1258995"/>
                  </a:lnTo>
                  <a:lnTo>
                    <a:pt x="2976254" y="1256139"/>
                  </a:lnTo>
                  <a:lnTo>
                    <a:pt x="2968318" y="1253282"/>
                  </a:lnTo>
                  <a:lnTo>
                    <a:pt x="2960382" y="1251061"/>
                  </a:lnTo>
                  <a:lnTo>
                    <a:pt x="2952129" y="1248839"/>
                  </a:lnTo>
                  <a:lnTo>
                    <a:pt x="2944193" y="1247252"/>
                  </a:lnTo>
                  <a:lnTo>
                    <a:pt x="2935940" y="1245348"/>
                  </a:lnTo>
                  <a:lnTo>
                    <a:pt x="2927369" y="1244079"/>
                  </a:lnTo>
                  <a:lnTo>
                    <a:pt x="2919116" y="1242809"/>
                  </a:lnTo>
                  <a:lnTo>
                    <a:pt x="2910863" y="1242175"/>
                  </a:lnTo>
                  <a:lnTo>
                    <a:pt x="2901975" y="1241540"/>
                  </a:lnTo>
                  <a:lnTo>
                    <a:pt x="2893404" y="1241540"/>
                  </a:lnTo>
                  <a:lnTo>
                    <a:pt x="2646123" y="1213294"/>
                  </a:lnTo>
                  <a:lnTo>
                    <a:pt x="2646123" y="313876"/>
                  </a:lnTo>
                  <a:lnTo>
                    <a:pt x="374889" y="313876"/>
                  </a:lnTo>
                  <a:lnTo>
                    <a:pt x="374889" y="1959424"/>
                  </a:lnTo>
                  <a:lnTo>
                    <a:pt x="1610021" y="1959424"/>
                  </a:lnTo>
                  <a:lnTo>
                    <a:pt x="1923646" y="2273300"/>
                  </a:lnTo>
                  <a:lnTo>
                    <a:pt x="193952" y="2273300"/>
                  </a:lnTo>
                  <a:lnTo>
                    <a:pt x="183794" y="2273300"/>
                  </a:lnTo>
                  <a:lnTo>
                    <a:pt x="173953" y="2272348"/>
                  </a:lnTo>
                  <a:lnTo>
                    <a:pt x="164113" y="2270761"/>
                  </a:lnTo>
                  <a:lnTo>
                    <a:pt x="154908" y="2268857"/>
                  </a:lnTo>
                  <a:lnTo>
                    <a:pt x="145385" y="2266318"/>
                  </a:lnTo>
                  <a:lnTo>
                    <a:pt x="136496" y="2263144"/>
                  </a:lnTo>
                  <a:lnTo>
                    <a:pt x="127291" y="2259336"/>
                  </a:lnTo>
                  <a:lnTo>
                    <a:pt x="118720" y="2255528"/>
                  </a:lnTo>
                  <a:lnTo>
                    <a:pt x="109832" y="2250450"/>
                  </a:lnTo>
                  <a:lnTo>
                    <a:pt x="101579" y="2245689"/>
                  </a:lnTo>
                  <a:lnTo>
                    <a:pt x="93326" y="2240294"/>
                  </a:lnTo>
                  <a:lnTo>
                    <a:pt x="85390" y="2234264"/>
                  </a:lnTo>
                  <a:lnTo>
                    <a:pt x="77771" y="2227917"/>
                  </a:lnTo>
                  <a:lnTo>
                    <a:pt x="70470" y="2220935"/>
                  </a:lnTo>
                  <a:lnTo>
                    <a:pt x="63487" y="2213635"/>
                  </a:lnTo>
                  <a:lnTo>
                    <a:pt x="56821" y="2206018"/>
                  </a:lnTo>
                  <a:lnTo>
                    <a:pt x="50472" y="2198402"/>
                  </a:lnTo>
                  <a:lnTo>
                    <a:pt x="44441" y="2189833"/>
                  </a:lnTo>
                  <a:lnTo>
                    <a:pt x="38727" y="2181264"/>
                  </a:lnTo>
                  <a:lnTo>
                    <a:pt x="33013" y="2172060"/>
                  </a:lnTo>
                  <a:lnTo>
                    <a:pt x="28252" y="2162856"/>
                  </a:lnTo>
                  <a:lnTo>
                    <a:pt x="23490" y="2153335"/>
                  </a:lnTo>
                  <a:lnTo>
                    <a:pt x="19364" y="2143180"/>
                  </a:lnTo>
                  <a:lnTo>
                    <a:pt x="15237" y="2133024"/>
                  </a:lnTo>
                  <a:lnTo>
                    <a:pt x="11745" y="2122551"/>
                  </a:lnTo>
                  <a:lnTo>
                    <a:pt x="8888" y="2112078"/>
                  </a:lnTo>
                  <a:lnTo>
                    <a:pt x="6349" y="2100970"/>
                  </a:lnTo>
                  <a:lnTo>
                    <a:pt x="3809" y="2089862"/>
                  </a:lnTo>
                  <a:lnTo>
                    <a:pt x="2540" y="2078754"/>
                  </a:lnTo>
                  <a:lnTo>
                    <a:pt x="952" y="2067329"/>
                  </a:lnTo>
                  <a:lnTo>
                    <a:pt x="318" y="2055269"/>
                  </a:lnTo>
                  <a:lnTo>
                    <a:pt x="0" y="2043844"/>
                  </a:lnTo>
                  <a:lnTo>
                    <a:pt x="0" y="229774"/>
                  </a:lnTo>
                  <a:lnTo>
                    <a:pt x="318" y="218031"/>
                  </a:lnTo>
                  <a:lnTo>
                    <a:pt x="952" y="205971"/>
                  </a:lnTo>
                  <a:lnTo>
                    <a:pt x="2540" y="194546"/>
                  </a:lnTo>
                  <a:lnTo>
                    <a:pt x="3809" y="183438"/>
                  </a:lnTo>
                  <a:lnTo>
                    <a:pt x="6349" y="172330"/>
                  </a:lnTo>
                  <a:lnTo>
                    <a:pt x="8888" y="161540"/>
                  </a:lnTo>
                  <a:lnTo>
                    <a:pt x="11745" y="150749"/>
                  </a:lnTo>
                  <a:lnTo>
                    <a:pt x="15237" y="140276"/>
                  </a:lnTo>
                  <a:lnTo>
                    <a:pt x="19364" y="130121"/>
                  </a:lnTo>
                  <a:lnTo>
                    <a:pt x="23490" y="119965"/>
                  </a:lnTo>
                  <a:lnTo>
                    <a:pt x="28252" y="110444"/>
                  </a:lnTo>
                  <a:lnTo>
                    <a:pt x="33013" y="101240"/>
                  </a:lnTo>
                  <a:lnTo>
                    <a:pt x="38727" y="92037"/>
                  </a:lnTo>
                  <a:lnTo>
                    <a:pt x="44441" y="83468"/>
                  </a:lnTo>
                  <a:lnTo>
                    <a:pt x="50472" y="74899"/>
                  </a:lnTo>
                  <a:lnTo>
                    <a:pt x="56821" y="67282"/>
                  </a:lnTo>
                  <a:lnTo>
                    <a:pt x="63487" y="59665"/>
                  </a:lnTo>
                  <a:lnTo>
                    <a:pt x="70470" y="52366"/>
                  </a:lnTo>
                  <a:lnTo>
                    <a:pt x="77771" y="45384"/>
                  </a:lnTo>
                  <a:lnTo>
                    <a:pt x="85390" y="39036"/>
                  </a:lnTo>
                  <a:lnTo>
                    <a:pt x="93326" y="33324"/>
                  </a:lnTo>
                  <a:lnTo>
                    <a:pt x="101579" y="27611"/>
                  </a:lnTo>
                  <a:lnTo>
                    <a:pt x="109832" y="22851"/>
                  </a:lnTo>
                  <a:lnTo>
                    <a:pt x="118720" y="17773"/>
                  </a:lnTo>
                  <a:lnTo>
                    <a:pt x="127291" y="13964"/>
                  </a:lnTo>
                  <a:lnTo>
                    <a:pt x="136496" y="10156"/>
                  </a:lnTo>
                  <a:lnTo>
                    <a:pt x="145385" y="6982"/>
                  </a:lnTo>
                  <a:lnTo>
                    <a:pt x="154908" y="4443"/>
                  </a:lnTo>
                  <a:lnTo>
                    <a:pt x="164113" y="2539"/>
                  </a:lnTo>
                  <a:lnTo>
                    <a:pt x="173953" y="952"/>
                  </a:lnTo>
                  <a:lnTo>
                    <a:pt x="183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思源宋体 CN Light" panose="02020300000000000000" pitchFamily="18" charset="-122"/>
                <a:ea typeface="思源宋体 CN Light" panose="02020300000000000000" pitchFamily="18" charset="-122"/>
                <a:cs typeface="思源宋体 CN Light" panose="02020300000000000000" charset="-122"/>
                <a:sym typeface="+mn-lt"/>
              </a:endParaRPr>
            </a:p>
          </p:txBody>
        </p:sp>
      </p:grpSp>
      <p:sp>
        <p:nvSpPr>
          <p:cNvPr id="90" name="文本框 89">
            <a:extLst>
              <a:ext uri="{FF2B5EF4-FFF2-40B4-BE49-F238E27FC236}">
                <a16:creationId xmlns:a16="http://schemas.microsoft.com/office/drawing/2014/main" id="{2F5FF4EF-2525-790E-7B57-EC082F076920}"/>
              </a:ext>
            </a:extLst>
          </p:cNvPr>
          <p:cNvSpPr txBox="1"/>
          <p:nvPr/>
        </p:nvSpPr>
        <p:spPr>
          <a:xfrm>
            <a:off x="7826790" y="1153141"/>
            <a:ext cx="1107996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2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机构合作分布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0FF2598F-1E4A-86CA-E801-DB900CE890B7}"/>
              </a:ext>
            </a:extLst>
          </p:cNvPr>
          <p:cNvSpPr txBox="1"/>
          <p:nvPr/>
        </p:nvSpPr>
        <p:spPr>
          <a:xfrm>
            <a:off x="7315662" y="1407171"/>
            <a:ext cx="1687662" cy="1084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分布形态：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右偏分布，但峰值更靠前，即</a:t>
            </a: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单机构研究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占比高。</a:t>
            </a:r>
            <a:endParaRPr lang="en-US" altLang="zh-CN" sz="10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 sz="105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峰值区间：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绝大多数文献由 </a:t>
            </a:r>
            <a:r>
              <a:rPr lang="en-US" altLang="zh-CN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1-2 </a:t>
            </a:r>
            <a:r>
              <a:rPr lang="zh-CN" altLang="en-US" sz="10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个机构合作完成。</a:t>
            </a:r>
            <a:endParaRPr lang="zh-CN" altLang="en-US" sz="10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DCD3D58D-FBCC-F35C-790D-D926B4A1D06F}"/>
              </a:ext>
            </a:extLst>
          </p:cNvPr>
          <p:cNvGrpSpPr/>
          <p:nvPr/>
        </p:nvGrpSpPr>
        <p:grpSpPr>
          <a:xfrm>
            <a:off x="7456338" y="1042713"/>
            <a:ext cx="425056" cy="409006"/>
            <a:chOff x="3216452" y="846582"/>
            <a:chExt cx="594591" cy="538929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249D40C3-B020-6ACF-9D2F-A943B2A1FDA7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D7A0BBA6-4CB1-A6D1-33F3-8AC25FB9F667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96" name="Freeform 108">
            <a:extLst>
              <a:ext uri="{FF2B5EF4-FFF2-40B4-BE49-F238E27FC236}">
                <a16:creationId xmlns:a16="http://schemas.microsoft.com/office/drawing/2014/main" id="{3B772A1F-2CF9-8450-08A0-435D84C7DE0C}"/>
              </a:ext>
            </a:extLst>
          </p:cNvPr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7610447" y="1187742"/>
            <a:ext cx="127932" cy="112446"/>
          </a:xfrm>
          <a:custGeom>
            <a:avLst/>
            <a:gdLst>
              <a:gd name="T0" fmla="*/ 97 w 115"/>
              <a:gd name="T1" fmla="*/ 48 h 115"/>
              <a:gd name="T2" fmla="*/ 91 w 115"/>
              <a:gd name="T3" fmla="*/ 41 h 115"/>
              <a:gd name="T4" fmla="*/ 102 w 115"/>
              <a:gd name="T5" fmla="*/ 26 h 115"/>
              <a:gd name="T6" fmla="*/ 94 w 115"/>
              <a:gd name="T7" fmla="*/ 13 h 115"/>
              <a:gd name="T8" fmla="*/ 79 w 115"/>
              <a:gd name="T9" fmla="*/ 23 h 115"/>
              <a:gd name="T10" fmla="*/ 70 w 115"/>
              <a:gd name="T11" fmla="*/ 22 h 115"/>
              <a:gd name="T12" fmla="*/ 67 w 115"/>
              <a:gd name="T13" fmla="*/ 3 h 115"/>
              <a:gd name="T14" fmla="*/ 52 w 115"/>
              <a:gd name="T15" fmla="*/ 0 h 115"/>
              <a:gd name="T16" fmla="*/ 48 w 115"/>
              <a:gd name="T17" fmla="*/ 18 h 115"/>
              <a:gd name="T18" fmla="*/ 41 w 115"/>
              <a:gd name="T19" fmla="*/ 24 h 115"/>
              <a:gd name="T20" fmla="*/ 26 w 115"/>
              <a:gd name="T21" fmla="*/ 13 h 115"/>
              <a:gd name="T22" fmla="*/ 13 w 115"/>
              <a:gd name="T23" fmla="*/ 21 h 115"/>
              <a:gd name="T24" fmla="*/ 23 w 115"/>
              <a:gd name="T25" fmla="*/ 36 h 115"/>
              <a:gd name="T26" fmla="*/ 22 w 115"/>
              <a:gd name="T27" fmla="*/ 45 h 115"/>
              <a:gd name="T28" fmla="*/ 4 w 115"/>
              <a:gd name="T29" fmla="*/ 48 h 115"/>
              <a:gd name="T30" fmla="*/ 0 w 115"/>
              <a:gd name="T31" fmla="*/ 63 h 115"/>
              <a:gd name="T32" fmla="*/ 18 w 115"/>
              <a:gd name="T33" fmla="*/ 66 h 115"/>
              <a:gd name="T34" fmla="*/ 24 w 115"/>
              <a:gd name="T35" fmla="*/ 73 h 115"/>
              <a:gd name="T36" fmla="*/ 13 w 115"/>
              <a:gd name="T37" fmla="*/ 89 h 115"/>
              <a:gd name="T38" fmla="*/ 21 w 115"/>
              <a:gd name="T39" fmla="*/ 102 h 115"/>
              <a:gd name="T40" fmla="*/ 36 w 115"/>
              <a:gd name="T41" fmla="*/ 92 h 115"/>
              <a:gd name="T42" fmla="*/ 45 w 115"/>
              <a:gd name="T43" fmla="*/ 92 h 115"/>
              <a:gd name="T44" fmla="*/ 48 w 115"/>
              <a:gd name="T45" fmla="*/ 111 h 115"/>
              <a:gd name="T46" fmla="*/ 63 w 115"/>
              <a:gd name="T47" fmla="*/ 115 h 115"/>
              <a:gd name="T48" fmla="*/ 67 w 115"/>
              <a:gd name="T49" fmla="*/ 97 h 115"/>
              <a:gd name="T50" fmla="*/ 74 w 115"/>
              <a:gd name="T51" fmla="*/ 91 h 115"/>
              <a:gd name="T52" fmla="*/ 89 w 115"/>
              <a:gd name="T53" fmla="*/ 102 h 115"/>
              <a:gd name="T54" fmla="*/ 102 w 115"/>
              <a:gd name="T55" fmla="*/ 94 h 115"/>
              <a:gd name="T56" fmla="*/ 92 w 115"/>
              <a:gd name="T57" fmla="*/ 79 h 115"/>
              <a:gd name="T58" fmla="*/ 93 w 115"/>
              <a:gd name="T59" fmla="*/ 70 h 115"/>
              <a:gd name="T60" fmla="*/ 112 w 115"/>
              <a:gd name="T61" fmla="*/ 66 h 115"/>
              <a:gd name="T62" fmla="*/ 115 w 115"/>
              <a:gd name="T63" fmla="*/ 52 h 115"/>
              <a:gd name="T64" fmla="*/ 58 w 115"/>
              <a:gd name="T65" fmla="*/ 79 h 115"/>
              <a:gd name="T66" fmla="*/ 58 w 115"/>
              <a:gd name="T67" fmla="*/ 36 h 115"/>
              <a:gd name="T68" fmla="*/ 58 w 115"/>
              <a:gd name="T69" fmla="*/ 79 h 115"/>
              <a:gd name="T70" fmla="*/ 49 w 115"/>
              <a:gd name="T71" fmla="*/ 57 h 115"/>
              <a:gd name="T72" fmla="*/ 67 w 115"/>
              <a:gd name="T73" fmla="*/ 57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115">
                <a:moveTo>
                  <a:pt x="112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5" y="48"/>
                  <a:pt x="93" y="47"/>
                  <a:pt x="93" y="45"/>
                </a:cubicBezTo>
                <a:cubicBezTo>
                  <a:pt x="91" y="41"/>
                  <a:pt x="91" y="41"/>
                  <a:pt x="91" y="41"/>
                </a:cubicBezTo>
                <a:cubicBezTo>
                  <a:pt x="90" y="40"/>
                  <a:pt x="91" y="37"/>
                  <a:pt x="92" y="3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4"/>
                  <a:pt x="104" y="22"/>
                  <a:pt x="102" y="21"/>
                </a:cubicBezTo>
                <a:cubicBezTo>
                  <a:pt x="94" y="13"/>
                  <a:pt x="94" y="13"/>
                  <a:pt x="94" y="13"/>
                </a:cubicBezTo>
                <a:cubicBezTo>
                  <a:pt x="93" y="11"/>
                  <a:pt x="91" y="11"/>
                  <a:pt x="89" y="13"/>
                </a:cubicBezTo>
                <a:cubicBezTo>
                  <a:pt x="79" y="23"/>
                  <a:pt x="79" y="23"/>
                  <a:pt x="79" y="23"/>
                </a:cubicBezTo>
                <a:cubicBezTo>
                  <a:pt x="78" y="24"/>
                  <a:pt x="75" y="25"/>
                  <a:pt x="74" y="24"/>
                </a:cubicBezTo>
                <a:cubicBezTo>
                  <a:pt x="70" y="22"/>
                  <a:pt x="70" y="22"/>
                  <a:pt x="70" y="22"/>
                </a:cubicBezTo>
                <a:cubicBezTo>
                  <a:pt x="68" y="22"/>
                  <a:pt x="67" y="20"/>
                  <a:pt x="67" y="18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0" y="0"/>
                  <a:pt x="48" y="1"/>
                  <a:pt x="48" y="3"/>
                </a:cubicBezTo>
                <a:cubicBezTo>
                  <a:pt x="48" y="18"/>
                  <a:pt x="48" y="18"/>
                  <a:pt x="48" y="18"/>
                </a:cubicBezTo>
                <a:cubicBezTo>
                  <a:pt x="48" y="20"/>
                  <a:pt x="47" y="22"/>
                  <a:pt x="45" y="22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5"/>
                  <a:pt x="37" y="24"/>
                  <a:pt x="36" y="23"/>
                </a:cubicBezTo>
                <a:cubicBezTo>
                  <a:pt x="26" y="13"/>
                  <a:pt x="26" y="13"/>
                  <a:pt x="26" y="13"/>
                </a:cubicBezTo>
                <a:cubicBezTo>
                  <a:pt x="25" y="11"/>
                  <a:pt x="22" y="11"/>
                  <a:pt x="21" y="13"/>
                </a:cubicBezTo>
                <a:cubicBezTo>
                  <a:pt x="13" y="21"/>
                  <a:pt x="13" y="21"/>
                  <a:pt x="13" y="21"/>
                </a:cubicBezTo>
                <a:cubicBezTo>
                  <a:pt x="12" y="22"/>
                  <a:pt x="12" y="24"/>
                  <a:pt x="13" y="26"/>
                </a:cubicBezTo>
                <a:cubicBezTo>
                  <a:pt x="23" y="36"/>
                  <a:pt x="23" y="36"/>
                  <a:pt x="23" y="36"/>
                </a:cubicBezTo>
                <a:cubicBezTo>
                  <a:pt x="24" y="37"/>
                  <a:pt x="25" y="40"/>
                  <a:pt x="24" y="41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0" y="48"/>
                  <a:pt x="1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5"/>
                  <a:pt x="2" y="66"/>
                  <a:pt x="4" y="66"/>
                </a:cubicBezTo>
                <a:cubicBezTo>
                  <a:pt x="18" y="66"/>
                  <a:pt x="18" y="66"/>
                  <a:pt x="18" y="66"/>
                </a:cubicBezTo>
                <a:cubicBezTo>
                  <a:pt x="20" y="66"/>
                  <a:pt x="22" y="68"/>
                  <a:pt x="22" y="70"/>
                </a:cubicBezTo>
                <a:cubicBezTo>
                  <a:pt x="24" y="73"/>
                  <a:pt x="24" y="73"/>
                  <a:pt x="24" y="73"/>
                </a:cubicBezTo>
                <a:cubicBezTo>
                  <a:pt x="25" y="75"/>
                  <a:pt x="24" y="78"/>
                  <a:pt x="23" y="79"/>
                </a:cubicBezTo>
                <a:cubicBezTo>
                  <a:pt x="13" y="89"/>
                  <a:pt x="13" y="89"/>
                  <a:pt x="13" y="89"/>
                </a:cubicBezTo>
                <a:cubicBezTo>
                  <a:pt x="12" y="90"/>
                  <a:pt x="12" y="93"/>
                  <a:pt x="13" y="94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103"/>
                  <a:pt x="25" y="103"/>
                  <a:pt x="26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0"/>
                  <a:pt x="40" y="90"/>
                  <a:pt x="41" y="91"/>
                </a:cubicBezTo>
                <a:cubicBezTo>
                  <a:pt x="45" y="92"/>
                  <a:pt x="45" y="92"/>
                  <a:pt x="45" y="92"/>
                </a:cubicBezTo>
                <a:cubicBezTo>
                  <a:pt x="47" y="93"/>
                  <a:pt x="48" y="95"/>
                  <a:pt x="48" y="9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8" y="113"/>
                  <a:pt x="50" y="115"/>
                  <a:pt x="52" y="115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5" y="115"/>
                  <a:pt x="67" y="113"/>
                  <a:pt x="67" y="111"/>
                </a:cubicBezTo>
                <a:cubicBezTo>
                  <a:pt x="67" y="97"/>
                  <a:pt x="67" y="97"/>
                  <a:pt x="67" y="97"/>
                </a:cubicBezTo>
                <a:cubicBezTo>
                  <a:pt x="67" y="95"/>
                  <a:pt x="68" y="93"/>
                  <a:pt x="70" y="92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8" y="90"/>
                  <a:pt x="79" y="92"/>
                </a:cubicBezTo>
                <a:cubicBezTo>
                  <a:pt x="89" y="102"/>
                  <a:pt x="89" y="102"/>
                  <a:pt x="89" y="102"/>
                </a:cubicBezTo>
                <a:cubicBezTo>
                  <a:pt x="91" y="103"/>
                  <a:pt x="93" y="103"/>
                  <a:pt x="94" y="102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04" y="93"/>
                  <a:pt x="104" y="90"/>
                  <a:pt x="102" y="89"/>
                </a:cubicBezTo>
                <a:cubicBezTo>
                  <a:pt x="92" y="79"/>
                  <a:pt x="92" y="79"/>
                  <a:pt x="92" y="79"/>
                </a:cubicBezTo>
                <a:cubicBezTo>
                  <a:pt x="91" y="78"/>
                  <a:pt x="90" y="75"/>
                  <a:pt x="91" y="73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68"/>
                  <a:pt x="95" y="66"/>
                  <a:pt x="97" y="66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3" y="66"/>
                  <a:pt x="115" y="65"/>
                  <a:pt x="115" y="6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15" y="50"/>
                  <a:pt x="113" y="48"/>
                  <a:pt x="112" y="48"/>
                </a:cubicBezTo>
                <a:close/>
                <a:moveTo>
                  <a:pt x="58" y="79"/>
                </a:moveTo>
                <a:cubicBezTo>
                  <a:pt x="46" y="79"/>
                  <a:pt x="36" y="69"/>
                  <a:pt x="36" y="57"/>
                </a:cubicBezTo>
                <a:cubicBezTo>
                  <a:pt x="36" y="46"/>
                  <a:pt x="46" y="36"/>
                  <a:pt x="58" y="36"/>
                </a:cubicBezTo>
                <a:cubicBezTo>
                  <a:pt x="69" y="36"/>
                  <a:pt x="79" y="46"/>
                  <a:pt x="79" y="57"/>
                </a:cubicBezTo>
                <a:cubicBezTo>
                  <a:pt x="79" y="69"/>
                  <a:pt x="69" y="79"/>
                  <a:pt x="58" y="79"/>
                </a:cubicBezTo>
                <a:close/>
                <a:moveTo>
                  <a:pt x="58" y="48"/>
                </a:moveTo>
                <a:cubicBezTo>
                  <a:pt x="53" y="48"/>
                  <a:pt x="49" y="52"/>
                  <a:pt x="49" y="57"/>
                </a:cubicBezTo>
                <a:cubicBezTo>
                  <a:pt x="49" y="62"/>
                  <a:pt x="53" y="66"/>
                  <a:pt x="58" y="66"/>
                </a:cubicBezTo>
                <a:cubicBezTo>
                  <a:pt x="63" y="66"/>
                  <a:pt x="67" y="62"/>
                  <a:pt x="67" y="57"/>
                </a:cubicBezTo>
                <a:cubicBezTo>
                  <a:pt x="67" y="52"/>
                  <a:pt x="63" y="48"/>
                  <a:pt x="58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39" tIns="45719" rIns="91439" bIns="45719" numCol="1" anchor="t" anchorCtr="0" compatLnSpc="1"/>
          <a:lstStyle/>
          <a:p>
            <a:pPr defTabSz="1219200">
              <a:defRPr/>
            </a:pPr>
            <a:endParaRPr lang="zh-CN" altLang="en-US" sz="2400" kern="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DA2A9C98-0132-ECCB-08EB-058058DF374C}"/>
              </a:ext>
            </a:extLst>
          </p:cNvPr>
          <p:cNvSpPr txBox="1"/>
          <p:nvPr/>
        </p:nvSpPr>
        <p:spPr>
          <a:xfrm>
            <a:off x="3303386" y="3291924"/>
            <a:ext cx="1107996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宋体" panose="02020700000000000000" pitchFamily="18" charset="-122"/>
                <a:ea typeface="思源宋体" panose="02020700000000000000" pitchFamily="18" charset="-122"/>
              </a:rPr>
              <a:t>国际合作比例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5244A74-52BF-3A9E-0A67-3DFECAAB4470}"/>
              </a:ext>
            </a:extLst>
          </p:cNvPr>
          <p:cNvSpPr txBox="1"/>
          <p:nvPr/>
        </p:nvSpPr>
        <p:spPr>
          <a:xfrm>
            <a:off x="2932934" y="3606946"/>
            <a:ext cx="1639066" cy="1187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合作现状：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77.9%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的文献为单一国家研究，仅 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22.1%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的文献包含国际合作。</a:t>
            </a:r>
            <a:endParaRPr lang="en-US" altLang="zh-CN" sz="9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关键发现：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国际合作比例不足四分之一，即</a:t>
            </a:r>
            <a:r>
              <a:rPr lang="en-US" altLang="zh-CN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ADHD </a:t>
            </a:r>
            <a:r>
              <a:rPr lang="zh-CN" altLang="en-US" sz="9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研究的国际化程度偏低。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0C526860-334B-9D02-9D05-2FBA2194DFF4}"/>
              </a:ext>
            </a:extLst>
          </p:cNvPr>
          <p:cNvGrpSpPr/>
          <p:nvPr/>
        </p:nvGrpSpPr>
        <p:grpSpPr>
          <a:xfrm>
            <a:off x="2932934" y="3181496"/>
            <a:ext cx="425056" cy="409006"/>
            <a:chOff x="3216452" y="846582"/>
            <a:chExt cx="594591" cy="538929"/>
          </a:xfrm>
        </p:grpSpPr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3B121F2F-3AD2-1509-604A-F02614420ACD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848DAA78-6212-47B5-58AF-8C5FCC54F53F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</p:grpSp>
      <p:sp>
        <p:nvSpPr>
          <p:cNvPr id="104" name="KSO_Shape">
            <a:extLst>
              <a:ext uri="{FF2B5EF4-FFF2-40B4-BE49-F238E27FC236}">
                <a16:creationId xmlns:a16="http://schemas.microsoft.com/office/drawing/2014/main" id="{E3BB5CD2-D8E8-DE75-9128-FC91CA02508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084048" y="3340581"/>
            <a:ext cx="116435" cy="90836"/>
          </a:xfrm>
          <a:custGeom>
            <a:avLst/>
            <a:gdLst>
              <a:gd name="T0" fmla="*/ 2017136 w 3240087"/>
              <a:gd name="T1" fmla="*/ 1939157 h 2513013"/>
              <a:gd name="T2" fmla="*/ 792729 w 3240087"/>
              <a:gd name="T3" fmla="*/ 1060450 h 2513013"/>
              <a:gd name="T4" fmla="*/ 1301750 w 3240087"/>
              <a:gd name="T5" fmla="*/ 2513013 h 2513013"/>
              <a:gd name="T6" fmla="*/ 1554331 w 3240087"/>
              <a:gd name="T7" fmla="*/ 753428 h 2513013"/>
              <a:gd name="T8" fmla="*/ 1460048 w 3240087"/>
              <a:gd name="T9" fmla="*/ 768668 h 2513013"/>
              <a:gd name="T10" fmla="*/ 1385130 w 3240087"/>
              <a:gd name="T11" fmla="*/ 795338 h 2513013"/>
              <a:gd name="T12" fmla="*/ 1329893 w 3240087"/>
              <a:gd name="T13" fmla="*/ 833438 h 2513013"/>
              <a:gd name="T14" fmla="*/ 1294022 w 3240087"/>
              <a:gd name="T15" fmla="*/ 883285 h 2513013"/>
              <a:gd name="T16" fmla="*/ 1277514 w 3240087"/>
              <a:gd name="T17" fmla="*/ 944880 h 2513013"/>
              <a:gd name="T18" fmla="*/ 1278784 w 3240087"/>
              <a:gd name="T19" fmla="*/ 999173 h 2513013"/>
              <a:gd name="T20" fmla="*/ 1289577 w 3240087"/>
              <a:gd name="T21" fmla="*/ 1043940 h 2513013"/>
              <a:gd name="T22" fmla="*/ 1309259 w 3240087"/>
              <a:gd name="T23" fmla="*/ 1084263 h 2513013"/>
              <a:gd name="T24" fmla="*/ 1365448 w 3240087"/>
              <a:gd name="T25" fmla="*/ 1148715 h 2513013"/>
              <a:gd name="T26" fmla="*/ 1452112 w 3240087"/>
              <a:gd name="T27" fmla="*/ 1200786 h 2513013"/>
              <a:gd name="T28" fmla="*/ 1598774 w 3240087"/>
              <a:gd name="T29" fmla="*/ 1275081 h 2513013"/>
              <a:gd name="T30" fmla="*/ 1631472 w 3240087"/>
              <a:gd name="T31" fmla="*/ 1300163 h 2513013"/>
              <a:gd name="T32" fmla="*/ 1648614 w 3240087"/>
              <a:gd name="T33" fmla="*/ 1327786 h 2513013"/>
              <a:gd name="T34" fmla="*/ 1658455 w 3240087"/>
              <a:gd name="T35" fmla="*/ 1403668 h 2513013"/>
              <a:gd name="T36" fmla="*/ 1653376 w 3240087"/>
              <a:gd name="T37" fmla="*/ 1450658 h 2513013"/>
              <a:gd name="T38" fmla="*/ 1632741 w 3240087"/>
              <a:gd name="T39" fmla="*/ 1471931 h 2513013"/>
              <a:gd name="T40" fmla="*/ 1595917 w 3240087"/>
              <a:gd name="T41" fmla="*/ 1477328 h 2513013"/>
              <a:gd name="T42" fmla="*/ 1572426 w 3240087"/>
              <a:gd name="T43" fmla="*/ 1469708 h 2513013"/>
              <a:gd name="T44" fmla="*/ 1562902 w 3240087"/>
              <a:gd name="T45" fmla="*/ 1457008 h 2513013"/>
              <a:gd name="T46" fmla="*/ 1555601 w 3240087"/>
              <a:gd name="T47" fmla="*/ 1406208 h 2513013"/>
              <a:gd name="T48" fmla="*/ 1280689 w 3240087"/>
              <a:gd name="T49" fmla="*/ 1341121 h 2513013"/>
              <a:gd name="T50" fmla="*/ 1292117 w 3240087"/>
              <a:gd name="T51" fmla="*/ 1434783 h 2513013"/>
              <a:gd name="T52" fmla="*/ 1312751 w 3240087"/>
              <a:gd name="T53" fmla="*/ 1484313 h 2513013"/>
              <a:gd name="T54" fmla="*/ 1334655 w 3240087"/>
              <a:gd name="T55" fmla="*/ 1514158 h 2513013"/>
              <a:gd name="T56" fmla="*/ 1362591 w 3240087"/>
              <a:gd name="T57" fmla="*/ 1538288 h 2513013"/>
              <a:gd name="T58" fmla="*/ 1427986 w 3240087"/>
              <a:gd name="T59" fmla="*/ 1573848 h 2513013"/>
              <a:gd name="T60" fmla="*/ 1500999 w 3240087"/>
              <a:gd name="T61" fmla="*/ 1596073 h 2513013"/>
              <a:gd name="T62" fmla="*/ 1680359 w 3240087"/>
              <a:gd name="T63" fmla="*/ 1684973 h 2513013"/>
              <a:gd name="T64" fmla="*/ 1761626 w 3240087"/>
              <a:gd name="T65" fmla="*/ 1591628 h 2513013"/>
              <a:gd name="T66" fmla="*/ 1840672 w 3240087"/>
              <a:gd name="T67" fmla="*/ 1562101 h 2513013"/>
              <a:gd name="T68" fmla="*/ 1900035 w 3240087"/>
              <a:gd name="T69" fmla="*/ 1518286 h 2513013"/>
              <a:gd name="T70" fmla="*/ 1939716 w 3240087"/>
              <a:gd name="T71" fmla="*/ 1461136 h 2513013"/>
              <a:gd name="T72" fmla="*/ 1959398 w 3240087"/>
              <a:gd name="T73" fmla="*/ 1390333 h 2513013"/>
              <a:gd name="T74" fmla="*/ 1960350 w 3240087"/>
              <a:gd name="T75" fmla="*/ 1316038 h 2513013"/>
              <a:gd name="T76" fmla="*/ 1951779 w 3240087"/>
              <a:gd name="T77" fmla="*/ 1271271 h 2513013"/>
              <a:gd name="T78" fmla="*/ 1935907 w 3240087"/>
              <a:gd name="T79" fmla="*/ 1232536 h 2513013"/>
              <a:gd name="T80" fmla="*/ 1890194 w 3240087"/>
              <a:gd name="T81" fmla="*/ 1173798 h 2513013"/>
              <a:gd name="T82" fmla="*/ 1817180 w 3240087"/>
              <a:gd name="T83" fmla="*/ 1128078 h 2513013"/>
              <a:gd name="T84" fmla="*/ 1674327 w 3240087"/>
              <a:gd name="T85" fmla="*/ 1059180 h 2513013"/>
              <a:gd name="T86" fmla="*/ 1581949 w 3240087"/>
              <a:gd name="T87" fmla="*/ 1008380 h 2513013"/>
              <a:gd name="T88" fmla="*/ 1566394 w 3240087"/>
              <a:gd name="T89" fmla="*/ 989013 h 2513013"/>
              <a:gd name="T90" fmla="*/ 1557823 w 3240087"/>
              <a:gd name="T91" fmla="*/ 962025 h 2513013"/>
              <a:gd name="T92" fmla="*/ 1557823 w 3240087"/>
              <a:gd name="T93" fmla="*/ 918528 h 2513013"/>
              <a:gd name="T94" fmla="*/ 1572108 w 3240087"/>
              <a:gd name="T95" fmla="*/ 890905 h 2513013"/>
              <a:gd name="T96" fmla="*/ 1600361 w 3240087"/>
              <a:gd name="T97" fmla="*/ 879793 h 2513013"/>
              <a:gd name="T98" fmla="*/ 1636551 w 3240087"/>
              <a:gd name="T99" fmla="*/ 886143 h 2513013"/>
              <a:gd name="T100" fmla="*/ 1649249 w 3240087"/>
              <a:gd name="T101" fmla="*/ 901700 h 2513013"/>
              <a:gd name="T102" fmla="*/ 1656233 w 3240087"/>
              <a:gd name="T103" fmla="*/ 956310 h 2513013"/>
              <a:gd name="T104" fmla="*/ 1932732 w 3240087"/>
              <a:gd name="T105" fmla="*/ 964883 h 2513013"/>
              <a:gd name="T106" fmla="*/ 1923844 w 3240087"/>
              <a:gd name="T107" fmla="*/ 900748 h 2513013"/>
              <a:gd name="T108" fmla="*/ 1897495 w 3240087"/>
              <a:gd name="T109" fmla="*/ 847725 h 2513013"/>
              <a:gd name="T110" fmla="*/ 1853370 w 3240087"/>
              <a:gd name="T111" fmla="*/ 806450 h 2513013"/>
              <a:gd name="T112" fmla="*/ 1790832 w 3240087"/>
              <a:gd name="T113" fmla="*/ 775970 h 2513013"/>
              <a:gd name="T114" fmla="*/ 1710834 w 3240087"/>
              <a:gd name="T115" fmla="*/ 757238 h 2513013"/>
              <a:gd name="T116" fmla="*/ 2640012 w 3240087"/>
              <a:gd name="T117" fmla="*/ 871220 h 2513013"/>
              <a:gd name="T118" fmla="*/ 1619408 w 3240087"/>
              <a:gd name="T119" fmla="*/ 0 h 25130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40087" h="2513013">
                <a:moveTo>
                  <a:pt x="2446710" y="1060450"/>
                </a:moveTo>
                <a:lnTo>
                  <a:pt x="3240087" y="1736769"/>
                </a:lnTo>
                <a:lnTo>
                  <a:pt x="2830848" y="1736769"/>
                </a:lnTo>
                <a:lnTo>
                  <a:pt x="2956352" y="2513013"/>
                </a:lnTo>
                <a:lnTo>
                  <a:pt x="1936750" y="2513013"/>
                </a:lnTo>
                <a:lnTo>
                  <a:pt x="2017136" y="1939157"/>
                </a:lnTo>
                <a:lnTo>
                  <a:pt x="2275453" y="1939157"/>
                </a:lnTo>
                <a:lnTo>
                  <a:pt x="2351708" y="1939157"/>
                </a:lnTo>
                <a:lnTo>
                  <a:pt x="2338681" y="1859852"/>
                </a:lnTo>
                <a:lnTo>
                  <a:pt x="2238278" y="1237778"/>
                </a:lnTo>
                <a:lnTo>
                  <a:pt x="2446710" y="1060450"/>
                </a:lnTo>
                <a:close/>
                <a:moveTo>
                  <a:pt x="792729" y="1060450"/>
                </a:moveTo>
                <a:lnTo>
                  <a:pt x="988531" y="1227309"/>
                </a:lnTo>
                <a:lnTo>
                  <a:pt x="899991" y="1861120"/>
                </a:lnTo>
                <a:lnTo>
                  <a:pt x="889201" y="1939157"/>
                </a:lnTo>
                <a:lnTo>
                  <a:pt x="963460" y="1939157"/>
                </a:lnTo>
                <a:lnTo>
                  <a:pt x="1209085" y="1939157"/>
                </a:lnTo>
                <a:lnTo>
                  <a:pt x="1301750" y="2513013"/>
                </a:lnTo>
                <a:lnTo>
                  <a:pt x="283389" y="2513013"/>
                </a:lnTo>
                <a:lnTo>
                  <a:pt x="391604" y="1736769"/>
                </a:lnTo>
                <a:lnTo>
                  <a:pt x="0" y="1736769"/>
                </a:lnTo>
                <a:lnTo>
                  <a:pt x="792729" y="1060450"/>
                </a:lnTo>
                <a:close/>
                <a:moveTo>
                  <a:pt x="1554331" y="686118"/>
                </a:moveTo>
                <a:lnTo>
                  <a:pt x="1554331" y="753428"/>
                </a:lnTo>
                <a:lnTo>
                  <a:pt x="1537189" y="755015"/>
                </a:lnTo>
                <a:lnTo>
                  <a:pt x="1520681" y="757238"/>
                </a:lnTo>
                <a:lnTo>
                  <a:pt x="1504491" y="759778"/>
                </a:lnTo>
                <a:lnTo>
                  <a:pt x="1489254" y="762318"/>
                </a:lnTo>
                <a:lnTo>
                  <a:pt x="1474334" y="765175"/>
                </a:lnTo>
                <a:lnTo>
                  <a:pt x="1460048" y="768668"/>
                </a:lnTo>
                <a:lnTo>
                  <a:pt x="1446080" y="772160"/>
                </a:lnTo>
                <a:lnTo>
                  <a:pt x="1432747" y="776288"/>
                </a:lnTo>
                <a:lnTo>
                  <a:pt x="1420049" y="780415"/>
                </a:lnTo>
                <a:lnTo>
                  <a:pt x="1407986" y="785178"/>
                </a:lnTo>
                <a:lnTo>
                  <a:pt x="1396241" y="789940"/>
                </a:lnTo>
                <a:lnTo>
                  <a:pt x="1385130" y="795338"/>
                </a:lnTo>
                <a:lnTo>
                  <a:pt x="1374654" y="800735"/>
                </a:lnTo>
                <a:lnTo>
                  <a:pt x="1364496" y="806768"/>
                </a:lnTo>
                <a:lnTo>
                  <a:pt x="1354972" y="813118"/>
                </a:lnTo>
                <a:lnTo>
                  <a:pt x="1345766" y="819468"/>
                </a:lnTo>
                <a:lnTo>
                  <a:pt x="1337512" y="826453"/>
                </a:lnTo>
                <a:lnTo>
                  <a:pt x="1329893" y="833438"/>
                </a:lnTo>
                <a:lnTo>
                  <a:pt x="1322592" y="841375"/>
                </a:lnTo>
                <a:lnTo>
                  <a:pt x="1315608" y="848995"/>
                </a:lnTo>
                <a:lnTo>
                  <a:pt x="1309259" y="857250"/>
                </a:lnTo>
                <a:lnTo>
                  <a:pt x="1303863" y="865505"/>
                </a:lnTo>
                <a:lnTo>
                  <a:pt x="1298466" y="874395"/>
                </a:lnTo>
                <a:lnTo>
                  <a:pt x="1294022" y="883285"/>
                </a:lnTo>
                <a:lnTo>
                  <a:pt x="1289895" y="892810"/>
                </a:lnTo>
                <a:lnTo>
                  <a:pt x="1286403" y="902653"/>
                </a:lnTo>
                <a:lnTo>
                  <a:pt x="1283546" y="912813"/>
                </a:lnTo>
                <a:lnTo>
                  <a:pt x="1281006" y="922973"/>
                </a:lnTo>
                <a:lnTo>
                  <a:pt x="1279101" y="933768"/>
                </a:lnTo>
                <a:lnTo>
                  <a:pt x="1277514" y="944880"/>
                </a:lnTo>
                <a:lnTo>
                  <a:pt x="1276879" y="955993"/>
                </a:lnTo>
                <a:lnTo>
                  <a:pt x="1276562" y="967423"/>
                </a:lnTo>
                <a:lnTo>
                  <a:pt x="1276562" y="975678"/>
                </a:lnTo>
                <a:lnTo>
                  <a:pt x="1277197" y="983615"/>
                </a:lnTo>
                <a:lnTo>
                  <a:pt x="1277514" y="991553"/>
                </a:lnTo>
                <a:lnTo>
                  <a:pt x="1278784" y="999173"/>
                </a:lnTo>
                <a:lnTo>
                  <a:pt x="1279736" y="1006793"/>
                </a:lnTo>
                <a:lnTo>
                  <a:pt x="1281006" y="1014413"/>
                </a:lnTo>
                <a:lnTo>
                  <a:pt x="1282911" y="1021715"/>
                </a:lnTo>
                <a:lnTo>
                  <a:pt x="1284815" y="1029335"/>
                </a:lnTo>
                <a:lnTo>
                  <a:pt x="1287038" y="1036638"/>
                </a:lnTo>
                <a:lnTo>
                  <a:pt x="1289577" y="1043940"/>
                </a:lnTo>
                <a:lnTo>
                  <a:pt x="1292117" y="1050925"/>
                </a:lnTo>
                <a:lnTo>
                  <a:pt x="1294974" y="1057910"/>
                </a:lnTo>
                <a:lnTo>
                  <a:pt x="1298148" y="1064260"/>
                </a:lnTo>
                <a:lnTo>
                  <a:pt x="1301640" y="1070928"/>
                </a:lnTo>
                <a:lnTo>
                  <a:pt x="1305450" y="1077595"/>
                </a:lnTo>
                <a:lnTo>
                  <a:pt x="1309259" y="1084263"/>
                </a:lnTo>
                <a:lnTo>
                  <a:pt x="1317830" y="1096963"/>
                </a:lnTo>
                <a:lnTo>
                  <a:pt x="1326719" y="1108710"/>
                </a:lnTo>
                <a:lnTo>
                  <a:pt x="1335925" y="1119823"/>
                </a:lnTo>
                <a:lnTo>
                  <a:pt x="1345131" y="1129983"/>
                </a:lnTo>
                <a:lnTo>
                  <a:pt x="1355290" y="1139825"/>
                </a:lnTo>
                <a:lnTo>
                  <a:pt x="1365448" y="1148715"/>
                </a:lnTo>
                <a:lnTo>
                  <a:pt x="1376241" y="1156653"/>
                </a:lnTo>
                <a:lnTo>
                  <a:pt x="1387352" y="1164273"/>
                </a:lnTo>
                <a:lnTo>
                  <a:pt x="1400050" y="1171893"/>
                </a:lnTo>
                <a:lnTo>
                  <a:pt x="1414970" y="1180466"/>
                </a:lnTo>
                <a:lnTo>
                  <a:pt x="1432430" y="1189991"/>
                </a:lnTo>
                <a:lnTo>
                  <a:pt x="1452112" y="1200786"/>
                </a:lnTo>
                <a:lnTo>
                  <a:pt x="1474968" y="1212216"/>
                </a:lnTo>
                <a:lnTo>
                  <a:pt x="1500047" y="1224916"/>
                </a:lnTo>
                <a:lnTo>
                  <a:pt x="1557506" y="1253173"/>
                </a:lnTo>
                <a:lnTo>
                  <a:pt x="1575283" y="1262063"/>
                </a:lnTo>
                <a:lnTo>
                  <a:pt x="1591473" y="1270953"/>
                </a:lnTo>
                <a:lnTo>
                  <a:pt x="1598774" y="1275081"/>
                </a:lnTo>
                <a:lnTo>
                  <a:pt x="1605441" y="1279208"/>
                </a:lnTo>
                <a:lnTo>
                  <a:pt x="1611472" y="1283336"/>
                </a:lnTo>
                <a:lnTo>
                  <a:pt x="1617186" y="1287463"/>
                </a:lnTo>
                <a:lnTo>
                  <a:pt x="1622265" y="1291591"/>
                </a:lnTo>
                <a:lnTo>
                  <a:pt x="1627345" y="1296036"/>
                </a:lnTo>
                <a:lnTo>
                  <a:pt x="1631472" y="1300163"/>
                </a:lnTo>
                <a:lnTo>
                  <a:pt x="1635281" y="1303973"/>
                </a:lnTo>
                <a:lnTo>
                  <a:pt x="1638773" y="1307783"/>
                </a:lnTo>
                <a:lnTo>
                  <a:pt x="1641630" y="1311911"/>
                </a:lnTo>
                <a:lnTo>
                  <a:pt x="1643535" y="1315721"/>
                </a:lnTo>
                <a:lnTo>
                  <a:pt x="1645757" y="1319531"/>
                </a:lnTo>
                <a:lnTo>
                  <a:pt x="1648614" y="1327786"/>
                </a:lnTo>
                <a:lnTo>
                  <a:pt x="1651471" y="1337311"/>
                </a:lnTo>
                <a:lnTo>
                  <a:pt x="1653376" y="1348106"/>
                </a:lnTo>
                <a:lnTo>
                  <a:pt x="1655280" y="1360171"/>
                </a:lnTo>
                <a:lnTo>
                  <a:pt x="1656868" y="1373188"/>
                </a:lnTo>
                <a:lnTo>
                  <a:pt x="1657502" y="1388111"/>
                </a:lnTo>
                <a:lnTo>
                  <a:pt x="1658455" y="1403668"/>
                </a:lnTo>
                <a:lnTo>
                  <a:pt x="1658772" y="1420813"/>
                </a:lnTo>
                <a:lnTo>
                  <a:pt x="1658455" y="1427798"/>
                </a:lnTo>
                <a:lnTo>
                  <a:pt x="1657502" y="1434148"/>
                </a:lnTo>
                <a:lnTo>
                  <a:pt x="1656550" y="1439863"/>
                </a:lnTo>
                <a:lnTo>
                  <a:pt x="1655280" y="1445578"/>
                </a:lnTo>
                <a:lnTo>
                  <a:pt x="1653376" y="1450658"/>
                </a:lnTo>
                <a:lnTo>
                  <a:pt x="1650836" y="1455421"/>
                </a:lnTo>
                <a:lnTo>
                  <a:pt x="1648296" y="1459548"/>
                </a:lnTo>
                <a:lnTo>
                  <a:pt x="1645122" y="1463358"/>
                </a:lnTo>
                <a:lnTo>
                  <a:pt x="1641630" y="1466851"/>
                </a:lnTo>
                <a:lnTo>
                  <a:pt x="1637503" y="1469708"/>
                </a:lnTo>
                <a:lnTo>
                  <a:pt x="1632741" y="1471931"/>
                </a:lnTo>
                <a:lnTo>
                  <a:pt x="1627980" y="1474153"/>
                </a:lnTo>
                <a:lnTo>
                  <a:pt x="1622265" y="1475423"/>
                </a:lnTo>
                <a:lnTo>
                  <a:pt x="1616869" y="1477011"/>
                </a:lnTo>
                <a:lnTo>
                  <a:pt x="1610520" y="1477646"/>
                </a:lnTo>
                <a:lnTo>
                  <a:pt x="1603536" y="1477646"/>
                </a:lnTo>
                <a:lnTo>
                  <a:pt x="1595917" y="1477328"/>
                </a:lnTo>
                <a:lnTo>
                  <a:pt x="1588933" y="1476693"/>
                </a:lnTo>
                <a:lnTo>
                  <a:pt x="1582584" y="1474788"/>
                </a:lnTo>
                <a:lnTo>
                  <a:pt x="1579727" y="1473836"/>
                </a:lnTo>
                <a:lnTo>
                  <a:pt x="1577188" y="1472566"/>
                </a:lnTo>
                <a:lnTo>
                  <a:pt x="1574648" y="1471296"/>
                </a:lnTo>
                <a:lnTo>
                  <a:pt x="1572426" y="1469708"/>
                </a:lnTo>
                <a:lnTo>
                  <a:pt x="1570521" y="1467803"/>
                </a:lnTo>
                <a:lnTo>
                  <a:pt x="1568299" y="1466216"/>
                </a:lnTo>
                <a:lnTo>
                  <a:pt x="1566712" y="1463993"/>
                </a:lnTo>
                <a:lnTo>
                  <a:pt x="1565124" y="1461771"/>
                </a:lnTo>
                <a:lnTo>
                  <a:pt x="1563855" y="1459548"/>
                </a:lnTo>
                <a:lnTo>
                  <a:pt x="1562902" y="1457008"/>
                </a:lnTo>
                <a:lnTo>
                  <a:pt x="1561632" y="1454151"/>
                </a:lnTo>
                <a:lnTo>
                  <a:pt x="1560680" y="1450976"/>
                </a:lnTo>
                <a:lnTo>
                  <a:pt x="1559093" y="1442721"/>
                </a:lnTo>
                <a:lnTo>
                  <a:pt x="1557506" y="1432561"/>
                </a:lnTo>
                <a:lnTo>
                  <a:pt x="1556553" y="1420496"/>
                </a:lnTo>
                <a:lnTo>
                  <a:pt x="1555601" y="1406208"/>
                </a:lnTo>
                <a:lnTo>
                  <a:pt x="1554649" y="1390016"/>
                </a:lnTo>
                <a:lnTo>
                  <a:pt x="1554331" y="1371918"/>
                </a:lnTo>
                <a:lnTo>
                  <a:pt x="1554331" y="1351598"/>
                </a:lnTo>
                <a:lnTo>
                  <a:pt x="1554331" y="1300163"/>
                </a:lnTo>
                <a:lnTo>
                  <a:pt x="1280689" y="1300163"/>
                </a:lnTo>
                <a:lnTo>
                  <a:pt x="1280689" y="1341121"/>
                </a:lnTo>
                <a:lnTo>
                  <a:pt x="1281006" y="1358266"/>
                </a:lnTo>
                <a:lnTo>
                  <a:pt x="1281641" y="1375093"/>
                </a:lnTo>
                <a:lnTo>
                  <a:pt x="1283546" y="1390968"/>
                </a:lnTo>
                <a:lnTo>
                  <a:pt x="1285450" y="1406208"/>
                </a:lnTo>
                <a:lnTo>
                  <a:pt x="1288625" y="1420813"/>
                </a:lnTo>
                <a:lnTo>
                  <a:pt x="1292117" y="1434783"/>
                </a:lnTo>
                <a:lnTo>
                  <a:pt x="1296561" y="1448436"/>
                </a:lnTo>
                <a:lnTo>
                  <a:pt x="1301005" y="1460818"/>
                </a:lnTo>
                <a:lnTo>
                  <a:pt x="1303863" y="1466851"/>
                </a:lnTo>
                <a:lnTo>
                  <a:pt x="1306402" y="1472566"/>
                </a:lnTo>
                <a:lnTo>
                  <a:pt x="1309577" y="1478598"/>
                </a:lnTo>
                <a:lnTo>
                  <a:pt x="1312751" y="1484313"/>
                </a:lnTo>
                <a:lnTo>
                  <a:pt x="1315926" y="1489393"/>
                </a:lnTo>
                <a:lnTo>
                  <a:pt x="1319418" y="1494791"/>
                </a:lnTo>
                <a:lnTo>
                  <a:pt x="1322910" y="1499871"/>
                </a:lnTo>
                <a:lnTo>
                  <a:pt x="1326719" y="1504951"/>
                </a:lnTo>
                <a:lnTo>
                  <a:pt x="1330528" y="1509713"/>
                </a:lnTo>
                <a:lnTo>
                  <a:pt x="1334655" y="1514158"/>
                </a:lnTo>
                <a:lnTo>
                  <a:pt x="1339100" y="1518603"/>
                </a:lnTo>
                <a:lnTo>
                  <a:pt x="1343544" y="1523048"/>
                </a:lnTo>
                <a:lnTo>
                  <a:pt x="1347988" y="1527176"/>
                </a:lnTo>
                <a:lnTo>
                  <a:pt x="1352432" y="1530986"/>
                </a:lnTo>
                <a:lnTo>
                  <a:pt x="1357512" y="1534796"/>
                </a:lnTo>
                <a:lnTo>
                  <a:pt x="1362591" y="1538288"/>
                </a:lnTo>
                <a:lnTo>
                  <a:pt x="1372749" y="1545273"/>
                </a:lnTo>
                <a:lnTo>
                  <a:pt x="1383543" y="1551941"/>
                </a:lnTo>
                <a:lnTo>
                  <a:pt x="1394336" y="1557656"/>
                </a:lnTo>
                <a:lnTo>
                  <a:pt x="1405129" y="1563688"/>
                </a:lnTo>
                <a:lnTo>
                  <a:pt x="1416240" y="1569086"/>
                </a:lnTo>
                <a:lnTo>
                  <a:pt x="1427986" y="1573848"/>
                </a:lnTo>
                <a:lnTo>
                  <a:pt x="1439731" y="1578611"/>
                </a:lnTo>
                <a:lnTo>
                  <a:pt x="1451477" y="1583056"/>
                </a:lnTo>
                <a:lnTo>
                  <a:pt x="1463540" y="1586866"/>
                </a:lnTo>
                <a:lnTo>
                  <a:pt x="1475921" y="1590358"/>
                </a:lnTo>
                <a:lnTo>
                  <a:pt x="1488619" y="1593216"/>
                </a:lnTo>
                <a:lnTo>
                  <a:pt x="1500999" y="1596073"/>
                </a:lnTo>
                <a:lnTo>
                  <a:pt x="1514015" y="1598613"/>
                </a:lnTo>
                <a:lnTo>
                  <a:pt x="1527348" y="1600201"/>
                </a:lnTo>
                <a:lnTo>
                  <a:pt x="1540363" y="1602106"/>
                </a:lnTo>
                <a:lnTo>
                  <a:pt x="1554331" y="1603058"/>
                </a:lnTo>
                <a:lnTo>
                  <a:pt x="1554331" y="1684973"/>
                </a:lnTo>
                <a:lnTo>
                  <a:pt x="1680359" y="1684973"/>
                </a:lnTo>
                <a:lnTo>
                  <a:pt x="1680359" y="1605916"/>
                </a:lnTo>
                <a:lnTo>
                  <a:pt x="1697819" y="1603693"/>
                </a:lnTo>
                <a:lnTo>
                  <a:pt x="1714326" y="1601471"/>
                </a:lnTo>
                <a:lnTo>
                  <a:pt x="1730516" y="1598613"/>
                </a:lnTo>
                <a:lnTo>
                  <a:pt x="1746071" y="1595121"/>
                </a:lnTo>
                <a:lnTo>
                  <a:pt x="1761626" y="1591628"/>
                </a:lnTo>
                <a:lnTo>
                  <a:pt x="1775912" y="1587818"/>
                </a:lnTo>
                <a:lnTo>
                  <a:pt x="1790197" y="1583373"/>
                </a:lnTo>
                <a:lnTo>
                  <a:pt x="1803212" y="1578293"/>
                </a:lnTo>
                <a:lnTo>
                  <a:pt x="1816228" y="1573531"/>
                </a:lnTo>
                <a:lnTo>
                  <a:pt x="1828926" y="1567816"/>
                </a:lnTo>
                <a:lnTo>
                  <a:pt x="1840672" y="1562101"/>
                </a:lnTo>
                <a:lnTo>
                  <a:pt x="1851782" y="1555751"/>
                </a:lnTo>
                <a:lnTo>
                  <a:pt x="1862576" y="1549083"/>
                </a:lnTo>
                <a:lnTo>
                  <a:pt x="1872734" y="1541781"/>
                </a:lnTo>
                <a:lnTo>
                  <a:pt x="1882575" y="1534478"/>
                </a:lnTo>
                <a:lnTo>
                  <a:pt x="1891464" y="1526858"/>
                </a:lnTo>
                <a:lnTo>
                  <a:pt x="1900035" y="1518286"/>
                </a:lnTo>
                <a:lnTo>
                  <a:pt x="1907971" y="1510031"/>
                </a:lnTo>
                <a:lnTo>
                  <a:pt x="1915590" y="1500823"/>
                </a:lnTo>
                <a:lnTo>
                  <a:pt x="1922256" y="1491616"/>
                </a:lnTo>
                <a:lnTo>
                  <a:pt x="1928605" y="1481773"/>
                </a:lnTo>
                <a:lnTo>
                  <a:pt x="1934319" y="1471613"/>
                </a:lnTo>
                <a:lnTo>
                  <a:pt x="1939716" y="1461136"/>
                </a:lnTo>
                <a:lnTo>
                  <a:pt x="1944160" y="1450341"/>
                </a:lnTo>
                <a:lnTo>
                  <a:pt x="1948287" y="1439228"/>
                </a:lnTo>
                <a:lnTo>
                  <a:pt x="1951779" y="1427798"/>
                </a:lnTo>
                <a:lnTo>
                  <a:pt x="1954954" y="1415416"/>
                </a:lnTo>
                <a:lnTo>
                  <a:pt x="1957493" y="1403351"/>
                </a:lnTo>
                <a:lnTo>
                  <a:pt x="1959398" y="1390333"/>
                </a:lnTo>
                <a:lnTo>
                  <a:pt x="1960985" y="1377633"/>
                </a:lnTo>
                <a:lnTo>
                  <a:pt x="1961620" y="1363981"/>
                </a:lnTo>
                <a:lnTo>
                  <a:pt x="1961938" y="1350011"/>
                </a:lnTo>
                <a:lnTo>
                  <a:pt x="1961620" y="1332866"/>
                </a:lnTo>
                <a:lnTo>
                  <a:pt x="1960985" y="1324611"/>
                </a:lnTo>
                <a:lnTo>
                  <a:pt x="1960350" y="1316038"/>
                </a:lnTo>
                <a:lnTo>
                  <a:pt x="1959398" y="1308418"/>
                </a:lnTo>
                <a:lnTo>
                  <a:pt x="1958128" y="1300481"/>
                </a:lnTo>
                <a:lnTo>
                  <a:pt x="1957176" y="1292861"/>
                </a:lnTo>
                <a:lnTo>
                  <a:pt x="1955271" y="1285558"/>
                </a:lnTo>
                <a:lnTo>
                  <a:pt x="1953684" y="1278256"/>
                </a:lnTo>
                <a:lnTo>
                  <a:pt x="1951779" y="1271271"/>
                </a:lnTo>
                <a:lnTo>
                  <a:pt x="1949875" y="1264286"/>
                </a:lnTo>
                <a:lnTo>
                  <a:pt x="1947335" y="1257618"/>
                </a:lnTo>
                <a:lnTo>
                  <a:pt x="1944795" y="1250951"/>
                </a:lnTo>
                <a:lnTo>
                  <a:pt x="1942256" y="1244601"/>
                </a:lnTo>
                <a:lnTo>
                  <a:pt x="1939081" y="1238251"/>
                </a:lnTo>
                <a:lnTo>
                  <a:pt x="1935907" y="1232536"/>
                </a:lnTo>
                <a:lnTo>
                  <a:pt x="1929240" y="1221106"/>
                </a:lnTo>
                <a:lnTo>
                  <a:pt x="1922256" y="1210311"/>
                </a:lnTo>
                <a:lnTo>
                  <a:pt x="1914637" y="1200151"/>
                </a:lnTo>
                <a:lnTo>
                  <a:pt x="1907019" y="1190626"/>
                </a:lnTo>
                <a:lnTo>
                  <a:pt x="1898448" y="1182053"/>
                </a:lnTo>
                <a:lnTo>
                  <a:pt x="1890194" y="1173798"/>
                </a:lnTo>
                <a:lnTo>
                  <a:pt x="1880988" y="1166178"/>
                </a:lnTo>
                <a:lnTo>
                  <a:pt x="1872099" y="1159510"/>
                </a:lnTo>
                <a:lnTo>
                  <a:pt x="1861306" y="1152843"/>
                </a:lnTo>
                <a:lnTo>
                  <a:pt x="1848608" y="1145223"/>
                </a:lnTo>
                <a:lnTo>
                  <a:pt x="1834005" y="1136968"/>
                </a:lnTo>
                <a:lnTo>
                  <a:pt x="1817180" y="1128078"/>
                </a:lnTo>
                <a:lnTo>
                  <a:pt x="1798451" y="1118553"/>
                </a:lnTo>
                <a:lnTo>
                  <a:pt x="1777499" y="1108075"/>
                </a:lnTo>
                <a:lnTo>
                  <a:pt x="1754642" y="1097280"/>
                </a:lnTo>
                <a:lnTo>
                  <a:pt x="1729881" y="1085215"/>
                </a:lnTo>
                <a:lnTo>
                  <a:pt x="1700358" y="1071880"/>
                </a:lnTo>
                <a:lnTo>
                  <a:pt x="1674327" y="1059180"/>
                </a:lnTo>
                <a:lnTo>
                  <a:pt x="1651471" y="1047750"/>
                </a:lnTo>
                <a:lnTo>
                  <a:pt x="1631472" y="1037590"/>
                </a:lnTo>
                <a:lnTo>
                  <a:pt x="1614329" y="1028383"/>
                </a:lnTo>
                <a:lnTo>
                  <a:pt x="1600679" y="1020445"/>
                </a:lnTo>
                <a:lnTo>
                  <a:pt x="1589568" y="1013778"/>
                </a:lnTo>
                <a:lnTo>
                  <a:pt x="1581949" y="1008380"/>
                </a:lnTo>
                <a:lnTo>
                  <a:pt x="1578775" y="1005840"/>
                </a:lnTo>
                <a:lnTo>
                  <a:pt x="1575918" y="1002665"/>
                </a:lnTo>
                <a:lnTo>
                  <a:pt x="1573378" y="999808"/>
                </a:lnTo>
                <a:lnTo>
                  <a:pt x="1570838" y="996315"/>
                </a:lnTo>
                <a:lnTo>
                  <a:pt x="1568299" y="992823"/>
                </a:lnTo>
                <a:lnTo>
                  <a:pt x="1566394" y="989013"/>
                </a:lnTo>
                <a:lnTo>
                  <a:pt x="1564489" y="985203"/>
                </a:lnTo>
                <a:lnTo>
                  <a:pt x="1562902" y="981075"/>
                </a:lnTo>
                <a:lnTo>
                  <a:pt x="1560998" y="976630"/>
                </a:lnTo>
                <a:lnTo>
                  <a:pt x="1560045" y="971868"/>
                </a:lnTo>
                <a:lnTo>
                  <a:pt x="1559093" y="967105"/>
                </a:lnTo>
                <a:lnTo>
                  <a:pt x="1557823" y="962025"/>
                </a:lnTo>
                <a:lnTo>
                  <a:pt x="1557188" y="956310"/>
                </a:lnTo>
                <a:lnTo>
                  <a:pt x="1556871" y="950595"/>
                </a:lnTo>
                <a:lnTo>
                  <a:pt x="1556236" y="938848"/>
                </a:lnTo>
                <a:lnTo>
                  <a:pt x="1556553" y="931863"/>
                </a:lnTo>
                <a:lnTo>
                  <a:pt x="1557188" y="924878"/>
                </a:lnTo>
                <a:lnTo>
                  <a:pt x="1557823" y="918528"/>
                </a:lnTo>
                <a:lnTo>
                  <a:pt x="1559410" y="913130"/>
                </a:lnTo>
                <a:lnTo>
                  <a:pt x="1560998" y="907415"/>
                </a:lnTo>
                <a:lnTo>
                  <a:pt x="1563537" y="902653"/>
                </a:lnTo>
                <a:lnTo>
                  <a:pt x="1566077" y="898525"/>
                </a:lnTo>
                <a:lnTo>
                  <a:pt x="1568616" y="894398"/>
                </a:lnTo>
                <a:lnTo>
                  <a:pt x="1572108" y="890905"/>
                </a:lnTo>
                <a:lnTo>
                  <a:pt x="1575600" y="888048"/>
                </a:lnTo>
                <a:lnTo>
                  <a:pt x="1579727" y="885190"/>
                </a:lnTo>
                <a:lnTo>
                  <a:pt x="1584489" y="882968"/>
                </a:lnTo>
                <a:lnTo>
                  <a:pt x="1589251" y="881698"/>
                </a:lnTo>
                <a:lnTo>
                  <a:pt x="1594647" y="880745"/>
                </a:lnTo>
                <a:lnTo>
                  <a:pt x="1600361" y="879793"/>
                </a:lnTo>
                <a:lnTo>
                  <a:pt x="1606393" y="879475"/>
                </a:lnTo>
                <a:lnTo>
                  <a:pt x="1613694" y="879793"/>
                </a:lnTo>
                <a:lnTo>
                  <a:pt x="1620678" y="880745"/>
                </a:lnTo>
                <a:lnTo>
                  <a:pt x="1626710" y="882015"/>
                </a:lnTo>
                <a:lnTo>
                  <a:pt x="1632106" y="883920"/>
                </a:lnTo>
                <a:lnTo>
                  <a:pt x="1636551" y="886143"/>
                </a:lnTo>
                <a:lnTo>
                  <a:pt x="1640995" y="889318"/>
                </a:lnTo>
                <a:lnTo>
                  <a:pt x="1642582" y="890905"/>
                </a:lnTo>
                <a:lnTo>
                  <a:pt x="1644487" y="892810"/>
                </a:lnTo>
                <a:lnTo>
                  <a:pt x="1645757" y="894715"/>
                </a:lnTo>
                <a:lnTo>
                  <a:pt x="1647027" y="896620"/>
                </a:lnTo>
                <a:lnTo>
                  <a:pt x="1649249" y="901700"/>
                </a:lnTo>
                <a:lnTo>
                  <a:pt x="1651471" y="907733"/>
                </a:lnTo>
                <a:lnTo>
                  <a:pt x="1652741" y="915035"/>
                </a:lnTo>
                <a:lnTo>
                  <a:pt x="1654011" y="923608"/>
                </a:lnTo>
                <a:lnTo>
                  <a:pt x="1655280" y="933450"/>
                </a:lnTo>
                <a:lnTo>
                  <a:pt x="1655915" y="944245"/>
                </a:lnTo>
                <a:lnTo>
                  <a:pt x="1656233" y="956310"/>
                </a:lnTo>
                <a:lnTo>
                  <a:pt x="1656550" y="969645"/>
                </a:lnTo>
                <a:lnTo>
                  <a:pt x="1656550" y="1004570"/>
                </a:lnTo>
                <a:lnTo>
                  <a:pt x="1930193" y="1004570"/>
                </a:lnTo>
                <a:lnTo>
                  <a:pt x="1932097" y="981393"/>
                </a:lnTo>
                <a:lnTo>
                  <a:pt x="1932732" y="972503"/>
                </a:lnTo>
                <a:lnTo>
                  <a:pt x="1932732" y="964883"/>
                </a:lnTo>
                <a:lnTo>
                  <a:pt x="1932732" y="953453"/>
                </a:lnTo>
                <a:lnTo>
                  <a:pt x="1932097" y="942340"/>
                </a:lnTo>
                <a:lnTo>
                  <a:pt x="1930510" y="931545"/>
                </a:lnTo>
                <a:lnTo>
                  <a:pt x="1928923" y="920750"/>
                </a:lnTo>
                <a:lnTo>
                  <a:pt x="1926701" y="910590"/>
                </a:lnTo>
                <a:lnTo>
                  <a:pt x="1923844" y="900748"/>
                </a:lnTo>
                <a:lnTo>
                  <a:pt x="1920987" y="891223"/>
                </a:lnTo>
                <a:lnTo>
                  <a:pt x="1916860" y="881698"/>
                </a:lnTo>
                <a:lnTo>
                  <a:pt x="1912733" y="873125"/>
                </a:lnTo>
                <a:lnTo>
                  <a:pt x="1908288" y="864235"/>
                </a:lnTo>
                <a:lnTo>
                  <a:pt x="1903209" y="855980"/>
                </a:lnTo>
                <a:lnTo>
                  <a:pt x="1897495" y="847725"/>
                </a:lnTo>
                <a:lnTo>
                  <a:pt x="1891146" y="840105"/>
                </a:lnTo>
                <a:lnTo>
                  <a:pt x="1884480" y="832485"/>
                </a:lnTo>
                <a:lnTo>
                  <a:pt x="1877496" y="825500"/>
                </a:lnTo>
                <a:lnTo>
                  <a:pt x="1869877" y="818833"/>
                </a:lnTo>
                <a:lnTo>
                  <a:pt x="1861623" y="812165"/>
                </a:lnTo>
                <a:lnTo>
                  <a:pt x="1853370" y="806450"/>
                </a:lnTo>
                <a:lnTo>
                  <a:pt x="1844163" y="800418"/>
                </a:lnTo>
                <a:lnTo>
                  <a:pt x="1834322" y="795020"/>
                </a:lnTo>
                <a:lnTo>
                  <a:pt x="1824164" y="789623"/>
                </a:lnTo>
                <a:lnTo>
                  <a:pt x="1813688" y="784860"/>
                </a:lnTo>
                <a:lnTo>
                  <a:pt x="1802577" y="780098"/>
                </a:lnTo>
                <a:lnTo>
                  <a:pt x="1790832" y="775970"/>
                </a:lnTo>
                <a:lnTo>
                  <a:pt x="1779086" y="772160"/>
                </a:lnTo>
                <a:lnTo>
                  <a:pt x="1766388" y="768350"/>
                </a:lnTo>
                <a:lnTo>
                  <a:pt x="1753055" y="765175"/>
                </a:lnTo>
                <a:lnTo>
                  <a:pt x="1739405" y="762000"/>
                </a:lnTo>
                <a:lnTo>
                  <a:pt x="1725754" y="759778"/>
                </a:lnTo>
                <a:lnTo>
                  <a:pt x="1710834" y="757238"/>
                </a:lnTo>
                <a:lnTo>
                  <a:pt x="1695914" y="755015"/>
                </a:lnTo>
                <a:lnTo>
                  <a:pt x="1680359" y="753428"/>
                </a:lnTo>
                <a:lnTo>
                  <a:pt x="1680359" y="686118"/>
                </a:lnTo>
                <a:lnTo>
                  <a:pt x="1554331" y="686118"/>
                </a:lnTo>
                <a:close/>
                <a:moveTo>
                  <a:pt x="1619408" y="0"/>
                </a:moveTo>
                <a:lnTo>
                  <a:pt x="2640012" y="871220"/>
                </a:lnTo>
                <a:lnTo>
                  <a:pt x="2113362" y="871220"/>
                </a:lnTo>
                <a:lnTo>
                  <a:pt x="2274944" y="1871663"/>
                </a:lnTo>
                <a:lnTo>
                  <a:pt x="963555" y="1871663"/>
                </a:lnTo>
                <a:lnTo>
                  <a:pt x="1103234" y="871220"/>
                </a:lnTo>
                <a:lnTo>
                  <a:pt x="598487" y="871220"/>
                </a:lnTo>
                <a:lnTo>
                  <a:pt x="16194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sz="240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B308F4C1-44C3-10CF-3B49-D9553777C4A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9" y="1028554"/>
            <a:ext cx="2846197" cy="168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052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56B31-00BE-41FB-7D3A-4025F001D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74F2BD1A-23ED-EBE6-F60F-FE2BE304AC89}"/>
              </a:ext>
            </a:extLst>
          </p:cNvPr>
          <p:cNvGrpSpPr/>
          <p:nvPr/>
        </p:nvGrpSpPr>
        <p:grpSpPr>
          <a:xfrm>
            <a:off x="124829" y="3779278"/>
            <a:ext cx="6592803" cy="1274966"/>
            <a:chOff x="124829" y="3833422"/>
            <a:chExt cx="6592803" cy="1274966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89B5A36E-7ACA-9472-1CA0-3BF551D40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829" y="3833422"/>
              <a:ext cx="2064397" cy="1274966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25A07FFD-EC34-CDCF-F0EB-3228AA74F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3017" y="3860008"/>
              <a:ext cx="2024979" cy="1248380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479EC20B-59E7-21B9-8B64-3663F4A6E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5492" y="3860008"/>
              <a:ext cx="1992140" cy="1228655"/>
            </a:xfrm>
            <a:prstGeom prst="rect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06B9E0E-7674-4BCD-3F62-3923FDB2619F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84767AF-D98B-B68B-2216-6E14AFE0997E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B599DF81-35EA-B3D8-AAC6-9F9A517DB5BC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233D96D-846E-1E1B-6259-4045C11C6BA3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数据的可视化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629D89A-8D1B-03CD-BED3-E210E98EA097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C942826E-6DAE-B0FB-90F9-C0B719E4C2E9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0F80D461-F559-D985-6FBF-3AA1323C197D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EBC1EB1-BC88-BCE5-154A-A404465B61CF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EBBC77B1-AE7E-64B4-36C0-1BF2DA8C65C7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A74B9763-4922-97BB-6D75-52DCCC4D4684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DE6581F8-3FE9-8E14-BB93-77783A3B174A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F1DC4158-AB79-8BDF-1239-7C5EC6EBCF6C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2C615CF-878D-1727-61D3-60F8125B1EAC}"/>
              </a:ext>
            </a:extLst>
          </p:cNvPr>
          <p:cNvSpPr/>
          <p:nvPr/>
        </p:nvSpPr>
        <p:spPr>
          <a:xfrm>
            <a:off x="722166" y="642236"/>
            <a:ext cx="2024979" cy="304959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特征分布分析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DC93717-249A-A813-F4F5-A6A410AB365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25234"/>
            <a:ext cx="2067233" cy="127496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B854688-272C-6696-EE5F-1E5DF5BAEEA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757" y="2459942"/>
            <a:ext cx="1921264" cy="118494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1ECE721-486A-AC0B-6CC0-4EC7CD5C644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583" y="2448391"/>
            <a:ext cx="1992140" cy="122865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2BF16DC6-848D-9944-F399-5DF2F4C50E1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723" y="2428223"/>
            <a:ext cx="2024979" cy="1248380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C6FF9E86-4ED9-C9D6-4758-BC69E96CA105}"/>
              </a:ext>
            </a:extLst>
          </p:cNvPr>
          <p:cNvGrpSpPr/>
          <p:nvPr/>
        </p:nvGrpSpPr>
        <p:grpSpPr>
          <a:xfrm>
            <a:off x="136039" y="978795"/>
            <a:ext cx="6672933" cy="1458576"/>
            <a:chOff x="136039" y="1062945"/>
            <a:chExt cx="6672933" cy="1458576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6E6EEA5F-02E0-A58F-6FAD-C258229BC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039" y="1066871"/>
              <a:ext cx="2163609" cy="1334974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206733B-765A-7D79-F1BD-DA7A2F686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8342" y="1062945"/>
              <a:ext cx="2149900" cy="1325393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68C7E50F-B872-658F-9566-A9E4C528B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9072" y="1062945"/>
              <a:ext cx="2149900" cy="132539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BDD9F5C-EDDD-BEB7-A23C-BFB6659B4BDD}"/>
                </a:ext>
              </a:extLst>
            </p:cNvPr>
            <p:cNvSpPr txBox="1"/>
            <p:nvPr/>
          </p:nvSpPr>
          <p:spPr>
            <a:xfrm>
              <a:off x="927697" y="2336855"/>
              <a:ext cx="64633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作者数量分布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CD54CF3-B401-A6A9-0945-594EE4C3EF1D}"/>
                </a:ext>
              </a:extLst>
            </p:cNvPr>
            <p:cNvSpPr txBox="1"/>
            <p:nvPr/>
          </p:nvSpPr>
          <p:spPr>
            <a:xfrm>
              <a:off x="3154669" y="2319422"/>
              <a:ext cx="64633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机构数量分布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3A2B265-0B21-A3FF-74D3-0494FFD6E6C1}"/>
                </a:ext>
              </a:extLst>
            </p:cNvPr>
            <p:cNvSpPr txBox="1"/>
            <p:nvPr/>
          </p:nvSpPr>
          <p:spPr>
            <a:xfrm>
              <a:off x="5487340" y="2336855"/>
              <a:ext cx="64633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国家数量分布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FD13F0C2-A641-B026-9772-48C18695EB0D}"/>
              </a:ext>
            </a:extLst>
          </p:cNvPr>
          <p:cNvSpPr txBox="1"/>
          <p:nvPr/>
        </p:nvSpPr>
        <p:spPr>
          <a:xfrm>
            <a:off x="740569" y="3644884"/>
            <a:ext cx="6463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b="1" dirty="0">
                <a:latin typeface="黑体" panose="02010609060101010101" pitchFamily="49" charset="-122"/>
                <a:ea typeface="黑体" panose="02010609060101010101" pitchFamily="49" charset="-122"/>
              </a:rPr>
              <a:t>概念数量分布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0697E50-A2EA-EB12-D3B4-4780C98347D4}"/>
              </a:ext>
            </a:extLst>
          </p:cNvPr>
          <p:cNvSpPr txBox="1"/>
          <p:nvPr/>
        </p:nvSpPr>
        <p:spPr>
          <a:xfrm>
            <a:off x="2468039" y="3644884"/>
            <a:ext cx="6463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b="1" dirty="0">
                <a:latin typeface="黑体" panose="02010609060101010101" pitchFamily="49" charset="-122"/>
                <a:ea typeface="黑体" panose="02010609060101010101" pitchFamily="49" charset="-122"/>
              </a:rPr>
              <a:t>主题数量分布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9B0103-51D2-B191-AEC2-C143B8DDFDBC}"/>
              </a:ext>
            </a:extLst>
          </p:cNvPr>
          <p:cNvSpPr txBox="1"/>
          <p:nvPr/>
        </p:nvSpPr>
        <p:spPr>
          <a:xfrm>
            <a:off x="4387206" y="3644884"/>
            <a:ext cx="6463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b="1" dirty="0">
                <a:latin typeface="黑体" panose="02010609060101010101" pitchFamily="49" charset="-122"/>
                <a:ea typeface="黑体" panose="02010609060101010101" pitchFamily="49" charset="-122"/>
              </a:rPr>
              <a:t>标题长度分布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896BDB2-6CD4-1AC1-C208-4937593C0719}"/>
              </a:ext>
            </a:extLst>
          </p:cNvPr>
          <p:cNvSpPr txBox="1"/>
          <p:nvPr/>
        </p:nvSpPr>
        <p:spPr>
          <a:xfrm>
            <a:off x="6394466" y="3678080"/>
            <a:ext cx="6463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b="1" dirty="0">
                <a:latin typeface="黑体" panose="02010609060101010101" pitchFamily="49" charset="-122"/>
                <a:ea typeface="黑体" panose="02010609060101010101" pitchFamily="49" charset="-122"/>
              </a:rPr>
              <a:t>摘要长度分布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8439FE1-65ED-761F-2E14-78D156020600}"/>
              </a:ext>
            </a:extLst>
          </p:cNvPr>
          <p:cNvSpPr txBox="1"/>
          <p:nvPr/>
        </p:nvSpPr>
        <p:spPr>
          <a:xfrm>
            <a:off x="887398" y="4998619"/>
            <a:ext cx="80021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b="1" dirty="0">
                <a:latin typeface="黑体" panose="02010609060101010101" pitchFamily="49" charset="-122"/>
                <a:ea typeface="黑体" panose="02010609060101010101" pitchFamily="49" charset="-122"/>
              </a:rPr>
              <a:t>参考文献数量分布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F245742-2DEE-A625-B91B-D11C43474235}"/>
              </a:ext>
            </a:extLst>
          </p:cNvPr>
          <p:cNvSpPr txBox="1"/>
          <p:nvPr/>
        </p:nvSpPr>
        <p:spPr>
          <a:xfrm>
            <a:off x="3114370" y="4981186"/>
            <a:ext cx="80021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b="1" dirty="0">
                <a:latin typeface="黑体" panose="02010609060101010101" pitchFamily="49" charset="-122"/>
                <a:ea typeface="黑体" panose="02010609060101010101" pitchFamily="49" charset="-122"/>
              </a:rPr>
              <a:t>近期引用数量分布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7D60EA7-1F72-9AEE-D1DB-DB4FC231A650}"/>
              </a:ext>
            </a:extLst>
          </p:cNvPr>
          <p:cNvSpPr txBox="1"/>
          <p:nvPr/>
        </p:nvSpPr>
        <p:spPr>
          <a:xfrm>
            <a:off x="5447041" y="4998619"/>
            <a:ext cx="72327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b="1" dirty="0">
                <a:latin typeface="黑体" panose="02010609060101010101" pitchFamily="49" charset="-122"/>
                <a:ea typeface="黑体" panose="02010609060101010101" pitchFamily="49" charset="-122"/>
              </a:rPr>
              <a:t>引用百分比分布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FE44091-791E-1B5C-6745-6550FB9C1215}"/>
              </a:ext>
            </a:extLst>
          </p:cNvPr>
          <p:cNvSpPr/>
          <p:nvPr/>
        </p:nvSpPr>
        <p:spPr>
          <a:xfrm>
            <a:off x="6701212" y="4289246"/>
            <a:ext cx="2414926" cy="409006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参考文献数和近期引用数同样是右偏分布，而引用百分位则集中在较高区间。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8BEEB46-37C9-43B6-6D30-EC5B04538468}"/>
              </a:ext>
            </a:extLst>
          </p:cNvPr>
          <p:cNvSpPr/>
          <p:nvPr/>
        </p:nvSpPr>
        <p:spPr>
          <a:xfrm>
            <a:off x="7645425" y="2709830"/>
            <a:ext cx="1463137" cy="685166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概念数和标题长度分布较为均衡，但主题数呈现三峰分布，摘要长度则集中在较短区间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2231179-666D-D7F4-38A6-630434CC3E2A}"/>
              </a:ext>
            </a:extLst>
          </p:cNvPr>
          <p:cNvSpPr/>
          <p:nvPr/>
        </p:nvSpPr>
        <p:spPr>
          <a:xfrm>
            <a:off x="6984831" y="1254046"/>
            <a:ext cx="2018493" cy="357031"/>
          </a:xfrm>
          <a:prstGeom prst="roundRect">
            <a:avLst>
              <a:gd name="adj" fmla="val 50000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右偏分布，</a:t>
            </a:r>
            <a:r>
              <a:rPr lang="en-US" altLang="zh-CN" sz="8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ADHD </a:t>
            </a:r>
            <a:r>
              <a:rPr lang="zh-CN" altLang="en-US" sz="800" dirty="0">
                <a:solidFill>
                  <a:schemeClr val="bg1"/>
                </a:solidFill>
                <a:latin typeface="思源宋体" panose="02020700000000000000" pitchFamily="18" charset="-122"/>
                <a:ea typeface="思源宋体" panose="02020700000000000000" pitchFamily="18" charset="-122"/>
              </a:rPr>
              <a:t>研究以小团队、单机构、本国合作为主流。</a:t>
            </a:r>
          </a:p>
        </p:txBody>
      </p:sp>
    </p:spTree>
    <p:extLst>
      <p:ext uri="{BB962C8B-B14F-4D97-AF65-F5344CB8AC3E}">
        <p14:creationId xmlns:p14="http://schemas.microsoft.com/office/powerpoint/2010/main" val="3975227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ABC1-43E5-1A2A-E9CC-03CE1C959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DAB0EF4B-303E-196A-2D11-ABBAE61F6831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9D0DD61-45A1-4348-2DBE-606B14121E94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1E94A9A9-2908-3189-71EF-9CC291A6FCF2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3C006B4-B4DD-35FE-B617-FD09E79BCF91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数据的可视化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A594009-D4A4-CAE0-97E7-CDF705BCB16F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01174A20-D490-5FB4-4C77-C22B7ECC7A61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E11E5412-BB45-E47F-9292-717320C34F29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A7F15771-0C76-AA88-96DB-6B199579293B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838BD6A-A801-6D1E-5DF7-562D2A035A41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2ED96DBA-93A7-823E-1A5F-B5C57B7B84B9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EBFB161-4348-016D-1F1A-A5292C9207C1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76090898-B0C4-A3DA-5128-1411208684B3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BB57B8C5-0EA6-9F27-9A16-076C65D8BE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4" y="1175177"/>
            <a:ext cx="3808527" cy="3431137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6341C5F-D170-D837-549A-494D48787EA0}"/>
              </a:ext>
            </a:extLst>
          </p:cNvPr>
          <p:cNvSpPr/>
          <p:nvPr/>
        </p:nvSpPr>
        <p:spPr>
          <a:xfrm>
            <a:off x="722166" y="642236"/>
            <a:ext cx="2024979" cy="304959"/>
          </a:xfrm>
          <a:prstGeom prst="roundRect">
            <a:avLst>
              <a:gd name="adj" fmla="val 50000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特征相关性与高被引特征分析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C145CB7-108B-E6F9-FCFE-661C0D090A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36" y="861461"/>
            <a:ext cx="1542229" cy="95257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E15DEFE7-BC23-ABBC-F5E2-D0AE7076EB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827" y="861461"/>
            <a:ext cx="1542229" cy="952572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E2AF194-0B6D-6B58-E09F-966F9E9E0B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556" y="867658"/>
            <a:ext cx="1542229" cy="95257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2755A38F-B7E4-9BEB-574F-2C2CB4A6560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290" y="2634784"/>
            <a:ext cx="1896017" cy="1170598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535E322B-983C-6D1B-B4EB-8B6549F144A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091" y="3941542"/>
            <a:ext cx="1895216" cy="117059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6AC9F9B-85D3-D847-75A5-CE98CCB9BC4F}"/>
              </a:ext>
            </a:extLst>
          </p:cNvPr>
          <p:cNvSpPr/>
          <p:nvPr/>
        </p:nvSpPr>
        <p:spPr>
          <a:xfrm>
            <a:off x="224790" y="1611630"/>
            <a:ext cx="497376" cy="5428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78B74D-331D-8DD6-B5A9-8EDD610A1913}"/>
              </a:ext>
            </a:extLst>
          </p:cNvPr>
          <p:cNvSpPr/>
          <p:nvPr/>
        </p:nvSpPr>
        <p:spPr>
          <a:xfrm>
            <a:off x="770756" y="4080416"/>
            <a:ext cx="497376" cy="5428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6833B7-0C07-3CF4-6602-E5EA8BA43F97}"/>
              </a:ext>
            </a:extLst>
          </p:cNvPr>
          <p:cNvSpPr txBox="1"/>
          <p:nvPr/>
        </p:nvSpPr>
        <p:spPr>
          <a:xfrm>
            <a:off x="1309643" y="4606314"/>
            <a:ext cx="12747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特征相关性热力图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51947A-13BE-C7D9-DC14-8CD5D2A2AAE6}"/>
              </a:ext>
            </a:extLst>
          </p:cNvPr>
          <p:cNvSpPr txBox="1"/>
          <p:nvPr/>
        </p:nvSpPr>
        <p:spPr>
          <a:xfrm>
            <a:off x="4204669" y="2094123"/>
            <a:ext cx="4770020" cy="540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100" dirty="0">
                <a:latin typeface="思源宋体 CN Heavy" panose="02020900000000000000" pitchFamily="18" charset="-122"/>
                <a:ea typeface="思源宋体 CN Light" panose="02020300000000000000" pitchFamily="18" charset="-122"/>
              </a:rPr>
              <a:t>高被引文献的箱体位置整体更高，中位数和四分位距明显大于普通文献，说明高被引论文的合作规模普遍更大，跨机构、跨国合作的概率更高。</a:t>
            </a:r>
            <a:endParaRPr lang="zh-CN" altLang="en-US" sz="1100" kern="0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7540A37-F41E-F32C-8ACD-5979BF9459A3}"/>
              </a:ext>
            </a:extLst>
          </p:cNvPr>
          <p:cNvSpPr/>
          <p:nvPr/>
        </p:nvSpPr>
        <p:spPr>
          <a:xfrm>
            <a:off x="4216926" y="1898101"/>
            <a:ext cx="1147665" cy="154359"/>
          </a:xfrm>
          <a:prstGeom prst="roundRect">
            <a:avLst>
              <a:gd name="adj" fmla="val 50000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合作规模特征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1EAE7AB-DD60-38D5-C203-5A79C0456DCD}"/>
              </a:ext>
            </a:extLst>
          </p:cNvPr>
          <p:cNvSpPr txBox="1"/>
          <p:nvPr/>
        </p:nvSpPr>
        <p:spPr>
          <a:xfrm>
            <a:off x="6060574" y="2872273"/>
            <a:ext cx="2888125" cy="777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100" dirty="0">
                <a:latin typeface="思源宋体 CN Heavy" panose="02020900000000000000" pitchFamily="18" charset="-122"/>
                <a:ea typeface="思源宋体 CN Light" panose="02020300000000000000" pitchFamily="18" charset="-122"/>
              </a:rPr>
              <a:t>高被引文献的箱体同样更高，中位数显著大于普通文献，说明引用更多参考文献的论文，更有可能成为高被引文献。</a:t>
            </a:r>
            <a:endParaRPr lang="zh-CN" altLang="en-US" sz="1100" kern="0" dirty="0">
              <a:solidFill>
                <a:schemeClr val="tx1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77C8E0F-996A-B6B7-CED4-6C8916F2F5CB}"/>
              </a:ext>
            </a:extLst>
          </p:cNvPr>
          <p:cNvSpPr/>
          <p:nvPr/>
        </p:nvSpPr>
        <p:spPr>
          <a:xfrm>
            <a:off x="6072831" y="2676251"/>
            <a:ext cx="1147665" cy="154359"/>
          </a:xfrm>
          <a:prstGeom prst="roundRect">
            <a:avLst>
              <a:gd name="adj" fmla="val 50000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参考文献数量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AE8CFD1-6FEA-1BAB-BA21-A956D234E17E}"/>
              </a:ext>
            </a:extLst>
          </p:cNvPr>
          <p:cNvSpPr txBox="1"/>
          <p:nvPr/>
        </p:nvSpPr>
        <p:spPr>
          <a:xfrm>
            <a:off x="6059104" y="4194119"/>
            <a:ext cx="2888125" cy="777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100" dirty="0">
                <a:latin typeface="思源宋体 CN Heavy" panose="02020900000000000000" pitchFamily="18" charset="-122"/>
                <a:ea typeface="思源宋体 CN Light" panose="02020300000000000000" pitchFamily="18" charset="-122"/>
              </a:rPr>
              <a:t>高被引文献的近期引用数明显更高，箱体位置和离群点都远高于普通文献，说明高被引论文的持续影响力更强。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0B5E19C-A197-D8EB-BFDB-5D273459791D}"/>
              </a:ext>
            </a:extLst>
          </p:cNvPr>
          <p:cNvSpPr/>
          <p:nvPr/>
        </p:nvSpPr>
        <p:spPr>
          <a:xfrm>
            <a:off x="6071361" y="3998097"/>
            <a:ext cx="1147665" cy="154359"/>
          </a:xfrm>
          <a:prstGeom prst="roundRect">
            <a:avLst>
              <a:gd name="adj" fmla="val 50000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近期引用数量</a:t>
            </a:r>
          </a:p>
        </p:txBody>
      </p:sp>
    </p:spTree>
    <p:extLst>
      <p:ext uri="{BB962C8B-B14F-4D97-AF65-F5344CB8AC3E}">
        <p14:creationId xmlns:p14="http://schemas.microsoft.com/office/powerpoint/2010/main" val="3422786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011D-FB1A-DE54-290E-84D2377E9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93771210-3918-7B51-E001-A90BCC9B67BD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62BE25A-648D-07B7-61C6-EA1B12A20257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32DFB76F-329D-BCC8-6230-AB15D88914B4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496E882-F6C4-331A-EC77-756906D3C926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数据的可视化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556DF8E-FBA7-961F-D6CD-1CE19F607659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8BD69438-BF9A-806B-E59B-0C8C4B8B34D7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4FB346FF-FF12-A629-9003-F0311FE0D1C3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48BBABD-A3CE-2346-73C0-465FD0A2E8CD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76881D9-67E6-18C5-9E71-8A395B4E8149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530891AD-9D5B-FD77-DBAA-B3172903B6CD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B41B3797-BDDB-CC58-309C-D9F6C8184B30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A5A1162-AC4F-793F-6E27-0F3C0381731C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13DE260F-5AC4-8211-BE30-3D43E8FABD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06" y="750956"/>
            <a:ext cx="3870204" cy="229813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9F27321-2382-A05F-F0E5-FC82253FEC7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570" y="750956"/>
            <a:ext cx="3866293" cy="229813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A41A68F-497D-A83C-2902-318A16A8F66E}"/>
              </a:ext>
            </a:extLst>
          </p:cNvPr>
          <p:cNvSpPr txBox="1"/>
          <p:nvPr/>
        </p:nvSpPr>
        <p:spPr>
          <a:xfrm>
            <a:off x="2012957" y="3049094"/>
            <a:ext cx="1210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PCA </a:t>
            </a:r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降维解释方差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2916C82-A190-D85B-D495-114845047BC8}"/>
              </a:ext>
            </a:extLst>
          </p:cNvPr>
          <p:cNvSpPr txBox="1"/>
          <p:nvPr/>
        </p:nvSpPr>
        <p:spPr>
          <a:xfrm>
            <a:off x="6365420" y="2925983"/>
            <a:ext cx="13388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>
                <a:latin typeface="黑体" panose="02010609060101010101" pitchFamily="49" charset="-122"/>
                <a:ea typeface="黑体" panose="02010609060101010101" pitchFamily="49" charset="-122"/>
              </a:rPr>
              <a:t>特征与引用量相关性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A870BEE-703F-8893-DDDF-75621775FEF5}"/>
              </a:ext>
            </a:extLst>
          </p:cNvPr>
          <p:cNvSpPr txBox="1"/>
          <p:nvPr/>
        </p:nvSpPr>
        <p:spPr>
          <a:xfrm>
            <a:off x="1074719" y="3290013"/>
            <a:ext cx="1688283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14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PCA </a:t>
            </a:r>
            <a:r>
              <a:rPr lang="zh-CN" altLang="en-US" sz="14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降维解释方差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FF73B52-1989-8AFE-4EB1-B8F5EB361679}"/>
              </a:ext>
            </a:extLst>
          </p:cNvPr>
          <p:cNvSpPr txBox="1"/>
          <p:nvPr/>
        </p:nvSpPr>
        <p:spPr>
          <a:xfrm>
            <a:off x="704267" y="3552811"/>
            <a:ext cx="3867733" cy="1258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核心趋势：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随着主成分数量增加，累积解释方差快速上升，前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个主成分即可解释超过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90%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的数据方差，前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个主成分解释率超过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99%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这说明数据的大部分信息可以被少数主成分捕捉，后续建模可以考虑使用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PCA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降维来减少特征维度。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8AC7D55-B659-F842-2762-92EC1D00D622}"/>
              </a:ext>
            </a:extLst>
          </p:cNvPr>
          <p:cNvGrpSpPr/>
          <p:nvPr/>
        </p:nvGrpSpPr>
        <p:grpSpPr>
          <a:xfrm>
            <a:off x="704267" y="3179585"/>
            <a:ext cx="425056" cy="409006"/>
            <a:chOff x="3216452" y="846582"/>
            <a:chExt cx="594591" cy="538929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536B8691-7E10-BCD5-D16B-4F35E2B22B1A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EAD8A70F-27DF-CF69-75CC-A607F2098865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50" name="KSO_Shape">
              <a:extLst>
                <a:ext uri="{FF2B5EF4-FFF2-40B4-BE49-F238E27FC236}">
                  <a16:creationId xmlns:a16="http://schemas.microsoft.com/office/drawing/2014/main" id="{249CDCF1-F6A7-6C1C-1B47-D878A398C7F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3441378" y="1066155"/>
              <a:ext cx="162875" cy="119691"/>
            </a:xfrm>
            <a:custGeom>
              <a:avLst/>
              <a:gdLst>
                <a:gd name="T0" fmla="*/ 104753 w 3040062"/>
                <a:gd name="T1" fmla="*/ 1241540 h 2303463"/>
                <a:gd name="T2" fmla="*/ 251725 w 3040062"/>
                <a:gd name="T3" fmla="*/ 1260899 h 2303463"/>
                <a:gd name="T4" fmla="*/ 265692 w 3040062"/>
                <a:gd name="T5" fmla="*/ 1110467 h 2303463"/>
                <a:gd name="T6" fmla="*/ 844867 w 3040062"/>
                <a:gd name="T7" fmla="*/ 970596 h 2303463"/>
                <a:gd name="T8" fmla="*/ 870584 w 3040062"/>
                <a:gd name="T9" fmla="*/ 987377 h 2303463"/>
                <a:gd name="T10" fmla="*/ 872172 w 3040062"/>
                <a:gd name="T11" fmla="*/ 1402771 h 2303463"/>
                <a:gd name="T12" fmla="*/ 848359 w 3040062"/>
                <a:gd name="T13" fmla="*/ 1421768 h 2303463"/>
                <a:gd name="T14" fmla="*/ 615315 w 3040062"/>
                <a:gd name="T15" fmla="*/ 1415119 h 2303463"/>
                <a:gd name="T16" fmla="*/ 603250 w 3040062"/>
                <a:gd name="T17" fmla="*/ 1002891 h 2303463"/>
                <a:gd name="T18" fmla="*/ 617855 w 3040062"/>
                <a:gd name="T19" fmla="*/ 975662 h 2303463"/>
                <a:gd name="T20" fmla="*/ 1240437 w 3040062"/>
                <a:gd name="T21" fmla="*/ 749300 h 2303463"/>
                <a:gd name="T22" fmla="*/ 1265867 w 3040062"/>
                <a:gd name="T23" fmla="*/ 766421 h 2303463"/>
                <a:gd name="T24" fmla="*/ 1267138 w 3040062"/>
                <a:gd name="T25" fmla="*/ 1402743 h 2303463"/>
                <a:gd name="T26" fmla="*/ 1243616 w 3040062"/>
                <a:gd name="T27" fmla="*/ 1421766 h 2303463"/>
                <a:gd name="T28" fmla="*/ 1010298 w 3040062"/>
                <a:gd name="T29" fmla="*/ 1415108 h 2303463"/>
                <a:gd name="T30" fmla="*/ 998537 w 3040062"/>
                <a:gd name="T31" fmla="*/ 782273 h 2303463"/>
                <a:gd name="T32" fmla="*/ 1012841 w 3040062"/>
                <a:gd name="T33" fmla="*/ 755007 h 2303463"/>
                <a:gd name="T34" fmla="*/ 2175011 w 3040062"/>
                <a:gd name="T35" fmla="*/ 666432 h 2303463"/>
                <a:gd name="T36" fmla="*/ 2235666 w 3040062"/>
                <a:gd name="T37" fmla="*/ 692135 h 2303463"/>
                <a:gd name="T38" fmla="*/ 2277268 w 3040062"/>
                <a:gd name="T39" fmla="*/ 742271 h 2303463"/>
                <a:gd name="T40" fmla="*/ 2290605 w 3040062"/>
                <a:gd name="T41" fmla="*/ 1286150 h 2303463"/>
                <a:gd name="T42" fmla="*/ 2948603 w 3040062"/>
                <a:gd name="T43" fmla="*/ 1365796 h 2303463"/>
                <a:gd name="T44" fmla="*/ 3005765 w 3040062"/>
                <a:gd name="T45" fmla="*/ 1408316 h 2303463"/>
                <a:gd name="T46" fmla="*/ 3036887 w 3040062"/>
                <a:gd name="T47" fmla="*/ 1473366 h 2303463"/>
                <a:gd name="T48" fmla="*/ 3035616 w 3040062"/>
                <a:gd name="T49" fmla="*/ 2191451 h 2303463"/>
                <a:gd name="T50" fmla="*/ 3001319 w 3040062"/>
                <a:gd name="T51" fmla="*/ 2254597 h 2303463"/>
                <a:gd name="T52" fmla="*/ 2941934 w 3040062"/>
                <a:gd name="T53" fmla="*/ 2294578 h 2303463"/>
                <a:gd name="T54" fmla="*/ 2171200 w 3040062"/>
                <a:gd name="T55" fmla="*/ 2303146 h 2303463"/>
                <a:gd name="T56" fmla="*/ 2113403 w 3040062"/>
                <a:gd name="T57" fmla="*/ 2292040 h 2303463"/>
                <a:gd name="T58" fmla="*/ 1552263 w 3040062"/>
                <a:gd name="T59" fmla="*/ 1741815 h 2303463"/>
                <a:gd name="T60" fmla="*/ 1526223 w 3040062"/>
                <a:gd name="T61" fmla="*/ 1686919 h 2303463"/>
                <a:gd name="T62" fmla="*/ 1529081 w 3040062"/>
                <a:gd name="T63" fmla="*/ 1626946 h 2303463"/>
                <a:gd name="T64" fmla="*/ 1560520 w 3040062"/>
                <a:gd name="T65" fmla="*/ 1574272 h 2303463"/>
                <a:gd name="T66" fmla="*/ 1612919 w 3040062"/>
                <a:gd name="T67" fmla="*/ 1542858 h 2303463"/>
                <a:gd name="T68" fmla="*/ 1673891 w 3040062"/>
                <a:gd name="T69" fmla="*/ 1539685 h 2303463"/>
                <a:gd name="T70" fmla="*/ 1728513 w 3040062"/>
                <a:gd name="T71" fmla="*/ 1565705 h 2303463"/>
                <a:gd name="T72" fmla="*/ 2024167 w 3040062"/>
                <a:gd name="T73" fmla="*/ 760992 h 2303463"/>
                <a:gd name="T74" fmla="*/ 2057829 w 3040062"/>
                <a:gd name="T75" fmla="*/ 704828 h 2303463"/>
                <a:gd name="T76" fmla="*/ 2113721 w 3040062"/>
                <a:gd name="T77" fmla="*/ 670875 h 2303463"/>
                <a:gd name="T78" fmla="*/ 1640947 w 3040062"/>
                <a:gd name="T79" fmla="*/ 485773 h 2303463"/>
                <a:gd name="T80" fmla="*/ 1662436 w 3040062"/>
                <a:gd name="T81" fmla="*/ 507334 h 2303463"/>
                <a:gd name="T82" fmla="*/ 1658328 w 3040062"/>
                <a:gd name="T83" fmla="*/ 1408133 h 2303463"/>
                <a:gd name="T84" fmla="*/ 1631151 w 3040062"/>
                <a:gd name="T85" fmla="*/ 1422401 h 2303463"/>
                <a:gd name="T86" fmla="*/ 1401409 w 3040062"/>
                <a:gd name="T87" fmla="*/ 1410669 h 2303463"/>
                <a:gd name="T88" fmla="*/ 1394457 w 3040062"/>
                <a:gd name="T89" fmla="*/ 510505 h 2303463"/>
                <a:gd name="T90" fmla="*/ 1413734 w 3040062"/>
                <a:gd name="T91" fmla="*/ 486725 h 2303463"/>
                <a:gd name="T92" fmla="*/ 2856582 w 3040062"/>
                <a:gd name="T93" fmla="*/ 2539 h 2303463"/>
                <a:gd name="T94" fmla="*/ 2942924 w 3040062"/>
                <a:gd name="T95" fmla="*/ 45384 h 2303463"/>
                <a:gd name="T96" fmla="*/ 3001649 w 3040062"/>
                <a:gd name="T97" fmla="*/ 130121 h 2303463"/>
                <a:gd name="T98" fmla="*/ 3021012 w 3040062"/>
                <a:gd name="T99" fmla="*/ 1276768 h 2303463"/>
                <a:gd name="T100" fmla="*/ 2944193 w 3040062"/>
                <a:gd name="T101" fmla="*/ 1247252 h 2303463"/>
                <a:gd name="T102" fmla="*/ 374889 w 3040062"/>
                <a:gd name="T103" fmla="*/ 1959424 h 2303463"/>
                <a:gd name="T104" fmla="*/ 127291 w 3040062"/>
                <a:gd name="T105" fmla="*/ 2259336 h 2303463"/>
                <a:gd name="T106" fmla="*/ 50472 w 3040062"/>
                <a:gd name="T107" fmla="*/ 2198402 h 2303463"/>
                <a:gd name="T108" fmla="*/ 6349 w 3040062"/>
                <a:gd name="T109" fmla="*/ 2100970 h 2303463"/>
                <a:gd name="T110" fmla="*/ 3809 w 3040062"/>
                <a:gd name="T111" fmla="*/ 183438 h 2303463"/>
                <a:gd name="T112" fmla="*/ 44441 w 3040062"/>
                <a:gd name="T113" fmla="*/ 83468 h 2303463"/>
                <a:gd name="T114" fmla="*/ 118720 w 3040062"/>
                <a:gd name="T115" fmla="*/ 17773 h 2303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040062" h="2303463">
                  <a:moveTo>
                    <a:pt x="124116" y="1098725"/>
                  </a:moveTo>
                  <a:lnTo>
                    <a:pt x="120307" y="1099042"/>
                  </a:lnTo>
                  <a:lnTo>
                    <a:pt x="116498" y="1099994"/>
                  </a:lnTo>
                  <a:lnTo>
                    <a:pt x="113324" y="1101898"/>
                  </a:lnTo>
                  <a:lnTo>
                    <a:pt x="110467" y="1104120"/>
                  </a:lnTo>
                  <a:lnTo>
                    <a:pt x="108245" y="1107294"/>
                  </a:lnTo>
                  <a:lnTo>
                    <a:pt x="106340" y="1110467"/>
                  </a:lnTo>
                  <a:lnTo>
                    <a:pt x="105071" y="1114276"/>
                  </a:lnTo>
                  <a:lnTo>
                    <a:pt x="104753" y="1118084"/>
                  </a:lnTo>
                  <a:lnTo>
                    <a:pt x="104753" y="1241540"/>
                  </a:lnTo>
                  <a:lnTo>
                    <a:pt x="105071" y="1245348"/>
                  </a:lnTo>
                  <a:lnTo>
                    <a:pt x="106340" y="1249157"/>
                  </a:lnTo>
                  <a:lnTo>
                    <a:pt x="108245" y="1252330"/>
                  </a:lnTo>
                  <a:lnTo>
                    <a:pt x="110467" y="1255187"/>
                  </a:lnTo>
                  <a:lnTo>
                    <a:pt x="113324" y="1257726"/>
                  </a:lnTo>
                  <a:lnTo>
                    <a:pt x="116498" y="1259312"/>
                  </a:lnTo>
                  <a:lnTo>
                    <a:pt x="120307" y="1260899"/>
                  </a:lnTo>
                  <a:lnTo>
                    <a:pt x="124116" y="1261217"/>
                  </a:lnTo>
                  <a:lnTo>
                    <a:pt x="247598" y="1261217"/>
                  </a:lnTo>
                  <a:lnTo>
                    <a:pt x="251725" y="1260899"/>
                  </a:lnTo>
                  <a:lnTo>
                    <a:pt x="255216" y="1259312"/>
                  </a:lnTo>
                  <a:lnTo>
                    <a:pt x="258708" y="1257726"/>
                  </a:lnTo>
                  <a:lnTo>
                    <a:pt x="261565" y="1255187"/>
                  </a:lnTo>
                  <a:lnTo>
                    <a:pt x="264105" y="1252330"/>
                  </a:lnTo>
                  <a:lnTo>
                    <a:pt x="265692" y="1249157"/>
                  </a:lnTo>
                  <a:lnTo>
                    <a:pt x="266644" y="1245348"/>
                  </a:lnTo>
                  <a:lnTo>
                    <a:pt x="266961" y="1241540"/>
                  </a:lnTo>
                  <a:lnTo>
                    <a:pt x="266961" y="1118084"/>
                  </a:lnTo>
                  <a:lnTo>
                    <a:pt x="266644" y="1114276"/>
                  </a:lnTo>
                  <a:lnTo>
                    <a:pt x="265692" y="1110467"/>
                  </a:lnTo>
                  <a:lnTo>
                    <a:pt x="264105" y="1107294"/>
                  </a:lnTo>
                  <a:lnTo>
                    <a:pt x="261565" y="1104120"/>
                  </a:lnTo>
                  <a:lnTo>
                    <a:pt x="258708" y="1101898"/>
                  </a:lnTo>
                  <a:lnTo>
                    <a:pt x="255216" y="1099994"/>
                  </a:lnTo>
                  <a:lnTo>
                    <a:pt x="251725" y="1099042"/>
                  </a:lnTo>
                  <a:lnTo>
                    <a:pt x="247598" y="1098725"/>
                  </a:lnTo>
                  <a:lnTo>
                    <a:pt x="124116" y="1098725"/>
                  </a:lnTo>
                  <a:close/>
                  <a:moveTo>
                    <a:pt x="636270" y="969963"/>
                  </a:moveTo>
                  <a:lnTo>
                    <a:pt x="841692" y="969963"/>
                  </a:lnTo>
                  <a:lnTo>
                    <a:pt x="844867" y="970596"/>
                  </a:lnTo>
                  <a:lnTo>
                    <a:pt x="848359" y="970913"/>
                  </a:lnTo>
                  <a:lnTo>
                    <a:pt x="851534" y="971546"/>
                  </a:lnTo>
                  <a:lnTo>
                    <a:pt x="854709" y="972813"/>
                  </a:lnTo>
                  <a:lnTo>
                    <a:pt x="857567" y="974396"/>
                  </a:lnTo>
                  <a:lnTo>
                    <a:pt x="860107" y="975662"/>
                  </a:lnTo>
                  <a:lnTo>
                    <a:pt x="862647" y="977878"/>
                  </a:lnTo>
                  <a:lnTo>
                    <a:pt x="865187" y="979778"/>
                  </a:lnTo>
                  <a:lnTo>
                    <a:pt x="867092" y="982311"/>
                  </a:lnTo>
                  <a:lnTo>
                    <a:pt x="868997" y="984844"/>
                  </a:lnTo>
                  <a:lnTo>
                    <a:pt x="870584" y="987377"/>
                  </a:lnTo>
                  <a:lnTo>
                    <a:pt x="872172" y="990226"/>
                  </a:lnTo>
                  <a:lnTo>
                    <a:pt x="873124" y="993076"/>
                  </a:lnTo>
                  <a:lnTo>
                    <a:pt x="873760" y="996242"/>
                  </a:lnTo>
                  <a:lnTo>
                    <a:pt x="874712" y="999725"/>
                  </a:lnTo>
                  <a:lnTo>
                    <a:pt x="874712" y="1002891"/>
                  </a:lnTo>
                  <a:lnTo>
                    <a:pt x="874712" y="1389790"/>
                  </a:lnTo>
                  <a:lnTo>
                    <a:pt x="874712" y="1393273"/>
                  </a:lnTo>
                  <a:lnTo>
                    <a:pt x="873760" y="1396439"/>
                  </a:lnTo>
                  <a:lnTo>
                    <a:pt x="873124" y="1399605"/>
                  </a:lnTo>
                  <a:lnTo>
                    <a:pt x="872172" y="1402771"/>
                  </a:lnTo>
                  <a:lnTo>
                    <a:pt x="870584" y="1405304"/>
                  </a:lnTo>
                  <a:lnTo>
                    <a:pt x="868997" y="1408154"/>
                  </a:lnTo>
                  <a:lnTo>
                    <a:pt x="867092" y="1410686"/>
                  </a:lnTo>
                  <a:lnTo>
                    <a:pt x="865187" y="1413219"/>
                  </a:lnTo>
                  <a:lnTo>
                    <a:pt x="862647" y="1415119"/>
                  </a:lnTo>
                  <a:lnTo>
                    <a:pt x="860107" y="1417019"/>
                  </a:lnTo>
                  <a:lnTo>
                    <a:pt x="857567" y="1418602"/>
                  </a:lnTo>
                  <a:lnTo>
                    <a:pt x="854709" y="1420185"/>
                  </a:lnTo>
                  <a:lnTo>
                    <a:pt x="851534" y="1421135"/>
                  </a:lnTo>
                  <a:lnTo>
                    <a:pt x="848359" y="1421768"/>
                  </a:lnTo>
                  <a:lnTo>
                    <a:pt x="844867" y="1422401"/>
                  </a:lnTo>
                  <a:lnTo>
                    <a:pt x="841692" y="1422401"/>
                  </a:lnTo>
                  <a:lnTo>
                    <a:pt x="636270" y="1422401"/>
                  </a:lnTo>
                  <a:lnTo>
                    <a:pt x="632777" y="1422401"/>
                  </a:lnTo>
                  <a:lnTo>
                    <a:pt x="629920" y="1421768"/>
                  </a:lnTo>
                  <a:lnTo>
                    <a:pt x="626745" y="1421135"/>
                  </a:lnTo>
                  <a:lnTo>
                    <a:pt x="623570" y="1420185"/>
                  </a:lnTo>
                  <a:lnTo>
                    <a:pt x="620713" y="1418602"/>
                  </a:lnTo>
                  <a:lnTo>
                    <a:pt x="617855" y="1417019"/>
                  </a:lnTo>
                  <a:lnTo>
                    <a:pt x="615315" y="1415119"/>
                  </a:lnTo>
                  <a:lnTo>
                    <a:pt x="613093" y="1413219"/>
                  </a:lnTo>
                  <a:lnTo>
                    <a:pt x="610870" y="1410686"/>
                  </a:lnTo>
                  <a:lnTo>
                    <a:pt x="608965" y="1408154"/>
                  </a:lnTo>
                  <a:lnTo>
                    <a:pt x="607378" y="1405304"/>
                  </a:lnTo>
                  <a:lnTo>
                    <a:pt x="606108" y="1402771"/>
                  </a:lnTo>
                  <a:lnTo>
                    <a:pt x="605155" y="1399605"/>
                  </a:lnTo>
                  <a:lnTo>
                    <a:pt x="603885" y="1396439"/>
                  </a:lnTo>
                  <a:lnTo>
                    <a:pt x="603568" y="1393273"/>
                  </a:lnTo>
                  <a:lnTo>
                    <a:pt x="603250" y="1389790"/>
                  </a:lnTo>
                  <a:lnTo>
                    <a:pt x="603250" y="1002891"/>
                  </a:lnTo>
                  <a:lnTo>
                    <a:pt x="603568" y="999725"/>
                  </a:lnTo>
                  <a:lnTo>
                    <a:pt x="603885" y="996242"/>
                  </a:lnTo>
                  <a:lnTo>
                    <a:pt x="605155" y="993076"/>
                  </a:lnTo>
                  <a:lnTo>
                    <a:pt x="606108" y="990226"/>
                  </a:lnTo>
                  <a:lnTo>
                    <a:pt x="607378" y="987377"/>
                  </a:lnTo>
                  <a:lnTo>
                    <a:pt x="608965" y="984844"/>
                  </a:lnTo>
                  <a:lnTo>
                    <a:pt x="610870" y="982311"/>
                  </a:lnTo>
                  <a:lnTo>
                    <a:pt x="613093" y="979778"/>
                  </a:lnTo>
                  <a:lnTo>
                    <a:pt x="615315" y="977878"/>
                  </a:lnTo>
                  <a:lnTo>
                    <a:pt x="617855" y="975662"/>
                  </a:lnTo>
                  <a:lnTo>
                    <a:pt x="620713" y="974396"/>
                  </a:lnTo>
                  <a:lnTo>
                    <a:pt x="623570" y="972813"/>
                  </a:lnTo>
                  <a:lnTo>
                    <a:pt x="626745" y="971546"/>
                  </a:lnTo>
                  <a:lnTo>
                    <a:pt x="629920" y="970913"/>
                  </a:lnTo>
                  <a:lnTo>
                    <a:pt x="632777" y="970596"/>
                  </a:lnTo>
                  <a:lnTo>
                    <a:pt x="636270" y="969963"/>
                  </a:lnTo>
                  <a:close/>
                  <a:moveTo>
                    <a:pt x="1027781" y="749300"/>
                  </a:moveTo>
                  <a:lnTo>
                    <a:pt x="1031278" y="749300"/>
                  </a:lnTo>
                  <a:lnTo>
                    <a:pt x="1236940" y="749300"/>
                  </a:lnTo>
                  <a:lnTo>
                    <a:pt x="1240437" y="749300"/>
                  </a:lnTo>
                  <a:lnTo>
                    <a:pt x="1243616" y="750251"/>
                  </a:lnTo>
                  <a:lnTo>
                    <a:pt x="1246476" y="750885"/>
                  </a:lnTo>
                  <a:lnTo>
                    <a:pt x="1249655" y="751837"/>
                  </a:lnTo>
                  <a:lnTo>
                    <a:pt x="1252516" y="753105"/>
                  </a:lnTo>
                  <a:lnTo>
                    <a:pt x="1255377" y="755007"/>
                  </a:lnTo>
                  <a:lnTo>
                    <a:pt x="1257920" y="756592"/>
                  </a:lnTo>
                  <a:lnTo>
                    <a:pt x="1260145" y="758812"/>
                  </a:lnTo>
                  <a:lnTo>
                    <a:pt x="1262370" y="761348"/>
                  </a:lnTo>
                  <a:lnTo>
                    <a:pt x="1264595" y="763567"/>
                  </a:lnTo>
                  <a:lnTo>
                    <a:pt x="1265867" y="766421"/>
                  </a:lnTo>
                  <a:lnTo>
                    <a:pt x="1267138" y="769274"/>
                  </a:lnTo>
                  <a:lnTo>
                    <a:pt x="1268410" y="772445"/>
                  </a:lnTo>
                  <a:lnTo>
                    <a:pt x="1269363" y="775615"/>
                  </a:lnTo>
                  <a:lnTo>
                    <a:pt x="1269681" y="778786"/>
                  </a:lnTo>
                  <a:lnTo>
                    <a:pt x="1269999" y="782273"/>
                  </a:lnTo>
                  <a:lnTo>
                    <a:pt x="1269999" y="1389744"/>
                  </a:lnTo>
                  <a:lnTo>
                    <a:pt x="1269681" y="1393231"/>
                  </a:lnTo>
                  <a:lnTo>
                    <a:pt x="1269363" y="1396402"/>
                  </a:lnTo>
                  <a:lnTo>
                    <a:pt x="1268410" y="1399572"/>
                  </a:lnTo>
                  <a:lnTo>
                    <a:pt x="1267138" y="1402743"/>
                  </a:lnTo>
                  <a:lnTo>
                    <a:pt x="1265867" y="1405279"/>
                  </a:lnTo>
                  <a:lnTo>
                    <a:pt x="1264595" y="1408133"/>
                  </a:lnTo>
                  <a:lnTo>
                    <a:pt x="1262370" y="1410669"/>
                  </a:lnTo>
                  <a:lnTo>
                    <a:pt x="1260145" y="1413206"/>
                  </a:lnTo>
                  <a:lnTo>
                    <a:pt x="1257920" y="1415108"/>
                  </a:lnTo>
                  <a:lnTo>
                    <a:pt x="1255377" y="1417010"/>
                  </a:lnTo>
                  <a:lnTo>
                    <a:pt x="1252516" y="1418595"/>
                  </a:lnTo>
                  <a:lnTo>
                    <a:pt x="1249655" y="1420181"/>
                  </a:lnTo>
                  <a:lnTo>
                    <a:pt x="1246476" y="1421132"/>
                  </a:lnTo>
                  <a:lnTo>
                    <a:pt x="1243616" y="1421766"/>
                  </a:lnTo>
                  <a:lnTo>
                    <a:pt x="1240437" y="1422400"/>
                  </a:lnTo>
                  <a:lnTo>
                    <a:pt x="1236940" y="1422400"/>
                  </a:lnTo>
                  <a:lnTo>
                    <a:pt x="1031278" y="1422400"/>
                  </a:lnTo>
                  <a:lnTo>
                    <a:pt x="1027781" y="1422400"/>
                  </a:lnTo>
                  <a:lnTo>
                    <a:pt x="1024602" y="1421766"/>
                  </a:lnTo>
                  <a:lnTo>
                    <a:pt x="1021424" y="1421132"/>
                  </a:lnTo>
                  <a:lnTo>
                    <a:pt x="1018245" y="1420181"/>
                  </a:lnTo>
                  <a:lnTo>
                    <a:pt x="1015384" y="1418595"/>
                  </a:lnTo>
                  <a:lnTo>
                    <a:pt x="1012841" y="1417010"/>
                  </a:lnTo>
                  <a:lnTo>
                    <a:pt x="1010298" y="1415108"/>
                  </a:lnTo>
                  <a:lnTo>
                    <a:pt x="1007755" y="1413206"/>
                  </a:lnTo>
                  <a:lnTo>
                    <a:pt x="1005848" y="1410669"/>
                  </a:lnTo>
                  <a:lnTo>
                    <a:pt x="1003941" y="1408133"/>
                  </a:lnTo>
                  <a:lnTo>
                    <a:pt x="1002351" y="1405279"/>
                  </a:lnTo>
                  <a:lnTo>
                    <a:pt x="1000762" y="1402743"/>
                  </a:lnTo>
                  <a:lnTo>
                    <a:pt x="999808" y="1399572"/>
                  </a:lnTo>
                  <a:lnTo>
                    <a:pt x="999173" y="1396402"/>
                  </a:lnTo>
                  <a:lnTo>
                    <a:pt x="998537" y="1393231"/>
                  </a:lnTo>
                  <a:lnTo>
                    <a:pt x="998537" y="1389744"/>
                  </a:lnTo>
                  <a:lnTo>
                    <a:pt x="998537" y="782273"/>
                  </a:lnTo>
                  <a:lnTo>
                    <a:pt x="998537" y="778786"/>
                  </a:lnTo>
                  <a:lnTo>
                    <a:pt x="999173" y="775615"/>
                  </a:lnTo>
                  <a:lnTo>
                    <a:pt x="999808" y="772445"/>
                  </a:lnTo>
                  <a:lnTo>
                    <a:pt x="1000762" y="769274"/>
                  </a:lnTo>
                  <a:lnTo>
                    <a:pt x="1002351" y="766421"/>
                  </a:lnTo>
                  <a:lnTo>
                    <a:pt x="1003941" y="763567"/>
                  </a:lnTo>
                  <a:lnTo>
                    <a:pt x="1005848" y="761348"/>
                  </a:lnTo>
                  <a:lnTo>
                    <a:pt x="1007755" y="758812"/>
                  </a:lnTo>
                  <a:lnTo>
                    <a:pt x="1010298" y="756592"/>
                  </a:lnTo>
                  <a:lnTo>
                    <a:pt x="1012841" y="755007"/>
                  </a:lnTo>
                  <a:lnTo>
                    <a:pt x="1015384" y="753105"/>
                  </a:lnTo>
                  <a:lnTo>
                    <a:pt x="1018245" y="751837"/>
                  </a:lnTo>
                  <a:lnTo>
                    <a:pt x="1021424" y="750885"/>
                  </a:lnTo>
                  <a:lnTo>
                    <a:pt x="1024602" y="750251"/>
                  </a:lnTo>
                  <a:lnTo>
                    <a:pt x="1027781" y="749300"/>
                  </a:lnTo>
                  <a:close/>
                  <a:moveTo>
                    <a:pt x="2147065" y="665163"/>
                  </a:moveTo>
                  <a:lnTo>
                    <a:pt x="2154052" y="665163"/>
                  </a:lnTo>
                  <a:lnTo>
                    <a:pt x="2161038" y="665163"/>
                  </a:lnTo>
                  <a:lnTo>
                    <a:pt x="2168025" y="665798"/>
                  </a:lnTo>
                  <a:lnTo>
                    <a:pt x="2175011" y="666432"/>
                  </a:lnTo>
                  <a:lnTo>
                    <a:pt x="2181680" y="667702"/>
                  </a:lnTo>
                  <a:lnTo>
                    <a:pt x="2188349" y="669288"/>
                  </a:lnTo>
                  <a:lnTo>
                    <a:pt x="2194700" y="670875"/>
                  </a:lnTo>
                  <a:lnTo>
                    <a:pt x="2201369" y="673413"/>
                  </a:lnTo>
                  <a:lnTo>
                    <a:pt x="2207085" y="675952"/>
                  </a:lnTo>
                  <a:lnTo>
                    <a:pt x="2213437" y="678173"/>
                  </a:lnTo>
                  <a:lnTo>
                    <a:pt x="2219471" y="681346"/>
                  </a:lnTo>
                  <a:lnTo>
                    <a:pt x="2224869" y="684519"/>
                  </a:lnTo>
                  <a:lnTo>
                    <a:pt x="2230585" y="688327"/>
                  </a:lnTo>
                  <a:lnTo>
                    <a:pt x="2235666" y="692135"/>
                  </a:lnTo>
                  <a:lnTo>
                    <a:pt x="2241065" y="695943"/>
                  </a:lnTo>
                  <a:lnTo>
                    <a:pt x="2245829" y="700702"/>
                  </a:lnTo>
                  <a:lnTo>
                    <a:pt x="2250910" y="704828"/>
                  </a:lnTo>
                  <a:lnTo>
                    <a:pt x="2255356" y="709587"/>
                  </a:lnTo>
                  <a:lnTo>
                    <a:pt x="2259484" y="714347"/>
                  </a:lnTo>
                  <a:lnTo>
                    <a:pt x="2263612" y="719741"/>
                  </a:lnTo>
                  <a:lnTo>
                    <a:pt x="2267423" y="724819"/>
                  </a:lnTo>
                  <a:lnTo>
                    <a:pt x="2270916" y="730530"/>
                  </a:lnTo>
                  <a:lnTo>
                    <a:pt x="2274092" y="736559"/>
                  </a:lnTo>
                  <a:lnTo>
                    <a:pt x="2277268" y="742271"/>
                  </a:lnTo>
                  <a:lnTo>
                    <a:pt x="2280126" y="748300"/>
                  </a:lnTo>
                  <a:lnTo>
                    <a:pt x="2282666" y="754646"/>
                  </a:lnTo>
                  <a:lnTo>
                    <a:pt x="2284572" y="760992"/>
                  </a:lnTo>
                  <a:lnTo>
                    <a:pt x="2286477" y="767021"/>
                  </a:lnTo>
                  <a:lnTo>
                    <a:pt x="2287747" y="773685"/>
                  </a:lnTo>
                  <a:lnTo>
                    <a:pt x="2289018" y="780349"/>
                  </a:lnTo>
                  <a:lnTo>
                    <a:pt x="2289970" y="787330"/>
                  </a:lnTo>
                  <a:lnTo>
                    <a:pt x="2290605" y="794311"/>
                  </a:lnTo>
                  <a:lnTo>
                    <a:pt x="2290605" y="801292"/>
                  </a:lnTo>
                  <a:lnTo>
                    <a:pt x="2290605" y="1286150"/>
                  </a:lnTo>
                  <a:lnTo>
                    <a:pt x="2884137" y="1353738"/>
                  </a:lnTo>
                  <a:lnTo>
                    <a:pt x="2890488" y="1354055"/>
                  </a:lnTo>
                  <a:lnTo>
                    <a:pt x="2898110" y="1354372"/>
                  </a:lnTo>
                  <a:lnTo>
                    <a:pt x="2905732" y="1355007"/>
                  </a:lnTo>
                  <a:lnTo>
                    <a:pt x="2913353" y="1355642"/>
                  </a:lnTo>
                  <a:lnTo>
                    <a:pt x="2920657" y="1357228"/>
                  </a:lnTo>
                  <a:lnTo>
                    <a:pt x="2927644" y="1358815"/>
                  </a:lnTo>
                  <a:lnTo>
                    <a:pt x="2934948" y="1361036"/>
                  </a:lnTo>
                  <a:lnTo>
                    <a:pt x="2941934" y="1362940"/>
                  </a:lnTo>
                  <a:lnTo>
                    <a:pt x="2948603" y="1365796"/>
                  </a:lnTo>
                  <a:lnTo>
                    <a:pt x="2955272" y="1368969"/>
                  </a:lnTo>
                  <a:lnTo>
                    <a:pt x="2961941" y="1372142"/>
                  </a:lnTo>
                  <a:lnTo>
                    <a:pt x="2968292" y="1375633"/>
                  </a:lnTo>
                  <a:lnTo>
                    <a:pt x="2974008" y="1379758"/>
                  </a:lnTo>
                  <a:lnTo>
                    <a:pt x="2980042" y="1383883"/>
                  </a:lnTo>
                  <a:lnTo>
                    <a:pt x="2985758" y="1388008"/>
                  </a:lnTo>
                  <a:lnTo>
                    <a:pt x="2990839" y="1393085"/>
                  </a:lnTo>
                  <a:lnTo>
                    <a:pt x="2996238" y="1397845"/>
                  </a:lnTo>
                  <a:lnTo>
                    <a:pt x="3001319" y="1403239"/>
                  </a:lnTo>
                  <a:lnTo>
                    <a:pt x="3005765" y="1408316"/>
                  </a:lnTo>
                  <a:lnTo>
                    <a:pt x="3010529" y="1414345"/>
                  </a:lnTo>
                  <a:lnTo>
                    <a:pt x="3014657" y="1419739"/>
                  </a:lnTo>
                  <a:lnTo>
                    <a:pt x="3018468" y="1426086"/>
                  </a:lnTo>
                  <a:lnTo>
                    <a:pt x="3021961" y="1432432"/>
                  </a:lnTo>
                  <a:lnTo>
                    <a:pt x="3025454" y="1438778"/>
                  </a:lnTo>
                  <a:lnTo>
                    <a:pt x="3028312" y="1445125"/>
                  </a:lnTo>
                  <a:lnTo>
                    <a:pt x="3030853" y="1452106"/>
                  </a:lnTo>
                  <a:lnTo>
                    <a:pt x="3033393" y="1459087"/>
                  </a:lnTo>
                  <a:lnTo>
                    <a:pt x="3035616" y="1466067"/>
                  </a:lnTo>
                  <a:lnTo>
                    <a:pt x="3036887" y="1473366"/>
                  </a:lnTo>
                  <a:lnTo>
                    <a:pt x="3038474" y="1480664"/>
                  </a:lnTo>
                  <a:lnTo>
                    <a:pt x="3039427" y="1488280"/>
                  </a:lnTo>
                  <a:lnTo>
                    <a:pt x="3040062" y="1495895"/>
                  </a:lnTo>
                  <a:lnTo>
                    <a:pt x="3040062" y="1503511"/>
                  </a:lnTo>
                  <a:lnTo>
                    <a:pt x="3040062" y="2154008"/>
                  </a:lnTo>
                  <a:lnTo>
                    <a:pt x="3040062" y="2161623"/>
                  </a:lnTo>
                  <a:lnTo>
                    <a:pt x="3039427" y="2169556"/>
                  </a:lnTo>
                  <a:lnTo>
                    <a:pt x="3038474" y="2177172"/>
                  </a:lnTo>
                  <a:lnTo>
                    <a:pt x="3036887" y="2184470"/>
                  </a:lnTo>
                  <a:lnTo>
                    <a:pt x="3035616" y="2191451"/>
                  </a:lnTo>
                  <a:lnTo>
                    <a:pt x="3033393" y="2198749"/>
                  </a:lnTo>
                  <a:lnTo>
                    <a:pt x="3030853" y="2205730"/>
                  </a:lnTo>
                  <a:lnTo>
                    <a:pt x="3028312" y="2212394"/>
                  </a:lnTo>
                  <a:lnTo>
                    <a:pt x="3025454" y="2219057"/>
                  </a:lnTo>
                  <a:lnTo>
                    <a:pt x="3021961" y="2225404"/>
                  </a:lnTo>
                  <a:lnTo>
                    <a:pt x="3018468" y="2231433"/>
                  </a:lnTo>
                  <a:lnTo>
                    <a:pt x="3014657" y="2237779"/>
                  </a:lnTo>
                  <a:lnTo>
                    <a:pt x="3010529" y="2243808"/>
                  </a:lnTo>
                  <a:lnTo>
                    <a:pt x="3005765" y="2249202"/>
                  </a:lnTo>
                  <a:lnTo>
                    <a:pt x="3001319" y="2254597"/>
                  </a:lnTo>
                  <a:lnTo>
                    <a:pt x="2996238" y="2259674"/>
                  </a:lnTo>
                  <a:lnTo>
                    <a:pt x="2990839" y="2264433"/>
                  </a:lnTo>
                  <a:lnTo>
                    <a:pt x="2985758" y="2269510"/>
                  </a:lnTo>
                  <a:lnTo>
                    <a:pt x="2980042" y="2273953"/>
                  </a:lnTo>
                  <a:lnTo>
                    <a:pt x="2974008" y="2278078"/>
                  </a:lnTo>
                  <a:lnTo>
                    <a:pt x="2968292" y="2281886"/>
                  </a:lnTo>
                  <a:lnTo>
                    <a:pt x="2961941" y="2285376"/>
                  </a:lnTo>
                  <a:lnTo>
                    <a:pt x="2955272" y="2288867"/>
                  </a:lnTo>
                  <a:lnTo>
                    <a:pt x="2948603" y="2291723"/>
                  </a:lnTo>
                  <a:lnTo>
                    <a:pt x="2941934" y="2294578"/>
                  </a:lnTo>
                  <a:lnTo>
                    <a:pt x="2934948" y="2297117"/>
                  </a:lnTo>
                  <a:lnTo>
                    <a:pt x="2927644" y="2298703"/>
                  </a:lnTo>
                  <a:lnTo>
                    <a:pt x="2920657" y="2300607"/>
                  </a:lnTo>
                  <a:lnTo>
                    <a:pt x="2913353" y="2301877"/>
                  </a:lnTo>
                  <a:lnTo>
                    <a:pt x="2905732" y="2302829"/>
                  </a:lnTo>
                  <a:lnTo>
                    <a:pt x="2898110" y="2303146"/>
                  </a:lnTo>
                  <a:lnTo>
                    <a:pt x="2890488" y="2303463"/>
                  </a:lnTo>
                  <a:lnTo>
                    <a:pt x="2177552" y="2303463"/>
                  </a:lnTo>
                  <a:lnTo>
                    <a:pt x="2173423" y="2303146"/>
                  </a:lnTo>
                  <a:lnTo>
                    <a:pt x="2171200" y="2303146"/>
                  </a:lnTo>
                  <a:lnTo>
                    <a:pt x="2169613" y="2303146"/>
                  </a:lnTo>
                  <a:lnTo>
                    <a:pt x="2162944" y="2303146"/>
                  </a:lnTo>
                  <a:lnTo>
                    <a:pt x="2156275" y="2303146"/>
                  </a:lnTo>
                  <a:lnTo>
                    <a:pt x="2149924" y="2302511"/>
                  </a:lnTo>
                  <a:lnTo>
                    <a:pt x="2143572" y="2301559"/>
                  </a:lnTo>
                  <a:lnTo>
                    <a:pt x="2137538" y="2300607"/>
                  </a:lnTo>
                  <a:lnTo>
                    <a:pt x="2131187" y="2298703"/>
                  </a:lnTo>
                  <a:lnTo>
                    <a:pt x="2125153" y="2297117"/>
                  </a:lnTo>
                  <a:lnTo>
                    <a:pt x="2119437" y="2294896"/>
                  </a:lnTo>
                  <a:lnTo>
                    <a:pt x="2113403" y="2292040"/>
                  </a:lnTo>
                  <a:lnTo>
                    <a:pt x="2107370" y="2289501"/>
                  </a:lnTo>
                  <a:lnTo>
                    <a:pt x="2101971" y="2286645"/>
                  </a:lnTo>
                  <a:lnTo>
                    <a:pt x="2096572" y="2283155"/>
                  </a:lnTo>
                  <a:lnTo>
                    <a:pt x="2091491" y="2279665"/>
                  </a:lnTo>
                  <a:lnTo>
                    <a:pt x="2086093" y="2275222"/>
                  </a:lnTo>
                  <a:lnTo>
                    <a:pt x="2081329" y="2271097"/>
                  </a:lnTo>
                  <a:lnTo>
                    <a:pt x="2076883" y="2266972"/>
                  </a:lnTo>
                  <a:lnTo>
                    <a:pt x="1560520" y="1751334"/>
                  </a:lnTo>
                  <a:lnTo>
                    <a:pt x="1556074" y="1746574"/>
                  </a:lnTo>
                  <a:lnTo>
                    <a:pt x="1552263" y="1741815"/>
                  </a:lnTo>
                  <a:lnTo>
                    <a:pt x="1548135" y="1737055"/>
                  </a:lnTo>
                  <a:lnTo>
                    <a:pt x="1544642" y="1731661"/>
                  </a:lnTo>
                  <a:lnTo>
                    <a:pt x="1541466" y="1726583"/>
                  </a:lnTo>
                  <a:lnTo>
                    <a:pt x="1538291" y="1720872"/>
                  </a:lnTo>
                  <a:lnTo>
                    <a:pt x="1535432" y="1715477"/>
                  </a:lnTo>
                  <a:lnTo>
                    <a:pt x="1532892" y="1709766"/>
                  </a:lnTo>
                  <a:lnTo>
                    <a:pt x="1530987" y="1704054"/>
                  </a:lnTo>
                  <a:lnTo>
                    <a:pt x="1529081" y="1698342"/>
                  </a:lnTo>
                  <a:lnTo>
                    <a:pt x="1527493" y="1692631"/>
                  </a:lnTo>
                  <a:lnTo>
                    <a:pt x="1526223" y="1686919"/>
                  </a:lnTo>
                  <a:lnTo>
                    <a:pt x="1525270" y="1680890"/>
                  </a:lnTo>
                  <a:lnTo>
                    <a:pt x="1524635" y="1674544"/>
                  </a:lnTo>
                  <a:lnTo>
                    <a:pt x="1524000" y="1668515"/>
                  </a:lnTo>
                  <a:lnTo>
                    <a:pt x="1524000" y="1662803"/>
                  </a:lnTo>
                  <a:lnTo>
                    <a:pt x="1524000" y="1656774"/>
                  </a:lnTo>
                  <a:lnTo>
                    <a:pt x="1524635" y="1650428"/>
                  </a:lnTo>
                  <a:lnTo>
                    <a:pt x="1525270" y="1644716"/>
                  </a:lnTo>
                  <a:lnTo>
                    <a:pt x="1526223" y="1638687"/>
                  </a:lnTo>
                  <a:lnTo>
                    <a:pt x="1527493" y="1632658"/>
                  </a:lnTo>
                  <a:lnTo>
                    <a:pt x="1529081" y="1626946"/>
                  </a:lnTo>
                  <a:lnTo>
                    <a:pt x="1530987" y="1621235"/>
                  </a:lnTo>
                  <a:lnTo>
                    <a:pt x="1532892" y="1615523"/>
                  </a:lnTo>
                  <a:lnTo>
                    <a:pt x="1535432" y="1609811"/>
                  </a:lnTo>
                  <a:lnTo>
                    <a:pt x="1538291" y="1604417"/>
                  </a:lnTo>
                  <a:lnTo>
                    <a:pt x="1541466" y="1599023"/>
                  </a:lnTo>
                  <a:lnTo>
                    <a:pt x="1544642" y="1593628"/>
                  </a:lnTo>
                  <a:lnTo>
                    <a:pt x="1548135" y="1588551"/>
                  </a:lnTo>
                  <a:lnTo>
                    <a:pt x="1552263" y="1583474"/>
                  </a:lnTo>
                  <a:lnTo>
                    <a:pt x="1556074" y="1578714"/>
                  </a:lnTo>
                  <a:lnTo>
                    <a:pt x="1560520" y="1574272"/>
                  </a:lnTo>
                  <a:lnTo>
                    <a:pt x="1564966" y="1569830"/>
                  </a:lnTo>
                  <a:lnTo>
                    <a:pt x="1570047" y="1565705"/>
                  </a:lnTo>
                  <a:lnTo>
                    <a:pt x="1574811" y="1561897"/>
                  </a:lnTo>
                  <a:lnTo>
                    <a:pt x="1579574" y="1558406"/>
                  </a:lnTo>
                  <a:lnTo>
                    <a:pt x="1584973" y="1554916"/>
                  </a:lnTo>
                  <a:lnTo>
                    <a:pt x="1590054" y="1552060"/>
                  </a:lnTo>
                  <a:lnTo>
                    <a:pt x="1595770" y="1549521"/>
                  </a:lnTo>
                  <a:lnTo>
                    <a:pt x="1601486" y="1546666"/>
                  </a:lnTo>
                  <a:lnTo>
                    <a:pt x="1606885" y="1544444"/>
                  </a:lnTo>
                  <a:lnTo>
                    <a:pt x="1612919" y="1542858"/>
                  </a:lnTo>
                  <a:lnTo>
                    <a:pt x="1618635" y="1540954"/>
                  </a:lnTo>
                  <a:lnTo>
                    <a:pt x="1624669" y="1539685"/>
                  </a:lnTo>
                  <a:lnTo>
                    <a:pt x="1630702" y="1538733"/>
                  </a:lnTo>
                  <a:lnTo>
                    <a:pt x="1637054" y="1538098"/>
                  </a:lnTo>
                  <a:lnTo>
                    <a:pt x="1642770" y="1537463"/>
                  </a:lnTo>
                  <a:lnTo>
                    <a:pt x="1649121" y="1537146"/>
                  </a:lnTo>
                  <a:lnTo>
                    <a:pt x="1655473" y="1537463"/>
                  </a:lnTo>
                  <a:lnTo>
                    <a:pt x="1661824" y="1538098"/>
                  </a:lnTo>
                  <a:lnTo>
                    <a:pt x="1667858" y="1538733"/>
                  </a:lnTo>
                  <a:lnTo>
                    <a:pt x="1673891" y="1539685"/>
                  </a:lnTo>
                  <a:lnTo>
                    <a:pt x="1679925" y="1540954"/>
                  </a:lnTo>
                  <a:lnTo>
                    <a:pt x="1685641" y="1542858"/>
                  </a:lnTo>
                  <a:lnTo>
                    <a:pt x="1691675" y="1544444"/>
                  </a:lnTo>
                  <a:lnTo>
                    <a:pt x="1697391" y="1546666"/>
                  </a:lnTo>
                  <a:lnTo>
                    <a:pt x="1702790" y="1549521"/>
                  </a:lnTo>
                  <a:lnTo>
                    <a:pt x="1708506" y="1552060"/>
                  </a:lnTo>
                  <a:lnTo>
                    <a:pt x="1713587" y="1554916"/>
                  </a:lnTo>
                  <a:lnTo>
                    <a:pt x="1718986" y="1558406"/>
                  </a:lnTo>
                  <a:lnTo>
                    <a:pt x="1723749" y="1561897"/>
                  </a:lnTo>
                  <a:lnTo>
                    <a:pt x="1728513" y="1565705"/>
                  </a:lnTo>
                  <a:lnTo>
                    <a:pt x="1733594" y="1569830"/>
                  </a:lnTo>
                  <a:lnTo>
                    <a:pt x="1738040" y="1574272"/>
                  </a:lnTo>
                  <a:lnTo>
                    <a:pt x="2017816" y="1853827"/>
                  </a:lnTo>
                  <a:lnTo>
                    <a:pt x="2017816" y="801292"/>
                  </a:lnTo>
                  <a:lnTo>
                    <a:pt x="2018133" y="794311"/>
                  </a:lnTo>
                  <a:lnTo>
                    <a:pt x="2018451" y="787330"/>
                  </a:lnTo>
                  <a:lnTo>
                    <a:pt x="2019404" y="780349"/>
                  </a:lnTo>
                  <a:lnTo>
                    <a:pt x="2020674" y="773685"/>
                  </a:lnTo>
                  <a:lnTo>
                    <a:pt x="2021944" y="767021"/>
                  </a:lnTo>
                  <a:lnTo>
                    <a:pt x="2024167" y="760992"/>
                  </a:lnTo>
                  <a:lnTo>
                    <a:pt x="2026073" y="754646"/>
                  </a:lnTo>
                  <a:lnTo>
                    <a:pt x="2028613" y="748300"/>
                  </a:lnTo>
                  <a:lnTo>
                    <a:pt x="2031471" y="742271"/>
                  </a:lnTo>
                  <a:lnTo>
                    <a:pt x="2034329" y="736559"/>
                  </a:lnTo>
                  <a:lnTo>
                    <a:pt x="2037823" y="730530"/>
                  </a:lnTo>
                  <a:lnTo>
                    <a:pt x="2040998" y="724819"/>
                  </a:lnTo>
                  <a:lnTo>
                    <a:pt x="2045127" y="719741"/>
                  </a:lnTo>
                  <a:lnTo>
                    <a:pt x="2048937" y="714347"/>
                  </a:lnTo>
                  <a:lnTo>
                    <a:pt x="2053383" y="709587"/>
                  </a:lnTo>
                  <a:lnTo>
                    <a:pt x="2057829" y="704828"/>
                  </a:lnTo>
                  <a:lnTo>
                    <a:pt x="2062275" y="700702"/>
                  </a:lnTo>
                  <a:lnTo>
                    <a:pt x="2067674" y="695943"/>
                  </a:lnTo>
                  <a:lnTo>
                    <a:pt x="2072437" y="692135"/>
                  </a:lnTo>
                  <a:lnTo>
                    <a:pt x="2078154" y="688327"/>
                  </a:lnTo>
                  <a:lnTo>
                    <a:pt x="2083552" y="684519"/>
                  </a:lnTo>
                  <a:lnTo>
                    <a:pt x="2089268" y="681346"/>
                  </a:lnTo>
                  <a:lnTo>
                    <a:pt x="2095302" y="678173"/>
                  </a:lnTo>
                  <a:lnTo>
                    <a:pt x="2101018" y="675952"/>
                  </a:lnTo>
                  <a:lnTo>
                    <a:pt x="2107370" y="673413"/>
                  </a:lnTo>
                  <a:lnTo>
                    <a:pt x="2113721" y="670875"/>
                  </a:lnTo>
                  <a:lnTo>
                    <a:pt x="2120390" y="669288"/>
                  </a:lnTo>
                  <a:lnTo>
                    <a:pt x="2127059" y="667702"/>
                  </a:lnTo>
                  <a:lnTo>
                    <a:pt x="2133728" y="666432"/>
                  </a:lnTo>
                  <a:lnTo>
                    <a:pt x="2140079" y="665798"/>
                  </a:lnTo>
                  <a:lnTo>
                    <a:pt x="2147065" y="665163"/>
                  </a:lnTo>
                  <a:close/>
                  <a:moveTo>
                    <a:pt x="1426690" y="484188"/>
                  </a:moveTo>
                  <a:lnTo>
                    <a:pt x="1631151" y="484188"/>
                  </a:lnTo>
                  <a:lnTo>
                    <a:pt x="1634627" y="484505"/>
                  </a:lnTo>
                  <a:lnTo>
                    <a:pt x="1637787" y="484822"/>
                  </a:lnTo>
                  <a:lnTo>
                    <a:pt x="1640947" y="485773"/>
                  </a:lnTo>
                  <a:lnTo>
                    <a:pt x="1644107" y="486725"/>
                  </a:lnTo>
                  <a:lnTo>
                    <a:pt x="1646635" y="488310"/>
                  </a:lnTo>
                  <a:lnTo>
                    <a:pt x="1649479" y="489895"/>
                  </a:lnTo>
                  <a:lnTo>
                    <a:pt x="1652008" y="491798"/>
                  </a:lnTo>
                  <a:lnTo>
                    <a:pt x="1654536" y="493700"/>
                  </a:lnTo>
                  <a:lnTo>
                    <a:pt x="1656432" y="496237"/>
                  </a:lnTo>
                  <a:lnTo>
                    <a:pt x="1658328" y="498773"/>
                  </a:lnTo>
                  <a:lnTo>
                    <a:pt x="1659908" y="501310"/>
                  </a:lnTo>
                  <a:lnTo>
                    <a:pt x="1661488" y="504164"/>
                  </a:lnTo>
                  <a:lnTo>
                    <a:pt x="1662436" y="507334"/>
                  </a:lnTo>
                  <a:lnTo>
                    <a:pt x="1663068" y="510505"/>
                  </a:lnTo>
                  <a:lnTo>
                    <a:pt x="1663700" y="513676"/>
                  </a:lnTo>
                  <a:lnTo>
                    <a:pt x="1663700" y="517164"/>
                  </a:lnTo>
                  <a:lnTo>
                    <a:pt x="1663700" y="1389743"/>
                  </a:lnTo>
                  <a:lnTo>
                    <a:pt x="1663700" y="1393231"/>
                  </a:lnTo>
                  <a:lnTo>
                    <a:pt x="1663068" y="1396401"/>
                  </a:lnTo>
                  <a:lnTo>
                    <a:pt x="1662436" y="1399572"/>
                  </a:lnTo>
                  <a:lnTo>
                    <a:pt x="1661488" y="1402743"/>
                  </a:lnTo>
                  <a:lnTo>
                    <a:pt x="1659908" y="1405279"/>
                  </a:lnTo>
                  <a:lnTo>
                    <a:pt x="1658328" y="1408133"/>
                  </a:lnTo>
                  <a:lnTo>
                    <a:pt x="1656432" y="1410669"/>
                  </a:lnTo>
                  <a:lnTo>
                    <a:pt x="1654536" y="1413206"/>
                  </a:lnTo>
                  <a:lnTo>
                    <a:pt x="1652008" y="1415108"/>
                  </a:lnTo>
                  <a:lnTo>
                    <a:pt x="1649479" y="1417011"/>
                  </a:lnTo>
                  <a:lnTo>
                    <a:pt x="1646635" y="1418596"/>
                  </a:lnTo>
                  <a:lnTo>
                    <a:pt x="1644107" y="1420182"/>
                  </a:lnTo>
                  <a:lnTo>
                    <a:pt x="1640947" y="1421133"/>
                  </a:lnTo>
                  <a:lnTo>
                    <a:pt x="1637787" y="1421767"/>
                  </a:lnTo>
                  <a:lnTo>
                    <a:pt x="1634627" y="1422401"/>
                  </a:lnTo>
                  <a:lnTo>
                    <a:pt x="1631151" y="1422401"/>
                  </a:lnTo>
                  <a:lnTo>
                    <a:pt x="1426690" y="1422401"/>
                  </a:lnTo>
                  <a:lnTo>
                    <a:pt x="1423214" y="1422401"/>
                  </a:lnTo>
                  <a:lnTo>
                    <a:pt x="1420054" y="1421767"/>
                  </a:lnTo>
                  <a:lnTo>
                    <a:pt x="1416894" y="1421133"/>
                  </a:lnTo>
                  <a:lnTo>
                    <a:pt x="1413734" y="1420182"/>
                  </a:lnTo>
                  <a:lnTo>
                    <a:pt x="1411206" y="1418596"/>
                  </a:lnTo>
                  <a:lnTo>
                    <a:pt x="1408362" y="1417011"/>
                  </a:lnTo>
                  <a:lnTo>
                    <a:pt x="1405834" y="1415108"/>
                  </a:lnTo>
                  <a:lnTo>
                    <a:pt x="1403622" y="1413206"/>
                  </a:lnTo>
                  <a:lnTo>
                    <a:pt x="1401409" y="1410669"/>
                  </a:lnTo>
                  <a:lnTo>
                    <a:pt x="1399513" y="1408133"/>
                  </a:lnTo>
                  <a:lnTo>
                    <a:pt x="1397933" y="1405279"/>
                  </a:lnTo>
                  <a:lnTo>
                    <a:pt x="1396669" y="1402743"/>
                  </a:lnTo>
                  <a:lnTo>
                    <a:pt x="1395405" y="1399572"/>
                  </a:lnTo>
                  <a:lnTo>
                    <a:pt x="1394457" y="1396401"/>
                  </a:lnTo>
                  <a:lnTo>
                    <a:pt x="1394141" y="1393231"/>
                  </a:lnTo>
                  <a:lnTo>
                    <a:pt x="1393825" y="1389743"/>
                  </a:lnTo>
                  <a:lnTo>
                    <a:pt x="1393825" y="517164"/>
                  </a:lnTo>
                  <a:lnTo>
                    <a:pt x="1394141" y="513676"/>
                  </a:lnTo>
                  <a:lnTo>
                    <a:pt x="1394457" y="510505"/>
                  </a:lnTo>
                  <a:lnTo>
                    <a:pt x="1395405" y="507334"/>
                  </a:lnTo>
                  <a:lnTo>
                    <a:pt x="1396669" y="504164"/>
                  </a:lnTo>
                  <a:lnTo>
                    <a:pt x="1397933" y="501310"/>
                  </a:lnTo>
                  <a:lnTo>
                    <a:pt x="1399513" y="498773"/>
                  </a:lnTo>
                  <a:lnTo>
                    <a:pt x="1401409" y="496237"/>
                  </a:lnTo>
                  <a:lnTo>
                    <a:pt x="1403622" y="493700"/>
                  </a:lnTo>
                  <a:lnTo>
                    <a:pt x="1405834" y="491798"/>
                  </a:lnTo>
                  <a:lnTo>
                    <a:pt x="1408362" y="489895"/>
                  </a:lnTo>
                  <a:lnTo>
                    <a:pt x="1411206" y="488310"/>
                  </a:lnTo>
                  <a:lnTo>
                    <a:pt x="1413734" y="486725"/>
                  </a:lnTo>
                  <a:lnTo>
                    <a:pt x="1416894" y="485773"/>
                  </a:lnTo>
                  <a:lnTo>
                    <a:pt x="1420054" y="484822"/>
                  </a:lnTo>
                  <a:lnTo>
                    <a:pt x="1423214" y="484505"/>
                  </a:lnTo>
                  <a:lnTo>
                    <a:pt x="1426690" y="484188"/>
                  </a:lnTo>
                  <a:close/>
                  <a:moveTo>
                    <a:pt x="183794" y="0"/>
                  </a:moveTo>
                  <a:lnTo>
                    <a:pt x="193952" y="0"/>
                  </a:lnTo>
                  <a:lnTo>
                    <a:pt x="2827060" y="0"/>
                  </a:lnTo>
                  <a:lnTo>
                    <a:pt x="2837218" y="0"/>
                  </a:lnTo>
                  <a:lnTo>
                    <a:pt x="2847059" y="952"/>
                  </a:lnTo>
                  <a:lnTo>
                    <a:pt x="2856582" y="2539"/>
                  </a:lnTo>
                  <a:lnTo>
                    <a:pt x="2866105" y="4443"/>
                  </a:lnTo>
                  <a:lnTo>
                    <a:pt x="2875628" y="6982"/>
                  </a:lnTo>
                  <a:lnTo>
                    <a:pt x="2884516" y="10156"/>
                  </a:lnTo>
                  <a:lnTo>
                    <a:pt x="2893721" y="13964"/>
                  </a:lnTo>
                  <a:lnTo>
                    <a:pt x="2902292" y="17773"/>
                  </a:lnTo>
                  <a:lnTo>
                    <a:pt x="2911180" y="22851"/>
                  </a:lnTo>
                  <a:lnTo>
                    <a:pt x="2919433" y="27611"/>
                  </a:lnTo>
                  <a:lnTo>
                    <a:pt x="2927369" y="33324"/>
                  </a:lnTo>
                  <a:lnTo>
                    <a:pt x="2935623" y="39036"/>
                  </a:lnTo>
                  <a:lnTo>
                    <a:pt x="2942924" y="45384"/>
                  </a:lnTo>
                  <a:lnTo>
                    <a:pt x="2950225" y="52366"/>
                  </a:lnTo>
                  <a:lnTo>
                    <a:pt x="2957525" y="59665"/>
                  </a:lnTo>
                  <a:lnTo>
                    <a:pt x="2964192" y="67282"/>
                  </a:lnTo>
                  <a:lnTo>
                    <a:pt x="2970540" y="74899"/>
                  </a:lnTo>
                  <a:lnTo>
                    <a:pt x="2976571" y="83468"/>
                  </a:lnTo>
                  <a:lnTo>
                    <a:pt x="2982285" y="92037"/>
                  </a:lnTo>
                  <a:lnTo>
                    <a:pt x="2987682" y="101240"/>
                  </a:lnTo>
                  <a:lnTo>
                    <a:pt x="2992761" y="110444"/>
                  </a:lnTo>
                  <a:lnTo>
                    <a:pt x="2997522" y="119965"/>
                  </a:lnTo>
                  <a:lnTo>
                    <a:pt x="3001649" y="130121"/>
                  </a:lnTo>
                  <a:lnTo>
                    <a:pt x="3005458" y="140276"/>
                  </a:lnTo>
                  <a:lnTo>
                    <a:pt x="3008950" y="150749"/>
                  </a:lnTo>
                  <a:lnTo>
                    <a:pt x="3012124" y="161540"/>
                  </a:lnTo>
                  <a:lnTo>
                    <a:pt x="3014663" y="172330"/>
                  </a:lnTo>
                  <a:lnTo>
                    <a:pt x="3016885" y="183438"/>
                  </a:lnTo>
                  <a:lnTo>
                    <a:pt x="3018473" y="194546"/>
                  </a:lnTo>
                  <a:lnTo>
                    <a:pt x="3019742" y="205971"/>
                  </a:lnTo>
                  <a:lnTo>
                    <a:pt x="3020695" y="218031"/>
                  </a:lnTo>
                  <a:lnTo>
                    <a:pt x="3021012" y="229774"/>
                  </a:lnTo>
                  <a:lnTo>
                    <a:pt x="3021012" y="1276768"/>
                  </a:lnTo>
                  <a:lnTo>
                    <a:pt x="3013711" y="1272642"/>
                  </a:lnTo>
                  <a:lnTo>
                    <a:pt x="3006410" y="1268833"/>
                  </a:lnTo>
                  <a:lnTo>
                    <a:pt x="2999109" y="1265342"/>
                  </a:lnTo>
                  <a:lnTo>
                    <a:pt x="2991808" y="1262169"/>
                  </a:lnTo>
                  <a:lnTo>
                    <a:pt x="2983872" y="1258995"/>
                  </a:lnTo>
                  <a:lnTo>
                    <a:pt x="2976254" y="1256139"/>
                  </a:lnTo>
                  <a:lnTo>
                    <a:pt x="2968318" y="1253282"/>
                  </a:lnTo>
                  <a:lnTo>
                    <a:pt x="2960382" y="1251061"/>
                  </a:lnTo>
                  <a:lnTo>
                    <a:pt x="2952129" y="1248839"/>
                  </a:lnTo>
                  <a:lnTo>
                    <a:pt x="2944193" y="1247252"/>
                  </a:lnTo>
                  <a:lnTo>
                    <a:pt x="2935940" y="1245348"/>
                  </a:lnTo>
                  <a:lnTo>
                    <a:pt x="2927369" y="1244079"/>
                  </a:lnTo>
                  <a:lnTo>
                    <a:pt x="2919116" y="1242809"/>
                  </a:lnTo>
                  <a:lnTo>
                    <a:pt x="2910863" y="1242175"/>
                  </a:lnTo>
                  <a:lnTo>
                    <a:pt x="2901975" y="1241540"/>
                  </a:lnTo>
                  <a:lnTo>
                    <a:pt x="2893404" y="1241540"/>
                  </a:lnTo>
                  <a:lnTo>
                    <a:pt x="2646123" y="1213294"/>
                  </a:lnTo>
                  <a:lnTo>
                    <a:pt x="2646123" y="313876"/>
                  </a:lnTo>
                  <a:lnTo>
                    <a:pt x="374889" y="313876"/>
                  </a:lnTo>
                  <a:lnTo>
                    <a:pt x="374889" y="1959424"/>
                  </a:lnTo>
                  <a:lnTo>
                    <a:pt x="1610021" y="1959424"/>
                  </a:lnTo>
                  <a:lnTo>
                    <a:pt x="1923646" y="2273300"/>
                  </a:lnTo>
                  <a:lnTo>
                    <a:pt x="193952" y="2273300"/>
                  </a:lnTo>
                  <a:lnTo>
                    <a:pt x="183794" y="2273300"/>
                  </a:lnTo>
                  <a:lnTo>
                    <a:pt x="173953" y="2272348"/>
                  </a:lnTo>
                  <a:lnTo>
                    <a:pt x="164113" y="2270761"/>
                  </a:lnTo>
                  <a:lnTo>
                    <a:pt x="154908" y="2268857"/>
                  </a:lnTo>
                  <a:lnTo>
                    <a:pt x="145385" y="2266318"/>
                  </a:lnTo>
                  <a:lnTo>
                    <a:pt x="136496" y="2263144"/>
                  </a:lnTo>
                  <a:lnTo>
                    <a:pt x="127291" y="2259336"/>
                  </a:lnTo>
                  <a:lnTo>
                    <a:pt x="118720" y="2255528"/>
                  </a:lnTo>
                  <a:lnTo>
                    <a:pt x="109832" y="2250450"/>
                  </a:lnTo>
                  <a:lnTo>
                    <a:pt x="101579" y="2245689"/>
                  </a:lnTo>
                  <a:lnTo>
                    <a:pt x="93326" y="2240294"/>
                  </a:lnTo>
                  <a:lnTo>
                    <a:pt x="85390" y="2234264"/>
                  </a:lnTo>
                  <a:lnTo>
                    <a:pt x="77771" y="2227917"/>
                  </a:lnTo>
                  <a:lnTo>
                    <a:pt x="70470" y="2220935"/>
                  </a:lnTo>
                  <a:lnTo>
                    <a:pt x="63487" y="2213635"/>
                  </a:lnTo>
                  <a:lnTo>
                    <a:pt x="56821" y="2206018"/>
                  </a:lnTo>
                  <a:lnTo>
                    <a:pt x="50472" y="2198402"/>
                  </a:lnTo>
                  <a:lnTo>
                    <a:pt x="44441" y="2189833"/>
                  </a:lnTo>
                  <a:lnTo>
                    <a:pt x="38727" y="2181264"/>
                  </a:lnTo>
                  <a:lnTo>
                    <a:pt x="33013" y="2172060"/>
                  </a:lnTo>
                  <a:lnTo>
                    <a:pt x="28252" y="2162856"/>
                  </a:lnTo>
                  <a:lnTo>
                    <a:pt x="23490" y="2153335"/>
                  </a:lnTo>
                  <a:lnTo>
                    <a:pt x="19364" y="2143180"/>
                  </a:lnTo>
                  <a:lnTo>
                    <a:pt x="15237" y="2133024"/>
                  </a:lnTo>
                  <a:lnTo>
                    <a:pt x="11745" y="2122551"/>
                  </a:lnTo>
                  <a:lnTo>
                    <a:pt x="8888" y="2112078"/>
                  </a:lnTo>
                  <a:lnTo>
                    <a:pt x="6349" y="2100970"/>
                  </a:lnTo>
                  <a:lnTo>
                    <a:pt x="3809" y="2089862"/>
                  </a:lnTo>
                  <a:lnTo>
                    <a:pt x="2540" y="2078754"/>
                  </a:lnTo>
                  <a:lnTo>
                    <a:pt x="952" y="2067329"/>
                  </a:lnTo>
                  <a:lnTo>
                    <a:pt x="318" y="2055269"/>
                  </a:lnTo>
                  <a:lnTo>
                    <a:pt x="0" y="2043844"/>
                  </a:lnTo>
                  <a:lnTo>
                    <a:pt x="0" y="229774"/>
                  </a:lnTo>
                  <a:lnTo>
                    <a:pt x="318" y="218031"/>
                  </a:lnTo>
                  <a:lnTo>
                    <a:pt x="952" y="205971"/>
                  </a:lnTo>
                  <a:lnTo>
                    <a:pt x="2540" y="194546"/>
                  </a:lnTo>
                  <a:lnTo>
                    <a:pt x="3809" y="183438"/>
                  </a:lnTo>
                  <a:lnTo>
                    <a:pt x="6349" y="172330"/>
                  </a:lnTo>
                  <a:lnTo>
                    <a:pt x="8888" y="161540"/>
                  </a:lnTo>
                  <a:lnTo>
                    <a:pt x="11745" y="150749"/>
                  </a:lnTo>
                  <a:lnTo>
                    <a:pt x="15237" y="140276"/>
                  </a:lnTo>
                  <a:lnTo>
                    <a:pt x="19364" y="130121"/>
                  </a:lnTo>
                  <a:lnTo>
                    <a:pt x="23490" y="119965"/>
                  </a:lnTo>
                  <a:lnTo>
                    <a:pt x="28252" y="110444"/>
                  </a:lnTo>
                  <a:lnTo>
                    <a:pt x="33013" y="101240"/>
                  </a:lnTo>
                  <a:lnTo>
                    <a:pt x="38727" y="92037"/>
                  </a:lnTo>
                  <a:lnTo>
                    <a:pt x="44441" y="83468"/>
                  </a:lnTo>
                  <a:lnTo>
                    <a:pt x="50472" y="74899"/>
                  </a:lnTo>
                  <a:lnTo>
                    <a:pt x="56821" y="67282"/>
                  </a:lnTo>
                  <a:lnTo>
                    <a:pt x="63487" y="59665"/>
                  </a:lnTo>
                  <a:lnTo>
                    <a:pt x="70470" y="52366"/>
                  </a:lnTo>
                  <a:lnTo>
                    <a:pt x="77771" y="45384"/>
                  </a:lnTo>
                  <a:lnTo>
                    <a:pt x="85390" y="39036"/>
                  </a:lnTo>
                  <a:lnTo>
                    <a:pt x="93326" y="33324"/>
                  </a:lnTo>
                  <a:lnTo>
                    <a:pt x="101579" y="27611"/>
                  </a:lnTo>
                  <a:lnTo>
                    <a:pt x="109832" y="22851"/>
                  </a:lnTo>
                  <a:lnTo>
                    <a:pt x="118720" y="17773"/>
                  </a:lnTo>
                  <a:lnTo>
                    <a:pt x="127291" y="13964"/>
                  </a:lnTo>
                  <a:lnTo>
                    <a:pt x="136496" y="10156"/>
                  </a:lnTo>
                  <a:lnTo>
                    <a:pt x="145385" y="6982"/>
                  </a:lnTo>
                  <a:lnTo>
                    <a:pt x="154908" y="4443"/>
                  </a:lnTo>
                  <a:lnTo>
                    <a:pt x="164113" y="2539"/>
                  </a:lnTo>
                  <a:lnTo>
                    <a:pt x="173953" y="952"/>
                  </a:lnTo>
                  <a:lnTo>
                    <a:pt x="183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思源宋体 CN Light" panose="02020300000000000000" pitchFamily="18" charset="-122"/>
                <a:ea typeface="思源宋体 CN Light" panose="02020300000000000000" pitchFamily="18" charset="-122"/>
                <a:cs typeface="思源宋体 CN Light" panose="02020300000000000000" charset="-122"/>
                <a:sym typeface="+mn-lt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E0B0466F-1827-B513-8DBA-791BEC1F8801}"/>
              </a:ext>
            </a:extLst>
          </p:cNvPr>
          <p:cNvSpPr txBox="1"/>
          <p:nvPr/>
        </p:nvSpPr>
        <p:spPr>
          <a:xfrm>
            <a:off x="5460075" y="3290013"/>
            <a:ext cx="2159566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4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特征与引用量相关性排序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4C66989-0A23-7F65-BBB3-671EDEFA4CDF}"/>
              </a:ext>
            </a:extLst>
          </p:cNvPr>
          <p:cNvSpPr txBox="1"/>
          <p:nvPr/>
        </p:nvSpPr>
        <p:spPr>
          <a:xfrm>
            <a:off x="5089623" y="3498381"/>
            <a:ext cx="4054377" cy="14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2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核心发现：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与文章引用量相关性最高的特征是 近期引用量（相关性接近 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0.8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），其次是 引用百分比、参考文献数量等。</a:t>
            </a:r>
          </a:p>
          <a:p>
            <a:pPr algn="l">
              <a:lnSpc>
                <a:spcPct val="130000"/>
              </a:lnSpc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合作类特征（如参与机构数量、国家数量）与引用量的相关性中等，而文本长度特征（标题长度、摘要长度）的相关性则较低。</a:t>
            </a: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79F8AA4-8DDE-0336-69D0-D7668F115DD1}"/>
              </a:ext>
            </a:extLst>
          </p:cNvPr>
          <p:cNvGrpSpPr/>
          <p:nvPr/>
        </p:nvGrpSpPr>
        <p:grpSpPr>
          <a:xfrm>
            <a:off x="5089623" y="3179585"/>
            <a:ext cx="425056" cy="409006"/>
            <a:chOff x="3216452" y="846582"/>
            <a:chExt cx="594591" cy="53892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27161037-8D55-9013-85BD-2D9A8BB48148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0A49C569-9260-3033-324E-BDBBE4A4DE30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56" name="KSO_Shape">
              <a:extLst>
                <a:ext uri="{FF2B5EF4-FFF2-40B4-BE49-F238E27FC236}">
                  <a16:creationId xmlns:a16="http://schemas.microsoft.com/office/drawing/2014/main" id="{6B69F827-2DD5-7D24-9E81-5C8A134FE07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3441378" y="1066155"/>
              <a:ext cx="162875" cy="119691"/>
            </a:xfrm>
            <a:custGeom>
              <a:avLst/>
              <a:gdLst>
                <a:gd name="T0" fmla="*/ 104753 w 3040062"/>
                <a:gd name="T1" fmla="*/ 1241540 h 2303463"/>
                <a:gd name="T2" fmla="*/ 251725 w 3040062"/>
                <a:gd name="T3" fmla="*/ 1260899 h 2303463"/>
                <a:gd name="T4" fmla="*/ 265692 w 3040062"/>
                <a:gd name="T5" fmla="*/ 1110467 h 2303463"/>
                <a:gd name="T6" fmla="*/ 844867 w 3040062"/>
                <a:gd name="T7" fmla="*/ 970596 h 2303463"/>
                <a:gd name="T8" fmla="*/ 870584 w 3040062"/>
                <a:gd name="T9" fmla="*/ 987377 h 2303463"/>
                <a:gd name="T10" fmla="*/ 872172 w 3040062"/>
                <a:gd name="T11" fmla="*/ 1402771 h 2303463"/>
                <a:gd name="T12" fmla="*/ 848359 w 3040062"/>
                <a:gd name="T13" fmla="*/ 1421768 h 2303463"/>
                <a:gd name="T14" fmla="*/ 615315 w 3040062"/>
                <a:gd name="T15" fmla="*/ 1415119 h 2303463"/>
                <a:gd name="T16" fmla="*/ 603250 w 3040062"/>
                <a:gd name="T17" fmla="*/ 1002891 h 2303463"/>
                <a:gd name="T18" fmla="*/ 617855 w 3040062"/>
                <a:gd name="T19" fmla="*/ 975662 h 2303463"/>
                <a:gd name="T20" fmla="*/ 1240437 w 3040062"/>
                <a:gd name="T21" fmla="*/ 749300 h 2303463"/>
                <a:gd name="T22" fmla="*/ 1265867 w 3040062"/>
                <a:gd name="T23" fmla="*/ 766421 h 2303463"/>
                <a:gd name="T24" fmla="*/ 1267138 w 3040062"/>
                <a:gd name="T25" fmla="*/ 1402743 h 2303463"/>
                <a:gd name="T26" fmla="*/ 1243616 w 3040062"/>
                <a:gd name="T27" fmla="*/ 1421766 h 2303463"/>
                <a:gd name="T28" fmla="*/ 1010298 w 3040062"/>
                <a:gd name="T29" fmla="*/ 1415108 h 2303463"/>
                <a:gd name="T30" fmla="*/ 998537 w 3040062"/>
                <a:gd name="T31" fmla="*/ 782273 h 2303463"/>
                <a:gd name="T32" fmla="*/ 1012841 w 3040062"/>
                <a:gd name="T33" fmla="*/ 755007 h 2303463"/>
                <a:gd name="T34" fmla="*/ 2175011 w 3040062"/>
                <a:gd name="T35" fmla="*/ 666432 h 2303463"/>
                <a:gd name="T36" fmla="*/ 2235666 w 3040062"/>
                <a:gd name="T37" fmla="*/ 692135 h 2303463"/>
                <a:gd name="T38" fmla="*/ 2277268 w 3040062"/>
                <a:gd name="T39" fmla="*/ 742271 h 2303463"/>
                <a:gd name="T40" fmla="*/ 2290605 w 3040062"/>
                <a:gd name="T41" fmla="*/ 1286150 h 2303463"/>
                <a:gd name="T42" fmla="*/ 2948603 w 3040062"/>
                <a:gd name="T43" fmla="*/ 1365796 h 2303463"/>
                <a:gd name="T44" fmla="*/ 3005765 w 3040062"/>
                <a:gd name="T45" fmla="*/ 1408316 h 2303463"/>
                <a:gd name="T46" fmla="*/ 3036887 w 3040062"/>
                <a:gd name="T47" fmla="*/ 1473366 h 2303463"/>
                <a:gd name="T48" fmla="*/ 3035616 w 3040062"/>
                <a:gd name="T49" fmla="*/ 2191451 h 2303463"/>
                <a:gd name="T50" fmla="*/ 3001319 w 3040062"/>
                <a:gd name="T51" fmla="*/ 2254597 h 2303463"/>
                <a:gd name="T52" fmla="*/ 2941934 w 3040062"/>
                <a:gd name="T53" fmla="*/ 2294578 h 2303463"/>
                <a:gd name="T54" fmla="*/ 2171200 w 3040062"/>
                <a:gd name="T55" fmla="*/ 2303146 h 2303463"/>
                <a:gd name="T56" fmla="*/ 2113403 w 3040062"/>
                <a:gd name="T57" fmla="*/ 2292040 h 2303463"/>
                <a:gd name="T58" fmla="*/ 1552263 w 3040062"/>
                <a:gd name="T59" fmla="*/ 1741815 h 2303463"/>
                <a:gd name="T60" fmla="*/ 1526223 w 3040062"/>
                <a:gd name="T61" fmla="*/ 1686919 h 2303463"/>
                <a:gd name="T62" fmla="*/ 1529081 w 3040062"/>
                <a:gd name="T63" fmla="*/ 1626946 h 2303463"/>
                <a:gd name="T64" fmla="*/ 1560520 w 3040062"/>
                <a:gd name="T65" fmla="*/ 1574272 h 2303463"/>
                <a:gd name="T66" fmla="*/ 1612919 w 3040062"/>
                <a:gd name="T67" fmla="*/ 1542858 h 2303463"/>
                <a:gd name="T68" fmla="*/ 1673891 w 3040062"/>
                <a:gd name="T69" fmla="*/ 1539685 h 2303463"/>
                <a:gd name="T70" fmla="*/ 1728513 w 3040062"/>
                <a:gd name="T71" fmla="*/ 1565705 h 2303463"/>
                <a:gd name="T72" fmla="*/ 2024167 w 3040062"/>
                <a:gd name="T73" fmla="*/ 760992 h 2303463"/>
                <a:gd name="T74" fmla="*/ 2057829 w 3040062"/>
                <a:gd name="T75" fmla="*/ 704828 h 2303463"/>
                <a:gd name="T76" fmla="*/ 2113721 w 3040062"/>
                <a:gd name="T77" fmla="*/ 670875 h 2303463"/>
                <a:gd name="T78" fmla="*/ 1640947 w 3040062"/>
                <a:gd name="T79" fmla="*/ 485773 h 2303463"/>
                <a:gd name="T80" fmla="*/ 1662436 w 3040062"/>
                <a:gd name="T81" fmla="*/ 507334 h 2303463"/>
                <a:gd name="T82" fmla="*/ 1658328 w 3040062"/>
                <a:gd name="T83" fmla="*/ 1408133 h 2303463"/>
                <a:gd name="T84" fmla="*/ 1631151 w 3040062"/>
                <a:gd name="T85" fmla="*/ 1422401 h 2303463"/>
                <a:gd name="T86" fmla="*/ 1401409 w 3040062"/>
                <a:gd name="T87" fmla="*/ 1410669 h 2303463"/>
                <a:gd name="T88" fmla="*/ 1394457 w 3040062"/>
                <a:gd name="T89" fmla="*/ 510505 h 2303463"/>
                <a:gd name="T90" fmla="*/ 1413734 w 3040062"/>
                <a:gd name="T91" fmla="*/ 486725 h 2303463"/>
                <a:gd name="T92" fmla="*/ 2856582 w 3040062"/>
                <a:gd name="T93" fmla="*/ 2539 h 2303463"/>
                <a:gd name="T94" fmla="*/ 2942924 w 3040062"/>
                <a:gd name="T95" fmla="*/ 45384 h 2303463"/>
                <a:gd name="T96" fmla="*/ 3001649 w 3040062"/>
                <a:gd name="T97" fmla="*/ 130121 h 2303463"/>
                <a:gd name="T98" fmla="*/ 3021012 w 3040062"/>
                <a:gd name="T99" fmla="*/ 1276768 h 2303463"/>
                <a:gd name="T100" fmla="*/ 2944193 w 3040062"/>
                <a:gd name="T101" fmla="*/ 1247252 h 2303463"/>
                <a:gd name="T102" fmla="*/ 374889 w 3040062"/>
                <a:gd name="T103" fmla="*/ 1959424 h 2303463"/>
                <a:gd name="T104" fmla="*/ 127291 w 3040062"/>
                <a:gd name="T105" fmla="*/ 2259336 h 2303463"/>
                <a:gd name="T106" fmla="*/ 50472 w 3040062"/>
                <a:gd name="T107" fmla="*/ 2198402 h 2303463"/>
                <a:gd name="T108" fmla="*/ 6349 w 3040062"/>
                <a:gd name="T109" fmla="*/ 2100970 h 2303463"/>
                <a:gd name="T110" fmla="*/ 3809 w 3040062"/>
                <a:gd name="T111" fmla="*/ 183438 h 2303463"/>
                <a:gd name="T112" fmla="*/ 44441 w 3040062"/>
                <a:gd name="T113" fmla="*/ 83468 h 2303463"/>
                <a:gd name="T114" fmla="*/ 118720 w 3040062"/>
                <a:gd name="T115" fmla="*/ 17773 h 2303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040062" h="2303463">
                  <a:moveTo>
                    <a:pt x="124116" y="1098725"/>
                  </a:moveTo>
                  <a:lnTo>
                    <a:pt x="120307" y="1099042"/>
                  </a:lnTo>
                  <a:lnTo>
                    <a:pt x="116498" y="1099994"/>
                  </a:lnTo>
                  <a:lnTo>
                    <a:pt x="113324" y="1101898"/>
                  </a:lnTo>
                  <a:lnTo>
                    <a:pt x="110467" y="1104120"/>
                  </a:lnTo>
                  <a:lnTo>
                    <a:pt x="108245" y="1107294"/>
                  </a:lnTo>
                  <a:lnTo>
                    <a:pt x="106340" y="1110467"/>
                  </a:lnTo>
                  <a:lnTo>
                    <a:pt x="105071" y="1114276"/>
                  </a:lnTo>
                  <a:lnTo>
                    <a:pt x="104753" y="1118084"/>
                  </a:lnTo>
                  <a:lnTo>
                    <a:pt x="104753" y="1241540"/>
                  </a:lnTo>
                  <a:lnTo>
                    <a:pt x="105071" y="1245348"/>
                  </a:lnTo>
                  <a:lnTo>
                    <a:pt x="106340" y="1249157"/>
                  </a:lnTo>
                  <a:lnTo>
                    <a:pt x="108245" y="1252330"/>
                  </a:lnTo>
                  <a:lnTo>
                    <a:pt x="110467" y="1255187"/>
                  </a:lnTo>
                  <a:lnTo>
                    <a:pt x="113324" y="1257726"/>
                  </a:lnTo>
                  <a:lnTo>
                    <a:pt x="116498" y="1259312"/>
                  </a:lnTo>
                  <a:lnTo>
                    <a:pt x="120307" y="1260899"/>
                  </a:lnTo>
                  <a:lnTo>
                    <a:pt x="124116" y="1261217"/>
                  </a:lnTo>
                  <a:lnTo>
                    <a:pt x="247598" y="1261217"/>
                  </a:lnTo>
                  <a:lnTo>
                    <a:pt x="251725" y="1260899"/>
                  </a:lnTo>
                  <a:lnTo>
                    <a:pt x="255216" y="1259312"/>
                  </a:lnTo>
                  <a:lnTo>
                    <a:pt x="258708" y="1257726"/>
                  </a:lnTo>
                  <a:lnTo>
                    <a:pt x="261565" y="1255187"/>
                  </a:lnTo>
                  <a:lnTo>
                    <a:pt x="264105" y="1252330"/>
                  </a:lnTo>
                  <a:lnTo>
                    <a:pt x="265692" y="1249157"/>
                  </a:lnTo>
                  <a:lnTo>
                    <a:pt x="266644" y="1245348"/>
                  </a:lnTo>
                  <a:lnTo>
                    <a:pt x="266961" y="1241540"/>
                  </a:lnTo>
                  <a:lnTo>
                    <a:pt x="266961" y="1118084"/>
                  </a:lnTo>
                  <a:lnTo>
                    <a:pt x="266644" y="1114276"/>
                  </a:lnTo>
                  <a:lnTo>
                    <a:pt x="265692" y="1110467"/>
                  </a:lnTo>
                  <a:lnTo>
                    <a:pt x="264105" y="1107294"/>
                  </a:lnTo>
                  <a:lnTo>
                    <a:pt x="261565" y="1104120"/>
                  </a:lnTo>
                  <a:lnTo>
                    <a:pt x="258708" y="1101898"/>
                  </a:lnTo>
                  <a:lnTo>
                    <a:pt x="255216" y="1099994"/>
                  </a:lnTo>
                  <a:lnTo>
                    <a:pt x="251725" y="1099042"/>
                  </a:lnTo>
                  <a:lnTo>
                    <a:pt x="247598" y="1098725"/>
                  </a:lnTo>
                  <a:lnTo>
                    <a:pt x="124116" y="1098725"/>
                  </a:lnTo>
                  <a:close/>
                  <a:moveTo>
                    <a:pt x="636270" y="969963"/>
                  </a:moveTo>
                  <a:lnTo>
                    <a:pt x="841692" y="969963"/>
                  </a:lnTo>
                  <a:lnTo>
                    <a:pt x="844867" y="970596"/>
                  </a:lnTo>
                  <a:lnTo>
                    <a:pt x="848359" y="970913"/>
                  </a:lnTo>
                  <a:lnTo>
                    <a:pt x="851534" y="971546"/>
                  </a:lnTo>
                  <a:lnTo>
                    <a:pt x="854709" y="972813"/>
                  </a:lnTo>
                  <a:lnTo>
                    <a:pt x="857567" y="974396"/>
                  </a:lnTo>
                  <a:lnTo>
                    <a:pt x="860107" y="975662"/>
                  </a:lnTo>
                  <a:lnTo>
                    <a:pt x="862647" y="977878"/>
                  </a:lnTo>
                  <a:lnTo>
                    <a:pt x="865187" y="979778"/>
                  </a:lnTo>
                  <a:lnTo>
                    <a:pt x="867092" y="982311"/>
                  </a:lnTo>
                  <a:lnTo>
                    <a:pt x="868997" y="984844"/>
                  </a:lnTo>
                  <a:lnTo>
                    <a:pt x="870584" y="987377"/>
                  </a:lnTo>
                  <a:lnTo>
                    <a:pt x="872172" y="990226"/>
                  </a:lnTo>
                  <a:lnTo>
                    <a:pt x="873124" y="993076"/>
                  </a:lnTo>
                  <a:lnTo>
                    <a:pt x="873760" y="996242"/>
                  </a:lnTo>
                  <a:lnTo>
                    <a:pt x="874712" y="999725"/>
                  </a:lnTo>
                  <a:lnTo>
                    <a:pt x="874712" y="1002891"/>
                  </a:lnTo>
                  <a:lnTo>
                    <a:pt x="874712" y="1389790"/>
                  </a:lnTo>
                  <a:lnTo>
                    <a:pt x="874712" y="1393273"/>
                  </a:lnTo>
                  <a:lnTo>
                    <a:pt x="873760" y="1396439"/>
                  </a:lnTo>
                  <a:lnTo>
                    <a:pt x="873124" y="1399605"/>
                  </a:lnTo>
                  <a:lnTo>
                    <a:pt x="872172" y="1402771"/>
                  </a:lnTo>
                  <a:lnTo>
                    <a:pt x="870584" y="1405304"/>
                  </a:lnTo>
                  <a:lnTo>
                    <a:pt x="868997" y="1408154"/>
                  </a:lnTo>
                  <a:lnTo>
                    <a:pt x="867092" y="1410686"/>
                  </a:lnTo>
                  <a:lnTo>
                    <a:pt x="865187" y="1413219"/>
                  </a:lnTo>
                  <a:lnTo>
                    <a:pt x="862647" y="1415119"/>
                  </a:lnTo>
                  <a:lnTo>
                    <a:pt x="860107" y="1417019"/>
                  </a:lnTo>
                  <a:lnTo>
                    <a:pt x="857567" y="1418602"/>
                  </a:lnTo>
                  <a:lnTo>
                    <a:pt x="854709" y="1420185"/>
                  </a:lnTo>
                  <a:lnTo>
                    <a:pt x="851534" y="1421135"/>
                  </a:lnTo>
                  <a:lnTo>
                    <a:pt x="848359" y="1421768"/>
                  </a:lnTo>
                  <a:lnTo>
                    <a:pt x="844867" y="1422401"/>
                  </a:lnTo>
                  <a:lnTo>
                    <a:pt x="841692" y="1422401"/>
                  </a:lnTo>
                  <a:lnTo>
                    <a:pt x="636270" y="1422401"/>
                  </a:lnTo>
                  <a:lnTo>
                    <a:pt x="632777" y="1422401"/>
                  </a:lnTo>
                  <a:lnTo>
                    <a:pt x="629920" y="1421768"/>
                  </a:lnTo>
                  <a:lnTo>
                    <a:pt x="626745" y="1421135"/>
                  </a:lnTo>
                  <a:lnTo>
                    <a:pt x="623570" y="1420185"/>
                  </a:lnTo>
                  <a:lnTo>
                    <a:pt x="620713" y="1418602"/>
                  </a:lnTo>
                  <a:lnTo>
                    <a:pt x="617855" y="1417019"/>
                  </a:lnTo>
                  <a:lnTo>
                    <a:pt x="615315" y="1415119"/>
                  </a:lnTo>
                  <a:lnTo>
                    <a:pt x="613093" y="1413219"/>
                  </a:lnTo>
                  <a:lnTo>
                    <a:pt x="610870" y="1410686"/>
                  </a:lnTo>
                  <a:lnTo>
                    <a:pt x="608965" y="1408154"/>
                  </a:lnTo>
                  <a:lnTo>
                    <a:pt x="607378" y="1405304"/>
                  </a:lnTo>
                  <a:lnTo>
                    <a:pt x="606108" y="1402771"/>
                  </a:lnTo>
                  <a:lnTo>
                    <a:pt x="605155" y="1399605"/>
                  </a:lnTo>
                  <a:lnTo>
                    <a:pt x="603885" y="1396439"/>
                  </a:lnTo>
                  <a:lnTo>
                    <a:pt x="603568" y="1393273"/>
                  </a:lnTo>
                  <a:lnTo>
                    <a:pt x="603250" y="1389790"/>
                  </a:lnTo>
                  <a:lnTo>
                    <a:pt x="603250" y="1002891"/>
                  </a:lnTo>
                  <a:lnTo>
                    <a:pt x="603568" y="999725"/>
                  </a:lnTo>
                  <a:lnTo>
                    <a:pt x="603885" y="996242"/>
                  </a:lnTo>
                  <a:lnTo>
                    <a:pt x="605155" y="993076"/>
                  </a:lnTo>
                  <a:lnTo>
                    <a:pt x="606108" y="990226"/>
                  </a:lnTo>
                  <a:lnTo>
                    <a:pt x="607378" y="987377"/>
                  </a:lnTo>
                  <a:lnTo>
                    <a:pt x="608965" y="984844"/>
                  </a:lnTo>
                  <a:lnTo>
                    <a:pt x="610870" y="982311"/>
                  </a:lnTo>
                  <a:lnTo>
                    <a:pt x="613093" y="979778"/>
                  </a:lnTo>
                  <a:lnTo>
                    <a:pt x="615315" y="977878"/>
                  </a:lnTo>
                  <a:lnTo>
                    <a:pt x="617855" y="975662"/>
                  </a:lnTo>
                  <a:lnTo>
                    <a:pt x="620713" y="974396"/>
                  </a:lnTo>
                  <a:lnTo>
                    <a:pt x="623570" y="972813"/>
                  </a:lnTo>
                  <a:lnTo>
                    <a:pt x="626745" y="971546"/>
                  </a:lnTo>
                  <a:lnTo>
                    <a:pt x="629920" y="970913"/>
                  </a:lnTo>
                  <a:lnTo>
                    <a:pt x="632777" y="970596"/>
                  </a:lnTo>
                  <a:lnTo>
                    <a:pt x="636270" y="969963"/>
                  </a:lnTo>
                  <a:close/>
                  <a:moveTo>
                    <a:pt x="1027781" y="749300"/>
                  </a:moveTo>
                  <a:lnTo>
                    <a:pt x="1031278" y="749300"/>
                  </a:lnTo>
                  <a:lnTo>
                    <a:pt x="1236940" y="749300"/>
                  </a:lnTo>
                  <a:lnTo>
                    <a:pt x="1240437" y="749300"/>
                  </a:lnTo>
                  <a:lnTo>
                    <a:pt x="1243616" y="750251"/>
                  </a:lnTo>
                  <a:lnTo>
                    <a:pt x="1246476" y="750885"/>
                  </a:lnTo>
                  <a:lnTo>
                    <a:pt x="1249655" y="751837"/>
                  </a:lnTo>
                  <a:lnTo>
                    <a:pt x="1252516" y="753105"/>
                  </a:lnTo>
                  <a:lnTo>
                    <a:pt x="1255377" y="755007"/>
                  </a:lnTo>
                  <a:lnTo>
                    <a:pt x="1257920" y="756592"/>
                  </a:lnTo>
                  <a:lnTo>
                    <a:pt x="1260145" y="758812"/>
                  </a:lnTo>
                  <a:lnTo>
                    <a:pt x="1262370" y="761348"/>
                  </a:lnTo>
                  <a:lnTo>
                    <a:pt x="1264595" y="763567"/>
                  </a:lnTo>
                  <a:lnTo>
                    <a:pt x="1265867" y="766421"/>
                  </a:lnTo>
                  <a:lnTo>
                    <a:pt x="1267138" y="769274"/>
                  </a:lnTo>
                  <a:lnTo>
                    <a:pt x="1268410" y="772445"/>
                  </a:lnTo>
                  <a:lnTo>
                    <a:pt x="1269363" y="775615"/>
                  </a:lnTo>
                  <a:lnTo>
                    <a:pt x="1269681" y="778786"/>
                  </a:lnTo>
                  <a:lnTo>
                    <a:pt x="1269999" y="782273"/>
                  </a:lnTo>
                  <a:lnTo>
                    <a:pt x="1269999" y="1389744"/>
                  </a:lnTo>
                  <a:lnTo>
                    <a:pt x="1269681" y="1393231"/>
                  </a:lnTo>
                  <a:lnTo>
                    <a:pt x="1269363" y="1396402"/>
                  </a:lnTo>
                  <a:lnTo>
                    <a:pt x="1268410" y="1399572"/>
                  </a:lnTo>
                  <a:lnTo>
                    <a:pt x="1267138" y="1402743"/>
                  </a:lnTo>
                  <a:lnTo>
                    <a:pt x="1265867" y="1405279"/>
                  </a:lnTo>
                  <a:lnTo>
                    <a:pt x="1264595" y="1408133"/>
                  </a:lnTo>
                  <a:lnTo>
                    <a:pt x="1262370" y="1410669"/>
                  </a:lnTo>
                  <a:lnTo>
                    <a:pt x="1260145" y="1413206"/>
                  </a:lnTo>
                  <a:lnTo>
                    <a:pt x="1257920" y="1415108"/>
                  </a:lnTo>
                  <a:lnTo>
                    <a:pt x="1255377" y="1417010"/>
                  </a:lnTo>
                  <a:lnTo>
                    <a:pt x="1252516" y="1418595"/>
                  </a:lnTo>
                  <a:lnTo>
                    <a:pt x="1249655" y="1420181"/>
                  </a:lnTo>
                  <a:lnTo>
                    <a:pt x="1246476" y="1421132"/>
                  </a:lnTo>
                  <a:lnTo>
                    <a:pt x="1243616" y="1421766"/>
                  </a:lnTo>
                  <a:lnTo>
                    <a:pt x="1240437" y="1422400"/>
                  </a:lnTo>
                  <a:lnTo>
                    <a:pt x="1236940" y="1422400"/>
                  </a:lnTo>
                  <a:lnTo>
                    <a:pt x="1031278" y="1422400"/>
                  </a:lnTo>
                  <a:lnTo>
                    <a:pt x="1027781" y="1422400"/>
                  </a:lnTo>
                  <a:lnTo>
                    <a:pt x="1024602" y="1421766"/>
                  </a:lnTo>
                  <a:lnTo>
                    <a:pt x="1021424" y="1421132"/>
                  </a:lnTo>
                  <a:lnTo>
                    <a:pt x="1018245" y="1420181"/>
                  </a:lnTo>
                  <a:lnTo>
                    <a:pt x="1015384" y="1418595"/>
                  </a:lnTo>
                  <a:lnTo>
                    <a:pt x="1012841" y="1417010"/>
                  </a:lnTo>
                  <a:lnTo>
                    <a:pt x="1010298" y="1415108"/>
                  </a:lnTo>
                  <a:lnTo>
                    <a:pt x="1007755" y="1413206"/>
                  </a:lnTo>
                  <a:lnTo>
                    <a:pt x="1005848" y="1410669"/>
                  </a:lnTo>
                  <a:lnTo>
                    <a:pt x="1003941" y="1408133"/>
                  </a:lnTo>
                  <a:lnTo>
                    <a:pt x="1002351" y="1405279"/>
                  </a:lnTo>
                  <a:lnTo>
                    <a:pt x="1000762" y="1402743"/>
                  </a:lnTo>
                  <a:lnTo>
                    <a:pt x="999808" y="1399572"/>
                  </a:lnTo>
                  <a:lnTo>
                    <a:pt x="999173" y="1396402"/>
                  </a:lnTo>
                  <a:lnTo>
                    <a:pt x="998537" y="1393231"/>
                  </a:lnTo>
                  <a:lnTo>
                    <a:pt x="998537" y="1389744"/>
                  </a:lnTo>
                  <a:lnTo>
                    <a:pt x="998537" y="782273"/>
                  </a:lnTo>
                  <a:lnTo>
                    <a:pt x="998537" y="778786"/>
                  </a:lnTo>
                  <a:lnTo>
                    <a:pt x="999173" y="775615"/>
                  </a:lnTo>
                  <a:lnTo>
                    <a:pt x="999808" y="772445"/>
                  </a:lnTo>
                  <a:lnTo>
                    <a:pt x="1000762" y="769274"/>
                  </a:lnTo>
                  <a:lnTo>
                    <a:pt x="1002351" y="766421"/>
                  </a:lnTo>
                  <a:lnTo>
                    <a:pt x="1003941" y="763567"/>
                  </a:lnTo>
                  <a:lnTo>
                    <a:pt x="1005848" y="761348"/>
                  </a:lnTo>
                  <a:lnTo>
                    <a:pt x="1007755" y="758812"/>
                  </a:lnTo>
                  <a:lnTo>
                    <a:pt x="1010298" y="756592"/>
                  </a:lnTo>
                  <a:lnTo>
                    <a:pt x="1012841" y="755007"/>
                  </a:lnTo>
                  <a:lnTo>
                    <a:pt x="1015384" y="753105"/>
                  </a:lnTo>
                  <a:lnTo>
                    <a:pt x="1018245" y="751837"/>
                  </a:lnTo>
                  <a:lnTo>
                    <a:pt x="1021424" y="750885"/>
                  </a:lnTo>
                  <a:lnTo>
                    <a:pt x="1024602" y="750251"/>
                  </a:lnTo>
                  <a:lnTo>
                    <a:pt x="1027781" y="749300"/>
                  </a:lnTo>
                  <a:close/>
                  <a:moveTo>
                    <a:pt x="2147065" y="665163"/>
                  </a:moveTo>
                  <a:lnTo>
                    <a:pt x="2154052" y="665163"/>
                  </a:lnTo>
                  <a:lnTo>
                    <a:pt x="2161038" y="665163"/>
                  </a:lnTo>
                  <a:lnTo>
                    <a:pt x="2168025" y="665798"/>
                  </a:lnTo>
                  <a:lnTo>
                    <a:pt x="2175011" y="666432"/>
                  </a:lnTo>
                  <a:lnTo>
                    <a:pt x="2181680" y="667702"/>
                  </a:lnTo>
                  <a:lnTo>
                    <a:pt x="2188349" y="669288"/>
                  </a:lnTo>
                  <a:lnTo>
                    <a:pt x="2194700" y="670875"/>
                  </a:lnTo>
                  <a:lnTo>
                    <a:pt x="2201369" y="673413"/>
                  </a:lnTo>
                  <a:lnTo>
                    <a:pt x="2207085" y="675952"/>
                  </a:lnTo>
                  <a:lnTo>
                    <a:pt x="2213437" y="678173"/>
                  </a:lnTo>
                  <a:lnTo>
                    <a:pt x="2219471" y="681346"/>
                  </a:lnTo>
                  <a:lnTo>
                    <a:pt x="2224869" y="684519"/>
                  </a:lnTo>
                  <a:lnTo>
                    <a:pt x="2230585" y="688327"/>
                  </a:lnTo>
                  <a:lnTo>
                    <a:pt x="2235666" y="692135"/>
                  </a:lnTo>
                  <a:lnTo>
                    <a:pt x="2241065" y="695943"/>
                  </a:lnTo>
                  <a:lnTo>
                    <a:pt x="2245829" y="700702"/>
                  </a:lnTo>
                  <a:lnTo>
                    <a:pt x="2250910" y="704828"/>
                  </a:lnTo>
                  <a:lnTo>
                    <a:pt x="2255356" y="709587"/>
                  </a:lnTo>
                  <a:lnTo>
                    <a:pt x="2259484" y="714347"/>
                  </a:lnTo>
                  <a:lnTo>
                    <a:pt x="2263612" y="719741"/>
                  </a:lnTo>
                  <a:lnTo>
                    <a:pt x="2267423" y="724819"/>
                  </a:lnTo>
                  <a:lnTo>
                    <a:pt x="2270916" y="730530"/>
                  </a:lnTo>
                  <a:lnTo>
                    <a:pt x="2274092" y="736559"/>
                  </a:lnTo>
                  <a:lnTo>
                    <a:pt x="2277268" y="742271"/>
                  </a:lnTo>
                  <a:lnTo>
                    <a:pt x="2280126" y="748300"/>
                  </a:lnTo>
                  <a:lnTo>
                    <a:pt x="2282666" y="754646"/>
                  </a:lnTo>
                  <a:lnTo>
                    <a:pt x="2284572" y="760992"/>
                  </a:lnTo>
                  <a:lnTo>
                    <a:pt x="2286477" y="767021"/>
                  </a:lnTo>
                  <a:lnTo>
                    <a:pt x="2287747" y="773685"/>
                  </a:lnTo>
                  <a:lnTo>
                    <a:pt x="2289018" y="780349"/>
                  </a:lnTo>
                  <a:lnTo>
                    <a:pt x="2289970" y="787330"/>
                  </a:lnTo>
                  <a:lnTo>
                    <a:pt x="2290605" y="794311"/>
                  </a:lnTo>
                  <a:lnTo>
                    <a:pt x="2290605" y="801292"/>
                  </a:lnTo>
                  <a:lnTo>
                    <a:pt x="2290605" y="1286150"/>
                  </a:lnTo>
                  <a:lnTo>
                    <a:pt x="2884137" y="1353738"/>
                  </a:lnTo>
                  <a:lnTo>
                    <a:pt x="2890488" y="1354055"/>
                  </a:lnTo>
                  <a:lnTo>
                    <a:pt x="2898110" y="1354372"/>
                  </a:lnTo>
                  <a:lnTo>
                    <a:pt x="2905732" y="1355007"/>
                  </a:lnTo>
                  <a:lnTo>
                    <a:pt x="2913353" y="1355642"/>
                  </a:lnTo>
                  <a:lnTo>
                    <a:pt x="2920657" y="1357228"/>
                  </a:lnTo>
                  <a:lnTo>
                    <a:pt x="2927644" y="1358815"/>
                  </a:lnTo>
                  <a:lnTo>
                    <a:pt x="2934948" y="1361036"/>
                  </a:lnTo>
                  <a:lnTo>
                    <a:pt x="2941934" y="1362940"/>
                  </a:lnTo>
                  <a:lnTo>
                    <a:pt x="2948603" y="1365796"/>
                  </a:lnTo>
                  <a:lnTo>
                    <a:pt x="2955272" y="1368969"/>
                  </a:lnTo>
                  <a:lnTo>
                    <a:pt x="2961941" y="1372142"/>
                  </a:lnTo>
                  <a:lnTo>
                    <a:pt x="2968292" y="1375633"/>
                  </a:lnTo>
                  <a:lnTo>
                    <a:pt x="2974008" y="1379758"/>
                  </a:lnTo>
                  <a:lnTo>
                    <a:pt x="2980042" y="1383883"/>
                  </a:lnTo>
                  <a:lnTo>
                    <a:pt x="2985758" y="1388008"/>
                  </a:lnTo>
                  <a:lnTo>
                    <a:pt x="2990839" y="1393085"/>
                  </a:lnTo>
                  <a:lnTo>
                    <a:pt x="2996238" y="1397845"/>
                  </a:lnTo>
                  <a:lnTo>
                    <a:pt x="3001319" y="1403239"/>
                  </a:lnTo>
                  <a:lnTo>
                    <a:pt x="3005765" y="1408316"/>
                  </a:lnTo>
                  <a:lnTo>
                    <a:pt x="3010529" y="1414345"/>
                  </a:lnTo>
                  <a:lnTo>
                    <a:pt x="3014657" y="1419739"/>
                  </a:lnTo>
                  <a:lnTo>
                    <a:pt x="3018468" y="1426086"/>
                  </a:lnTo>
                  <a:lnTo>
                    <a:pt x="3021961" y="1432432"/>
                  </a:lnTo>
                  <a:lnTo>
                    <a:pt x="3025454" y="1438778"/>
                  </a:lnTo>
                  <a:lnTo>
                    <a:pt x="3028312" y="1445125"/>
                  </a:lnTo>
                  <a:lnTo>
                    <a:pt x="3030853" y="1452106"/>
                  </a:lnTo>
                  <a:lnTo>
                    <a:pt x="3033393" y="1459087"/>
                  </a:lnTo>
                  <a:lnTo>
                    <a:pt x="3035616" y="1466067"/>
                  </a:lnTo>
                  <a:lnTo>
                    <a:pt x="3036887" y="1473366"/>
                  </a:lnTo>
                  <a:lnTo>
                    <a:pt x="3038474" y="1480664"/>
                  </a:lnTo>
                  <a:lnTo>
                    <a:pt x="3039427" y="1488280"/>
                  </a:lnTo>
                  <a:lnTo>
                    <a:pt x="3040062" y="1495895"/>
                  </a:lnTo>
                  <a:lnTo>
                    <a:pt x="3040062" y="1503511"/>
                  </a:lnTo>
                  <a:lnTo>
                    <a:pt x="3040062" y="2154008"/>
                  </a:lnTo>
                  <a:lnTo>
                    <a:pt x="3040062" y="2161623"/>
                  </a:lnTo>
                  <a:lnTo>
                    <a:pt x="3039427" y="2169556"/>
                  </a:lnTo>
                  <a:lnTo>
                    <a:pt x="3038474" y="2177172"/>
                  </a:lnTo>
                  <a:lnTo>
                    <a:pt x="3036887" y="2184470"/>
                  </a:lnTo>
                  <a:lnTo>
                    <a:pt x="3035616" y="2191451"/>
                  </a:lnTo>
                  <a:lnTo>
                    <a:pt x="3033393" y="2198749"/>
                  </a:lnTo>
                  <a:lnTo>
                    <a:pt x="3030853" y="2205730"/>
                  </a:lnTo>
                  <a:lnTo>
                    <a:pt x="3028312" y="2212394"/>
                  </a:lnTo>
                  <a:lnTo>
                    <a:pt x="3025454" y="2219057"/>
                  </a:lnTo>
                  <a:lnTo>
                    <a:pt x="3021961" y="2225404"/>
                  </a:lnTo>
                  <a:lnTo>
                    <a:pt x="3018468" y="2231433"/>
                  </a:lnTo>
                  <a:lnTo>
                    <a:pt x="3014657" y="2237779"/>
                  </a:lnTo>
                  <a:lnTo>
                    <a:pt x="3010529" y="2243808"/>
                  </a:lnTo>
                  <a:lnTo>
                    <a:pt x="3005765" y="2249202"/>
                  </a:lnTo>
                  <a:lnTo>
                    <a:pt x="3001319" y="2254597"/>
                  </a:lnTo>
                  <a:lnTo>
                    <a:pt x="2996238" y="2259674"/>
                  </a:lnTo>
                  <a:lnTo>
                    <a:pt x="2990839" y="2264433"/>
                  </a:lnTo>
                  <a:lnTo>
                    <a:pt x="2985758" y="2269510"/>
                  </a:lnTo>
                  <a:lnTo>
                    <a:pt x="2980042" y="2273953"/>
                  </a:lnTo>
                  <a:lnTo>
                    <a:pt x="2974008" y="2278078"/>
                  </a:lnTo>
                  <a:lnTo>
                    <a:pt x="2968292" y="2281886"/>
                  </a:lnTo>
                  <a:lnTo>
                    <a:pt x="2961941" y="2285376"/>
                  </a:lnTo>
                  <a:lnTo>
                    <a:pt x="2955272" y="2288867"/>
                  </a:lnTo>
                  <a:lnTo>
                    <a:pt x="2948603" y="2291723"/>
                  </a:lnTo>
                  <a:lnTo>
                    <a:pt x="2941934" y="2294578"/>
                  </a:lnTo>
                  <a:lnTo>
                    <a:pt x="2934948" y="2297117"/>
                  </a:lnTo>
                  <a:lnTo>
                    <a:pt x="2927644" y="2298703"/>
                  </a:lnTo>
                  <a:lnTo>
                    <a:pt x="2920657" y="2300607"/>
                  </a:lnTo>
                  <a:lnTo>
                    <a:pt x="2913353" y="2301877"/>
                  </a:lnTo>
                  <a:lnTo>
                    <a:pt x="2905732" y="2302829"/>
                  </a:lnTo>
                  <a:lnTo>
                    <a:pt x="2898110" y="2303146"/>
                  </a:lnTo>
                  <a:lnTo>
                    <a:pt x="2890488" y="2303463"/>
                  </a:lnTo>
                  <a:lnTo>
                    <a:pt x="2177552" y="2303463"/>
                  </a:lnTo>
                  <a:lnTo>
                    <a:pt x="2173423" y="2303146"/>
                  </a:lnTo>
                  <a:lnTo>
                    <a:pt x="2171200" y="2303146"/>
                  </a:lnTo>
                  <a:lnTo>
                    <a:pt x="2169613" y="2303146"/>
                  </a:lnTo>
                  <a:lnTo>
                    <a:pt x="2162944" y="2303146"/>
                  </a:lnTo>
                  <a:lnTo>
                    <a:pt x="2156275" y="2303146"/>
                  </a:lnTo>
                  <a:lnTo>
                    <a:pt x="2149924" y="2302511"/>
                  </a:lnTo>
                  <a:lnTo>
                    <a:pt x="2143572" y="2301559"/>
                  </a:lnTo>
                  <a:lnTo>
                    <a:pt x="2137538" y="2300607"/>
                  </a:lnTo>
                  <a:lnTo>
                    <a:pt x="2131187" y="2298703"/>
                  </a:lnTo>
                  <a:lnTo>
                    <a:pt x="2125153" y="2297117"/>
                  </a:lnTo>
                  <a:lnTo>
                    <a:pt x="2119437" y="2294896"/>
                  </a:lnTo>
                  <a:lnTo>
                    <a:pt x="2113403" y="2292040"/>
                  </a:lnTo>
                  <a:lnTo>
                    <a:pt x="2107370" y="2289501"/>
                  </a:lnTo>
                  <a:lnTo>
                    <a:pt x="2101971" y="2286645"/>
                  </a:lnTo>
                  <a:lnTo>
                    <a:pt x="2096572" y="2283155"/>
                  </a:lnTo>
                  <a:lnTo>
                    <a:pt x="2091491" y="2279665"/>
                  </a:lnTo>
                  <a:lnTo>
                    <a:pt x="2086093" y="2275222"/>
                  </a:lnTo>
                  <a:lnTo>
                    <a:pt x="2081329" y="2271097"/>
                  </a:lnTo>
                  <a:lnTo>
                    <a:pt x="2076883" y="2266972"/>
                  </a:lnTo>
                  <a:lnTo>
                    <a:pt x="1560520" y="1751334"/>
                  </a:lnTo>
                  <a:lnTo>
                    <a:pt x="1556074" y="1746574"/>
                  </a:lnTo>
                  <a:lnTo>
                    <a:pt x="1552263" y="1741815"/>
                  </a:lnTo>
                  <a:lnTo>
                    <a:pt x="1548135" y="1737055"/>
                  </a:lnTo>
                  <a:lnTo>
                    <a:pt x="1544642" y="1731661"/>
                  </a:lnTo>
                  <a:lnTo>
                    <a:pt x="1541466" y="1726583"/>
                  </a:lnTo>
                  <a:lnTo>
                    <a:pt x="1538291" y="1720872"/>
                  </a:lnTo>
                  <a:lnTo>
                    <a:pt x="1535432" y="1715477"/>
                  </a:lnTo>
                  <a:lnTo>
                    <a:pt x="1532892" y="1709766"/>
                  </a:lnTo>
                  <a:lnTo>
                    <a:pt x="1530987" y="1704054"/>
                  </a:lnTo>
                  <a:lnTo>
                    <a:pt x="1529081" y="1698342"/>
                  </a:lnTo>
                  <a:lnTo>
                    <a:pt x="1527493" y="1692631"/>
                  </a:lnTo>
                  <a:lnTo>
                    <a:pt x="1526223" y="1686919"/>
                  </a:lnTo>
                  <a:lnTo>
                    <a:pt x="1525270" y="1680890"/>
                  </a:lnTo>
                  <a:lnTo>
                    <a:pt x="1524635" y="1674544"/>
                  </a:lnTo>
                  <a:lnTo>
                    <a:pt x="1524000" y="1668515"/>
                  </a:lnTo>
                  <a:lnTo>
                    <a:pt x="1524000" y="1662803"/>
                  </a:lnTo>
                  <a:lnTo>
                    <a:pt x="1524000" y="1656774"/>
                  </a:lnTo>
                  <a:lnTo>
                    <a:pt x="1524635" y="1650428"/>
                  </a:lnTo>
                  <a:lnTo>
                    <a:pt x="1525270" y="1644716"/>
                  </a:lnTo>
                  <a:lnTo>
                    <a:pt x="1526223" y="1638687"/>
                  </a:lnTo>
                  <a:lnTo>
                    <a:pt x="1527493" y="1632658"/>
                  </a:lnTo>
                  <a:lnTo>
                    <a:pt x="1529081" y="1626946"/>
                  </a:lnTo>
                  <a:lnTo>
                    <a:pt x="1530987" y="1621235"/>
                  </a:lnTo>
                  <a:lnTo>
                    <a:pt x="1532892" y="1615523"/>
                  </a:lnTo>
                  <a:lnTo>
                    <a:pt x="1535432" y="1609811"/>
                  </a:lnTo>
                  <a:lnTo>
                    <a:pt x="1538291" y="1604417"/>
                  </a:lnTo>
                  <a:lnTo>
                    <a:pt x="1541466" y="1599023"/>
                  </a:lnTo>
                  <a:lnTo>
                    <a:pt x="1544642" y="1593628"/>
                  </a:lnTo>
                  <a:lnTo>
                    <a:pt x="1548135" y="1588551"/>
                  </a:lnTo>
                  <a:lnTo>
                    <a:pt x="1552263" y="1583474"/>
                  </a:lnTo>
                  <a:lnTo>
                    <a:pt x="1556074" y="1578714"/>
                  </a:lnTo>
                  <a:lnTo>
                    <a:pt x="1560520" y="1574272"/>
                  </a:lnTo>
                  <a:lnTo>
                    <a:pt x="1564966" y="1569830"/>
                  </a:lnTo>
                  <a:lnTo>
                    <a:pt x="1570047" y="1565705"/>
                  </a:lnTo>
                  <a:lnTo>
                    <a:pt x="1574811" y="1561897"/>
                  </a:lnTo>
                  <a:lnTo>
                    <a:pt x="1579574" y="1558406"/>
                  </a:lnTo>
                  <a:lnTo>
                    <a:pt x="1584973" y="1554916"/>
                  </a:lnTo>
                  <a:lnTo>
                    <a:pt x="1590054" y="1552060"/>
                  </a:lnTo>
                  <a:lnTo>
                    <a:pt x="1595770" y="1549521"/>
                  </a:lnTo>
                  <a:lnTo>
                    <a:pt x="1601486" y="1546666"/>
                  </a:lnTo>
                  <a:lnTo>
                    <a:pt x="1606885" y="1544444"/>
                  </a:lnTo>
                  <a:lnTo>
                    <a:pt x="1612919" y="1542858"/>
                  </a:lnTo>
                  <a:lnTo>
                    <a:pt x="1618635" y="1540954"/>
                  </a:lnTo>
                  <a:lnTo>
                    <a:pt x="1624669" y="1539685"/>
                  </a:lnTo>
                  <a:lnTo>
                    <a:pt x="1630702" y="1538733"/>
                  </a:lnTo>
                  <a:lnTo>
                    <a:pt x="1637054" y="1538098"/>
                  </a:lnTo>
                  <a:lnTo>
                    <a:pt x="1642770" y="1537463"/>
                  </a:lnTo>
                  <a:lnTo>
                    <a:pt x="1649121" y="1537146"/>
                  </a:lnTo>
                  <a:lnTo>
                    <a:pt x="1655473" y="1537463"/>
                  </a:lnTo>
                  <a:lnTo>
                    <a:pt x="1661824" y="1538098"/>
                  </a:lnTo>
                  <a:lnTo>
                    <a:pt x="1667858" y="1538733"/>
                  </a:lnTo>
                  <a:lnTo>
                    <a:pt x="1673891" y="1539685"/>
                  </a:lnTo>
                  <a:lnTo>
                    <a:pt x="1679925" y="1540954"/>
                  </a:lnTo>
                  <a:lnTo>
                    <a:pt x="1685641" y="1542858"/>
                  </a:lnTo>
                  <a:lnTo>
                    <a:pt x="1691675" y="1544444"/>
                  </a:lnTo>
                  <a:lnTo>
                    <a:pt x="1697391" y="1546666"/>
                  </a:lnTo>
                  <a:lnTo>
                    <a:pt x="1702790" y="1549521"/>
                  </a:lnTo>
                  <a:lnTo>
                    <a:pt x="1708506" y="1552060"/>
                  </a:lnTo>
                  <a:lnTo>
                    <a:pt x="1713587" y="1554916"/>
                  </a:lnTo>
                  <a:lnTo>
                    <a:pt x="1718986" y="1558406"/>
                  </a:lnTo>
                  <a:lnTo>
                    <a:pt x="1723749" y="1561897"/>
                  </a:lnTo>
                  <a:lnTo>
                    <a:pt x="1728513" y="1565705"/>
                  </a:lnTo>
                  <a:lnTo>
                    <a:pt x="1733594" y="1569830"/>
                  </a:lnTo>
                  <a:lnTo>
                    <a:pt x="1738040" y="1574272"/>
                  </a:lnTo>
                  <a:lnTo>
                    <a:pt x="2017816" y="1853827"/>
                  </a:lnTo>
                  <a:lnTo>
                    <a:pt x="2017816" y="801292"/>
                  </a:lnTo>
                  <a:lnTo>
                    <a:pt x="2018133" y="794311"/>
                  </a:lnTo>
                  <a:lnTo>
                    <a:pt x="2018451" y="787330"/>
                  </a:lnTo>
                  <a:lnTo>
                    <a:pt x="2019404" y="780349"/>
                  </a:lnTo>
                  <a:lnTo>
                    <a:pt x="2020674" y="773685"/>
                  </a:lnTo>
                  <a:lnTo>
                    <a:pt x="2021944" y="767021"/>
                  </a:lnTo>
                  <a:lnTo>
                    <a:pt x="2024167" y="760992"/>
                  </a:lnTo>
                  <a:lnTo>
                    <a:pt x="2026073" y="754646"/>
                  </a:lnTo>
                  <a:lnTo>
                    <a:pt x="2028613" y="748300"/>
                  </a:lnTo>
                  <a:lnTo>
                    <a:pt x="2031471" y="742271"/>
                  </a:lnTo>
                  <a:lnTo>
                    <a:pt x="2034329" y="736559"/>
                  </a:lnTo>
                  <a:lnTo>
                    <a:pt x="2037823" y="730530"/>
                  </a:lnTo>
                  <a:lnTo>
                    <a:pt x="2040998" y="724819"/>
                  </a:lnTo>
                  <a:lnTo>
                    <a:pt x="2045127" y="719741"/>
                  </a:lnTo>
                  <a:lnTo>
                    <a:pt x="2048937" y="714347"/>
                  </a:lnTo>
                  <a:lnTo>
                    <a:pt x="2053383" y="709587"/>
                  </a:lnTo>
                  <a:lnTo>
                    <a:pt x="2057829" y="704828"/>
                  </a:lnTo>
                  <a:lnTo>
                    <a:pt x="2062275" y="700702"/>
                  </a:lnTo>
                  <a:lnTo>
                    <a:pt x="2067674" y="695943"/>
                  </a:lnTo>
                  <a:lnTo>
                    <a:pt x="2072437" y="692135"/>
                  </a:lnTo>
                  <a:lnTo>
                    <a:pt x="2078154" y="688327"/>
                  </a:lnTo>
                  <a:lnTo>
                    <a:pt x="2083552" y="684519"/>
                  </a:lnTo>
                  <a:lnTo>
                    <a:pt x="2089268" y="681346"/>
                  </a:lnTo>
                  <a:lnTo>
                    <a:pt x="2095302" y="678173"/>
                  </a:lnTo>
                  <a:lnTo>
                    <a:pt x="2101018" y="675952"/>
                  </a:lnTo>
                  <a:lnTo>
                    <a:pt x="2107370" y="673413"/>
                  </a:lnTo>
                  <a:lnTo>
                    <a:pt x="2113721" y="670875"/>
                  </a:lnTo>
                  <a:lnTo>
                    <a:pt x="2120390" y="669288"/>
                  </a:lnTo>
                  <a:lnTo>
                    <a:pt x="2127059" y="667702"/>
                  </a:lnTo>
                  <a:lnTo>
                    <a:pt x="2133728" y="666432"/>
                  </a:lnTo>
                  <a:lnTo>
                    <a:pt x="2140079" y="665798"/>
                  </a:lnTo>
                  <a:lnTo>
                    <a:pt x="2147065" y="665163"/>
                  </a:lnTo>
                  <a:close/>
                  <a:moveTo>
                    <a:pt x="1426690" y="484188"/>
                  </a:moveTo>
                  <a:lnTo>
                    <a:pt x="1631151" y="484188"/>
                  </a:lnTo>
                  <a:lnTo>
                    <a:pt x="1634627" y="484505"/>
                  </a:lnTo>
                  <a:lnTo>
                    <a:pt x="1637787" y="484822"/>
                  </a:lnTo>
                  <a:lnTo>
                    <a:pt x="1640947" y="485773"/>
                  </a:lnTo>
                  <a:lnTo>
                    <a:pt x="1644107" y="486725"/>
                  </a:lnTo>
                  <a:lnTo>
                    <a:pt x="1646635" y="488310"/>
                  </a:lnTo>
                  <a:lnTo>
                    <a:pt x="1649479" y="489895"/>
                  </a:lnTo>
                  <a:lnTo>
                    <a:pt x="1652008" y="491798"/>
                  </a:lnTo>
                  <a:lnTo>
                    <a:pt x="1654536" y="493700"/>
                  </a:lnTo>
                  <a:lnTo>
                    <a:pt x="1656432" y="496237"/>
                  </a:lnTo>
                  <a:lnTo>
                    <a:pt x="1658328" y="498773"/>
                  </a:lnTo>
                  <a:lnTo>
                    <a:pt x="1659908" y="501310"/>
                  </a:lnTo>
                  <a:lnTo>
                    <a:pt x="1661488" y="504164"/>
                  </a:lnTo>
                  <a:lnTo>
                    <a:pt x="1662436" y="507334"/>
                  </a:lnTo>
                  <a:lnTo>
                    <a:pt x="1663068" y="510505"/>
                  </a:lnTo>
                  <a:lnTo>
                    <a:pt x="1663700" y="513676"/>
                  </a:lnTo>
                  <a:lnTo>
                    <a:pt x="1663700" y="517164"/>
                  </a:lnTo>
                  <a:lnTo>
                    <a:pt x="1663700" y="1389743"/>
                  </a:lnTo>
                  <a:lnTo>
                    <a:pt x="1663700" y="1393231"/>
                  </a:lnTo>
                  <a:lnTo>
                    <a:pt x="1663068" y="1396401"/>
                  </a:lnTo>
                  <a:lnTo>
                    <a:pt x="1662436" y="1399572"/>
                  </a:lnTo>
                  <a:lnTo>
                    <a:pt x="1661488" y="1402743"/>
                  </a:lnTo>
                  <a:lnTo>
                    <a:pt x="1659908" y="1405279"/>
                  </a:lnTo>
                  <a:lnTo>
                    <a:pt x="1658328" y="1408133"/>
                  </a:lnTo>
                  <a:lnTo>
                    <a:pt x="1656432" y="1410669"/>
                  </a:lnTo>
                  <a:lnTo>
                    <a:pt x="1654536" y="1413206"/>
                  </a:lnTo>
                  <a:lnTo>
                    <a:pt x="1652008" y="1415108"/>
                  </a:lnTo>
                  <a:lnTo>
                    <a:pt x="1649479" y="1417011"/>
                  </a:lnTo>
                  <a:lnTo>
                    <a:pt x="1646635" y="1418596"/>
                  </a:lnTo>
                  <a:lnTo>
                    <a:pt x="1644107" y="1420182"/>
                  </a:lnTo>
                  <a:lnTo>
                    <a:pt x="1640947" y="1421133"/>
                  </a:lnTo>
                  <a:lnTo>
                    <a:pt x="1637787" y="1421767"/>
                  </a:lnTo>
                  <a:lnTo>
                    <a:pt x="1634627" y="1422401"/>
                  </a:lnTo>
                  <a:lnTo>
                    <a:pt x="1631151" y="1422401"/>
                  </a:lnTo>
                  <a:lnTo>
                    <a:pt x="1426690" y="1422401"/>
                  </a:lnTo>
                  <a:lnTo>
                    <a:pt x="1423214" y="1422401"/>
                  </a:lnTo>
                  <a:lnTo>
                    <a:pt x="1420054" y="1421767"/>
                  </a:lnTo>
                  <a:lnTo>
                    <a:pt x="1416894" y="1421133"/>
                  </a:lnTo>
                  <a:lnTo>
                    <a:pt x="1413734" y="1420182"/>
                  </a:lnTo>
                  <a:lnTo>
                    <a:pt x="1411206" y="1418596"/>
                  </a:lnTo>
                  <a:lnTo>
                    <a:pt x="1408362" y="1417011"/>
                  </a:lnTo>
                  <a:lnTo>
                    <a:pt x="1405834" y="1415108"/>
                  </a:lnTo>
                  <a:lnTo>
                    <a:pt x="1403622" y="1413206"/>
                  </a:lnTo>
                  <a:lnTo>
                    <a:pt x="1401409" y="1410669"/>
                  </a:lnTo>
                  <a:lnTo>
                    <a:pt x="1399513" y="1408133"/>
                  </a:lnTo>
                  <a:lnTo>
                    <a:pt x="1397933" y="1405279"/>
                  </a:lnTo>
                  <a:lnTo>
                    <a:pt x="1396669" y="1402743"/>
                  </a:lnTo>
                  <a:lnTo>
                    <a:pt x="1395405" y="1399572"/>
                  </a:lnTo>
                  <a:lnTo>
                    <a:pt x="1394457" y="1396401"/>
                  </a:lnTo>
                  <a:lnTo>
                    <a:pt x="1394141" y="1393231"/>
                  </a:lnTo>
                  <a:lnTo>
                    <a:pt x="1393825" y="1389743"/>
                  </a:lnTo>
                  <a:lnTo>
                    <a:pt x="1393825" y="517164"/>
                  </a:lnTo>
                  <a:lnTo>
                    <a:pt x="1394141" y="513676"/>
                  </a:lnTo>
                  <a:lnTo>
                    <a:pt x="1394457" y="510505"/>
                  </a:lnTo>
                  <a:lnTo>
                    <a:pt x="1395405" y="507334"/>
                  </a:lnTo>
                  <a:lnTo>
                    <a:pt x="1396669" y="504164"/>
                  </a:lnTo>
                  <a:lnTo>
                    <a:pt x="1397933" y="501310"/>
                  </a:lnTo>
                  <a:lnTo>
                    <a:pt x="1399513" y="498773"/>
                  </a:lnTo>
                  <a:lnTo>
                    <a:pt x="1401409" y="496237"/>
                  </a:lnTo>
                  <a:lnTo>
                    <a:pt x="1403622" y="493700"/>
                  </a:lnTo>
                  <a:lnTo>
                    <a:pt x="1405834" y="491798"/>
                  </a:lnTo>
                  <a:lnTo>
                    <a:pt x="1408362" y="489895"/>
                  </a:lnTo>
                  <a:lnTo>
                    <a:pt x="1411206" y="488310"/>
                  </a:lnTo>
                  <a:lnTo>
                    <a:pt x="1413734" y="486725"/>
                  </a:lnTo>
                  <a:lnTo>
                    <a:pt x="1416894" y="485773"/>
                  </a:lnTo>
                  <a:lnTo>
                    <a:pt x="1420054" y="484822"/>
                  </a:lnTo>
                  <a:lnTo>
                    <a:pt x="1423214" y="484505"/>
                  </a:lnTo>
                  <a:lnTo>
                    <a:pt x="1426690" y="484188"/>
                  </a:lnTo>
                  <a:close/>
                  <a:moveTo>
                    <a:pt x="183794" y="0"/>
                  </a:moveTo>
                  <a:lnTo>
                    <a:pt x="193952" y="0"/>
                  </a:lnTo>
                  <a:lnTo>
                    <a:pt x="2827060" y="0"/>
                  </a:lnTo>
                  <a:lnTo>
                    <a:pt x="2837218" y="0"/>
                  </a:lnTo>
                  <a:lnTo>
                    <a:pt x="2847059" y="952"/>
                  </a:lnTo>
                  <a:lnTo>
                    <a:pt x="2856582" y="2539"/>
                  </a:lnTo>
                  <a:lnTo>
                    <a:pt x="2866105" y="4443"/>
                  </a:lnTo>
                  <a:lnTo>
                    <a:pt x="2875628" y="6982"/>
                  </a:lnTo>
                  <a:lnTo>
                    <a:pt x="2884516" y="10156"/>
                  </a:lnTo>
                  <a:lnTo>
                    <a:pt x="2893721" y="13964"/>
                  </a:lnTo>
                  <a:lnTo>
                    <a:pt x="2902292" y="17773"/>
                  </a:lnTo>
                  <a:lnTo>
                    <a:pt x="2911180" y="22851"/>
                  </a:lnTo>
                  <a:lnTo>
                    <a:pt x="2919433" y="27611"/>
                  </a:lnTo>
                  <a:lnTo>
                    <a:pt x="2927369" y="33324"/>
                  </a:lnTo>
                  <a:lnTo>
                    <a:pt x="2935623" y="39036"/>
                  </a:lnTo>
                  <a:lnTo>
                    <a:pt x="2942924" y="45384"/>
                  </a:lnTo>
                  <a:lnTo>
                    <a:pt x="2950225" y="52366"/>
                  </a:lnTo>
                  <a:lnTo>
                    <a:pt x="2957525" y="59665"/>
                  </a:lnTo>
                  <a:lnTo>
                    <a:pt x="2964192" y="67282"/>
                  </a:lnTo>
                  <a:lnTo>
                    <a:pt x="2970540" y="74899"/>
                  </a:lnTo>
                  <a:lnTo>
                    <a:pt x="2976571" y="83468"/>
                  </a:lnTo>
                  <a:lnTo>
                    <a:pt x="2982285" y="92037"/>
                  </a:lnTo>
                  <a:lnTo>
                    <a:pt x="2987682" y="101240"/>
                  </a:lnTo>
                  <a:lnTo>
                    <a:pt x="2992761" y="110444"/>
                  </a:lnTo>
                  <a:lnTo>
                    <a:pt x="2997522" y="119965"/>
                  </a:lnTo>
                  <a:lnTo>
                    <a:pt x="3001649" y="130121"/>
                  </a:lnTo>
                  <a:lnTo>
                    <a:pt x="3005458" y="140276"/>
                  </a:lnTo>
                  <a:lnTo>
                    <a:pt x="3008950" y="150749"/>
                  </a:lnTo>
                  <a:lnTo>
                    <a:pt x="3012124" y="161540"/>
                  </a:lnTo>
                  <a:lnTo>
                    <a:pt x="3014663" y="172330"/>
                  </a:lnTo>
                  <a:lnTo>
                    <a:pt x="3016885" y="183438"/>
                  </a:lnTo>
                  <a:lnTo>
                    <a:pt x="3018473" y="194546"/>
                  </a:lnTo>
                  <a:lnTo>
                    <a:pt x="3019742" y="205971"/>
                  </a:lnTo>
                  <a:lnTo>
                    <a:pt x="3020695" y="218031"/>
                  </a:lnTo>
                  <a:lnTo>
                    <a:pt x="3021012" y="229774"/>
                  </a:lnTo>
                  <a:lnTo>
                    <a:pt x="3021012" y="1276768"/>
                  </a:lnTo>
                  <a:lnTo>
                    <a:pt x="3013711" y="1272642"/>
                  </a:lnTo>
                  <a:lnTo>
                    <a:pt x="3006410" y="1268833"/>
                  </a:lnTo>
                  <a:lnTo>
                    <a:pt x="2999109" y="1265342"/>
                  </a:lnTo>
                  <a:lnTo>
                    <a:pt x="2991808" y="1262169"/>
                  </a:lnTo>
                  <a:lnTo>
                    <a:pt x="2983872" y="1258995"/>
                  </a:lnTo>
                  <a:lnTo>
                    <a:pt x="2976254" y="1256139"/>
                  </a:lnTo>
                  <a:lnTo>
                    <a:pt x="2968318" y="1253282"/>
                  </a:lnTo>
                  <a:lnTo>
                    <a:pt x="2960382" y="1251061"/>
                  </a:lnTo>
                  <a:lnTo>
                    <a:pt x="2952129" y="1248839"/>
                  </a:lnTo>
                  <a:lnTo>
                    <a:pt x="2944193" y="1247252"/>
                  </a:lnTo>
                  <a:lnTo>
                    <a:pt x="2935940" y="1245348"/>
                  </a:lnTo>
                  <a:lnTo>
                    <a:pt x="2927369" y="1244079"/>
                  </a:lnTo>
                  <a:lnTo>
                    <a:pt x="2919116" y="1242809"/>
                  </a:lnTo>
                  <a:lnTo>
                    <a:pt x="2910863" y="1242175"/>
                  </a:lnTo>
                  <a:lnTo>
                    <a:pt x="2901975" y="1241540"/>
                  </a:lnTo>
                  <a:lnTo>
                    <a:pt x="2893404" y="1241540"/>
                  </a:lnTo>
                  <a:lnTo>
                    <a:pt x="2646123" y="1213294"/>
                  </a:lnTo>
                  <a:lnTo>
                    <a:pt x="2646123" y="313876"/>
                  </a:lnTo>
                  <a:lnTo>
                    <a:pt x="374889" y="313876"/>
                  </a:lnTo>
                  <a:lnTo>
                    <a:pt x="374889" y="1959424"/>
                  </a:lnTo>
                  <a:lnTo>
                    <a:pt x="1610021" y="1959424"/>
                  </a:lnTo>
                  <a:lnTo>
                    <a:pt x="1923646" y="2273300"/>
                  </a:lnTo>
                  <a:lnTo>
                    <a:pt x="193952" y="2273300"/>
                  </a:lnTo>
                  <a:lnTo>
                    <a:pt x="183794" y="2273300"/>
                  </a:lnTo>
                  <a:lnTo>
                    <a:pt x="173953" y="2272348"/>
                  </a:lnTo>
                  <a:lnTo>
                    <a:pt x="164113" y="2270761"/>
                  </a:lnTo>
                  <a:lnTo>
                    <a:pt x="154908" y="2268857"/>
                  </a:lnTo>
                  <a:lnTo>
                    <a:pt x="145385" y="2266318"/>
                  </a:lnTo>
                  <a:lnTo>
                    <a:pt x="136496" y="2263144"/>
                  </a:lnTo>
                  <a:lnTo>
                    <a:pt x="127291" y="2259336"/>
                  </a:lnTo>
                  <a:lnTo>
                    <a:pt x="118720" y="2255528"/>
                  </a:lnTo>
                  <a:lnTo>
                    <a:pt x="109832" y="2250450"/>
                  </a:lnTo>
                  <a:lnTo>
                    <a:pt x="101579" y="2245689"/>
                  </a:lnTo>
                  <a:lnTo>
                    <a:pt x="93326" y="2240294"/>
                  </a:lnTo>
                  <a:lnTo>
                    <a:pt x="85390" y="2234264"/>
                  </a:lnTo>
                  <a:lnTo>
                    <a:pt x="77771" y="2227917"/>
                  </a:lnTo>
                  <a:lnTo>
                    <a:pt x="70470" y="2220935"/>
                  </a:lnTo>
                  <a:lnTo>
                    <a:pt x="63487" y="2213635"/>
                  </a:lnTo>
                  <a:lnTo>
                    <a:pt x="56821" y="2206018"/>
                  </a:lnTo>
                  <a:lnTo>
                    <a:pt x="50472" y="2198402"/>
                  </a:lnTo>
                  <a:lnTo>
                    <a:pt x="44441" y="2189833"/>
                  </a:lnTo>
                  <a:lnTo>
                    <a:pt x="38727" y="2181264"/>
                  </a:lnTo>
                  <a:lnTo>
                    <a:pt x="33013" y="2172060"/>
                  </a:lnTo>
                  <a:lnTo>
                    <a:pt x="28252" y="2162856"/>
                  </a:lnTo>
                  <a:lnTo>
                    <a:pt x="23490" y="2153335"/>
                  </a:lnTo>
                  <a:lnTo>
                    <a:pt x="19364" y="2143180"/>
                  </a:lnTo>
                  <a:lnTo>
                    <a:pt x="15237" y="2133024"/>
                  </a:lnTo>
                  <a:lnTo>
                    <a:pt x="11745" y="2122551"/>
                  </a:lnTo>
                  <a:lnTo>
                    <a:pt x="8888" y="2112078"/>
                  </a:lnTo>
                  <a:lnTo>
                    <a:pt x="6349" y="2100970"/>
                  </a:lnTo>
                  <a:lnTo>
                    <a:pt x="3809" y="2089862"/>
                  </a:lnTo>
                  <a:lnTo>
                    <a:pt x="2540" y="2078754"/>
                  </a:lnTo>
                  <a:lnTo>
                    <a:pt x="952" y="2067329"/>
                  </a:lnTo>
                  <a:lnTo>
                    <a:pt x="318" y="2055269"/>
                  </a:lnTo>
                  <a:lnTo>
                    <a:pt x="0" y="2043844"/>
                  </a:lnTo>
                  <a:lnTo>
                    <a:pt x="0" y="229774"/>
                  </a:lnTo>
                  <a:lnTo>
                    <a:pt x="318" y="218031"/>
                  </a:lnTo>
                  <a:lnTo>
                    <a:pt x="952" y="205971"/>
                  </a:lnTo>
                  <a:lnTo>
                    <a:pt x="2540" y="194546"/>
                  </a:lnTo>
                  <a:lnTo>
                    <a:pt x="3809" y="183438"/>
                  </a:lnTo>
                  <a:lnTo>
                    <a:pt x="6349" y="172330"/>
                  </a:lnTo>
                  <a:lnTo>
                    <a:pt x="8888" y="161540"/>
                  </a:lnTo>
                  <a:lnTo>
                    <a:pt x="11745" y="150749"/>
                  </a:lnTo>
                  <a:lnTo>
                    <a:pt x="15237" y="140276"/>
                  </a:lnTo>
                  <a:lnTo>
                    <a:pt x="19364" y="130121"/>
                  </a:lnTo>
                  <a:lnTo>
                    <a:pt x="23490" y="119965"/>
                  </a:lnTo>
                  <a:lnTo>
                    <a:pt x="28252" y="110444"/>
                  </a:lnTo>
                  <a:lnTo>
                    <a:pt x="33013" y="101240"/>
                  </a:lnTo>
                  <a:lnTo>
                    <a:pt x="38727" y="92037"/>
                  </a:lnTo>
                  <a:lnTo>
                    <a:pt x="44441" y="83468"/>
                  </a:lnTo>
                  <a:lnTo>
                    <a:pt x="50472" y="74899"/>
                  </a:lnTo>
                  <a:lnTo>
                    <a:pt x="56821" y="67282"/>
                  </a:lnTo>
                  <a:lnTo>
                    <a:pt x="63487" y="59665"/>
                  </a:lnTo>
                  <a:lnTo>
                    <a:pt x="70470" y="52366"/>
                  </a:lnTo>
                  <a:lnTo>
                    <a:pt x="77771" y="45384"/>
                  </a:lnTo>
                  <a:lnTo>
                    <a:pt x="85390" y="39036"/>
                  </a:lnTo>
                  <a:lnTo>
                    <a:pt x="93326" y="33324"/>
                  </a:lnTo>
                  <a:lnTo>
                    <a:pt x="101579" y="27611"/>
                  </a:lnTo>
                  <a:lnTo>
                    <a:pt x="109832" y="22851"/>
                  </a:lnTo>
                  <a:lnTo>
                    <a:pt x="118720" y="17773"/>
                  </a:lnTo>
                  <a:lnTo>
                    <a:pt x="127291" y="13964"/>
                  </a:lnTo>
                  <a:lnTo>
                    <a:pt x="136496" y="10156"/>
                  </a:lnTo>
                  <a:lnTo>
                    <a:pt x="145385" y="6982"/>
                  </a:lnTo>
                  <a:lnTo>
                    <a:pt x="154908" y="4443"/>
                  </a:lnTo>
                  <a:lnTo>
                    <a:pt x="164113" y="2539"/>
                  </a:lnTo>
                  <a:lnTo>
                    <a:pt x="173953" y="952"/>
                  </a:lnTo>
                  <a:lnTo>
                    <a:pt x="183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思源宋体 CN Light" panose="02020300000000000000" pitchFamily="18" charset="-122"/>
                <a:ea typeface="思源宋体 CN Light" panose="02020300000000000000" pitchFamily="18" charset="-122"/>
                <a:cs typeface="思源宋体 CN Light" panose="02020300000000000000" charset="-122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1911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DF438-8044-86E0-6008-5AE9FDE03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70D66B0C-4FD9-C155-800F-588C0DB1A9E6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D147576-0B39-3131-BAED-357F9C609F3A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DFBD5DD9-FB37-4295-7455-F0C8CF622624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80AB1EA-0375-F4E7-514B-988FE9A458CD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特征工程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93E98B8-9C42-AC76-ABA8-95345DF942AF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A56C5658-10C5-9C15-7D69-22DE08F9A816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C3440897-39BA-CBE9-8B37-45D06DB3B2F3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46A493A-270B-06CA-E345-EFB7DE6EC548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D7F01CDE-83A7-2CA4-0351-CC679AC46BE4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8E2781F4-5E43-42DC-892B-254C0550F8AE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7DE2AC3-7B54-0A8A-96CF-5B2F51C55C34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E879484-AF8E-34C4-16A9-E136F9F18C4D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sp>
        <p:nvSpPr>
          <p:cNvPr id="69" name="Freeform 108">
            <a:extLst>
              <a:ext uri="{FF2B5EF4-FFF2-40B4-BE49-F238E27FC236}">
                <a16:creationId xmlns:a16="http://schemas.microsoft.com/office/drawing/2014/main" id="{9593423F-CD09-12EA-A066-1D4BEE1FDC70}"/>
              </a:ext>
            </a:extLst>
          </p:cNvPr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3533981" y="4818370"/>
            <a:ext cx="163723" cy="149165"/>
          </a:xfrm>
          <a:custGeom>
            <a:avLst/>
            <a:gdLst>
              <a:gd name="T0" fmla="*/ 97 w 115"/>
              <a:gd name="T1" fmla="*/ 48 h 115"/>
              <a:gd name="T2" fmla="*/ 91 w 115"/>
              <a:gd name="T3" fmla="*/ 41 h 115"/>
              <a:gd name="T4" fmla="*/ 102 w 115"/>
              <a:gd name="T5" fmla="*/ 26 h 115"/>
              <a:gd name="T6" fmla="*/ 94 w 115"/>
              <a:gd name="T7" fmla="*/ 13 h 115"/>
              <a:gd name="T8" fmla="*/ 79 w 115"/>
              <a:gd name="T9" fmla="*/ 23 h 115"/>
              <a:gd name="T10" fmla="*/ 70 w 115"/>
              <a:gd name="T11" fmla="*/ 22 h 115"/>
              <a:gd name="T12" fmla="*/ 67 w 115"/>
              <a:gd name="T13" fmla="*/ 3 h 115"/>
              <a:gd name="T14" fmla="*/ 52 w 115"/>
              <a:gd name="T15" fmla="*/ 0 h 115"/>
              <a:gd name="T16" fmla="*/ 48 w 115"/>
              <a:gd name="T17" fmla="*/ 18 h 115"/>
              <a:gd name="T18" fmla="*/ 41 w 115"/>
              <a:gd name="T19" fmla="*/ 24 h 115"/>
              <a:gd name="T20" fmla="*/ 26 w 115"/>
              <a:gd name="T21" fmla="*/ 13 h 115"/>
              <a:gd name="T22" fmla="*/ 13 w 115"/>
              <a:gd name="T23" fmla="*/ 21 h 115"/>
              <a:gd name="T24" fmla="*/ 23 w 115"/>
              <a:gd name="T25" fmla="*/ 36 h 115"/>
              <a:gd name="T26" fmla="*/ 22 w 115"/>
              <a:gd name="T27" fmla="*/ 45 h 115"/>
              <a:gd name="T28" fmla="*/ 4 w 115"/>
              <a:gd name="T29" fmla="*/ 48 h 115"/>
              <a:gd name="T30" fmla="*/ 0 w 115"/>
              <a:gd name="T31" fmla="*/ 63 h 115"/>
              <a:gd name="T32" fmla="*/ 18 w 115"/>
              <a:gd name="T33" fmla="*/ 66 h 115"/>
              <a:gd name="T34" fmla="*/ 24 w 115"/>
              <a:gd name="T35" fmla="*/ 73 h 115"/>
              <a:gd name="T36" fmla="*/ 13 w 115"/>
              <a:gd name="T37" fmla="*/ 89 h 115"/>
              <a:gd name="T38" fmla="*/ 21 w 115"/>
              <a:gd name="T39" fmla="*/ 102 h 115"/>
              <a:gd name="T40" fmla="*/ 36 w 115"/>
              <a:gd name="T41" fmla="*/ 92 h 115"/>
              <a:gd name="T42" fmla="*/ 45 w 115"/>
              <a:gd name="T43" fmla="*/ 92 h 115"/>
              <a:gd name="T44" fmla="*/ 48 w 115"/>
              <a:gd name="T45" fmla="*/ 111 h 115"/>
              <a:gd name="T46" fmla="*/ 63 w 115"/>
              <a:gd name="T47" fmla="*/ 115 h 115"/>
              <a:gd name="T48" fmla="*/ 67 w 115"/>
              <a:gd name="T49" fmla="*/ 97 h 115"/>
              <a:gd name="T50" fmla="*/ 74 w 115"/>
              <a:gd name="T51" fmla="*/ 91 h 115"/>
              <a:gd name="T52" fmla="*/ 89 w 115"/>
              <a:gd name="T53" fmla="*/ 102 h 115"/>
              <a:gd name="T54" fmla="*/ 102 w 115"/>
              <a:gd name="T55" fmla="*/ 94 h 115"/>
              <a:gd name="T56" fmla="*/ 92 w 115"/>
              <a:gd name="T57" fmla="*/ 79 h 115"/>
              <a:gd name="T58" fmla="*/ 93 w 115"/>
              <a:gd name="T59" fmla="*/ 70 h 115"/>
              <a:gd name="T60" fmla="*/ 112 w 115"/>
              <a:gd name="T61" fmla="*/ 66 h 115"/>
              <a:gd name="T62" fmla="*/ 115 w 115"/>
              <a:gd name="T63" fmla="*/ 52 h 115"/>
              <a:gd name="T64" fmla="*/ 58 w 115"/>
              <a:gd name="T65" fmla="*/ 79 h 115"/>
              <a:gd name="T66" fmla="*/ 58 w 115"/>
              <a:gd name="T67" fmla="*/ 36 h 115"/>
              <a:gd name="T68" fmla="*/ 58 w 115"/>
              <a:gd name="T69" fmla="*/ 79 h 115"/>
              <a:gd name="T70" fmla="*/ 49 w 115"/>
              <a:gd name="T71" fmla="*/ 57 h 115"/>
              <a:gd name="T72" fmla="*/ 67 w 115"/>
              <a:gd name="T73" fmla="*/ 57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115">
                <a:moveTo>
                  <a:pt x="112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5" y="48"/>
                  <a:pt x="93" y="47"/>
                  <a:pt x="93" y="45"/>
                </a:cubicBezTo>
                <a:cubicBezTo>
                  <a:pt x="91" y="41"/>
                  <a:pt x="91" y="41"/>
                  <a:pt x="91" y="41"/>
                </a:cubicBezTo>
                <a:cubicBezTo>
                  <a:pt x="90" y="40"/>
                  <a:pt x="91" y="37"/>
                  <a:pt x="92" y="3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4"/>
                  <a:pt x="104" y="22"/>
                  <a:pt x="102" y="21"/>
                </a:cubicBezTo>
                <a:cubicBezTo>
                  <a:pt x="94" y="13"/>
                  <a:pt x="94" y="13"/>
                  <a:pt x="94" y="13"/>
                </a:cubicBezTo>
                <a:cubicBezTo>
                  <a:pt x="93" y="11"/>
                  <a:pt x="91" y="11"/>
                  <a:pt x="89" y="13"/>
                </a:cubicBezTo>
                <a:cubicBezTo>
                  <a:pt x="79" y="23"/>
                  <a:pt x="79" y="23"/>
                  <a:pt x="79" y="23"/>
                </a:cubicBezTo>
                <a:cubicBezTo>
                  <a:pt x="78" y="24"/>
                  <a:pt x="75" y="25"/>
                  <a:pt x="74" y="24"/>
                </a:cubicBezTo>
                <a:cubicBezTo>
                  <a:pt x="70" y="22"/>
                  <a:pt x="70" y="22"/>
                  <a:pt x="70" y="22"/>
                </a:cubicBezTo>
                <a:cubicBezTo>
                  <a:pt x="68" y="22"/>
                  <a:pt x="67" y="20"/>
                  <a:pt x="67" y="18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0" y="0"/>
                  <a:pt x="48" y="1"/>
                  <a:pt x="48" y="3"/>
                </a:cubicBezTo>
                <a:cubicBezTo>
                  <a:pt x="48" y="18"/>
                  <a:pt x="48" y="18"/>
                  <a:pt x="48" y="18"/>
                </a:cubicBezTo>
                <a:cubicBezTo>
                  <a:pt x="48" y="20"/>
                  <a:pt x="47" y="22"/>
                  <a:pt x="45" y="22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5"/>
                  <a:pt x="37" y="24"/>
                  <a:pt x="36" y="23"/>
                </a:cubicBezTo>
                <a:cubicBezTo>
                  <a:pt x="26" y="13"/>
                  <a:pt x="26" y="13"/>
                  <a:pt x="26" y="13"/>
                </a:cubicBezTo>
                <a:cubicBezTo>
                  <a:pt x="25" y="11"/>
                  <a:pt x="22" y="11"/>
                  <a:pt x="21" y="13"/>
                </a:cubicBezTo>
                <a:cubicBezTo>
                  <a:pt x="13" y="21"/>
                  <a:pt x="13" y="21"/>
                  <a:pt x="13" y="21"/>
                </a:cubicBezTo>
                <a:cubicBezTo>
                  <a:pt x="12" y="22"/>
                  <a:pt x="12" y="24"/>
                  <a:pt x="13" y="26"/>
                </a:cubicBezTo>
                <a:cubicBezTo>
                  <a:pt x="23" y="36"/>
                  <a:pt x="23" y="36"/>
                  <a:pt x="23" y="36"/>
                </a:cubicBezTo>
                <a:cubicBezTo>
                  <a:pt x="24" y="37"/>
                  <a:pt x="25" y="40"/>
                  <a:pt x="24" y="41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0" y="48"/>
                  <a:pt x="1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5"/>
                  <a:pt x="2" y="66"/>
                  <a:pt x="4" y="66"/>
                </a:cubicBezTo>
                <a:cubicBezTo>
                  <a:pt x="18" y="66"/>
                  <a:pt x="18" y="66"/>
                  <a:pt x="18" y="66"/>
                </a:cubicBezTo>
                <a:cubicBezTo>
                  <a:pt x="20" y="66"/>
                  <a:pt x="22" y="68"/>
                  <a:pt x="22" y="70"/>
                </a:cubicBezTo>
                <a:cubicBezTo>
                  <a:pt x="24" y="73"/>
                  <a:pt x="24" y="73"/>
                  <a:pt x="24" y="73"/>
                </a:cubicBezTo>
                <a:cubicBezTo>
                  <a:pt x="25" y="75"/>
                  <a:pt x="24" y="78"/>
                  <a:pt x="23" y="79"/>
                </a:cubicBezTo>
                <a:cubicBezTo>
                  <a:pt x="13" y="89"/>
                  <a:pt x="13" y="89"/>
                  <a:pt x="13" y="89"/>
                </a:cubicBezTo>
                <a:cubicBezTo>
                  <a:pt x="12" y="90"/>
                  <a:pt x="12" y="93"/>
                  <a:pt x="13" y="94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103"/>
                  <a:pt x="25" y="103"/>
                  <a:pt x="26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0"/>
                  <a:pt x="40" y="90"/>
                  <a:pt x="41" y="91"/>
                </a:cubicBezTo>
                <a:cubicBezTo>
                  <a:pt x="45" y="92"/>
                  <a:pt x="45" y="92"/>
                  <a:pt x="45" y="92"/>
                </a:cubicBezTo>
                <a:cubicBezTo>
                  <a:pt x="47" y="93"/>
                  <a:pt x="48" y="95"/>
                  <a:pt x="48" y="9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8" y="113"/>
                  <a:pt x="50" y="115"/>
                  <a:pt x="52" y="115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5" y="115"/>
                  <a:pt x="67" y="113"/>
                  <a:pt x="67" y="111"/>
                </a:cubicBezTo>
                <a:cubicBezTo>
                  <a:pt x="67" y="97"/>
                  <a:pt x="67" y="97"/>
                  <a:pt x="67" y="97"/>
                </a:cubicBezTo>
                <a:cubicBezTo>
                  <a:pt x="67" y="95"/>
                  <a:pt x="68" y="93"/>
                  <a:pt x="70" y="92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8" y="90"/>
                  <a:pt x="79" y="92"/>
                </a:cubicBezTo>
                <a:cubicBezTo>
                  <a:pt x="89" y="102"/>
                  <a:pt x="89" y="102"/>
                  <a:pt x="89" y="102"/>
                </a:cubicBezTo>
                <a:cubicBezTo>
                  <a:pt x="91" y="103"/>
                  <a:pt x="93" y="103"/>
                  <a:pt x="94" y="102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04" y="93"/>
                  <a:pt x="104" y="90"/>
                  <a:pt x="102" y="89"/>
                </a:cubicBezTo>
                <a:cubicBezTo>
                  <a:pt x="92" y="79"/>
                  <a:pt x="92" y="79"/>
                  <a:pt x="92" y="79"/>
                </a:cubicBezTo>
                <a:cubicBezTo>
                  <a:pt x="91" y="78"/>
                  <a:pt x="90" y="75"/>
                  <a:pt x="91" y="73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68"/>
                  <a:pt x="95" y="66"/>
                  <a:pt x="97" y="66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3" y="66"/>
                  <a:pt x="115" y="65"/>
                  <a:pt x="115" y="6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15" y="50"/>
                  <a:pt x="113" y="48"/>
                  <a:pt x="112" y="48"/>
                </a:cubicBezTo>
                <a:close/>
                <a:moveTo>
                  <a:pt x="58" y="79"/>
                </a:moveTo>
                <a:cubicBezTo>
                  <a:pt x="46" y="79"/>
                  <a:pt x="36" y="69"/>
                  <a:pt x="36" y="57"/>
                </a:cubicBezTo>
                <a:cubicBezTo>
                  <a:pt x="36" y="46"/>
                  <a:pt x="46" y="36"/>
                  <a:pt x="58" y="36"/>
                </a:cubicBezTo>
                <a:cubicBezTo>
                  <a:pt x="69" y="36"/>
                  <a:pt x="79" y="46"/>
                  <a:pt x="79" y="57"/>
                </a:cubicBezTo>
                <a:cubicBezTo>
                  <a:pt x="79" y="69"/>
                  <a:pt x="69" y="79"/>
                  <a:pt x="58" y="79"/>
                </a:cubicBezTo>
                <a:close/>
                <a:moveTo>
                  <a:pt x="58" y="48"/>
                </a:moveTo>
                <a:cubicBezTo>
                  <a:pt x="53" y="48"/>
                  <a:pt x="49" y="52"/>
                  <a:pt x="49" y="57"/>
                </a:cubicBezTo>
                <a:cubicBezTo>
                  <a:pt x="49" y="62"/>
                  <a:pt x="53" y="66"/>
                  <a:pt x="58" y="66"/>
                </a:cubicBezTo>
                <a:cubicBezTo>
                  <a:pt x="63" y="66"/>
                  <a:pt x="67" y="62"/>
                  <a:pt x="67" y="57"/>
                </a:cubicBezTo>
                <a:cubicBezTo>
                  <a:pt x="67" y="52"/>
                  <a:pt x="63" y="48"/>
                  <a:pt x="58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39" tIns="45719" rIns="91439" bIns="45719" numCol="1" anchor="t" anchorCtr="0" compatLnSpc="1"/>
          <a:lstStyle/>
          <a:p>
            <a:pPr defTabSz="1219200">
              <a:defRPr/>
            </a:pPr>
            <a:endParaRPr lang="zh-CN" altLang="en-US" sz="2400" kern="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BDE9CA16-C833-3494-B83D-885F10961CBE}"/>
              </a:ext>
            </a:extLst>
          </p:cNvPr>
          <p:cNvSpPr txBox="1"/>
          <p:nvPr/>
        </p:nvSpPr>
        <p:spPr>
          <a:xfrm>
            <a:off x="2607195" y="870112"/>
            <a:ext cx="1261884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200" dirty="0">
                <a:latin typeface="思源宋体" panose="02020700000000000000" pitchFamily="18" charset="-122"/>
                <a:ea typeface="思源宋体" panose="02020700000000000000" pitchFamily="18" charset="-122"/>
              </a:rPr>
              <a:t>高被引文献标签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宋体" panose="02020700000000000000" pitchFamily="18" charset="-122"/>
              <a:ea typeface="思源宋体" panose="02020700000000000000" pitchFamily="18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ABDE64E-4C7A-320B-4DD6-575BF523B582}"/>
              </a:ext>
            </a:extLst>
          </p:cNvPr>
          <p:cNvSpPr txBox="1"/>
          <p:nvPr/>
        </p:nvSpPr>
        <p:spPr>
          <a:xfrm>
            <a:off x="2236743" y="1185134"/>
            <a:ext cx="1581163" cy="64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高被引文献：引用量排名前</a:t>
            </a:r>
            <a:r>
              <a:rPr lang="en-US" altLang="zh-CN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10%</a:t>
            </a:r>
            <a:r>
              <a:rPr lang="zh-CN" altLang="en-US" sz="10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的文献</a:t>
            </a:r>
            <a:endParaRPr lang="en-US" altLang="zh-CN" sz="1000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>
              <a:lnSpc>
                <a:spcPct val="130000"/>
              </a:lnSpc>
            </a:pP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E01A432-D056-6EE1-CCAF-CCC238E9FAC1}"/>
              </a:ext>
            </a:extLst>
          </p:cNvPr>
          <p:cNvGrpSpPr/>
          <p:nvPr/>
        </p:nvGrpSpPr>
        <p:grpSpPr>
          <a:xfrm>
            <a:off x="2236743" y="759684"/>
            <a:ext cx="425056" cy="409006"/>
            <a:chOff x="3216452" y="846582"/>
            <a:chExt cx="594591" cy="538929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5B018FB8-9B7E-9313-BED0-0F092569E1CF}"/>
                </a:ext>
              </a:extLst>
            </p:cNvPr>
            <p:cNvSpPr/>
            <p:nvPr/>
          </p:nvSpPr>
          <p:spPr>
            <a:xfrm>
              <a:off x="3216452" y="846582"/>
              <a:ext cx="594591" cy="538929"/>
            </a:xfrm>
            <a:prstGeom prst="ellipse">
              <a:avLst/>
            </a:prstGeom>
            <a:gradFill>
              <a:gsLst>
                <a:gs pos="1000">
                  <a:srgbClr val="385FE1">
                    <a:alpha val="0"/>
                  </a:srgbClr>
                </a:gs>
                <a:gs pos="100000">
                  <a:srgbClr val="829EF0">
                    <a:alpha val="28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5143FD87-3018-922C-A57A-5684A252F860}"/>
                </a:ext>
              </a:extLst>
            </p:cNvPr>
            <p:cNvSpPr/>
            <p:nvPr/>
          </p:nvSpPr>
          <p:spPr>
            <a:xfrm>
              <a:off x="3283892" y="910135"/>
              <a:ext cx="459712" cy="416677"/>
            </a:xfrm>
            <a:prstGeom prst="ellipse">
              <a:avLst/>
            </a:pr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88" name="KSO_Shape">
              <a:extLst>
                <a:ext uri="{FF2B5EF4-FFF2-40B4-BE49-F238E27FC236}">
                  <a16:creationId xmlns:a16="http://schemas.microsoft.com/office/drawing/2014/main" id="{052F2262-3FB1-BB89-B12B-71BAC075439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3441378" y="1066155"/>
              <a:ext cx="162875" cy="119691"/>
            </a:xfrm>
            <a:custGeom>
              <a:avLst/>
              <a:gdLst>
                <a:gd name="T0" fmla="*/ 104753 w 3040062"/>
                <a:gd name="T1" fmla="*/ 1241540 h 2303463"/>
                <a:gd name="T2" fmla="*/ 251725 w 3040062"/>
                <a:gd name="T3" fmla="*/ 1260899 h 2303463"/>
                <a:gd name="T4" fmla="*/ 265692 w 3040062"/>
                <a:gd name="T5" fmla="*/ 1110467 h 2303463"/>
                <a:gd name="T6" fmla="*/ 844867 w 3040062"/>
                <a:gd name="T7" fmla="*/ 970596 h 2303463"/>
                <a:gd name="T8" fmla="*/ 870584 w 3040062"/>
                <a:gd name="T9" fmla="*/ 987377 h 2303463"/>
                <a:gd name="T10" fmla="*/ 872172 w 3040062"/>
                <a:gd name="T11" fmla="*/ 1402771 h 2303463"/>
                <a:gd name="T12" fmla="*/ 848359 w 3040062"/>
                <a:gd name="T13" fmla="*/ 1421768 h 2303463"/>
                <a:gd name="T14" fmla="*/ 615315 w 3040062"/>
                <a:gd name="T15" fmla="*/ 1415119 h 2303463"/>
                <a:gd name="T16" fmla="*/ 603250 w 3040062"/>
                <a:gd name="T17" fmla="*/ 1002891 h 2303463"/>
                <a:gd name="T18" fmla="*/ 617855 w 3040062"/>
                <a:gd name="T19" fmla="*/ 975662 h 2303463"/>
                <a:gd name="T20" fmla="*/ 1240437 w 3040062"/>
                <a:gd name="T21" fmla="*/ 749300 h 2303463"/>
                <a:gd name="T22" fmla="*/ 1265867 w 3040062"/>
                <a:gd name="T23" fmla="*/ 766421 h 2303463"/>
                <a:gd name="T24" fmla="*/ 1267138 w 3040062"/>
                <a:gd name="T25" fmla="*/ 1402743 h 2303463"/>
                <a:gd name="T26" fmla="*/ 1243616 w 3040062"/>
                <a:gd name="T27" fmla="*/ 1421766 h 2303463"/>
                <a:gd name="T28" fmla="*/ 1010298 w 3040062"/>
                <a:gd name="T29" fmla="*/ 1415108 h 2303463"/>
                <a:gd name="T30" fmla="*/ 998537 w 3040062"/>
                <a:gd name="T31" fmla="*/ 782273 h 2303463"/>
                <a:gd name="T32" fmla="*/ 1012841 w 3040062"/>
                <a:gd name="T33" fmla="*/ 755007 h 2303463"/>
                <a:gd name="T34" fmla="*/ 2175011 w 3040062"/>
                <a:gd name="T35" fmla="*/ 666432 h 2303463"/>
                <a:gd name="T36" fmla="*/ 2235666 w 3040062"/>
                <a:gd name="T37" fmla="*/ 692135 h 2303463"/>
                <a:gd name="T38" fmla="*/ 2277268 w 3040062"/>
                <a:gd name="T39" fmla="*/ 742271 h 2303463"/>
                <a:gd name="T40" fmla="*/ 2290605 w 3040062"/>
                <a:gd name="T41" fmla="*/ 1286150 h 2303463"/>
                <a:gd name="T42" fmla="*/ 2948603 w 3040062"/>
                <a:gd name="T43" fmla="*/ 1365796 h 2303463"/>
                <a:gd name="T44" fmla="*/ 3005765 w 3040062"/>
                <a:gd name="T45" fmla="*/ 1408316 h 2303463"/>
                <a:gd name="T46" fmla="*/ 3036887 w 3040062"/>
                <a:gd name="T47" fmla="*/ 1473366 h 2303463"/>
                <a:gd name="T48" fmla="*/ 3035616 w 3040062"/>
                <a:gd name="T49" fmla="*/ 2191451 h 2303463"/>
                <a:gd name="T50" fmla="*/ 3001319 w 3040062"/>
                <a:gd name="T51" fmla="*/ 2254597 h 2303463"/>
                <a:gd name="T52" fmla="*/ 2941934 w 3040062"/>
                <a:gd name="T53" fmla="*/ 2294578 h 2303463"/>
                <a:gd name="T54" fmla="*/ 2171200 w 3040062"/>
                <a:gd name="T55" fmla="*/ 2303146 h 2303463"/>
                <a:gd name="T56" fmla="*/ 2113403 w 3040062"/>
                <a:gd name="T57" fmla="*/ 2292040 h 2303463"/>
                <a:gd name="T58" fmla="*/ 1552263 w 3040062"/>
                <a:gd name="T59" fmla="*/ 1741815 h 2303463"/>
                <a:gd name="T60" fmla="*/ 1526223 w 3040062"/>
                <a:gd name="T61" fmla="*/ 1686919 h 2303463"/>
                <a:gd name="T62" fmla="*/ 1529081 w 3040062"/>
                <a:gd name="T63" fmla="*/ 1626946 h 2303463"/>
                <a:gd name="T64" fmla="*/ 1560520 w 3040062"/>
                <a:gd name="T65" fmla="*/ 1574272 h 2303463"/>
                <a:gd name="T66" fmla="*/ 1612919 w 3040062"/>
                <a:gd name="T67" fmla="*/ 1542858 h 2303463"/>
                <a:gd name="T68" fmla="*/ 1673891 w 3040062"/>
                <a:gd name="T69" fmla="*/ 1539685 h 2303463"/>
                <a:gd name="T70" fmla="*/ 1728513 w 3040062"/>
                <a:gd name="T71" fmla="*/ 1565705 h 2303463"/>
                <a:gd name="T72" fmla="*/ 2024167 w 3040062"/>
                <a:gd name="T73" fmla="*/ 760992 h 2303463"/>
                <a:gd name="T74" fmla="*/ 2057829 w 3040062"/>
                <a:gd name="T75" fmla="*/ 704828 h 2303463"/>
                <a:gd name="T76" fmla="*/ 2113721 w 3040062"/>
                <a:gd name="T77" fmla="*/ 670875 h 2303463"/>
                <a:gd name="T78" fmla="*/ 1640947 w 3040062"/>
                <a:gd name="T79" fmla="*/ 485773 h 2303463"/>
                <a:gd name="T80" fmla="*/ 1662436 w 3040062"/>
                <a:gd name="T81" fmla="*/ 507334 h 2303463"/>
                <a:gd name="T82" fmla="*/ 1658328 w 3040062"/>
                <a:gd name="T83" fmla="*/ 1408133 h 2303463"/>
                <a:gd name="T84" fmla="*/ 1631151 w 3040062"/>
                <a:gd name="T85" fmla="*/ 1422401 h 2303463"/>
                <a:gd name="T86" fmla="*/ 1401409 w 3040062"/>
                <a:gd name="T87" fmla="*/ 1410669 h 2303463"/>
                <a:gd name="T88" fmla="*/ 1394457 w 3040062"/>
                <a:gd name="T89" fmla="*/ 510505 h 2303463"/>
                <a:gd name="T90" fmla="*/ 1413734 w 3040062"/>
                <a:gd name="T91" fmla="*/ 486725 h 2303463"/>
                <a:gd name="T92" fmla="*/ 2856582 w 3040062"/>
                <a:gd name="T93" fmla="*/ 2539 h 2303463"/>
                <a:gd name="T94" fmla="*/ 2942924 w 3040062"/>
                <a:gd name="T95" fmla="*/ 45384 h 2303463"/>
                <a:gd name="T96" fmla="*/ 3001649 w 3040062"/>
                <a:gd name="T97" fmla="*/ 130121 h 2303463"/>
                <a:gd name="T98" fmla="*/ 3021012 w 3040062"/>
                <a:gd name="T99" fmla="*/ 1276768 h 2303463"/>
                <a:gd name="T100" fmla="*/ 2944193 w 3040062"/>
                <a:gd name="T101" fmla="*/ 1247252 h 2303463"/>
                <a:gd name="T102" fmla="*/ 374889 w 3040062"/>
                <a:gd name="T103" fmla="*/ 1959424 h 2303463"/>
                <a:gd name="T104" fmla="*/ 127291 w 3040062"/>
                <a:gd name="T105" fmla="*/ 2259336 h 2303463"/>
                <a:gd name="T106" fmla="*/ 50472 w 3040062"/>
                <a:gd name="T107" fmla="*/ 2198402 h 2303463"/>
                <a:gd name="T108" fmla="*/ 6349 w 3040062"/>
                <a:gd name="T109" fmla="*/ 2100970 h 2303463"/>
                <a:gd name="T110" fmla="*/ 3809 w 3040062"/>
                <a:gd name="T111" fmla="*/ 183438 h 2303463"/>
                <a:gd name="T112" fmla="*/ 44441 w 3040062"/>
                <a:gd name="T113" fmla="*/ 83468 h 2303463"/>
                <a:gd name="T114" fmla="*/ 118720 w 3040062"/>
                <a:gd name="T115" fmla="*/ 17773 h 2303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040062" h="2303463">
                  <a:moveTo>
                    <a:pt x="124116" y="1098725"/>
                  </a:moveTo>
                  <a:lnTo>
                    <a:pt x="120307" y="1099042"/>
                  </a:lnTo>
                  <a:lnTo>
                    <a:pt x="116498" y="1099994"/>
                  </a:lnTo>
                  <a:lnTo>
                    <a:pt x="113324" y="1101898"/>
                  </a:lnTo>
                  <a:lnTo>
                    <a:pt x="110467" y="1104120"/>
                  </a:lnTo>
                  <a:lnTo>
                    <a:pt x="108245" y="1107294"/>
                  </a:lnTo>
                  <a:lnTo>
                    <a:pt x="106340" y="1110467"/>
                  </a:lnTo>
                  <a:lnTo>
                    <a:pt x="105071" y="1114276"/>
                  </a:lnTo>
                  <a:lnTo>
                    <a:pt x="104753" y="1118084"/>
                  </a:lnTo>
                  <a:lnTo>
                    <a:pt x="104753" y="1241540"/>
                  </a:lnTo>
                  <a:lnTo>
                    <a:pt x="105071" y="1245348"/>
                  </a:lnTo>
                  <a:lnTo>
                    <a:pt x="106340" y="1249157"/>
                  </a:lnTo>
                  <a:lnTo>
                    <a:pt x="108245" y="1252330"/>
                  </a:lnTo>
                  <a:lnTo>
                    <a:pt x="110467" y="1255187"/>
                  </a:lnTo>
                  <a:lnTo>
                    <a:pt x="113324" y="1257726"/>
                  </a:lnTo>
                  <a:lnTo>
                    <a:pt x="116498" y="1259312"/>
                  </a:lnTo>
                  <a:lnTo>
                    <a:pt x="120307" y="1260899"/>
                  </a:lnTo>
                  <a:lnTo>
                    <a:pt x="124116" y="1261217"/>
                  </a:lnTo>
                  <a:lnTo>
                    <a:pt x="247598" y="1261217"/>
                  </a:lnTo>
                  <a:lnTo>
                    <a:pt x="251725" y="1260899"/>
                  </a:lnTo>
                  <a:lnTo>
                    <a:pt x="255216" y="1259312"/>
                  </a:lnTo>
                  <a:lnTo>
                    <a:pt x="258708" y="1257726"/>
                  </a:lnTo>
                  <a:lnTo>
                    <a:pt x="261565" y="1255187"/>
                  </a:lnTo>
                  <a:lnTo>
                    <a:pt x="264105" y="1252330"/>
                  </a:lnTo>
                  <a:lnTo>
                    <a:pt x="265692" y="1249157"/>
                  </a:lnTo>
                  <a:lnTo>
                    <a:pt x="266644" y="1245348"/>
                  </a:lnTo>
                  <a:lnTo>
                    <a:pt x="266961" y="1241540"/>
                  </a:lnTo>
                  <a:lnTo>
                    <a:pt x="266961" y="1118084"/>
                  </a:lnTo>
                  <a:lnTo>
                    <a:pt x="266644" y="1114276"/>
                  </a:lnTo>
                  <a:lnTo>
                    <a:pt x="265692" y="1110467"/>
                  </a:lnTo>
                  <a:lnTo>
                    <a:pt x="264105" y="1107294"/>
                  </a:lnTo>
                  <a:lnTo>
                    <a:pt x="261565" y="1104120"/>
                  </a:lnTo>
                  <a:lnTo>
                    <a:pt x="258708" y="1101898"/>
                  </a:lnTo>
                  <a:lnTo>
                    <a:pt x="255216" y="1099994"/>
                  </a:lnTo>
                  <a:lnTo>
                    <a:pt x="251725" y="1099042"/>
                  </a:lnTo>
                  <a:lnTo>
                    <a:pt x="247598" y="1098725"/>
                  </a:lnTo>
                  <a:lnTo>
                    <a:pt x="124116" y="1098725"/>
                  </a:lnTo>
                  <a:close/>
                  <a:moveTo>
                    <a:pt x="636270" y="969963"/>
                  </a:moveTo>
                  <a:lnTo>
                    <a:pt x="841692" y="969963"/>
                  </a:lnTo>
                  <a:lnTo>
                    <a:pt x="844867" y="970596"/>
                  </a:lnTo>
                  <a:lnTo>
                    <a:pt x="848359" y="970913"/>
                  </a:lnTo>
                  <a:lnTo>
                    <a:pt x="851534" y="971546"/>
                  </a:lnTo>
                  <a:lnTo>
                    <a:pt x="854709" y="972813"/>
                  </a:lnTo>
                  <a:lnTo>
                    <a:pt x="857567" y="974396"/>
                  </a:lnTo>
                  <a:lnTo>
                    <a:pt x="860107" y="975662"/>
                  </a:lnTo>
                  <a:lnTo>
                    <a:pt x="862647" y="977878"/>
                  </a:lnTo>
                  <a:lnTo>
                    <a:pt x="865187" y="979778"/>
                  </a:lnTo>
                  <a:lnTo>
                    <a:pt x="867092" y="982311"/>
                  </a:lnTo>
                  <a:lnTo>
                    <a:pt x="868997" y="984844"/>
                  </a:lnTo>
                  <a:lnTo>
                    <a:pt x="870584" y="987377"/>
                  </a:lnTo>
                  <a:lnTo>
                    <a:pt x="872172" y="990226"/>
                  </a:lnTo>
                  <a:lnTo>
                    <a:pt x="873124" y="993076"/>
                  </a:lnTo>
                  <a:lnTo>
                    <a:pt x="873760" y="996242"/>
                  </a:lnTo>
                  <a:lnTo>
                    <a:pt x="874712" y="999725"/>
                  </a:lnTo>
                  <a:lnTo>
                    <a:pt x="874712" y="1002891"/>
                  </a:lnTo>
                  <a:lnTo>
                    <a:pt x="874712" y="1389790"/>
                  </a:lnTo>
                  <a:lnTo>
                    <a:pt x="874712" y="1393273"/>
                  </a:lnTo>
                  <a:lnTo>
                    <a:pt x="873760" y="1396439"/>
                  </a:lnTo>
                  <a:lnTo>
                    <a:pt x="873124" y="1399605"/>
                  </a:lnTo>
                  <a:lnTo>
                    <a:pt x="872172" y="1402771"/>
                  </a:lnTo>
                  <a:lnTo>
                    <a:pt x="870584" y="1405304"/>
                  </a:lnTo>
                  <a:lnTo>
                    <a:pt x="868997" y="1408154"/>
                  </a:lnTo>
                  <a:lnTo>
                    <a:pt x="867092" y="1410686"/>
                  </a:lnTo>
                  <a:lnTo>
                    <a:pt x="865187" y="1413219"/>
                  </a:lnTo>
                  <a:lnTo>
                    <a:pt x="862647" y="1415119"/>
                  </a:lnTo>
                  <a:lnTo>
                    <a:pt x="860107" y="1417019"/>
                  </a:lnTo>
                  <a:lnTo>
                    <a:pt x="857567" y="1418602"/>
                  </a:lnTo>
                  <a:lnTo>
                    <a:pt x="854709" y="1420185"/>
                  </a:lnTo>
                  <a:lnTo>
                    <a:pt x="851534" y="1421135"/>
                  </a:lnTo>
                  <a:lnTo>
                    <a:pt x="848359" y="1421768"/>
                  </a:lnTo>
                  <a:lnTo>
                    <a:pt x="844867" y="1422401"/>
                  </a:lnTo>
                  <a:lnTo>
                    <a:pt x="841692" y="1422401"/>
                  </a:lnTo>
                  <a:lnTo>
                    <a:pt x="636270" y="1422401"/>
                  </a:lnTo>
                  <a:lnTo>
                    <a:pt x="632777" y="1422401"/>
                  </a:lnTo>
                  <a:lnTo>
                    <a:pt x="629920" y="1421768"/>
                  </a:lnTo>
                  <a:lnTo>
                    <a:pt x="626745" y="1421135"/>
                  </a:lnTo>
                  <a:lnTo>
                    <a:pt x="623570" y="1420185"/>
                  </a:lnTo>
                  <a:lnTo>
                    <a:pt x="620713" y="1418602"/>
                  </a:lnTo>
                  <a:lnTo>
                    <a:pt x="617855" y="1417019"/>
                  </a:lnTo>
                  <a:lnTo>
                    <a:pt x="615315" y="1415119"/>
                  </a:lnTo>
                  <a:lnTo>
                    <a:pt x="613093" y="1413219"/>
                  </a:lnTo>
                  <a:lnTo>
                    <a:pt x="610870" y="1410686"/>
                  </a:lnTo>
                  <a:lnTo>
                    <a:pt x="608965" y="1408154"/>
                  </a:lnTo>
                  <a:lnTo>
                    <a:pt x="607378" y="1405304"/>
                  </a:lnTo>
                  <a:lnTo>
                    <a:pt x="606108" y="1402771"/>
                  </a:lnTo>
                  <a:lnTo>
                    <a:pt x="605155" y="1399605"/>
                  </a:lnTo>
                  <a:lnTo>
                    <a:pt x="603885" y="1396439"/>
                  </a:lnTo>
                  <a:lnTo>
                    <a:pt x="603568" y="1393273"/>
                  </a:lnTo>
                  <a:lnTo>
                    <a:pt x="603250" y="1389790"/>
                  </a:lnTo>
                  <a:lnTo>
                    <a:pt x="603250" y="1002891"/>
                  </a:lnTo>
                  <a:lnTo>
                    <a:pt x="603568" y="999725"/>
                  </a:lnTo>
                  <a:lnTo>
                    <a:pt x="603885" y="996242"/>
                  </a:lnTo>
                  <a:lnTo>
                    <a:pt x="605155" y="993076"/>
                  </a:lnTo>
                  <a:lnTo>
                    <a:pt x="606108" y="990226"/>
                  </a:lnTo>
                  <a:lnTo>
                    <a:pt x="607378" y="987377"/>
                  </a:lnTo>
                  <a:lnTo>
                    <a:pt x="608965" y="984844"/>
                  </a:lnTo>
                  <a:lnTo>
                    <a:pt x="610870" y="982311"/>
                  </a:lnTo>
                  <a:lnTo>
                    <a:pt x="613093" y="979778"/>
                  </a:lnTo>
                  <a:lnTo>
                    <a:pt x="615315" y="977878"/>
                  </a:lnTo>
                  <a:lnTo>
                    <a:pt x="617855" y="975662"/>
                  </a:lnTo>
                  <a:lnTo>
                    <a:pt x="620713" y="974396"/>
                  </a:lnTo>
                  <a:lnTo>
                    <a:pt x="623570" y="972813"/>
                  </a:lnTo>
                  <a:lnTo>
                    <a:pt x="626745" y="971546"/>
                  </a:lnTo>
                  <a:lnTo>
                    <a:pt x="629920" y="970913"/>
                  </a:lnTo>
                  <a:lnTo>
                    <a:pt x="632777" y="970596"/>
                  </a:lnTo>
                  <a:lnTo>
                    <a:pt x="636270" y="969963"/>
                  </a:lnTo>
                  <a:close/>
                  <a:moveTo>
                    <a:pt x="1027781" y="749300"/>
                  </a:moveTo>
                  <a:lnTo>
                    <a:pt x="1031278" y="749300"/>
                  </a:lnTo>
                  <a:lnTo>
                    <a:pt x="1236940" y="749300"/>
                  </a:lnTo>
                  <a:lnTo>
                    <a:pt x="1240437" y="749300"/>
                  </a:lnTo>
                  <a:lnTo>
                    <a:pt x="1243616" y="750251"/>
                  </a:lnTo>
                  <a:lnTo>
                    <a:pt x="1246476" y="750885"/>
                  </a:lnTo>
                  <a:lnTo>
                    <a:pt x="1249655" y="751837"/>
                  </a:lnTo>
                  <a:lnTo>
                    <a:pt x="1252516" y="753105"/>
                  </a:lnTo>
                  <a:lnTo>
                    <a:pt x="1255377" y="755007"/>
                  </a:lnTo>
                  <a:lnTo>
                    <a:pt x="1257920" y="756592"/>
                  </a:lnTo>
                  <a:lnTo>
                    <a:pt x="1260145" y="758812"/>
                  </a:lnTo>
                  <a:lnTo>
                    <a:pt x="1262370" y="761348"/>
                  </a:lnTo>
                  <a:lnTo>
                    <a:pt x="1264595" y="763567"/>
                  </a:lnTo>
                  <a:lnTo>
                    <a:pt x="1265867" y="766421"/>
                  </a:lnTo>
                  <a:lnTo>
                    <a:pt x="1267138" y="769274"/>
                  </a:lnTo>
                  <a:lnTo>
                    <a:pt x="1268410" y="772445"/>
                  </a:lnTo>
                  <a:lnTo>
                    <a:pt x="1269363" y="775615"/>
                  </a:lnTo>
                  <a:lnTo>
                    <a:pt x="1269681" y="778786"/>
                  </a:lnTo>
                  <a:lnTo>
                    <a:pt x="1269999" y="782273"/>
                  </a:lnTo>
                  <a:lnTo>
                    <a:pt x="1269999" y="1389744"/>
                  </a:lnTo>
                  <a:lnTo>
                    <a:pt x="1269681" y="1393231"/>
                  </a:lnTo>
                  <a:lnTo>
                    <a:pt x="1269363" y="1396402"/>
                  </a:lnTo>
                  <a:lnTo>
                    <a:pt x="1268410" y="1399572"/>
                  </a:lnTo>
                  <a:lnTo>
                    <a:pt x="1267138" y="1402743"/>
                  </a:lnTo>
                  <a:lnTo>
                    <a:pt x="1265867" y="1405279"/>
                  </a:lnTo>
                  <a:lnTo>
                    <a:pt x="1264595" y="1408133"/>
                  </a:lnTo>
                  <a:lnTo>
                    <a:pt x="1262370" y="1410669"/>
                  </a:lnTo>
                  <a:lnTo>
                    <a:pt x="1260145" y="1413206"/>
                  </a:lnTo>
                  <a:lnTo>
                    <a:pt x="1257920" y="1415108"/>
                  </a:lnTo>
                  <a:lnTo>
                    <a:pt x="1255377" y="1417010"/>
                  </a:lnTo>
                  <a:lnTo>
                    <a:pt x="1252516" y="1418595"/>
                  </a:lnTo>
                  <a:lnTo>
                    <a:pt x="1249655" y="1420181"/>
                  </a:lnTo>
                  <a:lnTo>
                    <a:pt x="1246476" y="1421132"/>
                  </a:lnTo>
                  <a:lnTo>
                    <a:pt x="1243616" y="1421766"/>
                  </a:lnTo>
                  <a:lnTo>
                    <a:pt x="1240437" y="1422400"/>
                  </a:lnTo>
                  <a:lnTo>
                    <a:pt x="1236940" y="1422400"/>
                  </a:lnTo>
                  <a:lnTo>
                    <a:pt x="1031278" y="1422400"/>
                  </a:lnTo>
                  <a:lnTo>
                    <a:pt x="1027781" y="1422400"/>
                  </a:lnTo>
                  <a:lnTo>
                    <a:pt x="1024602" y="1421766"/>
                  </a:lnTo>
                  <a:lnTo>
                    <a:pt x="1021424" y="1421132"/>
                  </a:lnTo>
                  <a:lnTo>
                    <a:pt x="1018245" y="1420181"/>
                  </a:lnTo>
                  <a:lnTo>
                    <a:pt x="1015384" y="1418595"/>
                  </a:lnTo>
                  <a:lnTo>
                    <a:pt x="1012841" y="1417010"/>
                  </a:lnTo>
                  <a:lnTo>
                    <a:pt x="1010298" y="1415108"/>
                  </a:lnTo>
                  <a:lnTo>
                    <a:pt x="1007755" y="1413206"/>
                  </a:lnTo>
                  <a:lnTo>
                    <a:pt x="1005848" y="1410669"/>
                  </a:lnTo>
                  <a:lnTo>
                    <a:pt x="1003941" y="1408133"/>
                  </a:lnTo>
                  <a:lnTo>
                    <a:pt x="1002351" y="1405279"/>
                  </a:lnTo>
                  <a:lnTo>
                    <a:pt x="1000762" y="1402743"/>
                  </a:lnTo>
                  <a:lnTo>
                    <a:pt x="999808" y="1399572"/>
                  </a:lnTo>
                  <a:lnTo>
                    <a:pt x="999173" y="1396402"/>
                  </a:lnTo>
                  <a:lnTo>
                    <a:pt x="998537" y="1393231"/>
                  </a:lnTo>
                  <a:lnTo>
                    <a:pt x="998537" y="1389744"/>
                  </a:lnTo>
                  <a:lnTo>
                    <a:pt x="998537" y="782273"/>
                  </a:lnTo>
                  <a:lnTo>
                    <a:pt x="998537" y="778786"/>
                  </a:lnTo>
                  <a:lnTo>
                    <a:pt x="999173" y="775615"/>
                  </a:lnTo>
                  <a:lnTo>
                    <a:pt x="999808" y="772445"/>
                  </a:lnTo>
                  <a:lnTo>
                    <a:pt x="1000762" y="769274"/>
                  </a:lnTo>
                  <a:lnTo>
                    <a:pt x="1002351" y="766421"/>
                  </a:lnTo>
                  <a:lnTo>
                    <a:pt x="1003941" y="763567"/>
                  </a:lnTo>
                  <a:lnTo>
                    <a:pt x="1005848" y="761348"/>
                  </a:lnTo>
                  <a:lnTo>
                    <a:pt x="1007755" y="758812"/>
                  </a:lnTo>
                  <a:lnTo>
                    <a:pt x="1010298" y="756592"/>
                  </a:lnTo>
                  <a:lnTo>
                    <a:pt x="1012841" y="755007"/>
                  </a:lnTo>
                  <a:lnTo>
                    <a:pt x="1015384" y="753105"/>
                  </a:lnTo>
                  <a:lnTo>
                    <a:pt x="1018245" y="751837"/>
                  </a:lnTo>
                  <a:lnTo>
                    <a:pt x="1021424" y="750885"/>
                  </a:lnTo>
                  <a:lnTo>
                    <a:pt x="1024602" y="750251"/>
                  </a:lnTo>
                  <a:lnTo>
                    <a:pt x="1027781" y="749300"/>
                  </a:lnTo>
                  <a:close/>
                  <a:moveTo>
                    <a:pt x="2147065" y="665163"/>
                  </a:moveTo>
                  <a:lnTo>
                    <a:pt x="2154052" y="665163"/>
                  </a:lnTo>
                  <a:lnTo>
                    <a:pt x="2161038" y="665163"/>
                  </a:lnTo>
                  <a:lnTo>
                    <a:pt x="2168025" y="665798"/>
                  </a:lnTo>
                  <a:lnTo>
                    <a:pt x="2175011" y="666432"/>
                  </a:lnTo>
                  <a:lnTo>
                    <a:pt x="2181680" y="667702"/>
                  </a:lnTo>
                  <a:lnTo>
                    <a:pt x="2188349" y="669288"/>
                  </a:lnTo>
                  <a:lnTo>
                    <a:pt x="2194700" y="670875"/>
                  </a:lnTo>
                  <a:lnTo>
                    <a:pt x="2201369" y="673413"/>
                  </a:lnTo>
                  <a:lnTo>
                    <a:pt x="2207085" y="675952"/>
                  </a:lnTo>
                  <a:lnTo>
                    <a:pt x="2213437" y="678173"/>
                  </a:lnTo>
                  <a:lnTo>
                    <a:pt x="2219471" y="681346"/>
                  </a:lnTo>
                  <a:lnTo>
                    <a:pt x="2224869" y="684519"/>
                  </a:lnTo>
                  <a:lnTo>
                    <a:pt x="2230585" y="688327"/>
                  </a:lnTo>
                  <a:lnTo>
                    <a:pt x="2235666" y="692135"/>
                  </a:lnTo>
                  <a:lnTo>
                    <a:pt x="2241065" y="695943"/>
                  </a:lnTo>
                  <a:lnTo>
                    <a:pt x="2245829" y="700702"/>
                  </a:lnTo>
                  <a:lnTo>
                    <a:pt x="2250910" y="704828"/>
                  </a:lnTo>
                  <a:lnTo>
                    <a:pt x="2255356" y="709587"/>
                  </a:lnTo>
                  <a:lnTo>
                    <a:pt x="2259484" y="714347"/>
                  </a:lnTo>
                  <a:lnTo>
                    <a:pt x="2263612" y="719741"/>
                  </a:lnTo>
                  <a:lnTo>
                    <a:pt x="2267423" y="724819"/>
                  </a:lnTo>
                  <a:lnTo>
                    <a:pt x="2270916" y="730530"/>
                  </a:lnTo>
                  <a:lnTo>
                    <a:pt x="2274092" y="736559"/>
                  </a:lnTo>
                  <a:lnTo>
                    <a:pt x="2277268" y="742271"/>
                  </a:lnTo>
                  <a:lnTo>
                    <a:pt x="2280126" y="748300"/>
                  </a:lnTo>
                  <a:lnTo>
                    <a:pt x="2282666" y="754646"/>
                  </a:lnTo>
                  <a:lnTo>
                    <a:pt x="2284572" y="760992"/>
                  </a:lnTo>
                  <a:lnTo>
                    <a:pt x="2286477" y="767021"/>
                  </a:lnTo>
                  <a:lnTo>
                    <a:pt x="2287747" y="773685"/>
                  </a:lnTo>
                  <a:lnTo>
                    <a:pt x="2289018" y="780349"/>
                  </a:lnTo>
                  <a:lnTo>
                    <a:pt x="2289970" y="787330"/>
                  </a:lnTo>
                  <a:lnTo>
                    <a:pt x="2290605" y="794311"/>
                  </a:lnTo>
                  <a:lnTo>
                    <a:pt x="2290605" y="801292"/>
                  </a:lnTo>
                  <a:lnTo>
                    <a:pt x="2290605" y="1286150"/>
                  </a:lnTo>
                  <a:lnTo>
                    <a:pt x="2884137" y="1353738"/>
                  </a:lnTo>
                  <a:lnTo>
                    <a:pt x="2890488" y="1354055"/>
                  </a:lnTo>
                  <a:lnTo>
                    <a:pt x="2898110" y="1354372"/>
                  </a:lnTo>
                  <a:lnTo>
                    <a:pt x="2905732" y="1355007"/>
                  </a:lnTo>
                  <a:lnTo>
                    <a:pt x="2913353" y="1355642"/>
                  </a:lnTo>
                  <a:lnTo>
                    <a:pt x="2920657" y="1357228"/>
                  </a:lnTo>
                  <a:lnTo>
                    <a:pt x="2927644" y="1358815"/>
                  </a:lnTo>
                  <a:lnTo>
                    <a:pt x="2934948" y="1361036"/>
                  </a:lnTo>
                  <a:lnTo>
                    <a:pt x="2941934" y="1362940"/>
                  </a:lnTo>
                  <a:lnTo>
                    <a:pt x="2948603" y="1365796"/>
                  </a:lnTo>
                  <a:lnTo>
                    <a:pt x="2955272" y="1368969"/>
                  </a:lnTo>
                  <a:lnTo>
                    <a:pt x="2961941" y="1372142"/>
                  </a:lnTo>
                  <a:lnTo>
                    <a:pt x="2968292" y="1375633"/>
                  </a:lnTo>
                  <a:lnTo>
                    <a:pt x="2974008" y="1379758"/>
                  </a:lnTo>
                  <a:lnTo>
                    <a:pt x="2980042" y="1383883"/>
                  </a:lnTo>
                  <a:lnTo>
                    <a:pt x="2985758" y="1388008"/>
                  </a:lnTo>
                  <a:lnTo>
                    <a:pt x="2990839" y="1393085"/>
                  </a:lnTo>
                  <a:lnTo>
                    <a:pt x="2996238" y="1397845"/>
                  </a:lnTo>
                  <a:lnTo>
                    <a:pt x="3001319" y="1403239"/>
                  </a:lnTo>
                  <a:lnTo>
                    <a:pt x="3005765" y="1408316"/>
                  </a:lnTo>
                  <a:lnTo>
                    <a:pt x="3010529" y="1414345"/>
                  </a:lnTo>
                  <a:lnTo>
                    <a:pt x="3014657" y="1419739"/>
                  </a:lnTo>
                  <a:lnTo>
                    <a:pt x="3018468" y="1426086"/>
                  </a:lnTo>
                  <a:lnTo>
                    <a:pt x="3021961" y="1432432"/>
                  </a:lnTo>
                  <a:lnTo>
                    <a:pt x="3025454" y="1438778"/>
                  </a:lnTo>
                  <a:lnTo>
                    <a:pt x="3028312" y="1445125"/>
                  </a:lnTo>
                  <a:lnTo>
                    <a:pt x="3030853" y="1452106"/>
                  </a:lnTo>
                  <a:lnTo>
                    <a:pt x="3033393" y="1459087"/>
                  </a:lnTo>
                  <a:lnTo>
                    <a:pt x="3035616" y="1466067"/>
                  </a:lnTo>
                  <a:lnTo>
                    <a:pt x="3036887" y="1473366"/>
                  </a:lnTo>
                  <a:lnTo>
                    <a:pt x="3038474" y="1480664"/>
                  </a:lnTo>
                  <a:lnTo>
                    <a:pt x="3039427" y="1488280"/>
                  </a:lnTo>
                  <a:lnTo>
                    <a:pt x="3040062" y="1495895"/>
                  </a:lnTo>
                  <a:lnTo>
                    <a:pt x="3040062" y="1503511"/>
                  </a:lnTo>
                  <a:lnTo>
                    <a:pt x="3040062" y="2154008"/>
                  </a:lnTo>
                  <a:lnTo>
                    <a:pt x="3040062" y="2161623"/>
                  </a:lnTo>
                  <a:lnTo>
                    <a:pt x="3039427" y="2169556"/>
                  </a:lnTo>
                  <a:lnTo>
                    <a:pt x="3038474" y="2177172"/>
                  </a:lnTo>
                  <a:lnTo>
                    <a:pt x="3036887" y="2184470"/>
                  </a:lnTo>
                  <a:lnTo>
                    <a:pt x="3035616" y="2191451"/>
                  </a:lnTo>
                  <a:lnTo>
                    <a:pt x="3033393" y="2198749"/>
                  </a:lnTo>
                  <a:lnTo>
                    <a:pt x="3030853" y="2205730"/>
                  </a:lnTo>
                  <a:lnTo>
                    <a:pt x="3028312" y="2212394"/>
                  </a:lnTo>
                  <a:lnTo>
                    <a:pt x="3025454" y="2219057"/>
                  </a:lnTo>
                  <a:lnTo>
                    <a:pt x="3021961" y="2225404"/>
                  </a:lnTo>
                  <a:lnTo>
                    <a:pt x="3018468" y="2231433"/>
                  </a:lnTo>
                  <a:lnTo>
                    <a:pt x="3014657" y="2237779"/>
                  </a:lnTo>
                  <a:lnTo>
                    <a:pt x="3010529" y="2243808"/>
                  </a:lnTo>
                  <a:lnTo>
                    <a:pt x="3005765" y="2249202"/>
                  </a:lnTo>
                  <a:lnTo>
                    <a:pt x="3001319" y="2254597"/>
                  </a:lnTo>
                  <a:lnTo>
                    <a:pt x="2996238" y="2259674"/>
                  </a:lnTo>
                  <a:lnTo>
                    <a:pt x="2990839" y="2264433"/>
                  </a:lnTo>
                  <a:lnTo>
                    <a:pt x="2985758" y="2269510"/>
                  </a:lnTo>
                  <a:lnTo>
                    <a:pt x="2980042" y="2273953"/>
                  </a:lnTo>
                  <a:lnTo>
                    <a:pt x="2974008" y="2278078"/>
                  </a:lnTo>
                  <a:lnTo>
                    <a:pt x="2968292" y="2281886"/>
                  </a:lnTo>
                  <a:lnTo>
                    <a:pt x="2961941" y="2285376"/>
                  </a:lnTo>
                  <a:lnTo>
                    <a:pt x="2955272" y="2288867"/>
                  </a:lnTo>
                  <a:lnTo>
                    <a:pt x="2948603" y="2291723"/>
                  </a:lnTo>
                  <a:lnTo>
                    <a:pt x="2941934" y="2294578"/>
                  </a:lnTo>
                  <a:lnTo>
                    <a:pt x="2934948" y="2297117"/>
                  </a:lnTo>
                  <a:lnTo>
                    <a:pt x="2927644" y="2298703"/>
                  </a:lnTo>
                  <a:lnTo>
                    <a:pt x="2920657" y="2300607"/>
                  </a:lnTo>
                  <a:lnTo>
                    <a:pt x="2913353" y="2301877"/>
                  </a:lnTo>
                  <a:lnTo>
                    <a:pt x="2905732" y="2302829"/>
                  </a:lnTo>
                  <a:lnTo>
                    <a:pt x="2898110" y="2303146"/>
                  </a:lnTo>
                  <a:lnTo>
                    <a:pt x="2890488" y="2303463"/>
                  </a:lnTo>
                  <a:lnTo>
                    <a:pt x="2177552" y="2303463"/>
                  </a:lnTo>
                  <a:lnTo>
                    <a:pt x="2173423" y="2303146"/>
                  </a:lnTo>
                  <a:lnTo>
                    <a:pt x="2171200" y="2303146"/>
                  </a:lnTo>
                  <a:lnTo>
                    <a:pt x="2169613" y="2303146"/>
                  </a:lnTo>
                  <a:lnTo>
                    <a:pt x="2162944" y="2303146"/>
                  </a:lnTo>
                  <a:lnTo>
                    <a:pt x="2156275" y="2303146"/>
                  </a:lnTo>
                  <a:lnTo>
                    <a:pt x="2149924" y="2302511"/>
                  </a:lnTo>
                  <a:lnTo>
                    <a:pt x="2143572" y="2301559"/>
                  </a:lnTo>
                  <a:lnTo>
                    <a:pt x="2137538" y="2300607"/>
                  </a:lnTo>
                  <a:lnTo>
                    <a:pt x="2131187" y="2298703"/>
                  </a:lnTo>
                  <a:lnTo>
                    <a:pt x="2125153" y="2297117"/>
                  </a:lnTo>
                  <a:lnTo>
                    <a:pt x="2119437" y="2294896"/>
                  </a:lnTo>
                  <a:lnTo>
                    <a:pt x="2113403" y="2292040"/>
                  </a:lnTo>
                  <a:lnTo>
                    <a:pt x="2107370" y="2289501"/>
                  </a:lnTo>
                  <a:lnTo>
                    <a:pt x="2101971" y="2286645"/>
                  </a:lnTo>
                  <a:lnTo>
                    <a:pt x="2096572" y="2283155"/>
                  </a:lnTo>
                  <a:lnTo>
                    <a:pt x="2091491" y="2279665"/>
                  </a:lnTo>
                  <a:lnTo>
                    <a:pt x="2086093" y="2275222"/>
                  </a:lnTo>
                  <a:lnTo>
                    <a:pt x="2081329" y="2271097"/>
                  </a:lnTo>
                  <a:lnTo>
                    <a:pt x="2076883" y="2266972"/>
                  </a:lnTo>
                  <a:lnTo>
                    <a:pt x="1560520" y="1751334"/>
                  </a:lnTo>
                  <a:lnTo>
                    <a:pt x="1556074" y="1746574"/>
                  </a:lnTo>
                  <a:lnTo>
                    <a:pt x="1552263" y="1741815"/>
                  </a:lnTo>
                  <a:lnTo>
                    <a:pt x="1548135" y="1737055"/>
                  </a:lnTo>
                  <a:lnTo>
                    <a:pt x="1544642" y="1731661"/>
                  </a:lnTo>
                  <a:lnTo>
                    <a:pt x="1541466" y="1726583"/>
                  </a:lnTo>
                  <a:lnTo>
                    <a:pt x="1538291" y="1720872"/>
                  </a:lnTo>
                  <a:lnTo>
                    <a:pt x="1535432" y="1715477"/>
                  </a:lnTo>
                  <a:lnTo>
                    <a:pt x="1532892" y="1709766"/>
                  </a:lnTo>
                  <a:lnTo>
                    <a:pt x="1530987" y="1704054"/>
                  </a:lnTo>
                  <a:lnTo>
                    <a:pt x="1529081" y="1698342"/>
                  </a:lnTo>
                  <a:lnTo>
                    <a:pt x="1527493" y="1692631"/>
                  </a:lnTo>
                  <a:lnTo>
                    <a:pt x="1526223" y="1686919"/>
                  </a:lnTo>
                  <a:lnTo>
                    <a:pt x="1525270" y="1680890"/>
                  </a:lnTo>
                  <a:lnTo>
                    <a:pt x="1524635" y="1674544"/>
                  </a:lnTo>
                  <a:lnTo>
                    <a:pt x="1524000" y="1668515"/>
                  </a:lnTo>
                  <a:lnTo>
                    <a:pt x="1524000" y="1662803"/>
                  </a:lnTo>
                  <a:lnTo>
                    <a:pt x="1524000" y="1656774"/>
                  </a:lnTo>
                  <a:lnTo>
                    <a:pt x="1524635" y="1650428"/>
                  </a:lnTo>
                  <a:lnTo>
                    <a:pt x="1525270" y="1644716"/>
                  </a:lnTo>
                  <a:lnTo>
                    <a:pt x="1526223" y="1638687"/>
                  </a:lnTo>
                  <a:lnTo>
                    <a:pt x="1527493" y="1632658"/>
                  </a:lnTo>
                  <a:lnTo>
                    <a:pt x="1529081" y="1626946"/>
                  </a:lnTo>
                  <a:lnTo>
                    <a:pt x="1530987" y="1621235"/>
                  </a:lnTo>
                  <a:lnTo>
                    <a:pt x="1532892" y="1615523"/>
                  </a:lnTo>
                  <a:lnTo>
                    <a:pt x="1535432" y="1609811"/>
                  </a:lnTo>
                  <a:lnTo>
                    <a:pt x="1538291" y="1604417"/>
                  </a:lnTo>
                  <a:lnTo>
                    <a:pt x="1541466" y="1599023"/>
                  </a:lnTo>
                  <a:lnTo>
                    <a:pt x="1544642" y="1593628"/>
                  </a:lnTo>
                  <a:lnTo>
                    <a:pt x="1548135" y="1588551"/>
                  </a:lnTo>
                  <a:lnTo>
                    <a:pt x="1552263" y="1583474"/>
                  </a:lnTo>
                  <a:lnTo>
                    <a:pt x="1556074" y="1578714"/>
                  </a:lnTo>
                  <a:lnTo>
                    <a:pt x="1560520" y="1574272"/>
                  </a:lnTo>
                  <a:lnTo>
                    <a:pt x="1564966" y="1569830"/>
                  </a:lnTo>
                  <a:lnTo>
                    <a:pt x="1570047" y="1565705"/>
                  </a:lnTo>
                  <a:lnTo>
                    <a:pt x="1574811" y="1561897"/>
                  </a:lnTo>
                  <a:lnTo>
                    <a:pt x="1579574" y="1558406"/>
                  </a:lnTo>
                  <a:lnTo>
                    <a:pt x="1584973" y="1554916"/>
                  </a:lnTo>
                  <a:lnTo>
                    <a:pt x="1590054" y="1552060"/>
                  </a:lnTo>
                  <a:lnTo>
                    <a:pt x="1595770" y="1549521"/>
                  </a:lnTo>
                  <a:lnTo>
                    <a:pt x="1601486" y="1546666"/>
                  </a:lnTo>
                  <a:lnTo>
                    <a:pt x="1606885" y="1544444"/>
                  </a:lnTo>
                  <a:lnTo>
                    <a:pt x="1612919" y="1542858"/>
                  </a:lnTo>
                  <a:lnTo>
                    <a:pt x="1618635" y="1540954"/>
                  </a:lnTo>
                  <a:lnTo>
                    <a:pt x="1624669" y="1539685"/>
                  </a:lnTo>
                  <a:lnTo>
                    <a:pt x="1630702" y="1538733"/>
                  </a:lnTo>
                  <a:lnTo>
                    <a:pt x="1637054" y="1538098"/>
                  </a:lnTo>
                  <a:lnTo>
                    <a:pt x="1642770" y="1537463"/>
                  </a:lnTo>
                  <a:lnTo>
                    <a:pt x="1649121" y="1537146"/>
                  </a:lnTo>
                  <a:lnTo>
                    <a:pt x="1655473" y="1537463"/>
                  </a:lnTo>
                  <a:lnTo>
                    <a:pt x="1661824" y="1538098"/>
                  </a:lnTo>
                  <a:lnTo>
                    <a:pt x="1667858" y="1538733"/>
                  </a:lnTo>
                  <a:lnTo>
                    <a:pt x="1673891" y="1539685"/>
                  </a:lnTo>
                  <a:lnTo>
                    <a:pt x="1679925" y="1540954"/>
                  </a:lnTo>
                  <a:lnTo>
                    <a:pt x="1685641" y="1542858"/>
                  </a:lnTo>
                  <a:lnTo>
                    <a:pt x="1691675" y="1544444"/>
                  </a:lnTo>
                  <a:lnTo>
                    <a:pt x="1697391" y="1546666"/>
                  </a:lnTo>
                  <a:lnTo>
                    <a:pt x="1702790" y="1549521"/>
                  </a:lnTo>
                  <a:lnTo>
                    <a:pt x="1708506" y="1552060"/>
                  </a:lnTo>
                  <a:lnTo>
                    <a:pt x="1713587" y="1554916"/>
                  </a:lnTo>
                  <a:lnTo>
                    <a:pt x="1718986" y="1558406"/>
                  </a:lnTo>
                  <a:lnTo>
                    <a:pt x="1723749" y="1561897"/>
                  </a:lnTo>
                  <a:lnTo>
                    <a:pt x="1728513" y="1565705"/>
                  </a:lnTo>
                  <a:lnTo>
                    <a:pt x="1733594" y="1569830"/>
                  </a:lnTo>
                  <a:lnTo>
                    <a:pt x="1738040" y="1574272"/>
                  </a:lnTo>
                  <a:lnTo>
                    <a:pt x="2017816" y="1853827"/>
                  </a:lnTo>
                  <a:lnTo>
                    <a:pt x="2017816" y="801292"/>
                  </a:lnTo>
                  <a:lnTo>
                    <a:pt x="2018133" y="794311"/>
                  </a:lnTo>
                  <a:lnTo>
                    <a:pt x="2018451" y="787330"/>
                  </a:lnTo>
                  <a:lnTo>
                    <a:pt x="2019404" y="780349"/>
                  </a:lnTo>
                  <a:lnTo>
                    <a:pt x="2020674" y="773685"/>
                  </a:lnTo>
                  <a:lnTo>
                    <a:pt x="2021944" y="767021"/>
                  </a:lnTo>
                  <a:lnTo>
                    <a:pt x="2024167" y="760992"/>
                  </a:lnTo>
                  <a:lnTo>
                    <a:pt x="2026073" y="754646"/>
                  </a:lnTo>
                  <a:lnTo>
                    <a:pt x="2028613" y="748300"/>
                  </a:lnTo>
                  <a:lnTo>
                    <a:pt x="2031471" y="742271"/>
                  </a:lnTo>
                  <a:lnTo>
                    <a:pt x="2034329" y="736559"/>
                  </a:lnTo>
                  <a:lnTo>
                    <a:pt x="2037823" y="730530"/>
                  </a:lnTo>
                  <a:lnTo>
                    <a:pt x="2040998" y="724819"/>
                  </a:lnTo>
                  <a:lnTo>
                    <a:pt x="2045127" y="719741"/>
                  </a:lnTo>
                  <a:lnTo>
                    <a:pt x="2048937" y="714347"/>
                  </a:lnTo>
                  <a:lnTo>
                    <a:pt x="2053383" y="709587"/>
                  </a:lnTo>
                  <a:lnTo>
                    <a:pt x="2057829" y="704828"/>
                  </a:lnTo>
                  <a:lnTo>
                    <a:pt x="2062275" y="700702"/>
                  </a:lnTo>
                  <a:lnTo>
                    <a:pt x="2067674" y="695943"/>
                  </a:lnTo>
                  <a:lnTo>
                    <a:pt x="2072437" y="692135"/>
                  </a:lnTo>
                  <a:lnTo>
                    <a:pt x="2078154" y="688327"/>
                  </a:lnTo>
                  <a:lnTo>
                    <a:pt x="2083552" y="684519"/>
                  </a:lnTo>
                  <a:lnTo>
                    <a:pt x="2089268" y="681346"/>
                  </a:lnTo>
                  <a:lnTo>
                    <a:pt x="2095302" y="678173"/>
                  </a:lnTo>
                  <a:lnTo>
                    <a:pt x="2101018" y="675952"/>
                  </a:lnTo>
                  <a:lnTo>
                    <a:pt x="2107370" y="673413"/>
                  </a:lnTo>
                  <a:lnTo>
                    <a:pt x="2113721" y="670875"/>
                  </a:lnTo>
                  <a:lnTo>
                    <a:pt x="2120390" y="669288"/>
                  </a:lnTo>
                  <a:lnTo>
                    <a:pt x="2127059" y="667702"/>
                  </a:lnTo>
                  <a:lnTo>
                    <a:pt x="2133728" y="666432"/>
                  </a:lnTo>
                  <a:lnTo>
                    <a:pt x="2140079" y="665798"/>
                  </a:lnTo>
                  <a:lnTo>
                    <a:pt x="2147065" y="665163"/>
                  </a:lnTo>
                  <a:close/>
                  <a:moveTo>
                    <a:pt x="1426690" y="484188"/>
                  </a:moveTo>
                  <a:lnTo>
                    <a:pt x="1631151" y="484188"/>
                  </a:lnTo>
                  <a:lnTo>
                    <a:pt x="1634627" y="484505"/>
                  </a:lnTo>
                  <a:lnTo>
                    <a:pt x="1637787" y="484822"/>
                  </a:lnTo>
                  <a:lnTo>
                    <a:pt x="1640947" y="485773"/>
                  </a:lnTo>
                  <a:lnTo>
                    <a:pt x="1644107" y="486725"/>
                  </a:lnTo>
                  <a:lnTo>
                    <a:pt x="1646635" y="488310"/>
                  </a:lnTo>
                  <a:lnTo>
                    <a:pt x="1649479" y="489895"/>
                  </a:lnTo>
                  <a:lnTo>
                    <a:pt x="1652008" y="491798"/>
                  </a:lnTo>
                  <a:lnTo>
                    <a:pt x="1654536" y="493700"/>
                  </a:lnTo>
                  <a:lnTo>
                    <a:pt x="1656432" y="496237"/>
                  </a:lnTo>
                  <a:lnTo>
                    <a:pt x="1658328" y="498773"/>
                  </a:lnTo>
                  <a:lnTo>
                    <a:pt x="1659908" y="501310"/>
                  </a:lnTo>
                  <a:lnTo>
                    <a:pt x="1661488" y="504164"/>
                  </a:lnTo>
                  <a:lnTo>
                    <a:pt x="1662436" y="507334"/>
                  </a:lnTo>
                  <a:lnTo>
                    <a:pt x="1663068" y="510505"/>
                  </a:lnTo>
                  <a:lnTo>
                    <a:pt x="1663700" y="513676"/>
                  </a:lnTo>
                  <a:lnTo>
                    <a:pt x="1663700" y="517164"/>
                  </a:lnTo>
                  <a:lnTo>
                    <a:pt x="1663700" y="1389743"/>
                  </a:lnTo>
                  <a:lnTo>
                    <a:pt x="1663700" y="1393231"/>
                  </a:lnTo>
                  <a:lnTo>
                    <a:pt x="1663068" y="1396401"/>
                  </a:lnTo>
                  <a:lnTo>
                    <a:pt x="1662436" y="1399572"/>
                  </a:lnTo>
                  <a:lnTo>
                    <a:pt x="1661488" y="1402743"/>
                  </a:lnTo>
                  <a:lnTo>
                    <a:pt x="1659908" y="1405279"/>
                  </a:lnTo>
                  <a:lnTo>
                    <a:pt x="1658328" y="1408133"/>
                  </a:lnTo>
                  <a:lnTo>
                    <a:pt x="1656432" y="1410669"/>
                  </a:lnTo>
                  <a:lnTo>
                    <a:pt x="1654536" y="1413206"/>
                  </a:lnTo>
                  <a:lnTo>
                    <a:pt x="1652008" y="1415108"/>
                  </a:lnTo>
                  <a:lnTo>
                    <a:pt x="1649479" y="1417011"/>
                  </a:lnTo>
                  <a:lnTo>
                    <a:pt x="1646635" y="1418596"/>
                  </a:lnTo>
                  <a:lnTo>
                    <a:pt x="1644107" y="1420182"/>
                  </a:lnTo>
                  <a:lnTo>
                    <a:pt x="1640947" y="1421133"/>
                  </a:lnTo>
                  <a:lnTo>
                    <a:pt x="1637787" y="1421767"/>
                  </a:lnTo>
                  <a:lnTo>
                    <a:pt x="1634627" y="1422401"/>
                  </a:lnTo>
                  <a:lnTo>
                    <a:pt x="1631151" y="1422401"/>
                  </a:lnTo>
                  <a:lnTo>
                    <a:pt x="1426690" y="1422401"/>
                  </a:lnTo>
                  <a:lnTo>
                    <a:pt x="1423214" y="1422401"/>
                  </a:lnTo>
                  <a:lnTo>
                    <a:pt x="1420054" y="1421767"/>
                  </a:lnTo>
                  <a:lnTo>
                    <a:pt x="1416894" y="1421133"/>
                  </a:lnTo>
                  <a:lnTo>
                    <a:pt x="1413734" y="1420182"/>
                  </a:lnTo>
                  <a:lnTo>
                    <a:pt x="1411206" y="1418596"/>
                  </a:lnTo>
                  <a:lnTo>
                    <a:pt x="1408362" y="1417011"/>
                  </a:lnTo>
                  <a:lnTo>
                    <a:pt x="1405834" y="1415108"/>
                  </a:lnTo>
                  <a:lnTo>
                    <a:pt x="1403622" y="1413206"/>
                  </a:lnTo>
                  <a:lnTo>
                    <a:pt x="1401409" y="1410669"/>
                  </a:lnTo>
                  <a:lnTo>
                    <a:pt x="1399513" y="1408133"/>
                  </a:lnTo>
                  <a:lnTo>
                    <a:pt x="1397933" y="1405279"/>
                  </a:lnTo>
                  <a:lnTo>
                    <a:pt x="1396669" y="1402743"/>
                  </a:lnTo>
                  <a:lnTo>
                    <a:pt x="1395405" y="1399572"/>
                  </a:lnTo>
                  <a:lnTo>
                    <a:pt x="1394457" y="1396401"/>
                  </a:lnTo>
                  <a:lnTo>
                    <a:pt x="1394141" y="1393231"/>
                  </a:lnTo>
                  <a:lnTo>
                    <a:pt x="1393825" y="1389743"/>
                  </a:lnTo>
                  <a:lnTo>
                    <a:pt x="1393825" y="517164"/>
                  </a:lnTo>
                  <a:lnTo>
                    <a:pt x="1394141" y="513676"/>
                  </a:lnTo>
                  <a:lnTo>
                    <a:pt x="1394457" y="510505"/>
                  </a:lnTo>
                  <a:lnTo>
                    <a:pt x="1395405" y="507334"/>
                  </a:lnTo>
                  <a:lnTo>
                    <a:pt x="1396669" y="504164"/>
                  </a:lnTo>
                  <a:lnTo>
                    <a:pt x="1397933" y="501310"/>
                  </a:lnTo>
                  <a:lnTo>
                    <a:pt x="1399513" y="498773"/>
                  </a:lnTo>
                  <a:lnTo>
                    <a:pt x="1401409" y="496237"/>
                  </a:lnTo>
                  <a:lnTo>
                    <a:pt x="1403622" y="493700"/>
                  </a:lnTo>
                  <a:lnTo>
                    <a:pt x="1405834" y="491798"/>
                  </a:lnTo>
                  <a:lnTo>
                    <a:pt x="1408362" y="489895"/>
                  </a:lnTo>
                  <a:lnTo>
                    <a:pt x="1411206" y="488310"/>
                  </a:lnTo>
                  <a:lnTo>
                    <a:pt x="1413734" y="486725"/>
                  </a:lnTo>
                  <a:lnTo>
                    <a:pt x="1416894" y="485773"/>
                  </a:lnTo>
                  <a:lnTo>
                    <a:pt x="1420054" y="484822"/>
                  </a:lnTo>
                  <a:lnTo>
                    <a:pt x="1423214" y="484505"/>
                  </a:lnTo>
                  <a:lnTo>
                    <a:pt x="1426690" y="484188"/>
                  </a:lnTo>
                  <a:close/>
                  <a:moveTo>
                    <a:pt x="183794" y="0"/>
                  </a:moveTo>
                  <a:lnTo>
                    <a:pt x="193952" y="0"/>
                  </a:lnTo>
                  <a:lnTo>
                    <a:pt x="2827060" y="0"/>
                  </a:lnTo>
                  <a:lnTo>
                    <a:pt x="2837218" y="0"/>
                  </a:lnTo>
                  <a:lnTo>
                    <a:pt x="2847059" y="952"/>
                  </a:lnTo>
                  <a:lnTo>
                    <a:pt x="2856582" y="2539"/>
                  </a:lnTo>
                  <a:lnTo>
                    <a:pt x="2866105" y="4443"/>
                  </a:lnTo>
                  <a:lnTo>
                    <a:pt x="2875628" y="6982"/>
                  </a:lnTo>
                  <a:lnTo>
                    <a:pt x="2884516" y="10156"/>
                  </a:lnTo>
                  <a:lnTo>
                    <a:pt x="2893721" y="13964"/>
                  </a:lnTo>
                  <a:lnTo>
                    <a:pt x="2902292" y="17773"/>
                  </a:lnTo>
                  <a:lnTo>
                    <a:pt x="2911180" y="22851"/>
                  </a:lnTo>
                  <a:lnTo>
                    <a:pt x="2919433" y="27611"/>
                  </a:lnTo>
                  <a:lnTo>
                    <a:pt x="2927369" y="33324"/>
                  </a:lnTo>
                  <a:lnTo>
                    <a:pt x="2935623" y="39036"/>
                  </a:lnTo>
                  <a:lnTo>
                    <a:pt x="2942924" y="45384"/>
                  </a:lnTo>
                  <a:lnTo>
                    <a:pt x="2950225" y="52366"/>
                  </a:lnTo>
                  <a:lnTo>
                    <a:pt x="2957525" y="59665"/>
                  </a:lnTo>
                  <a:lnTo>
                    <a:pt x="2964192" y="67282"/>
                  </a:lnTo>
                  <a:lnTo>
                    <a:pt x="2970540" y="74899"/>
                  </a:lnTo>
                  <a:lnTo>
                    <a:pt x="2976571" y="83468"/>
                  </a:lnTo>
                  <a:lnTo>
                    <a:pt x="2982285" y="92037"/>
                  </a:lnTo>
                  <a:lnTo>
                    <a:pt x="2987682" y="101240"/>
                  </a:lnTo>
                  <a:lnTo>
                    <a:pt x="2992761" y="110444"/>
                  </a:lnTo>
                  <a:lnTo>
                    <a:pt x="2997522" y="119965"/>
                  </a:lnTo>
                  <a:lnTo>
                    <a:pt x="3001649" y="130121"/>
                  </a:lnTo>
                  <a:lnTo>
                    <a:pt x="3005458" y="140276"/>
                  </a:lnTo>
                  <a:lnTo>
                    <a:pt x="3008950" y="150749"/>
                  </a:lnTo>
                  <a:lnTo>
                    <a:pt x="3012124" y="161540"/>
                  </a:lnTo>
                  <a:lnTo>
                    <a:pt x="3014663" y="172330"/>
                  </a:lnTo>
                  <a:lnTo>
                    <a:pt x="3016885" y="183438"/>
                  </a:lnTo>
                  <a:lnTo>
                    <a:pt x="3018473" y="194546"/>
                  </a:lnTo>
                  <a:lnTo>
                    <a:pt x="3019742" y="205971"/>
                  </a:lnTo>
                  <a:lnTo>
                    <a:pt x="3020695" y="218031"/>
                  </a:lnTo>
                  <a:lnTo>
                    <a:pt x="3021012" y="229774"/>
                  </a:lnTo>
                  <a:lnTo>
                    <a:pt x="3021012" y="1276768"/>
                  </a:lnTo>
                  <a:lnTo>
                    <a:pt x="3013711" y="1272642"/>
                  </a:lnTo>
                  <a:lnTo>
                    <a:pt x="3006410" y="1268833"/>
                  </a:lnTo>
                  <a:lnTo>
                    <a:pt x="2999109" y="1265342"/>
                  </a:lnTo>
                  <a:lnTo>
                    <a:pt x="2991808" y="1262169"/>
                  </a:lnTo>
                  <a:lnTo>
                    <a:pt x="2983872" y="1258995"/>
                  </a:lnTo>
                  <a:lnTo>
                    <a:pt x="2976254" y="1256139"/>
                  </a:lnTo>
                  <a:lnTo>
                    <a:pt x="2968318" y="1253282"/>
                  </a:lnTo>
                  <a:lnTo>
                    <a:pt x="2960382" y="1251061"/>
                  </a:lnTo>
                  <a:lnTo>
                    <a:pt x="2952129" y="1248839"/>
                  </a:lnTo>
                  <a:lnTo>
                    <a:pt x="2944193" y="1247252"/>
                  </a:lnTo>
                  <a:lnTo>
                    <a:pt x="2935940" y="1245348"/>
                  </a:lnTo>
                  <a:lnTo>
                    <a:pt x="2927369" y="1244079"/>
                  </a:lnTo>
                  <a:lnTo>
                    <a:pt x="2919116" y="1242809"/>
                  </a:lnTo>
                  <a:lnTo>
                    <a:pt x="2910863" y="1242175"/>
                  </a:lnTo>
                  <a:lnTo>
                    <a:pt x="2901975" y="1241540"/>
                  </a:lnTo>
                  <a:lnTo>
                    <a:pt x="2893404" y="1241540"/>
                  </a:lnTo>
                  <a:lnTo>
                    <a:pt x="2646123" y="1213294"/>
                  </a:lnTo>
                  <a:lnTo>
                    <a:pt x="2646123" y="313876"/>
                  </a:lnTo>
                  <a:lnTo>
                    <a:pt x="374889" y="313876"/>
                  </a:lnTo>
                  <a:lnTo>
                    <a:pt x="374889" y="1959424"/>
                  </a:lnTo>
                  <a:lnTo>
                    <a:pt x="1610021" y="1959424"/>
                  </a:lnTo>
                  <a:lnTo>
                    <a:pt x="1923646" y="2273300"/>
                  </a:lnTo>
                  <a:lnTo>
                    <a:pt x="193952" y="2273300"/>
                  </a:lnTo>
                  <a:lnTo>
                    <a:pt x="183794" y="2273300"/>
                  </a:lnTo>
                  <a:lnTo>
                    <a:pt x="173953" y="2272348"/>
                  </a:lnTo>
                  <a:lnTo>
                    <a:pt x="164113" y="2270761"/>
                  </a:lnTo>
                  <a:lnTo>
                    <a:pt x="154908" y="2268857"/>
                  </a:lnTo>
                  <a:lnTo>
                    <a:pt x="145385" y="2266318"/>
                  </a:lnTo>
                  <a:lnTo>
                    <a:pt x="136496" y="2263144"/>
                  </a:lnTo>
                  <a:lnTo>
                    <a:pt x="127291" y="2259336"/>
                  </a:lnTo>
                  <a:lnTo>
                    <a:pt x="118720" y="2255528"/>
                  </a:lnTo>
                  <a:lnTo>
                    <a:pt x="109832" y="2250450"/>
                  </a:lnTo>
                  <a:lnTo>
                    <a:pt x="101579" y="2245689"/>
                  </a:lnTo>
                  <a:lnTo>
                    <a:pt x="93326" y="2240294"/>
                  </a:lnTo>
                  <a:lnTo>
                    <a:pt x="85390" y="2234264"/>
                  </a:lnTo>
                  <a:lnTo>
                    <a:pt x="77771" y="2227917"/>
                  </a:lnTo>
                  <a:lnTo>
                    <a:pt x="70470" y="2220935"/>
                  </a:lnTo>
                  <a:lnTo>
                    <a:pt x="63487" y="2213635"/>
                  </a:lnTo>
                  <a:lnTo>
                    <a:pt x="56821" y="2206018"/>
                  </a:lnTo>
                  <a:lnTo>
                    <a:pt x="50472" y="2198402"/>
                  </a:lnTo>
                  <a:lnTo>
                    <a:pt x="44441" y="2189833"/>
                  </a:lnTo>
                  <a:lnTo>
                    <a:pt x="38727" y="2181264"/>
                  </a:lnTo>
                  <a:lnTo>
                    <a:pt x="33013" y="2172060"/>
                  </a:lnTo>
                  <a:lnTo>
                    <a:pt x="28252" y="2162856"/>
                  </a:lnTo>
                  <a:lnTo>
                    <a:pt x="23490" y="2153335"/>
                  </a:lnTo>
                  <a:lnTo>
                    <a:pt x="19364" y="2143180"/>
                  </a:lnTo>
                  <a:lnTo>
                    <a:pt x="15237" y="2133024"/>
                  </a:lnTo>
                  <a:lnTo>
                    <a:pt x="11745" y="2122551"/>
                  </a:lnTo>
                  <a:lnTo>
                    <a:pt x="8888" y="2112078"/>
                  </a:lnTo>
                  <a:lnTo>
                    <a:pt x="6349" y="2100970"/>
                  </a:lnTo>
                  <a:lnTo>
                    <a:pt x="3809" y="2089862"/>
                  </a:lnTo>
                  <a:lnTo>
                    <a:pt x="2540" y="2078754"/>
                  </a:lnTo>
                  <a:lnTo>
                    <a:pt x="952" y="2067329"/>
                  </a:lnTo>
                  <a:lnTo>
                    <a:pt x="318" y="2055269"/>
                  </a:lnTo>
                  <a:lnTo>
                    <a:pt x="0" y="2043844"/>
                  </a:lnTo>
                  <a:lnTo>
                    <a:pt x="0" y="229774"/>
                  </a:lnTo>
                  <a:lnTo>
                    <a:pt x="318" y="218031"/>
                  </a:lnTo>
                  <a:lnTo>
                    <a:pt x="952" y="205971"/>
                  </a:lnTo>
                  <a:lnTo>
                    <a:pt x="2540" y="194546"/>
                  </a:lnTo>
                  <a:lnTo>
                    <a:pt x="3809" y="183438"/>
                  </a:lnTo>
                  <a:lnTo>
                    <a:pt x="6349" y="172330"/>
                  </a:lnTo>
                  <a:lnTo>
                    <a:pt x="8888" y="161540"/>
                  </a:lnTo>
                  <a:lnTo>
                    <a:pt x="11745" y="150749"/>
                  </a:lnTo>
                  <a:lnTo>
                    <a:pt x="15237" y="140276"/>
                  </a:lnTo>
                  <a:lnTo>
                    <a:pt x="19364" y="130121"/>
                  </a:lnTo>
                  <a:lnTo>
                    <a:pt x="23490" y="119965"/>
                  </a:lnTo>
                  <a:lnTo>
                    <a:pt x="28252" y="110444"/>
                  </a:lnTo>
                  <a:lnTo>
                    <a:pt x="33013" y="101240"/>
                  </a:lnTo>
                  <a:lnTo>
                    <a:pt x="38727" y="92037"/>
                  </a:lnTo>
                  <a:lnTo>
                    <a:pt x="44441" y="83468"/>
                  </a:lnTo>
                  <a:lnTo>
                    <a:pt x="50472" y="74899"/>
                  </a:lnTo>
                  <a:lnTo>
                    <a:pt x="56821" y="67282"/>
                  </a:lnTo>
                  <a:lnTo>
                    <a:pt x="63487" y="59665"/>
                  </a:lnTo>
                  <a:lnTo>
                    <a:pt x="70470" y="52366"/>
                  </a:lnTo>
                  <a:lnTo>
                    <a:pt x="77771" y="45384"/>
                  </a:lnTo>
                  <a:lnTo>
                    <a:pt x="85390" y="39036"/>
                  </a:lnTo>
                  <a:lnTo>
                    <a:pt x="93326" y="33324"/>
                  </a:lnTo>
                  <a:lnTo>
                    <a:pt x="101579" y="27611"/>
                  </a:lnTo>
                  <a:lnTo>
                    <a:pt x="109832" y="22851"/>
                  </a:lnTo>
                  <a:lnTo>
                    <a:pt x="118720" y="17773"/>
                  </a:lnTo>
                  <a:lnTo>
                    <a:pt x="127291" y="13964"/>
                  </a:lnTo>
                  <a:lnTo>
                    <a:pt x="136496" y="10156"/>
                  </a:lnTo>
                  <a:lnTo>
                    <a:pt x="145385" y="6982"/>
                  </a:lnTo>
                  <a:lnTo>
                    <a:pt x="154908" y="4443"/>
                  </a:lnTo>
                  <a:lnTo>
                    <a:pt x="164113" y="2539"/>
                  </a:lnTo>
                  <a:lnTo>
                    <a:pt x="173953" y="952"/>
                  </a:lnTo>
                  <a:lnTo>
                    <a:pt x="1837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思源宋体 CN Light" panose="02020300000000000000" pitchFamily="18" charset="-122"/>
                <a:ea typeface="思源宋体 CN Light" panose="02020300000000000000" pitchFamily="18" charset="-122"/>
                <a:cs typeface="思源宋体 CN Light" panose="02020300000000000000" charset="-122"/>
                <a:sym typeface="+mn-lt"/>
              </a:endParaRPr>
            </a:p>
          </p:txBody>
        </p:sp>
      </p:grpSp>
      <p:sp>
        <p:nvSpPr>
          <p:cNvPr id="96" name="Freeform 108">
            <a:extLst>
              <a:ext uri="{FF2B5EF4-FFF2-40B4-BE49-F238E27FC236}">
                <a16:creationId xmlns:a16="http://schemas.microsoft.com/office/drawing/2014/main" id="{A8A1FA91-BA86-4078-4533-EA5B1C818CC3}"/>
              </a:ext>
            </a:extLst>
          </p:cNvPr>
          <p:cNvSpPr>
            <a:spLocks noEditPoints="1"/>
          </p:cNvSpPr>
          <p:nvPr>
            <p:custDataLst>
              <p:tags r:id="rId2"/>
            </p:custDataLst>
          </p:nvPr>
        </p:nvSpPr>
        <p:spPr bwMode="auto">
          <a:xfrm>
            <a:off x="7610447" y="1187742"/>
            <a:ext cx="127932" cy="112446"/>
          </a:xfrm>
          <a:custGeom>
            <a:avLst/>
            <a:gdLst>
              <a:gd name="T0" fmla="*/ 97 w 115"/>
              <a:gd name="T1" fmla="*/ 48 h 115"/>
              <a:gd name="T2" fmla="*/ 91 w 115"/>
              <a:gd name="T3" fmla="*/ 41 h 115"/>
              <a:gd name="T4" fmla="*/ 102 w 115"/>
              <a:gd name="T5" fmla="*/ 26 h 115"/>
              <a:gd name="T6" fmla="*/ 94 w 115"/>
              <a:gd name="T7" fmla="*/ 13 h 115"/>
              <a:gd name="T8" fmla="*/ 79 w 115"/>
              <a:gd name="T9" fmla="*/ 23 h 115"/>
              <a:gd name="T10" fmla="*/ 70 w 115"/>
              <a:gd name="T11" fmla="*/ 22 h 115"/>
              <a:gd name="T12" fmla="*/ 67 w 115"/>
              <a:gd name="T13" fmla="*/ 3 h 115"/>
              <a:gd name="T14" fmla="*/ 52 w 115"/>
              <a:gd name="T15" fmla="*/ 0 h 115"/>
              <a:gd name="T16" fmla="*/ 48 w 115"/>
              <a:gd name="T17" fmla="*/ 18 h 115"/>
              <a:gd name="T18" fmla="*/ 41 w 115"/>
              <a:gd name="T19" fmla="*/ 24 h 115"/>
              <a:gd name="T20" fmla="*/ 26 w 115"/>
              <a:gd name="T21" fmla="*/ 13 h 115"/>
              <a:gd name="T22" fmla="*/ 13 w 115"/>
              <a:gd name="T23" fmla="*/ 21 h 115"/>
              <a:gd name="T24" fmla="*/ 23 w 115"/>
              <a:gd name="T25" fmla="*/ 36 h 115"/>
              <a:gd name="T26" fmla="*/ 22 w 115"/>
              <a:gd name="T27" fmla="*/ 45 h 115"/>
              <a:gd name="T28" fmla="*/ 4 w 115"/>
              <a:gd name="T29" fmla="*/ 48 h 115"/>
              <a:gd name="T30" fmla="*/ 0 w 115"/>
              <a:gd name="T31" fmla="*/ 63 h 115"/>
              <a:gd name="T32" fmla="*/ 18 w 115"/>
              <a:gd name="T33" fmla="*/ 66 h 115"/>
              <a:gd name="T34" fmla="*/ 24 w 115"/>
              <a:gd name="T35" fmla="*/ 73 h 115"/>
              <a:gd name="T36" fmla="*/ 13 w 115"/>
              <a:gd name="T37" fmla="*/ 89 h 115"/>
              <a:gd name="T38" fmla="*/ 21 w 115"/>
              <a:gd name="T39" fmla="*/ 102 h 115"/>
              <a:gd name="T40" fmla="*/ 36 w 115"/>
              <a:gd name="T41" fmla="*/ 92 h 115"/>
              <a:gd name="T42" fmla="*/ 45 w 115"/>
              <a:gd name="T43" fmla="*/ 92 h 115"/>
              <a:gd name="T44" fmla="*/ 48 w 115"/>
              <a:gd name="T45" fmla="*/ 111 h 115"/>
              <a:gd name="T46" fmla="*/ 63 w 115"/>
              <a:gd name="T47" fmla="*/ 115 h 115"/>
              <a:gd name="T48" fmla="*/ 67 w 115"/>
              <a:gd name="T49" fmla="*/ 97 h 115"/>
              <a:gd name="T50" fmla="*/ 74 w 115"/>
              <a:gd name="T51" fmla="*/ 91 h 115"/>
              <a:gd name="T52" fmla="*/ 89 w 115"/>
              <a:gd name="T53" fmla="*/ 102 h 115"/>
              <a:gd name="T54" fmla="*/ 102 w 115"/>
              <a:gd name="T55" fmla="*/ 94 h 115"/>
              <a:gd name="T56" fmla="*/ 92 w 115"/>
              <a:gd name="T57" fmla="*/ 79 h 115"/>
              <a:gd name="T58" fmla="*/ 93 w 115"/>
              <a:gd name="T59" fmla="*/ 70 h 115"/>
              <a:gd name="T60" fmla="*/ 112 w 115"/>
              <a:gd name="T61" fmla="*/ 66 h 115"/>
              <a:gd name="T62" fmla="*/ 115 w 115"/>
              <a:gd name="T63" fmla="*/ 52 h 115"/>
              <a:gd name="T64" fmla="*/ 58 w 115"/>
              <a:gd name="T65" fmla="*/ 79 h 115"/>
              <a:gd name="T66" fmla="*/ 58 w 115"/>
              <a:gd name="T67" fmla="*/ 36 h 115"/>
              <a:gd name="T68" fmla="*/ 58 w 115"/>
              <a:gd name="T69" fmla="*/ 79 h 115"/>
              <a:gd name="T70" fmla="*/ 49 w 115"/>
              <a:gd name="T71" fmla="*/ 57 h 115"/>
              <a:gd name="T72" fmla="*/ 67 w 115"/>
              <a:gd name="T73" fmla="*/ 57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15" h="115">
                <a:moveTo>
                  <a:pt x="112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5" y="48"/>
                  <a:pt x="93" y="47"/>
                  <a:pt x="93" y="45"/>
                </a:cubicBezTo>
                <a:cubicBezTo>
                  <a:pt x="91" y="41"/>
                  <a:pt x="91" y="41"/>
                  <a:pt x="91" y="41"/>
                </a:cubicBezTo>
                <a:cubicBezTo>
                  <a:pt x="90" y="40"/>
                  <a:pt x="91" y="37"/>
                  <a:pt x="92" y="36"/>
                </a:cubicBezTo>
                <a:cubicBezTo>
                  <a:pt x="102" y="26"/>
                  <a:pt x="102" y="26"/>
                  <a:pt x="102" y="26"/>
                </a:cubicBezTo>
                <a:cubicBezTo>
                  <a:pt x="104" y="24"/>
                  <a:pt x="104" y="22"/>
                  <a:pt x="102" y="21"/>
                </a:cubicBezTo>
                <a:cubicBezTo>
                  <a:pt x="94" y="13"/>
                  <a:pt x="94" y="13"/>
                  <a:pt x="94" y="13"/>
                </a:cubicBezTo>
                <a:cubicBezTo>
                  <a:pt x="93" y="11"/>
                  <a:pt x="91" y="11"/>
                  <a:pt x="89" y="13"/>
                </a:cubicBezTo>
                <a:cubicBezTo>
                  <a:pt x="79" y="23"/>
                  <a:pt x="79" y="23"/>
                  <a:pt x="79" y="23"/>
                </a:cubicBezTo>
                <a:cubicBezTo>
                  <a:pt x="78" y="24"/>
                  <a:pt x="75" y="25"/>
                  <a:pt x="74" y="24"/>
                </a:cubicBezTo>
                <a:cubicBezTo>
                  <a:pt x="70" y="22"/>
                  <a:pt x="70" y="22"/>
                  <a:pt x="70" y="22"/>
                </a:cubicBezTo>
                <a:cubicBezTo>
                  <a:pt x="68" y="22"/>
                  <a:pt x="67" y="20"/>
                  <a:pt x="67" y="18"/>
                </a:cubicBezTo>
                <a:cubicBezTo>
                  <a:pt x="67" y="3"/>
                  <a:pt x="67" y="3"/>
                  <a:pt x="67" y="3"/>
                </a:cubicBezTo>
                <a:cubicBezTo>
                  <a:pt x="67" y="1"/>
                  <a:pt x="65" y="0"/>
                  <a:pt x="63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50" y="0"/>
                  <a:pt x="48" y="1"/>
                  <a:pt x="48" y="3"/>
                </a:cubicBezTo>
                <a:cubicBezTo>
                  <a:pt x="48" y="18"/>
                  <a:pt x="48" y="18"/>
                  <a:pt x="48" y="18"/>
                </a:cubicBezTo>
                <a:cubicBezTo>
                  <a:pt x="48" y="20"/>
                  <a:pt x="47" y="22"/>
                  <a:pt x="45" y="22"/>
                </a:cubicBezTo>
                <a:cubicBezTo>
                  <a:pt x="41" y="24"/>
                  <a:pt x="41" y="24"/>
                  <a:pt x="41" y="24"/>
                </a:cubicBezTo>
                <a:cubicBezTo>
                  <a:pt x="40" y="25"/>
                  <a:pt x="37" y="24"/>
                  <a:pt x="36" y="23"/>
                </a:cubicBezTo>
                <a:cubicBezTo>
                  <a:pt x="26" y="13"/>
                  <a:pt x="26" y="13"/>
                  <a:pt x="26" y="13"/>
                </a:cubicBezTo>
                <a:cubicBezTo>
                  <a:pt x="25" y="11"/>
                  <a:pt x="22" y="11"/>
                  <a:pt x="21" y="13"/>
                </a:cubicBezTo>
                <a:cubicBezTo>
                  <a:pt x="13" y="21"/>
                  <a:pt x="13" y="21"/>
                  <a:pt x="13" y="21"/>
                </a:cubicBezTo>
                <a:cubicBezTo>
                  <a:pt x="12" y="22"/>
                  <a:pt x="12" y="24"/>
                  <a:pt x="13" y="26"/>
                </a:cubicBezTo>
                <a:cubicBezTo>
                  <a:pt x="23" y="36"/>
                  <a:pt x="23" y="36"/>
                  <a:pt x="23" y="36"/>
                </a:cubicBezTo>
                <a:cubicBezTo>
                  <a:pt x="24" y="37"/>
                  <a:pt x="25" y="40"/>
                  <a:pt x="24" y="41"/>
                </a:cubicBezTo>
                <a:cubicBezTo>
                  <a:pt x="22" y="45"/>
                  <a:pt x="22" y="45"/>
                  <a:pt x="22" y="45"/>
                </a:cubicBezTo>
                <a:cubicBezTo>
                  <a:pt x="22" y="47"/>
                  <a:pt x="20" y="48"/>
                  <a:pt x="18" y="48"/>
                </a:cubicBezTo>
                <a:cubicBezTo>
                  <a:pt x="4" y="48"/>
                  <a:pt x="4" y="48"/>
                  <a:pt x="4" y="48"/>
                </a:cubicBezTo>
                <a:cubicBezTo>
                  <a:pt x="2" y="48"/>
                  <a:pt x="0" y="50"/>
                  <a:pt x="0" y="52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5"/>
                  <a:pt x="2" y="66"/>
                  <a:pt x="4" y="66"/>
                </a:cubicBezTo>
                <a:cubicBezTo>
                  <a:pt x="18" y="66"/>
                  <a:pt x="18" y="66"/>
                  <a:pt x="18" y="66"/>
                </a:cubicBezTo>
                <a:cubicBezTo>
                  <a:pt x="20" y="66"/>
                  <a:pt x="22" y="68"/>
                  <a:pt x="22" y="70"/>
                </a:cubicBezTo>
                <a:cubicBezTo>
                  <a:pt x="24" y="73"/>
                  <a:pt x="24" y="73"/>
                  <a:pt x="24" y="73"/>
                </a:cubicBezTo>
                <a:cubicBezTo>
                  <a:pt x="25" y="75"/>
                  <a:pt x="24" y="78"/>
                  <a:pt x="23" y="79"/>
                </a:cubicBezTo>
                <a:cubicBezTo>
                  <a:pt x="13" y="89"/>
                  <a:pt x="13" y="89"/>
                  <a:pt x="13" y="89"/>
                </a:cubicBezTo>
                <a:cubicBezTo>
                  <a:pt x="12" y="90"/>
                  <a:pt x="12" y="93"/>
                  <a:pt x="13" y="94"/>
                </a:cubicBezTo>
                <a:cubicBezTo>
                  <a:pt x="21" y="102"/>
                  <a:pt x="21" y="102"/>
                  <a:pt x="21" y="102"/>
                </a:cubicBezTo>
                <a:cubicBezTo>
                  <a:pt x="22" y="103"/>
                  <a:pt x="25" y="103"/>
                  <a:pt x="26" y="102"/>
                </a:cubicBezTo>
                <a:cubicBezTo>
                  <a:pt x="36" y="92"/>
                  <a:pt x="36" y="92"/>
                  <a:pt x="36" y="92"/>
                </a:cubicBezTo>
                <a:cubicBezTo>
                  <a:pt x="37" y="90"/>
                  <a:pt x="40" y="90"/>
                  <a:pt x="41" y="91"/>
                </a:cubicBezTo>
                <a:cubicBezTo>
                  <a:pt x="45" y="92"/>
                  <a:pt x="45" y="92"/>
                  <a:pt x="45" y="92"/>
                </a:cubicBezTo>
                <a:cubicBezTo>
                  <a:pt x="47" y="93"/>
                  <a:pt x="48" y="95"/>
                  <a:pt x="48" y="97"/>
                </a:cubicBezTo>
                <a:cubicBezTo>
                  <a:pt x="48" y="111"/>
                  <a:pt x="48" y="111"/>
                  <a:pt x="48" y="111"/>
                </a:cubicBezTo>
                <a:cubicBezTo>
                  <a:pt x="48" y="113"/>
                  <a:pt x="50" y="115"/>
                  <a:pt x="52" y="115"/>
                </a:cubicBezTo>
                <a:cubicBezTo>
                  <a:pt x="63" y="115"/>
                  <a:pt x="63" y="115"/>
                  <a:pt x="63" y="115"/>
                </a:cubicBezTo>
                <a:cubicBezTo>
                  <a:pt x="65" y="115"/>
                  <a:pt x="67" y="113"/>
                  <a:pt x="67" y="111"/>
                </a:cubicBezTo>
                <a:cubicBezTo>
                  <a:pt x="67" y="97"/>
                  <a:pt x="67" y="97"/>
                  <a:pt x="67" y="97"/>
                </a:cubicBezTo>
                <a:cubicBezTo>
                  <a:pt x="67" y="95"/>
                  <a:pt x="68" y="93"/>
                  <a:pt x="70" y="92"/>
                </a:cubicBezTo>
                <a:cubicBezTo>
                  <a:pt x="74" y="91"/>
                  <a:pt x="74" y="91"/>
                  <a:pt x="74" y="91"/>
                </a:cubicBezTo>
                <a:cubicBezTo>
                  <a:pt x="75" y="90"/>
                  <a:pt x="78" y="90"/>
                  <a:pt x="79" y="92"/>
                </a:cubicBezTo>
                <a:cubicBezTo>
                  <a:pt x="89" y="102"/>
                  <a:pt x="89" y="102"/>
                  <a:pt x="89" y="102"/>
                </a:cubicBezTo>
                <a:cubicBezTo>
                  <a:pt x="91" y="103"/>
                  <a:pt x="93" y="103"/>
                  <a:pt x="94" y="102"/>
                </a:cubicBezTo>
                <a:cubicBezTo>
                  <a:pt x="102" y="94"/>
                  <a:pt x="102" y="94"/>
                  <a:pt x="102" y="94"/>
                </a:cubicBezTo>
                <a:cubicBezTo>
                  <a:pt x="104" y="93"/>
                  <a:pt x="104" y="90"/>
                  <a:pt x="102" y="89"/>
                </a:cubicBezTo>
                <a:cubicBezTo>
                  <a:pt x="92" y="79"/>
                  <a:pt x="92" y="79"/>
                  <a:pt x="92" y="79"/>
                </a:cubicBezTo>
                <a:cubicBezTo>
                  <a:pt x="91" y="78"/>
                  <a:pt x="90" y="75"/>
                  <a:pt x="91" y="73"/>
                </a:cubicBezTo>
                <a:cubicBezTo>
                  <a:pt x="93" y="70"/>
                  <a:pt x="93" y="70"/>
                  <a:pt x="93" y="70"/>
                </a:cubicBezTo>
                <a:cubicBezTo>
                  <a:pt x="93" y="68"/>
                  <a:pt x="95" y="66"/>
                  <a:pt x="97" y="66"/>
                </a:cubicBezTo>
                <a:cubicBezTo>
                  <a:pt x="112" y="66"/>
                  <a:pt x="112" y="66"/>
                  <a:pt x="112" y="66"/>
                </a:cubicBezTo>
                <a:cubicBezTo>
                  <a:pt x="113" y="66"/>
                  <a:pt x="115" y="65"/>
                  <a:pt x="115" y="6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15" y="50"/>
                  <a:pt x="113" y="48"/>
                  <a:pt x="112" y="48"/>
                </a:cubicBezTo>
                <a:close/>
                <a:moveTo>
                  <a:pt x="58" y="79"/>
                </a:moveTo>
                <a:cubicBezTo>
                  <a:pt x="46" y="79"/>
                  <a:pt x="36" y="69"/>
                  <a:pt x="36" y="57"/>
                </a:cubicBezTo>
                <a:cubicBezTo>
                  <a:pt x="36" y="46"/>
                  <a:pt x="46" y="36"/>
                  <a:pt x="58" y="36"/>
                </a:cubicBezTo>
                <a:cubicBezTo>
                  <a:pt x="69" y="36"/>
                  <a:pt x="79" y="46"/>
                  <a:pt x="79" y="57"/>
                </a:cubicBezTo>
                <a:cubicBezTo>
                  <a:pt x="79" y="69"/>
                  <a:pt x="69" y="79"/>
                  <a:pt x="58" y="79"/>
                </a:cubicBezTo>
                <a:close/>
                <a:moveTo>
                  <a:pt x="58" y="48"/>
                </a:moveTo>
                <a:cubicBezTo>
                  <a:pt x="53" y="48"/>
                  <a:pt x="49" y="52"/>
                  <a:pt x="49" y="57"/>
                </a:cubicBezTo>
                <a:cubicBezTo>
                  <a:pt x="49" y="62"/>
                  <a:pt x="53" y="66"/>
                  <a:pt x="58" y="66"/>
                </a:cubicBezTo>
                <a:cubicBezTo>
                  <a:pt x="63" y="66"/>
                  <a:pt x="67" y="62"/>
                  <a:pt x="67" y="57"/>
                </a:cubicBezTo>
                <a:cubicBezTo>
                  <a:pt x="67" y="52"/>
                  <a:pt x="63" y="48"/>
                  <a:pt x="58" y="4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39" tIns="45719" rIns="91439" bIns="45719" numCol="1" anchor="t" anchorCtr="0" compatLnSpc="1"/>
          <a:lstStyle/>
          <a:p>
            <a:pPr defTabSz="1219200">
              <a:defRPr/>
            </a:pPr>
            <a:endParaRPr lang="zh-CN" altLang="en-US" sz="2400" kern="0" dirty="0">
              <a:latin typeface="思源宋体 CN Light" panose="02020300000000000000" pitchFamily="18" charset="-122"/>
              <a:ea typeface="思源宋体 CN Light" panose="02020300000000000000" pitchFamily="18" charset="-122"/>
              <a:cs typeface="思源宋体 CN Light" panose="02020300000000000000" charset="-122"/>
              <a:sym typeface="+mn-lt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1A6D748-2BB2-B60A-5282-2C3D37E113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75" y="842225"/>
            <a:ext cx="2013818" cy="3896051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3C124DFA-59C2-D9E6-B37C-2B4D15CF484B}"/>
              </a:ext>
            </a:extLst>
          </p:cNvPr>
          <p:cNvSpPr/>
          <p:nvPr/>
        </p:nvSpPr>
        <p:spPr>
          <a:xfrm>
            <a:off x="100575" y="1017159"/>
            <a:ext cx="1170873" cy="52425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C788F80-58E1-C925-875E-8D750ADDCFFB}"/>
              </a:ext>
            </a:extLst>
          </p:cNvPr>
          <p:cNvCxnSpPr>
            <a:cxnSpLocks/>
            <a:stCxn id="30" idx="3"/>
            <a:endCxn id="84" idx="3"/>
          </p:cNvCxnSpPr>
          <p:nvPr/>
        </p:nvCxnSpPr>
        <p:spPr>
          <a:xfrm flipV="1">
            <a:off x="1271448" y="1108792"/>
            <a:ext cx="1027543" cy="17049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8F79BAD-C1D3-7ED1-35D0-F4FED0D870CB}"/>
              </a:ext>
            </a:extLst>
          </p:cNvPr>
          <p:cNvGrpSpPr/>
          <p:nvPr/>
        </p:nvGrpSpPr>
        <p:grpSpPr>
          <a:xfrm>
            <a:off x="1843949" y="1479891"/>
            <a:ext cx="8173176" cy="3044159"/>
            <a:chOff x="485412" y="1257655"/>
            <a:chExt cx="8173176" cy="3044159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E65C4D1-340C-9E6D-7A83-9E26490374DC}"/>
                </a:ext>
              </a:extLst>
            </p:cNvPr>
            <p:cNvGrpSpPr/>
            <p:nvPr/>
          </p:nvGrpSpPr>
          <p:grpSpPr>
            <a:xfrm>
              <a:off x="485412" y="1257655"/>
              <a:ext cx="8173176" cy="3044159"/>
              <a:chOff x="1067006" y="1626207"/>
              <a:chExt cx="9709520" cy="3616381"/>
            </a:xfrm>
          </p:grpSpPr>
          <p:sp>
            <p:nvSpPr>
              <p:cNvPr id="37" name="Freeform 5">
                <a:extLst>
                  <a:ext uri="{FF2B5EF4-FFF2-40B4-BE49-F238E27FC236}">
                    <a16:creationId xmlns:a16="http://schemas.microsoft.com/office/drawing/2014/main" id="{F23809B4-1D72-BDA7-9D9A-399AC7F8996F}"/>
                  </a:ext>
                </a:extLst>
              </p:cNvPr>
              <p:cNvSpPr/>
              <p:nvPr/>
            </p:nvSpPr>
            <p:spPr bwMode="auto">
              <a:xfrm>
                <a:off x="5082946" y="2601414"/>
                <a:ext cx="1845569" cy="1703337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blipFill>
                <a:blip r:embed="rId6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9525" cap="flat">
                <a:noFill/>
                <a:prstDash val="solid"/>
                <a:miter lim="800000"/>
              </a:ln>
              <a:effectLst/>
            </p:spPr>
            <p:txBody>
              <a:bodyPr vert="horz" wrap="square" lIns="91416" tIns="45708" rIns="91416" bIns="45708" numCol="1" anchor="t" anchorCtr="0" compatLnSpc="1"/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文本框 26">
                <a:extLst>
                  <a:ext uri="{FF2B5EF4-FFF2-40B4-BE49-F238E27FC236}">
                    <a16:creationId xmlns:a16="http://schemas.microsoft.com/office/drawing/2014/main" id="{D135444E-EC71-3871-8BF6-4A6CC9F6B372}"/>
                  </a:ext>
                </a:extLst>
              </p:cNvPr>
              <p:cNvSpPr txBox="1"/>
              <p:nvPr/>
            </p:nvSpPr>
            <p:spPr>
              <a:xfrm>
                <a:off x="5346404" y="3212425"/>
                <a:ext cx="1318652" cy="452924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 rtlCol="0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特征工程</a:t>
                </a: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909D7562-7BB7-18E3-EBC6-C932BF5F512F}"/>
                  </a:ext>
                </a:extLst>
              </p:cNvPr>
              <p:cNvSpPr/>
              <p:nvPr/>
            </p:nvSpPr>
            <p:spPr>
              <a:xfrm>
                <a:off x="7277590" y="2043875"/>
                <a:ext cx="2802186" cy="112995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>
                  <a:lnSpc>
                    <a:spcPct val="130000"/>
                  </a:lnSpc>
                </a:pPr>
                <a:r>
                  <a:rPr lang="en-US" altLang="zh-CN" sz="1100" dirty="0" err="1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authors_count</a:t>
                </a: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 </a:t>
                </a:r>
                <a:r>
                  <a:rPr lang="en-US" altLang="zh-CN" sz="1100" dirty="0" err="1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institutions_count</a:t>
                </a: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  </a:t>
                </a:r>
                <a:r>
                  <a:rPr lang="en-US" altLang="zh-CN" sz="1100" dirty="0" err="1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countries_count</a:t>
                </a:r>
                <a:endParaRPr lang="en-US" altLang="zh-CN" sz="1100" dirty="0">
                  <a:solidFill>
                    <a:prstClr val="black"/>
                  </a:solidFill>
                  <a:latin typeface="思源宋体 CN Light" panose="02020300000000000000" pitchFamily="18" charset="-122"/>
                  <a:ea typeface="思源宋体 CN Light" panose="02020300000000000000" pitchFamily="18" charset="-122"/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          ……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89C2F694-2043-B64F-30B2-A3B164EE2BF3}"/>
                  </a:ext>
                </a:extLst>
              </p:cNvPr>
              <p:cNvSpPr/>
              <p:nvPr/>
            </p:nvSpPr>
            <p:spPr>
              <a:xfrm>
                <a:off x="7282180" y="1702405"/>
                <a:ext cx="2020287" cy="4530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>
                  <a:lnSpc>
                    <a:spcPct val="130000"/>
                  </a:lnSpc>
                </a:pPr>
                <a:r>
                  <a:rPr lang="zh-CN" altLang="en-US" sz="1600" b="1" dirty="0">
                    <a:solidFill>
                      <a:prstClr val="black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标准化数值特征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776CF824-DAA6-5DF8-520A-78BB1D3D4286}"/>
                  </a:ext>
                </a:extLst>
              </p:cNvPr>
              <p:cNvSpPr/>
              <p:nvPr/>
            </p:nvSpPr>
            <p:spPr bwMode="auto">
              <a:xfrm>
                <a:off x="4565944" y="2195301"/>
                <a:ext cx="2807581" cy="2531343"/>
              </a:xfrm>
              <a:custGeom>
                <a:avLst/>
                <a:gdLst>
                  <a:gd name="T0" fmla="*/ 2151 w 2740"/>
                  <a:gd name="T1" fmla="*/ 2315 h 2446"/>
                  <a:gd name="T2" fmla="*/ 2055 w 2740"/>
                  <a:gd name="T3" fmla="*/ 2410 h 2446"/>
                  <a:gd name="T4" fmla="*/ 1918 w 2740"/>
                  <a:gd name="T5" fmla="*/ 2445 h 2446"/>
                  <a:gd name="T6" fmla="*/ 816 w 2740"/>
                  <a:gd name="T7" fmla="*/ 2445 h 2446"/>
                  <a:gd name="T8" fmla="*/ 685 w 2740"/>
                  <a:gd name="T9" fmla="*/ 2410 h 2446"/>
                  <a:gd name="T10" fmla="*/ 589 w 2740"/>
                  <a:gd name="T11" fmla="*/ 2314 h 2446"/>
                  <a:gd name="T12" fmla="*/ 36 w 2740"/>
                  <a:gd name="T13" fmla="*/ 1356 h 2446"/>
                  <a:gd name="T14" fmla="*/ 0 w 2740"/>
                  <a:gd name="T15" fmla="*/ 1223 h 2446"/>
                  <a:gd name="T16" fmla="*/ 36 w 2740"/>
                  <a:gd name="T17" fmla="*/ 1089 h 2446"/>
                  <a:gd name="T18" fmla="*/ 587 w 2740"/>
                  <a:gd name="T19" fmla="*/ 135 h 2446"/>
                  <a:gd name="T20" fmla="*/ 685 w 2740"/>
                  <a:gd name="T21" fmla="*/ 37 h 2446"/>
                  <a:gd name="T22" fmla="*/ 810 w 2740"/>
                  <a:gd name="T23" fmla="*/ 1 h 2446"/>
                  <a:gd name="T24" fmla="*/ 1916 w 2740"/>
                  <a:gd name="T25" fmla="*/ 1 h 2446"/>
                  <a:gd name="T26" fmla="*/ 2055 w 2740"/>
                  <a:gd name="T27" fmla="*/ 37 h 2446"/>
                  <a:gd name="T28" fmla="*/ 2151 w 2740"/>
                  <a:gd name="T29" fmla="*/ 132 h 2446"/>
                  <a:gd name="T30" fmla="*/ 2702 w 2740"/>
                  <a:gd name="T31" fmla="*/ 1086 h 2446"/>
                  <a:gd name="T32" fmla="*/ 2740 w 2740"/>
                  <a:gd name="T33" fmla="*/ 1223 h 2446"/>
                  <a:gd name="T34" fmla="*/ 2701 w 2740"/>
                  <a:gd name="T35" fmla="*/ 1361 h 2446"/>
                  <a:gd name="T36" fmla="*/ 2151 w 2740"/>
                  <a:gd name="T37" fmla="*/ 2315 h 2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740" h="2446">
                    <a:moveTo>
                      <a:pt x="2151" y="2315"/>
                    </a:moveTo>
                    <a:cubicBezTo>
                      <a:pt x="2128" y="2353"/>
                      <a:pt x="2096" y="2386"/>
                      <a:pt x="2055" y="2410"/>
                    </a:cubicBezTo>
                    <a:cubicBezTo>
                      <a:pt x="2012" y="2435"/>
                      <a:pt x="1965" y="2446"/>
                      <a:pt x="1918" y="2445"/>
                    </a:cubicBezTo>
                    <a:lnTo>
                      <a:pt x="816" y="2445"/>
                    </a:lnTo>
                    <a:cubicBezTo>
                      <a:pt x="772" y="2445"/>
                      <a:pt x="726" y="2434"/>
                      <a:pt x="685" y="2410"/>
                    </a:cubicBezTo>
                    <a:cubicBezTo>
                      <a:pt x="644" y="2386"/>
                      <a:pt x="611" y="2353"/>
                      <a:pt x="589" y="2314"/>
                    </a:cubicBezTo>
                    <a:lnTo>
                      <a:pt x="36" y="1356"/>
                    </a:lnTo>
                    <a:cubicBezTo>
                      <a:pt x="13" y="1317"/>
                      <a:pt x="0" y="1272"/>
                      <a:pt x="0" y="1223"/>
                    </a:cubicBezTo>
                    <a:cubicBezTo>
                      <a:pt x="0" y="1174"/>
                      <a:pt x="13" y="1129"/>
                      <a:pt x="36" y="1089"/>
                    </a:cubicBezTo>
                    <a:lnTo>
                      <a:pt x="587" y="135"/>
                    </a:lnTo>
                    <a:cubicBezTo>
                      <a:pt x="610" y="96"/>
                      <a:pt x="643" y="61"/>
                      <a:pt x="685" y="37"/>
                    </a:cubicBezTo>
                    <a:cubicBezTo>
                      <a:pt x="724" y="14"/>
                      <a:pt x="767" y="2"/>
                      <a:pt x="810" y="1"/>
                    </a:cubicBezTo>
                    <a:lnTo>
                      <a:pt x="1916" y="1"/>
                    </a:lnTo>
                    <a:cubicBezTo>
                      <a:pt x="1963" y="0"/>
                      <a:pt x="2011" y="11"/>
                      <a:pt x="2055" y="37"/>
                    </a:cubicBezTo>
                    <a:cubicBezTo>
                      <a:pt x="2096" y="60"/>
                      <a:pt x="2129" y="93"/>
                      <a:pt x="2151" y="132"/>
                    </a:cubicBezTo>
                    <a:lnTo>
                      <a:pt x="2702" y="1086"/>
                    </a:lnTo>
                    <a:cubicBezTo>
                      <a:pt x="2726" y="1126"/>
                      <a:pt x="2740" y="1173"/>
                      <a:pt x="2740" y="1223"/>
                    </a:cubicBezTo>
                    <a:cubicBezTo>
                      <a:pt x="2740" y="1274"/>
                      <a:pt x="2726" y="1321"/>
                      <a:pt x="2701" y="1361"/>
                    </a:cubicBezTo>
                    <a:lnTo>
                      <a:pt x="2151" y="2315"/>
                    </a:lnTo>
                    <a:close/>
                  </a:path>
                </a:pathLst>
              </a:custGeom>
              <a:noFill/>
              <a:ln w="9525" cap="flat">
                <a:solidFill>
                  <a:srgbClr val="DBE8FB"/>
                </a:solidFill>
                <a:prstDash val="solid"/>
                <a:miter lim="800000"/>
              </a:ln>
              <a:effectLst>
                <a:outerShdw blurRad="431800" dist="889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vert="horz" wrap="square" lIns="91416" tIns="45708" rIns="91416" bIns="45708" numCol="1" anchor="t" anchorCtr="0" compatLnSpc="1"/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B6BE8C8D-43A4-6AD6-2531-5E92C6F11EF7}"/>
                  </a:ext>
                </a:extLst>
              </p:cNvPr>
              <p:cNvSpPr/>
              <p:nvPr/>
            </p:nvSpPr>
            <p:spPr>
              <a:xfrm>
                <a:off x="1854299" y="2044558"/>
                <a:ext cx="2807582" cy="34567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解决原始文献引用数据呈右偏分布</a:t>
                </a: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02952E6B-40D1-16F3-CF85-C411916B6766}"/>
                  </a:ext>
                </a:extLst>
              </p:cNvPr>
              <p:cNvSpPr/>
              <p:nvPr/>
            </p:nvSpPr>
            <p:spPr>
              <a:xfrm>
                <a:off x="2641593" y="1626207"/>
                <a:ext cx="2020287" cy="4530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Log</a:t>
                </a: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变换</a:t>
                </a:r>
              </a:p>
            </p:txBody>
          </p: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B12AFE01-34EB-1C25-CE1D-A88A8D7A3E69}"/>
                  </a:ext>
                </a:extLst>
              </p:cNvPr>
              <p:cNvGrpSpPr/>
              <p:nvPr/>
            </p:nvGrpSpPr>
            <p:grpSpPr>
              <a:xfrm>
                <a:off x="4138598" y="3070206"/>
                <a:ext cx="711057" cy="701793"/>
                <a:chOff x="6217935" y="1158425"/>
                <a:chExt cx="527724" cy="520849"/>
              </a:xfrm>
              <a:gradFill>
                <a:gsLst>
                  <a:gs pos="0">
                    <a:srgbClr val="6F98F1"/>
                  </a:gs>
                  <a:gs pos="100000">
                    <a:srgbClr val="82D6E0"/>
                  </a:gs>
                </a:gsLst>
                <a:lin ang="16200000" scaled="1"/>
              </a:gradFill>
            </p:grpSpPr>
            <p:sp>
              <p:nvSpPr>
                <p:cNvPr id="65" name="椭圆 64">
                  <a:extLst>
                    <a:ext uri="{FF2B5EF4-FFF2-40B4-BE49-F238E27FC236}">
                      <a16:creationId xmlns:a16="http://schemas.microsoft.com/office/drawing/2014/main" id="{72DF129E-7AD7-5D5A-E52E-CCBDA757C81D}"/>
                    </a:ext>
                  </a:extLst>
                </p:cNvPr>
                <p:cNvSpPr/>
                <p:nvPr/>
              </p:nvSpPr>
              <p:spPr>
                <a:xfrm>
                  <a:off x="6219351" y="1158425"/>
                  <a:ext cx="520849" cy="520849"/>
                </a:xfrm>
                <a:prstGeom prst="ellipse">
                  <a:avLst/>
                </a:prstGeom>
                <a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TextBox 56">
                  <a:extLst>
                    <a:ext uri="{FF2B5EF4-FFF2-40B4-BE49-F238E27FC236}">
                      <a16:creationId xmlns:a16="http://schemas.microsoft.com/office/drawing/2014/main" id="{D134E724-0B95-3FD6-D01F-024ABDB887CC}"/>
                    </a:ext>
                  </a:extLst>
                </p:cNvPr>
                <p:cNvSpPr txBox="1"/>
                <p:nvPr/>
              </p:nvSpPr>
              <p:spPr>
                <a:xfrm>
                  <a:off x="6217935" y="1256880"/>
                  <a:ext cx="527724" cy="334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02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F17CB73E-BCDD-64CB-C32B-180E80E480AD}"/>
                  </a:ext>
                </a:extLst>
              </p:cNvPr>
              <p:cNvSpPr/>
              <p:nvPr/>
            </p:nvSpPr>
            <p:spPr>
              <a:xfrm>
                <a:off x="1067006" y="3339682"/>
                <a:ext cx="2807582" cy="112995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r"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作者</a:t>
                </a: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-</a:t>
                </a: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机构比例</a:t>
                </a:r>
                <a:endParaRPr lang="en-US" altLang="zh-CN" sz="1100" dirty="0">
                  <a:solidFill>
                    <a:prstClr val="black"/>
                  </a:solidFill>
                  <a:latin typeface="思源宋体 CN Light" panose="02020300000000000000" pitchFamily="18" charset="-122"/>
                  <a:ea typeface="思源宋体 CN Light" panose="02020300000000000000" pitchFamily="18" charset="-122"/>
                </a:endParaRPr>
              </a:p>
              <a:p>
                <a:pPr lvl="0" algn="r"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机构</a:t>
                </a: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-</a:t>
                </a: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国家比例</a:t>
                </a:r>
                <a:endParaRPr lang="en-US" altLang="zh-CN" sz="1100" dirty="0">
                  <a:solidFill>
                    <a:prstClr val="black"/>
                  </a:solidFill>
                  <a:latin typeface="思源宋体 CN Light" panose="02020300000000000000" pitchFamily="18" charset="-122"/>
                  <a:ea typeface="思源宋体 CN Light" panose="02020300000000000000" pitchFamily="18" charset="-122"/>
                </a:endParaRPr>
              </a:p>
              <a:p>
                <a:pPr lvl="0" algn="r"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国际合作强度</a:t>
                </a:r>
                <a:endParaRPr lang="en-US" altLang="zh-CN" sz="1100" dirty="0">
                  <a:solidFill>
                    <a:prstClr val="black"/>
                  </a:solidFill>
                  <a:latin typeface="思源宋体 CN Light" panose="02020300000000000000" pitchFamily="18" charset="-122"/>
                  <a:ea typeface="思源宋体 CN Light" panose="02020300000000000000" pitchFamily="18" charset="-122"/>
                </a:endParaRPr>
              </a:p>
              <a:p>
                <a:pPr lvl="0" algn="r"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作者平均机构覆盖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3ECAC221-4672-D723-92AC-97F72DA9457C}"/>
                  </a:ext>
                </a:extLst>
              </p:cNvPr>
              <p:cNvSpPr/>
              <p:nvPr/>
            </p:nvSpPr>
            <p:spPr>
              <a:xfrm>
                <a:off x="1854298" y="2998213"/>
                <a:ext cx="2195477" cy="45292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r">
                  <a:lnSpc>
                    <a:spcPct val="130000"/>
                  </a:lnSpc>
                </a:pPr>
                <a:r>
                  <a:rPr lang="zh-CN" altLang="en-US" sz="1600" b="1" dirty="0">
                    <a:solidFill>
                      <a:prstClr val="black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合作强度特征计算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grpSp>
            <p:nvGrpSpPr>
              <p:cNvPr id="47" name="组合 46">
                <a:extLst>
                  <a:ext uri="{FF2B5EF4-FFF2-40B4-BE49-F238E27FC236}">
                    <a16:creationId xmlns:a16="http://schemas.microsoft.com/office/drawing/2014/main" id="{35D2652B-1F94-ADD4-7F5C-4A496CCE3EC4}"/>
                  </a:ext>
                </a:extLst>
              </p:cNvPr>
              <p:cNvGrpSpPr/>
              <p:nvPr/>
            </p:nvGrpSpPr>
            <p:grpSpPr>
              <a:xfrm>
                <a:off x="4862738" y="4366013"/>
                <a:ext cx="711057" cy="701793"/>
                <a:chOff x="6217935" y="1158425"/>
                <a:chExt cx="527724" cy="520849"/>
              </a:xfrm>
              <a:gradFill>
                <a:gsLst>
                  <a:gs pos="0">
                    <a:srgbClr val="6F98F1"/>
                  </a:gs>
                  <a:gs pos="100000">
                    <a:srgbClr val="82D6E0"/>
                  </a:gs>
                </a:gsLst>
                <a:lin ang="16200000" scaled="1"/>
              </a:gradFill>
            </p:grpSpPr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D637289D-C550-3AD1-615B-C8D83FA49781}"/>
                    </a:ext>
                  </a:extLst>
                </p:cNvPr>
                <p:cNvSpPr/>
                <p:nvPr/>
              </p:nvSpPr>
              <p:spPr>
                <a:xfrm>
                  <a:off x="6219351" y="1158425"/>
                  <a:ext cx="520849" cy="520849"/>
                </a:xfrm>
                <a:prstGeom prst="ellipse">
                  <a:avLst/>
                </a:prstGeom>
                <a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TextBox 64">
                  <a:extLst>
                    <a:ext uri="{FF2B5EF4-FFF2-40B4-BE49-F238E27FC236}">
                      <a16:creationId xmlns:a16="http://schemas.microsoft.com/office/drawing/2014/main" id="{091EDC98-9309-2D3B-D107-0755E810FDC1}"/>
                    </a:ext>
                  </a:extLst>
                </p:cNvPr>
                <p:cNvSpPr txBox="1"/>
                <p:nvPr/>
              </p:nvSpPr>
              <p:spPr>
                <a:xfrm>
                  <a:off x="6217935" y="1256880"/>
                  <a:ext cx="527724" cy="334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03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B62D921A-8AC3-CAD7-5E41-302C508C1BE7}"/>
                  </a:ext>
                </a:extLst>
              </p:cNvPr>
              <p:cNvSpPr/>
              <p:nvPr/>
            </p:nvSpPr>
            <p:spPr>
              <a:xfrm>
                <a:off x="1868532" y="4635487"/>
                <a:ext cx="2730196" cy="6070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 algn="r"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单位参考文献密度</a:t>
                </a:r>
                <a:endParaRPr lang="en-US" altLang="zh-CN" sz="1100" dirty="0">
                  <a:solidFill>
                    <a:prstClr val="black"/>
                  </a:solidFill>
                  <a:latin typeface="思源宋体 CN Light" panose="02020300000000000000" pitchFamily="18" charset="-122"/>
                  <a:ea typeface="思源宋体 CN Light" panose="02020300000000000000" pitchFamily="18" charset="-122"/>
                </a:endParaRPr>
              </a:p>
              <a:p>
                <a:pPr lvl="0" algn="r"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单位摘要引用率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E88EFBF4-E1F4-7946-4D9D-864C6FB76002}"/>
                  </a:ext>
                </a:extLst>
              </p:cNvPr>
              <p:cNvSpPr/>
              <p:nvPr/>
            </p:nvSpPr>
            <p:spPr>
              <a:xfrm>
                <a:off x="2578440" y="4294017"/>
                <a:ext cx="2020287" cy="4530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r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文献质量特征</a:t>
                </a:r>
              </a:p>
            </p:txBody>
          </p: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26B5BD96-D957-88E2-5A4F-6DD7AD2C1918}"/>
                  </a:ext>
                </a:extLst>
              </p:cNvPr>
              <p:cNvGrpSpPr/>
              <p:nvPr/>
            </p:nvGrpSpPr>
            <p:grpSpPr>
              <a:xfrm>
                <a:off x="6365677" y="1775084"/>
                <a:ext cx="711057" cy="701793"/>
                <a:chOff x="6217935" y="1158425"/>
                <a:chExt cx="527724" cy="520849"/>
              </a:xfrm>
              <a:gradFill>
                <a:gsLst>
                  <a:gs pos="0">
                    <a:srgbClr val="6F98F1"/>
                  </a:gs>
                  <a:gs pos="100000">
                    <a:srgbClr val="82D6E0"/>
                  </a:gs>
                </a:gsLst>
                <a:lin ang="16200000" scaled="1"/>
              </a:gradFill>
            </p:grpSpPr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B5EDD9EF-D6B1-0765-1A24-CB12BB4A3952}"/>
                    </a:ext>
                  </a:extLst>
                </p:cNvPr>
                <p:cNvSpPr/>
                <p:nvPr/>
              </p:nvSpPr>
              <p:spPr>
                <a:xfrm>
                  <a:off x="6219351" y="1158425"/>
                  <a:ext cx="520849" cy="520849"/>
                </a:xfrm>
                <a:prstGeom prst="ellipse">
                  <a:avLst/>
                </a:prstGeom>
                <a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TextBox 19">
                  <a:extLst>
                    <a:ext uri="{FF2B5EF4-FFF2-40B4-BE49-F238E27FC236}">
                      <a16:creationId xmlns:a16="http://schemas.microsoft.com/office/drawing/2014/main" id="{8C0491FB-CBD3-FA12-58FD-74943AFA6E7B}"/>
                    </a:ext>
                  </a:extLst>
                </p:cNvPr>
                <p:cNvSpPr txBox="1"/>
                <p:nvPr/>
              </p:nvSpPr>
              <p:spPr>
                <a:xfrm>
                  <a:off x="6217935" y="1256880"/>
                  <a:ext cx="527724" cy="334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04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73BF4E5E-A090-D3CB-CA73-EF4140902027}"/>
                  </a:ext>
                </a:extLst>
              </p:cNvPr>
              <p:cNvSpPr/>
              <p:nvPr/>
            </p:nvSpPr>
            <p:spPr>
              <a:xfrm>
                <a:off x="8064882" y="3339682"/>
                <a:ext cx="2711644" cy="6070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>
                  <a:lnSpc>
                    <a:spcPct val="130000"/>
                  </a:lnSpc>
                </a:pP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TF-IDF</a:t>
                </a: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向量化</a:t>
                </a:r>
                <a:endParaRPr lang="en-US" altLang="zh-CN" sz="1100" dirty="0">
                  <a:solidFill>
                    <a:prstClr val="black"/>
                  </a:solidFill>
                  <a:latin typeface="思源宋体 CN Light" panose="02020300000000000000" pitchFamily="18" charset="-122"/>
                  <a:ea typeface="思源宋体 CN Light" panose="02020300000000000000" pitchFamily="18" charset="-122"/>
                </a:endParaRPr>
              </a:p>
              <a:p>
                <a:pPr lvl="0">
                  <a:lnSpc>
                    <a:spcPct val="130000"/>
                  </a:lnSpc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SVD</a:t>
                </a:r>
                <a:r>
                  <a:rPr kumimoji="0" lang="zh-CN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j-cs"/>
                  </a:rPr>
                  <a:t>降维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DB81F198-8A43-BC2D-C680-111EE23FB019}"/>
                  </a:ext>
                </a:extLst>
              </p:cNvPr>
              <p:cNvSpPr/>
              <p:nvPr/>
            </p:nvSpPr>
            <p:spPr>
              <a:xfrm>
                <a:off x="8064882" y="2998211"/>
                <a:ext cx="2020287" cy="4530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1" dirty="0">
                    <a:solidFill>
                      <a:prstClr val="black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文本特征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DE551DFE-E0EE-FFB6-02EA-5E77255AEB79}"/>
                  </a:ext>
                </a:extLst>
              </p:cNvPr>
              <p:cNvGrpSpPr/>
              <p:nvPr/>
            </p:nvGrpSpPr>
            <p:grpSpPr>
              <a:xfrm>
                <a:off x="7152969" y="3070890"/>
                <a:ext cx="711057" cy="701793"/>
                <a:chOff x="6217935" y="1158425"/>
                <a:chExt cx="527724" cy="520849"/>
              </a:xfrm>
              <a:gradFill>
                <a:gsLst>
                  <a:gs pos="0">
                    <a:srgbClr val="6F98F1"/>
                  </a:gs>
                  <a:gs pos="100000">
                    <a:srgbClr val="82D6E0"/>
                  </a:gs>
                </a:gsLst>
                <a:lin ang="16200000" scaled="1"/>
              </a:gradFill>
            </p:grpSpPr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954A1BC6-396E-4838-813D-A94693E9BA56}"/>
                    </a:ext>
                  </a:extLst>
                </p:cNvPr>
                <p:cNvSpPr/>
                <p:nvPr/>
              </p:nvSpPr>
              <p:spPr>
                <a:xfrm>
                  <a:off x="6219351" y="1158425"/>
                  <a:ext cx="520849" cy="520849"/>
                </a:xfrm>
                <a:prstGeom prst="ellipse">
                  <a:avLst/>
                </a:prstGeom>
                <a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TextBox 75">
                  <a:extLst>
                    <a:ext uri="{FF2B5EF4-FFF2-40B4-BE49-F238E27FC236}">
                      <a16:creationId xmlns:a16="http://schemas.microsoft.com/office/drawing/2014/main" id="{7A45C808-743B-87EE-1C11-4627ED88C5C3}"/>
                    </a:ext>
                  </a:extLst>
                </p:cNvPr>
                <p:cNvSpPr txBox="1"/>
                <p:nvPr/>
              </p:nvSpPr>
              <p:spPr>
                <a:xfrm>
                  <a:off x="6217935" y="1271633"/>
                  <a:ext cx="527724" cy="334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05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6D8044D7-3F48-8DEC-FF81-D7DB270C2774}"/>
                  </a:ext>
                </a:extLst>
              </p:cNvPr>
              <p:cNvSpPr/>
              <p:nvPr/>
            </p:nvSpPr>
            <p:spPr>
              <a:xfrm>
                <a:off x="7349580" y="4635489"/>
                <a:ext cx="2730196" cy="60709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PCA</a:t>
                </a:r>
                <a:r>
                  <a:rPr lang="zh-CN" altLang="en-US" sz="1100" dirty="0">
                    <a:solidFill>
                      <a:prstClr val="black"/>
                    </a:solidFill>
                    <a:latin typeface="思源宋体 CN Light" panose="02020300000000000000" pitchFamily="18" charset="-122"/>
                    <a:ea typeface="思源宋体 CN Light" panose="02020300000000000000" pitchFamily="18" charset="-122"/>
                  </a:rPr>
                  <a:t>降维</a:t>
                </a:r>
              </a:p>
              <a:p>
                <a:pPr lvl="0">
                  <a:lnSpc>
                    <a:spcPct val="130000"/>
                  </a:lnSpc>
                </a:pP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j-cs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754B0004-3D07-0D9F-2CFF-BCCE1F73A1C1}"/>
                  </a:ext>
                </a:extLst>
              </p:cNvPr>
              <p:cNvSpPr/>
              <p:nvPr/>
            </p:nvSpPr>
            <p:spPr>
              <a:xfrm>
                <a:off x="7354168" y="4294018"/>
                <a:ext cx="2020287" cy="45056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ajor"/>
            </p:style>
            <p:txBody>
              <a:bodyPr wrap="square">
                <a:spAutoFit/>
              </a:bodyPr>
              <a:lstStyle>
                <a:lvl1pPr>
                  <a:defRPr>
                    <a:latin typeface="+mj-lt"/>
                    <a:ea typeface="+mj-ea"/>
                    <a:cs typeface="+mj-cs"/>
                  </a:defRPr>
                </a:lvl1pPr>
                <a:lvl2pPr>
                  <a:defRPr>
                    <a:latin typeface="+mj-lt"/>
                    <a:ea typeface="+mj-ea"/>
                    <a:cs typeface="+mj-cs"/>
                  </a:defRPr>
                </a:lvl2pPr>
                <a:lvl3pPr>
                  <a:defRPr>
                    <a:latin typeface="+mj-lt"/>
                    <a:ea typeface="+mj-ea"/>
                    <a:cs typeface="+mj-cs"/>
                  </a:defRPr>
                </a:lvl3pPr>
                <a:lvl4pPr>
                  <a:defRPr>
                    <a:latin typeface="+mj-lt"/>
                    <a:ea typeface="+mj-ea"/>
                    <a:cs typeface="+mj-cs"/>
                  </a:defRPr>
                </a:lvl4pPr>
                <a:lvl5pPr>
                  <a:defRPr>
                    <a:latin typeface="+mj-lt"/>
                    <a:ea typeface="+mj-ea"/>
                    <a:cs typeface="+mj-cs"/>
                  </a:defRPr>
                </a:lvl5pPr>
                <a:lvl6pPr>
                  <a:defRPr>
                    <a:latin typeface="+mj-lt"/>
                    <a:ea typeface="+mj-ea"/>
                    <a:cs typeface="+mj-cs"/>
                  </a:defRPr>
                </a:lvl6pPr>
                <a:lvl7pPr>
                  <a:defRPr>
                    <a:latin typeface="+mj-lt"/>
                    <a:ea typeface="+mj-ea"/>
                    <a:cs typeface="+mj-cs"/>
                  </a:defRPr>
                </a:lvl7pPr>
                <a:lvl8pPr>
                  <a:defRPr>
                    <a:latin typeface="+mj-lt"/>
                    <a:ea typeface="+mj-ea"/>
                    <a:cs typeface="+mj-cs"/>
                  </a:defRPr>
                </a:lvl8pPr>
                <a:lvl9pPr>
                  <a:defRPr>
                    <a:latin typeface="+mj-lt"/>
                    <a:ea typeface="+mj-ea"/>
                    <a:cs typeface="+mj-cs"/>
                  </a:defRPr>
                </a:lvl9pPr>
              </a:lstStyle>
              <a:p>
                <a:pPr lvl="0">
                  <a:lnSpc>
                    <a:spcPct val="130000"/>
                  </a:lnSpc>
                </a:pPr>
                <a:r>
                  <a:rPr lang="zh-CN" altLang="en-US" sz="1600" b="1" dirty="0">
                    <a:solidFill>
                      <a:prstClr val="black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数值特征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B185095F-8DE0-FFAB-5900-03385EF4632D}"/>
                  </a:ext>
                </a:extLst>
              </p:cNvPr>
              <p:cNvGrpSpPr/>
              <p:nvPr/>
            </p:nvGrpSpPr>
            <p:grpSpPr>
              <a:xfrm>
                <a:off x="6437665" y="4366697"/>
                <a:ext cx="711057" cy="701793"/>
                <a:chOff x="6217935" y="1158425"/>
                <a:chExt cx="527724" cy="520849"/>
              </a:xfrm>
              <a:gradFill>
                <a:gsLst>
                  <a:gs pos="0">
                    <a:srgbClr val="6F98F1"/>
                  </a:gs>
                  <a:gs pos="100000">
                    <a:srgbClr val="82D6E0"/>
                  </a:gs>
                </a:gsLst>
                <a:lin ang="16200000" scaled="1"/>
              </a:gradFill>
            </p:grpSpPr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81EE2757-80A4-8907-6ACB-532F4F5A55D0}"/>
                    </a:ext>
                  </a:extLst>
                </p:cNvPr>
                <p:cNvSpPr/>
                <p:nvPr/>
              </p:nvSpPr>
              <p:spPr>
                <a:xfrm>
                  <a:off x="6219351" y="1158425"/>
                  <a:ext cx="520849" cy="520849"/>
                </a:xfrm>
                <a:prstGeom prst="ellipse">
                  <a:avLst/>
                </a:prstGeom>
                <a:blipFill>
                  <a:blip r:embed="rId6" cstate="email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a:blip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TextBox 83">
                  <a:extLst>
                    <a:ext uri="{FF2B5EF4-FFF2-40B4-BE49-F238E27FC236}">
                      <a16:creationId xmlns:a16="http://schemas.microsoft.com/office/drawing/2014/main" id="{1E9F1ABB-7D10-4B89-1533-58D5A1455129}"/>
                    </a:ext>
                  </a:extLst>
                </p:cNvPr>
                <p:cNvSpPr txBox="1"/>
                <p:nvPr/>
              </p:nvSpPr>
              <p:spPr>
                <a:xfrm>
                  <a:off x="6217935" y="1256880"/>
                  <a:ext cx="527724" cy="334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3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06</a:t>
                  </a:r>
                  <a:endPara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757BB759-7049-4F8A-7736-1F0D9BED7216}"/>
                </a:ext>
              </a:extLst>
            </p:cNvPr>
            <p:cNvSpPr/>
            <p:nvPr/>
          </p:nvSpPr>
          <p:spPr>
            <a:xfrm>
              <a:off x="3735309" y="1382975"/>
              <a:ext cx="590748" cy="590748"/>
            </a:xfrm>
            <a:prstGeom prst="ellipse">
              <a:avLst/>
            </a:prstGeom>
            <a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>
                <a:defRPr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36" name="TextBox 39">
              <a:extLst>
                <a:ext uri="{FF2B5EF4-FFF2-40B4-BE49-F238E27FC236}">
                  <a16:creationId xmlns:a16="http://schemas.microsoft.com/office/drawing/2014/main" id="{F5301E37-9416-A47B-4449-40DF4094C383}"/>
                </a:ext>
              </a:extLst>
            </p:cNvPr>
            <p:cNvSpPr txBox="1"/>
            <p:nvPr/>
          </p:nvSpPr>
          <p:spPr>
            <a:xfrm>
              <a:off x="3733703" y="1477910"/>
              <a:ext cx="598546" cy="3792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01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1204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750C03-118B-E767-9CDC-D7060C35D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02B58C8B-9446-C7B1-8C0A-3C8679CE1AF9}"/>
              </a:ext>
            </a:extLst>
          </p:cNvPr>
          <p:cNvGrpSpPr/>
          <p:nvPr/>
        </p:nvGrpSpPr>
        <p:grpSpPr>
          <a:xfrm>
            <a:off x="-5818" y="0"/>
            <a:ext cx="9149818" cy="5150873"/>
            <a:chOff x="-5818" y="0"/>
            <a:chExt cx="9149818" cy="515087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3F1A8EF-16DD-7378-F27E-42816627DB92}"/>
                </a:ext>
              </a:extLst>
            </p:cNvPr>
            <p:cNvGrpSpPr/>
            <p:nvPr/>
          </p:nvGrpSpPr>
          <p:grpSpPr>
            <a:xfrm flipH="1">
              <a:off x="-5818" y="0"/>
              <a:ext cx="9149818" cy="5150873"/>
              <a:chOff x="-5818" y="0"/>
              <a:chExt cx="9149818" cy="5150873"/>
            </a:xfrm>
          </p:grpSpPr>
          <p:sp>
            <p:nvSpPr>
              <p:cNvPr id="12" name="Google Shape;58;p3">
                <a:extLst>
                  <a:ext uri="{FF2B5EF4-FFF2-40B4-BE49-F238E27FC236}">
                    <a16:creationId xmlns:a16="http://schemas.microsoft.com/office/drawing/2014/main" id="{3BADAA29-50A2-F6EA-5257-0EDA60FECD84}"/>
                  </a:ext>
                </a:extLst>
              </p:cNvPr>
              <p:cNvSpPr/>
              <p:nvPr/>
            </p:nvSpPr>
            <p:spPr>
              <a:xfrm rot="10800000">
                <a:off x="5518762" y="2132527"/>
                <a:ext cx="3625238" cy="3018346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6" name="Google Shape;58;p3">
                <a:extLst>
                  <a:ext uri="{FF2B5EF4-FFF2-40B4-BE49-F238E27FC236}">
                    <a16:creationId xmlns:a16="http://schemas.microsoft.com/office/drawing/2014/main" id="{A94C67B5-5D2C-CB76-7CEE-689DE4C0531A}"/>
                  </a:ext>
                </a:extLst>
              </p:cNvPr>
              <p:cNvSpPr/>
              <p:nvPr/>
            </p:nvSpPr>
            <p:spPr>
              <a:xfrm rot="10800000" flipH="1" flipV="1">
                <a:off x="-5818" y="0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919FA31-55A3-7B91-618F-82D528229281}"/>
                  </a:ext>
                </a:extLst>
              </p:cNvPr>
              <p:cNvSpPr/>
              <p:nvPr/>
            </p:nvSpPr>
            <p:spPr>
              <a:xfrm rot="19800000">
                <a:off x="7300743" y="284091"/>
                <a:ext cx="1370002" cy="137000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C5415AB1-D93F-68EA-FB70-FF878FC04361}"/>
                  </a:ext>
                </a:extLst>
              </p:cNvPr>
              <p:cNvSpPr/>
              <p:nvPr/>
            </p:nvSpPr>
            <p:spPr>
              <a:xfrm rot="19800000">
                <a:off x="5203840" y="3777489"/>
                <a:ext cx="587982" cy="58798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1" name="Google Shape;58;p3">
                <a:extLst>
                  <a:ext uri="{FF2B5EF4-FFF2-40B4-BE49-F238E27FC236}">
                    <a16:creationId xmlns:a16="http://schemas.microsoft.com/office/drawing/2014/main" id="{DF5D7A9B-8340-FB9F-C3EC-DF454877D3ED}"/>
                  </a:ext>
                </a:extLst>
              </p:cNvPr>
              <p:cNvSpPr/>
              <p:nvPr/>
            </p:nvSpPr>
            <p:spPr>
              <a:xfrm rot="10800000" flipH="1">
                <a:off x="0" y="4071481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2" name="任意多边形 7">
                <a:extLst>
                  <a:ext uri="{FF2B5EF4-FFF2-40B4-BE49-F238E27FC236}">
                    <a16:creationId xmlns:a16="http://schemas.microsoft.com/office/drawing/2014/main" id="{DEDA7FDD-84DA-2D9B-10A3-B61F466E494F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5087031" y="783440"/>
                <a:ext cx="702010" cy="371304"/>
              </a:xfrm>
              <a:custGeom>
                <a:avLst/>
                <a:gdLst>
                  <a:gd name="idx" fmla="cos wd2 2700000"/>
                  <a:gd name="idy" fmla="sin hd2 2700000"/>
                  <a:gd name="il" fmla="+- hc 0 idx"/>
                  <a:gd name="ir" fmla="+- hc idx 0"/>
                  <a:gd name="it" fmla="+- vc 0 idy"/>
                  <a:gd name="ib" fmla="+- vc idy 0"/>
                </a:gdLst>
                <a:ahLst/>
                <a:cxnLst>
                  <a:cxn ang="3">
                    <a:pos x="hc" y="t"/>
                  </a:cxn>
                  <a:cxn ang="3">
                    <a:pos x="il" y="it"/>
                  </a:cxn>
                  <a:cxn ang="cd2">
                    <a:pos x="l" y="vc"/>
                  </a:cxn>
                  <a:cxn ang="cd4">
                    <a:pos x="il" y="ib"/>
                  </a:cxn>
                  <a:cxn ang="cd4">
                    <a:pos x="hc" y="b"/>
                  </a:cxn>
                  <a:cxn ang="cd4">
                    <a:pos x="ir" y="ib"/>
                  </a:cxn>
                  <a:cxn ang="0">
                    <a:pos x="r" y="vc"/>
                  </a:cxn>
                  <a:cxn ang="3">
                    <a:pos x="ir" y="it"/>
                  </a:cxn>
                </a:cxnLst>
                <a:rect l="l" t="t" r="r" b="b"/>
                <a:pathLst>
                  <a:path w="1647" h="922">
                    <a:moveTo>
                      <a:pt x="0" y="61"/>
                    </a:moveTo>
                    <a:cubicBezTo>
                      <a:pt x="0" y="27"/>
                      <a:pt x="26" y="0"/>
                      <a:pt x="58" y="0"/>
                    </a:cubicBezTo>
                    <a:cubicBezTo>
                      <a:pt x="89" y="0"/>
                      <a:pt x="115" y="27"/>
                      <a:pt x="115" y="61"/>
                    </a:cubicBezTo>
                    <a:cubicBezTo>
                      <a:pt x="115" y="94"/>
                      <a:pt x="89" y="121"/>
                      <a:pt x="58" y="121"/>
                    </a:cubicBezTo>
                    <a:cubicBezTo>
                      <a:pt x="26" y="121"/>
                      <a:pt x="0" y="94"/>
                      <a:pt x="0" y="61"/>
                    </a:cubicBezTo>
                    <a:close/>
                    <a:moveTo>
                      <a:pt x="383" y="61"/>
                    </a:moveTo>
                    <a:cubicBezTo>
                      <a:pt x="383" y="27"/>
                      <a:pt x="409" y="0"/>
                      <a:pt x="441" y="0"/>
                    </a:cubicBezTo>
                    <a:cubicBezTo>
                      <a:pt x="472" y="0"/>
                      <a:pt x="498" y="27"/>
                      <a:pt x="498" y="61"/>
                    </a:cubicBezTo>
                    <a:cubicBezTo>
                      <a:pt x="498" y="94"/>
                      <a:pt x="472" y="121"/>
                      <a:pt x="441" y="121"/>
                    </a:cubicBezTo>
                    <a:cubicBezTo>
                      <a:pt x="409" y="121"/>
                      <a:pt x="383" y="94"/>
                      <a:pt x="383" y="61"/>
                    </a:cubicBezTo>
                    <a:close/>
                    <a:moveTo>
                      <a:pt x="766" y="61"/>
                    </a:moveTo>
                    <a:cubicBezTo>
                      <a:pt x="766" y="27"/>
                      <a:pt x="792" y="0"/>
                      <a:pt x="824" y="0"/>
                    </a:cubicBezTo>
                    <a:cubicBezTo>
                      <a:pt x="855" y="0"/>
                      <a:pt x="881" y="27"/>
                      <a:pt x="881" y="61"/>
                    </a:cubicBezTo>
                    <a:cubicBezTo>
                      <a:pt x="881" y="94"/>
                      <a:pt x="855" y="121"/>
                      <a:pt x="824" y="121"/>
                    </a:cubicBezTo>
                    <a:cubicBezTo>
                      <a:pt x="792" y="121"/>
                      <a:pt x="766" y="94"/>
                      <a:pt x="766" y="61"/>
                    </a:cubicBezTo>
                    <a:close/>
                    <a:moveTo>
                      <a:pt x="1149" y="61"/>
                    </a:moveTo>
                    <a:cubicBezTo>
                      <a:pt x="1149" y="27"/>
                      <a:pt x="1175" y="0"/>
                      <a:pt x="1207" y="0"/>
                    </a:cubicBezTo>
                    <a:cubicBezTo>
                      <a:pt x="1238" y="0"/>
                      <a:pt x="1264" y="27"/>
                      <a:pt x="1264" y="61"/>
                    </a:cubicBezTo>
                    <a:cubicBezTo>
                      <a:pt x="1264" y="94"/>
                      <a:pt x="1238" y="121"/>
                      <a:pt x="1207" y="121"/>
                    </a:cubicBezTo>
                    <a:cubicBezTo>
                      <a:pt x="1175" y="121"/>
                      <a:pt x="1149" y="94"/>
                      <a:pt x="1149" y="61"/>
                    </a:cubicBezTo>
                    <a:close/>
                    <a:moveTo>
                      <a:pt x="1532" y="61"/>
                    </a:moveTo>
                    <a:cubicBezTo>
                      <a:pt x="1532" y="27"/>
                      <a:pt x="1558" y="0"/>
                      <a:pt x="1590" y="0"/>
                    </a:cubicBezTo>
                    <a:cubicBezTo>
                      <a:pt x="1621" y="0"/>
                      <a:pt x="1647" y="27"/>
                      <a:pt x="1647" y="61"/>
                    </a:cubicBezTo>
                    <a:cubicBezTo>
                      <a:pt x="1647" y="94"/>
                      <a:pt x="1621" y="121"/>
                      <a:pt x="1590" y="121"/>
                    </a:cubicBezTo>
                    <a:cubicBezTo>
                      <a:pt x="1558" y="121"/>
                      <a:pt x="1532" y="94"/>
                      <a:pt x="1532" y="61"/>
                    </a:cubicBezTo>
                    <a:close/>
                    <a:moveTo>
                      <a:pt x="0" y="328"/>
                    </a:moveTo>
                    <a:cubicBezTo>
                      <a:pt x="0" y="294"/>
                      <a:pt x="26" y="267"/>
                      <a:pt x="58" y="267"/>
                    </a:cubicBezTo>
                    <a:cubicBezTo>
                      <a:pt x="89" y="267"/>
                      <a:pt x="115" y="294"/>
                      <a:pt x="115" y="328"/>
                    </a:cubicBezTo>
                    <a:cubicBezTo>
                      <a:pt x="115" y="361"/>
                      <a:pt x="89" y="388"/>
                      <a:pt x="58" y="388"/>
                    </a:cubicBezTo>
                    <a:cubicBezTo>
                      <a:pt x="26" y="388"/>
                      <a:pt x="0" y="361"/>
                      <a:pt x="0" y="328"/>
                    </a:cubicBezTo>
                    <a:close/>
                    <a:moveTo>
                      <a:pt x="383" y="328"/>
                    </a:moveTo>
                    <a:cubicBezTo>
                      <a:pt x="383" y="294"/>
                      <a:pt x="409" y="267"/>
                      <a:pt x="441" y="267"/>
                    </a:cubicBezTo>
                    <a:cubicBezTo>
                      <a:pt x="472" y="267"/>
                      <a:pt x="498" y="294"/>
                      <a:pt x="498" y="328"/>
                    </a:cubicBezTo>
                    <a:cubicBezTo>
                      <a:pt x="498" y="361"/>
                      <a:pt x="472" y="388"/>
                      <a:pt x="441" y="388"/>
                    </a:cubicBezTo>
                    <a:cubicBezTo>
                      <a:pt x="409" y="388"/>
                      <a:pt x="383" y="361"/>
                      <a:pt x="383" y="328"/>
                    </a:cubicBezTo>
                    <a:close/>
                    <a:moveTo>
                      <a:pt x="766" y="328"/>
                    </a:moveTo>
                    <a:cubicBezTo>
                      <a:pt x="766" y="294"/>
                      <a:pt x="792" y="267"/>
                      <a:pt x="824" y="267"/>
                    </a:cubicBezTo>
                    <a:cubicBezTo>
                      <a:pt x="855" y="267"/>
                      <a:pt x="881" y="294"/>
                      <a:pt x="881" y="328"/>
                    </a:cubicBezTo>
                    <a:cubicBezTo>
                      <a:pt x="881" y="361"/>
                      <a:pt x="855" y="388"/>
                      <a:pt x="824" y="388"/>
                    </a:cubicBezTo>
                    <a:cubicBezTo>
                      <a:pt x="792" y="388"/>
                      <a:pt x="766" y="361"/>
                      <a:pt x="766" y="328"/>
                    </a:cubicBezTo>
                    <a:close/>
                    <a:moveTo>
                      <a:pt x="1149" y="328"/>
                    </a:moveTo>
                    <a:cubicBezTo>
                      <a:pt x="1149" y="294"/>
                      <a:pt x="1175" y="267"/>
                      <a:pt x="1207" y="267"/>
                    </a:cubicBezTo>
                    <a:cubicBezTo>
                      <a:pt x="1238" y="267"/>
                      <a:pt x="1264" y="294"/>
                      <a:pt x="1264" y="328"/>
                    </a:cubicBezTo>
                    <a:cubicBezTo>
                      <a:pt x="1264" y="361"/>
                      <a:pt x="1238" y="388"/>
                      <a:pt x="1207" y="388"/>
                    </a:cubicBezTo>
                    <a:cubicBezTo>
                      <a:pt x="1175" y="388"/>
                      <a:pt x="1149" y="361"/>
                      <a:pt x="1149" y="328"/>
                    </a:cubicBezTo>
                    <a:close/>
                    <a:moveTo>
                      <a:pt x="1532" y="328"/>
                    </a:moveTo>
                    <a:cubicBezTo>
                      <a:pt x="1532" y="294"/>
                      <a:pt x="1558" y="267"/>
                      <a:pt x="1590" y="267"/>
                    </a:cubicBezTo>
                    <a:cubicBezTo>
                      <a:pt x="1621" y="267"/>
                      <a:pt x="1647" y="294"/>
                      <a:pt x="1647" y="328"/>
                    </a:cubicBezTo>
                    <a:cubicBezTo>
                      <a:pt x="1647" y="361"/>
                      <a:pt x="1621" y="388"/>
                      <a:pt x="1590" y="388"/>
                    </a:cubicBezTo>
                    <a:cubicBezTo>
                      <a:pt x="1558" y="388"/>
                      <a:pt x="1532" y="361"/>
                      <a:pt x="1532" y="328"/>
                    </a:cubicBezTo>
                    <a:close/>
                    <a:moveTo>
                      <a:pt x="0" y="595"/>
                    </a:moveTo>
                    <a:cubicBezTo>
                      <a:pt x="0" y="561"/>
                      <a:pt x="26" y="534"/>
                      <a:pt x="58" y="534"/>
                    </a:cubicBezTo>
                    <a:cubicBezTo>
                      <a:pt x="89" y="534"/>
                      <a:pt x="115" y="561"/>
                      <a:pt x="115" y="595"/>
                    </a:cubicBezTo>
                    <a:cubicBezTo>
                      <a:pt x="115" y="628"/>
                      <a:pt x="89" y="655"/>
                      <a:pt x="58" y="655"/>
                    </a:cubicBezTo>
                    <a:cubicBezTo>
                      <a:pt x="26" y="655"/>
                      <a:pt x="0" y="628"/>
                      <a:pt x="0" y="595"/>
                    </a:cubicBezTo>
                    <a:close/>
                    <a:moveTo>
                      <a:pt x="383" y="595"/>
                    </a:moveTo>
                    <a:cubicBezTo>
                      <a:pt x="383" y="561"/>
                      <a:pt x="409" y="534"/>
                      <a:pt x="441" y="534"/>
                    </a:cubicBezTo>
                    <a:cubicBezTo>
                      <a:pt x="472" y="534"/>
                      <a:pt x="498" y="561"/>
                      <a:pt x="498" y="595"/>
                    </a:cubicBezTo>
                    <a:cubicBezTo>
                      <a:pt x="498" y="628"/>
                      <a:pt x="472" y="655"/>
                      <a:pt x="441" y="655"/>
                    </a:cubicBezTo>
                    <a:cubicBezTo>
                      <a:pt x="409" y="655"/>
                      <a:pt x="383" y="628"/>
                      <a:pt x="383" y="595"/>
                    </a:cubicBezTo>
                    <a:close/>
                    <a:moveTo>
                      <a:pt x="766" y="595"/>
                    </a:moveTo>
                    <a:cubicBezTo>
                      <a:pt x="766" y="561"/>
                      <a:pt x="792" y="534"/>
                      <a:pt x="824" y="534"/>
                    </a:cubicBezTo>
                    <a:cubicBezTo>
                      <a:pt x="855" y="534"/>
                      <a:pt x="881" y="561"/>
                      <a:pt x="881" y="595"/>
                    </a:cubicBezTo>
                    <a:cubicBezTo>
                      <a:pt x="881" y="628"/>
                      <a:pt x="855" y="655"/>
                      <a:pt x="824" y="655"/>
                    </a:cubicBezTo>
                    <a:cubicBezTo>
                      <a:pt x="792" y="655"/>
                      <a:pt x="766" y="628"/>
                      <a:pt x="766" y="595"/>
                    </a:cubicBezTo>
                    <a:close/>
                    <a:moveTo>
                      <a:pt x="1149" y="595"/>
                    </a:moveTo>
                    <a:cubicBezTo>
                      <a:pt x="1149" y="561"/>
                      <a:pt x="1175" y="534"/>
                      <a:pt x="1207" y="534"/>
                    </a:cubicBezTo>
                    <a:cubicBezTo>
                      <a:pt x="1238" y="534"/>
                      <a:pt x="1264" y="561"/>
                      <a:pt x="1264" y="595"/>
                    </a:cubicBezTo>
                    <a:cubicBezTo>
                      <a:pt x="1264" y="628"/>
                      <a:pt x="1238" y="655"/>
                      <a:pt x="1207" y="655"/>
                    </a:cubicBezTo>
                    <a:cubicBezTo>
                      <a:pt x="1175" y="655"/>
                      <a:pt x="1149" y="628"/>
                      <a:pt x="1149" y="595"/>
                    </a:cubicBezTo>
                    <a:close/>
                    <a:moveTo>
                      <a:pt x="1532" y="595"/>
                    </a:moveTo>
                    <a:cubicBezTo>
                      <a:pt x="1532" y="561"/>
                      <a:pt x="1558" y="534"/>
                      <a:pt x="1590" y="534"/>
                    </a:cubicBezTo>
                    <a:cubicBezTo>
                      <a:pt x="1621" y="534"/>
                      <a:pt x="1647" y="561"/>
                      <a:pt x="1647" y="595"/>
                    </a:cubicBezTo>
                    <a:cubicBezTo>
                      <a:pt x="1647" y="628"/>
                      <a:pt x="1621" y="655"/>
                      <a:pt x="1590" y="655"/>
                    </a:cubicBezTo>
                    <a:cubicBezTo>
                      <a:pt x="1558" y="655"/>
                      <a:pt x="1532" y="628"/>
                      <a:pt x="1532" y="595"/>
                    </a:cubicBezTo>
                    <a:close/>
                    <a:moveTo>
                      <a:pt x="0" y="862"/>
                    </a:moveTo>
                    <a:cubicBezTo>
                      <a:pt x="0" y="828"/>
                      <a:pt x="26" y="801"/>
                      <a:pt x="58" y="801"/>
                    </a:cubicBezTo>
                    <a:cubicBezTo>
                      <a:pt x="89" y="801"/>
                      <a:pt x="115" y="828"/>
                      <a:pt x="115" y="862"/>
                    </a:cubicBezTo>
                    <a:cubicBezTo>
                      <a:pt x="115" y="895"/>
                      <a:pt x="89" y="922"/>
                      <a:pt x="58" y="922"/>
                    </a:cubicBezTo>
                    <a:cubicBezTo>
                      <a:pt x="26" y="922"/>
                      <a:pt x="0" y="895"/>
                      <a:pt x="0" y="862"/>
                    </a:cubicBezTo>
                    <a:close/>
                    <a:moveTo>
                      <a:pt x="383" y="862"/>
                    </a:moveTo>
                    <a:cubicBezTo>
                      <a:pt x="383" y="828"/>
                      <a:pt x="409" y="801"/>
                      <a:pt x="441" y="801"/>
                    </a:cubicBezTo>
                    <a:cubicBezTo>
                      <a:pt x="472" y="801"/>
                      <a:pt x="498" y="828"/>
                      <a:pt x="498" y="862"/>
                    </a:cubicBezTo>
                    <a:cubicBezTo>
                      <a:pt x="498" y="895"/>
                      <a:pt x="472" y="922"/>
                      <a:pt x="441" y="922"/>
                    </a:cubicBezTo>
                    <a:cubicBezTo>
                      <a:pt x="409" y="922"/>
                      <a:pt x="383" y="895"/>
                      <a:pt x="383" y="862"/>
                    </a:cubicBezTo>
                    <a:close/>
                    <a:moveTo>
                      <a:pt x="766" y="862"/>
                    </a:moveTo>
                    <a:cubicBezTo>
                      <a:pt x="766" y="828"/>
                      <a:pt x="792" y="801"/>
                      <a:pt x="824" y="801"/>
                    </a:cubicBezTo>
                    <a:cubicBezTo>
                      <a:pt x="855" y="801"/>
                      <a:pt x="881" y="828"/>
                      <a:pt x="881" y="862"/>
                    </a:cubicBezTo>
                    <a:cubicBezTo>
                      <a:pt x="881" y="895"/>
                      <a:pt x="855" y="922"/>
                      <a:pt x="824" y="922"/>
                    </a:cubicBezTo>
                    <a:cubicBezTo>
                      <a:pt x="792" y="922"/>
                      <a:pt x="766" y="895"/>
                      <a:pt x="766" y="862"/>
                    </a:cubicBezTo>
                    <a:close/>
                    <a:moveTo>
                      <a:pt x="1149" y="862"/>
                    </a:moveTo>
                    <a:cubicBezTo>
                      <a:pt x="1149" y="828"/>
                      <a:pt x="1175" y="801"/>
                      <a:pt x="1207" y="801"/>
                    </a:cubicBezTo>
                    <a:cubicBezTo>
                      <a:pt x="1238" y="801"/>
                      <a:pt x="1264" y="828"/>
                      <a:pt x="1264" y="862"/>
                    </a:cubicBezTo>
                    <a:cubicBezTo>
                      <a:pt x="1264" y="895"/>
                      <a:pt x="1238" y="922"/>
                      <a:pt x="1207" y="922"/>
                    </a:cubicBezTo>
                    <a:cubicBezTo>
                      <a:pt x="1175" y="922"/>
                      <a:pt x="1149" y="895"/>
                      <a:pt x="1149" y="862"/>
                    </a:cubicBezTo>
                    <a:close/>
                    <a:moveTo>
                      <a:pt x="1532" y="862"/>
                    </a:moveTo>
                    <a:cubicBezTo>
                      <a:pt x="1532" y="828"/>
                      <a:pt x="1558" y="801"/>
                      <a:pt x="1590" y="801"/>
                    </a:cubicBezTo>
                    <a:cubicBezTo>
                      <a:pt x="1621" y="801"/>
                      <a:pt x="1647" y="828"/>
                      <a:pt x="1647" y="862"/>
                    </a:cubicBezTo>
                    <a:cubicBezTo>
                      <a:pt x="1647" y="895"/>
                      <a:pt x="1621" y="922"/>
                      <a:pt x="1590" y="922"/>
                    </a:cubicBezTo>
                    <a:cubicBezTo>
                      <a:pt x="1558" y="922"/>
                      <a:pt x="1532" y="895"/>
                      <a:pt x="1532" y="862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思源黑体 CN Light" panose="020B0300000000000000" charset="-122"/>
                </a:endParaRPr>
              </a:p>
            </p:txBody>
          </p:sp>
        </p:grp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B9993F18-2EC1-A5B1-C53D-5EF6FFAA7565}"/>
                </a:ext>
              </a:extLst>
            </p:cNvPr>
            <p:cNvSpPr/>
            <p:nvPr/>
          </p:nvSpPr>
          <p:spPr>
            <a:xfrm>
              <a:off x="555898" y="1904821"/>
              <a:ext cx="2821557" cy="2821557"/>
            </a:xfrm>
            <a:prstGeom prst="ellipse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3CE89F5E-788A-1AC7-E2E2-7C0A40E597EA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181137" y="2107526"/>
            <a:ext cx="3841731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913765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kern="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rPr>
              <a:t>模型的建立</a:t>
            </a:r>
          </a:p>
        </p:txBody>
      </p:sp>
      <p:sp>
        <p:nvSpPr>
          <p:cNvPr id="41" name="圆角矩形 20">
            <a:extLst>
              <a:ext uri="{FF2B5EF4-FFF2-40B4-BE49-F238E27FC236}">
                <a16:creationId xmlns:a16="http://schemas.microsoft.com/office/drawing/2014/main" id="{49E01416-FE8C-8C09-5A2E-B2CBCBED2CC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85911" y="1481551"/>
            <a:ext cx="1532102" cy="434074"/>
          </a:xfrm>
          <a:prstGeom prst="roundRect">
            <a:avLst>
              <a:gd name="adj" fmla="val 50000"/>
            </a:avLst>
          </a:pr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PART 04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A830AC7-A161-81F5-F21A-D0B333B3BDF3}"/>
              </a:ext>
            </a:extLst>
          </p:cNvPr>
          <p:cNvSpPr txBox="1"/>
          <p:nvPr/>
        </p:nvSpPr>
        <p:spPr>
          <a:xfrm>
            <a:off x="5768726" y="1236275"/>
            <a:ext cx="2435811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5400">
                <a:gradFill>
                  <a:gsLst>
                    <a:gs pos="84000">
                      <a:srgbClr val="0960E5">
                        <a:alpha val="32000"/>
                      </a:srgb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PART</a:t>
            </a:r>
            <a:endParaRPr lang="zh-CN" altLang="en-US" sz="5400"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Bold" panose="020B0800000000000000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5327257-C6BF-065B-6B4A-3256162C5ACF}"/>
              </a:ext>
            </a:extLst>
          </p:cNvPr>
          <p:cNvGrpSpPr/>
          <p:nvPr/>
        </p:nvGrpSpPr>
        <p:grpSpPr>
          <a:xfrm>
            <a:off x="4185912" y="2081786"/>
            <a:ext cx="3710903" cy="865115"/>
            <a:chOff x="5852478" y="2100373"/>
            <a:chExt cx="5315585" cy="1330921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66469F2-F58A-6B6D-D220-B3EB38B38493}"/>
                </a:ext>
              </a:extLst>
            </p:cNvPr>
            <p:cNvCxnSpPr/>
            <p:nvPr/>
          </p:nvCxnSpPr>
          <p:spPr>
            <a:xfrm>
              <a:off x="5852478" y="3431294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64397D9A-9337-5DA8-D5E7-5ACF5A2424DB}"/>
                </a:ext>
              </a:extLst>
            </p:cNvPr>
            <p:cNvCxnSpPr/>
            <p:nvPr/>
          </p:nvCxnSpPr>
          <p:spPr>
            <a:xfrm>
              <a:off x="5875973" y="2100373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36B4B3A6-32FE-47FF-71CE-D8CA0AFADC58}"/>
              </a:ext>
            </a:extLst>
          </p:cNvPr>
          <p:cNvSpPr/>
          <p:nvPr/>
        </p:nvSpPr>
        <p:spPr>
          <a:xfrm>
            <a:off x="4292689" y="3472731"/>
            <a:ext cx="659273" cy="47822"/>
          </a:xfrm>
          <a:custGeom>
            <a:avLst/>
            <a:gdLst>
              <a:gd name="connsiteX0" fmla="*/ 881551 w 914727"/>
              <a:gd name="connsiteY0" fmla="*/ 0 h 66352"/>
              <a:gd name="connsiteX1" fmla="*/ 914727 w 914727"/>
              <a:gd name="connsiteY1" fmla="*/ 33176 h 66352"/>
              <a:gd name="connsiteX2" fmla="*/ 881551 w 914727"/>
              <a:gd name="connsiteY2" fmla="*/ 66352 h 66352"/>
              <a:gd name="connsiteX3" fmla="*/ 848375 w 914727"/>
              <a:gd name="connsiteY3" fmla="*/ 33176 h 66352"/>
              <a:gd name="connsiteX4" fmla="*/ 881551 w 914727"/>
              <a:gd name="connsiteY4" fmla="*/ 0 h 66352"/>
              <a:gd name="connsiteX5" fmla="*/ 669458 w 914727"/>
              <a:gd name="connsiteY5" fmla="*/ 0 h 66352"/>
              <a:gd name="connsiteX6" fmla="*/ 702634 w 914727"/>
              <a:gd name="connsiteY6" fmla="*/ 33176 h 66352"/>
              <a:gd name="connsiteX7" fmla="*/ 669458 w 914727"/>
              <a:gd name="connsiteY7" fmla="*/ 66352 h 66352"/>
              <a:gd name="connsiteX8" fmla="*/ 636282 w 914727"/>
              <a:gd name="connsiteY8" fmla="*/ 33176 h 66352"/>
              <a:gd name="connsiteX9" fmla="*/ 669458 w 914727"/>
              <a:gd name="connsiteY9" fmla="*/ 0 h 66352"/>
              <a:gd name="connsiteX10" fmla="*/ 457364 w 914727"/>
              <a:gd name="connsiteY10" fmla="*/ 0 h 66352"/>
              <a:gd name="connsiteX11" fmla="*/ 490540 w 914727"/>
              <a:gd name="connsiteY11" fmla="*/ 33176 h 66352"/>
              <a:gd name="connsiteX12" fmla="*/ 457364 w 914727"/>
              <a:gd name="connsiteY12" fmla="*/ 66352 h 66352"/>
              <a:gd name="connsiteX13" fmla="*/ 424188 w 914727"/>
              <a:gd name="connsiteY13" fmla="*/ 33176 h 66352"/>
              <a:gd name="connsiteX14" fmla="*/ 457364 w 914727"/>
              <a:gd name="connsiteY14" fmla="*/ 0 h 66352"/>
              <a:gd name="connsiteX15" fmla="*/ 245270 w 914727"/>
              <a:gd name="connsiteY15" fmla="*/ 0 h 66352"/>
              <a:gd name="connsiteX16" fmla="*/ 278446 w 914727"/>
              <a:gd name="connsiteY16" fmla="*/ 33176 h 66352"/>
              <a:gd name="connsiteX17" fmla="*/ 245270 w 914727"/>
              <a:gd name="connsiteY17" fmla="*/ 66352 h 66352"/>
              <a:gd name="connsiteX18" fmla="*/ 212094 w 914727"/>
              <a:gd name="connsiteY18" fmla="*/ 33176 h 66352"/>
              <a:gd name="connsiteX19" fmla="*/ 245270 w 914727"/>
              <a:gd name="connsiteY19" fmla="*/ 0 h 66352"/>
              <a:gd name="connsiteX20" fmla="*/ 33176 w 914727"/>
              <a:gd name="connsiteY20" fmla="*/ 0 h 66352"/>
              <a:gd name="connsiteX21" fmla="*/ 66352 w 914727"/>
              <a:gd name="connsiteY21" fmla="*/ 33176 h 66352"/>
              <a:gd name="connsiteX22" fmla="*/ 33176 w 914727"/>
              <a:gd name="connsiteY22" fmla="*/ 66352 h 66352"/>
              <a:gd name="connsiteX23" fmla="*/ 0 w 914727"/>
              <a:gd name="connsiteY23" fmla="*/ 33176 h 66352"/>
              <a:gd name="connsiteX24" fmla="*/ 33176 w 914727"/>
              <a:gd name="connsiteY24" fmla="*/ 0 h 6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14727" h="66352">
                <a:moveTo>
                  <a:pt x="881551" y="0"/>
                </a:moveTo>
                <a:cubicBezTo>
                  <a:pt x="899874" y="0"/>
                  <a:pt x="914727" y="14853"/>
                  <a:pt x="914727" y="33176"/>
                </a:cubicBezTo>
                <a:cubicBezTo>
                  <a:pt x="914727" y="51499"/>
                  <a:pt x="899874" y="66352"/>
                  <a:pt x="881551" y="66352"/>
                </a:cubicBezTo>
                <a:cubicBezTo>
                  <a:pt x="863228" y="66352"/>
                  <a:pt x="848375" y="51499"/>
                  <a:pt x="848375" y="33176"/>
                </a:cubicBezTo>
                <a:cubicBezTo>
                  <a:pt x="848375" y="14853"/>
                  <a:pt x="863228" y="0"/>
                  <a:pt x="881551" y="0"/>
                </a:cubicBezTo>
                <a:close/>
                <a:moveTo>
                  <a:pt x="669458" y="0"/>
                </a:moveTo>
                <a:cubicBezTo>
                  <a:pt x="687781" y="0"/>
                  <a:pt x="702634" y="14853"/>
                  <a:pt x="702634" y="33176"/>
                </a:cubicBezTo>
                <a:cubicBezTo>
                  <a:pt x="702634" y="51499"/>
                  <a:pt x="687781" y="66352"/>
                  <a:pt x="669458" y="66352"/>
                </a:cubicBezTo>
                <a:cubicBezTo>
                  <a:pt x="651135" y="66352"/>
                  <a:pt x="636282" y="51499"/>
                  <a:pt x="636282" y="33176"/>
                </a:cubicBezTo>
                <a:cubicBezTo>
                  <a:pt x="636282" y="14853"/>
                  <a:pt x="651135" y="0"/>
                  <a:pt x="669458" y="0"/>
                </a:cubicBezTo>
                <a:close/>
                <a:moveTo>
                  <a:pt x="457364" y="0"/>
                </a:moveTo>
                <a:cubicBezTo>
                  <a:pt x="475687" y="0"/>
                  <a:pt x="490540" y="14853"/>
                  <a:pt x="490540" y="33176"/>
                </a:cubicBezTo>
                <a:cubicBezTo>
                  <a:pt x="490540" y="51499"/>
                  <a:pt x="475687" y="66352"/>
                  <a:pt x="457364" y="66352"/>
                </a:cubicBezTo>
                <a:cubicBezTo>
                  <a:pt x="439041" y="66352"/>
                  <a:pt x="424188" y="51499"/>
                  <a:pt x="424188" y="33176"/>
                </a:cubicBezTo>
                <a:cubicBezTo>
                  <a:pt x="424188" y="14853"/>
                  <a:pt x="439041" y="0"/>
                  <a:pt x="457364" y="0"/>
                </a:cubicBezTo>
                <a:close/>
                <a:moveTo>
                  <a:pt x="245270" y="0"/>
                </a:moveTo>
                <a:cubicBezTo>
                  <a:pt x="263593" y="0"/>
                  <a:pt x="278446" y="14853"/>
                  <a:pt x="278446" y="33176"/>
                </a:cubicBezTo>
                <a:cubicBezTo>
                  <a:pt x="278446" y="51499"/>
                  <a:pt x="263593" y="66352"/>
                  <a:pt x="245270" y="66352"/>
                </a:cubicBezTo>
                <a:cubicBezTo>
                  <a:pt x="226947" y="66352"/>
                  <a:pt x="212094" y="51499"/>
                  <a:pt x="212094" y="33176"/>
                </a:cubicBezTo>
                <a:cubicBezTo>
                  <a:pt x="212094" y="14853"/>
                  <a:pt x="226947" y="0"/>
                  <a:pt x="245270" y="0"/>
                </a:cubicBezTo>
                <a:close/>
                <a:moveTo>
                  <a:pt x="33176" y="0"/>
                </a:moveTo>
                <a:cubicBezTo>
                  <a:pt x="51499" y="0"/>
                  <a:pt x="66352" y="14853"/>
                  <a:pt x="66352" y="33176"/>
                </a:cubicBezTo>
                <a:cubicBezTo>
                  <a:pt x="66352" y="51499"/>
                  <a:pt x="51499" y="66352"/>
                  <a:pt x="33176" y="66352"/>
                </a:cubicBezTo>
                <a:cubicBezTo>
                  <a:pt x="14853" y="66352"/>
                  <a:pt x="0" y="51499"/>
                  <a:pt x="0" y="33176"/>
                </a:cubicBez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DDD92B3-E0D1-BB69-799D-D1BD8A703F78}"/>
              </a:ext>
            </a:extLst>
          </p:cNvPr>
          <p:cNvGrpSpPr/>
          <p:nvPr/>
        </p:nvGrpSpPr>
        <p:grpSpPr>
          <a:xfrm>
            <a:off x="4181136" y="3005116"/>
            <a:ext cx="4525202" cy="382844"/>
            <a:chOff x="546813" y="2428864"/>
            <a:chExt cx="4727985" cy="40434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8EE82DF-BCC9-824B-FC1E-60B1FA243E46}"/>
                </a:ext>
              </a:extLst>
            </p:cNvPr>
            <p:cNvSpPr/>
            <p:nvPr/>
          </p:nvSpPr>
          <p:spPr>
            <a:xfrm>
              <a:off x="546813" y="2605320"/>
              <a:ext cx="4727985" cy="154825"/>
            </a:xfrm>
            <a:prstGeom prst="roundRect">
              <a:avLst>
                <a:gd name="adj" fmla="val 50000"/>
              </a:avLst>
            </a:prstGeom>
            <a:gradFill>
              <a:gsLst>
                <a:gs pos="99000">
                  <a:srgbClr val="0960E5"/>
                </a:gs>
                <a:gs pos="0">
                  <a:schemeClr val="bg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1E7ED2D3-11E9-028A-2EAE-876F876B48C0}"/>
                </a:ext>
              </a:extLst>
            </p:cNvPr>
            <p:cNvSpPr/>
            <p:nvPr/>
          </p:nvSpPr>
          <p:spPr>
            <a:xfrm>
              <a:off x="546813" y="2428864"/>
              <a:ext cx="4626885" cy="40434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[K-Means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聚类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关联规则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随机森林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神经网络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6298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17E6765-6001-F9AB-83CC-D4D69D622F8C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8C3EDF5-BC51-E166-181F-C01DAB13A3E1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D3C2412F-7DB0-F871-745A-A339B7412871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1FB119B-511A-69A4-FF4A-174B469CE557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K-Means</a:t>
              </a: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聚类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5A0964-29D7-A3EC-E8D7-A7541249B76B}"/>
              </a:ext>
            </a:extLst>
          </p:cNvPr>
          <p:cNvGrpSpPr/>
          <p:nvPr/>
        </p:nvGrpSpPr>
        <p:grpSpPr>
          <a:xfrm>
            <a:off x="946952" y="2991211"/>
            <a:ext cx="1761944" cy="2191529"/>
            <a:chOff x="4149587" y="2470484"/>
            <a:chExt cx="2265113" cy="2817376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E42738E-B56F-E9AA-8787-F1006D215E4C}"/>
                </a:ext>
              </a:extLst>
            </p:cNvPr>
            <p:cNvSpPr txBox="1"/>
            <p:nvPr/>
          </p:nvSpPr>
          <p:spPr>
            <a:xfrm>
              <a:off x="4149587" y="3047873"/>
              <a:ext cx="2265113" cy="2239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en-US" altLang="zh-CN" sz="13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SSE </a:t>
              </a:r>
              <a:r>
                <a:rPr lang="zh-CN" altLang="en-US" sz="13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曲线</a:t>
              </a:r>
              <a:r>
                <a:rPr lang="zh-CN" altLang="en-US" sz="1300" b="1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全程平缓下降</a:t>
              </a:r>
              <a:r>
                <a:rPr lang="zh-CN" altLang="en-US" sz="13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，无明显断崖式拐点，说明文本主题分布较为零散，无法仅依靠误差指标锁定最优簇数。</a:t>
              </a: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47A822F0-AB0B-FA73-E37F-C76E455D8330}"/>
                </a:ext>
              </a:extLst>
            </p:cNvPr>
            <p:cNvSpPr/>
            <p:nvPr/>
          </p:nvSpPr>
          <p:spPr>
            <a:xfrm>
              <a:off x="4498380" y="2470484"/>
              <a:ext cx="1567526" cy="500403"/>
            </a:xfrm>
            <a:prstGeom prst="roundRect">
              <a:avLst>
                <a:gd name="adj" fmla="val 50000"/>
              </a:avLst>
            </a:pr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b="1" kern="0" dirty="0">
                  <a:solidFill>
                    <a:srgbClr val="FFFFFF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肘部法则</a:t>
              </a: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BFEA42D-0CF1-8456-7E3E-A554403B91D7}"/>
              </a:ext>
            </a:extLst>
          </p:cNvPr>
          <p:cNvGrpSpPr/>
          <p:nvPr/>
        </p:nvGrpSpPr>
        <p:grpSpPr>
          <a:xfrm>
            <a:off x="3754427" y="2932551"/>
            <a:ext cx="1761944" cy="2236532"/>
            <a:chOff x="4203667" y="2395070"/>
            <a:chExt cx="2265113" cy="2875231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A56FC47-D32F-52FE-209B-24157BAC5FD5}"/>
                </a:ext>
              </a:extLst>
            </p:cNvPr>
            <p:cNvSpPr txBox="1"/>
            <p:nvPr/>
          </p:nvSpPr>
          <p:spPr>
            <a:xfrm>
              <a:off x="4203667" y="3047872"/>
              <a:ext cx="2265113" cy="22224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轮廓分数</a:t>
              </a:r>
              <a:r>
                <a:rPr lang="zh-CN" altLang="en-US" sz="1100" b="1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随聚类数量增加而增加</a:t>
              </a: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，</a:t>
              </a:r>
              <a:r>
                <a:rPr lang="en-US" altLang="zh-CN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K </a:t>
              </a: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值越大单簇样本越少，簇内相似度被动提升，若直接选取分值最高的 </a:t>
              </a:r>
              <a:r>
                <a:rPr lang="en-US" altLang="zh-CN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K=10</a:t>
              </a: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，会造成聚类划分过细，主题碎片化、失去实际研究归纳价值。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B75FDA66-2CCF-74EE-49ED-4D023B21C922}"/>
                </a:ext>
              </a:extLst>
            </p:cNvPr>
            <p:cNvSpPr/>
            <p:nvPr/>
          </p:nvSpPr>
          <p:spPr>
            <a:xfrm>
              <a:off x="4474342" y="2395070"/>
              <a:ext cx="1723765" cy="500403"/>
            </a:xfrm>
            <a:prstGeom prst="roundRect">
              <a:avLst>
                <a:gd name="adj" fmla="val 50000"/>
              </a:avLst>
            </a:pr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轮廓系数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9BD0E4E-4087-6CFA-7718-6C49056D4355}"/>
              </a:ext>
            </a:extLst>
          </p:cNvPr>
          <p:cNvGrpSpPr/>
          <p:nvPr/>
        </p:nvGrpSpPr>
        <p:grpSpPr>
          <a:xfrm>
            <a:off x="6579325" y="2917121"/>
            <a:ext cx="1761944" cy="2248821"/>
            <a:chOff x="4257746" y="2375234"/>
            <a:chExt cx="2265113" cy="289103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4335193-0E11-8EB8-9BFB-FD595800AC2C}"/>
                </a:ext>
              </a:extLst>
            </p:cNvPr>
            <p:cNvSpPr txBox="1"/>
            <p:nvPr/>
          </p:nvSpPr>
          <p:spPr>
            <a:xfrm>
              <a:off x="4257746" y="3047873"/>
              <a:ext cx="2265113" cy="2218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40000"/>
                </a:lnSpc>
              </a:pPr>
              <a:r>
                <a:rPr lang="zh-CN" altLang="en-US" sz="1100" dirty="0">
                  <a:latin typeface="思源宋体 CN Heavy" panose="02020900000000000000" pitchFamily="18" charset="-122"/>
                  <a:ea typeface="思源宋体 CN Light" panose="02020300000000000000" pitchFamily="18" charset="-122"/>
                </a:rPr>
                <a:t>层次聚类呈现多层级聚集结构，样本能够自然归为四大主干族群，与 </a:t>
              </a:r>
              <a:r>
                <a:rPr lang="en-US" altLang="zh-CN" sz="1100" dirty="0">
                  <a:latin typeface="思源宋体 CN Heavy" panose="02020900000000000000" pitchFamily="18" charset="-122"/>
                  <a:ea typeface="思源宋体 CN Light" panose="02020300000000000000" pitchFamily="18" charset="-122"/>
                </a:rPr>
                <a:t>K-Means </a:t>
              </a:r>
              <a:r>
                <a:rPr lang="zh-CN" altLang="en-US" sz="1100" dirty="0">
                  <a:latin typeface="思源宋体 CN Heavy" panose="02020900000000000000" pitchFamily="18" charset="-122"/>
                  <a:ea typeface="思源宋体 CN Light" panose="02020300000000000000" pitchFamily="18" charset="-122"/>
                </a:rPr>
                <a:t>聚类划分结果相互印证，进一步说明四类研究主题具备客观数据支撑，聚类结果具备可信度。</a:t>
              </a:r>
              <a:endParaRPr lang="zh-CN" altLang="en-US" sz="1100" kern="0" dirty="0">
                <a:solidFill>
                  <a:schemeClr val="tx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8F2ED384-7B83-D36B-0234-53311BA16A8B}"/>
                </a:ext>
              </a:extLst>
            </p:cNvPr>
            <p:cNvSpPr/>
            <p:nvPr/>
          </p:nvSpPr>
          <p:spPr>
            <a:xfrm>
              <a:off x="4606539" y="2375234"/>
              <a:ext cx="1567525" cy="500403"/>
            </a:xfrm>
            <a:prstGeom prst="roundRect">
              <a:avLst>
                <a:gd name="adj" fmla="val 50000"/>
              </a:avLst>
            </a:pr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层次聚类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FF0C43C2-B726-3DBD-6A7D-0829A7AFBF70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657F30D5-5C1E-1F71-332D-5F5955D1A15F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D930368-C705-0358-A390-210BB0FB5E60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A7D807D-D20A-DC68-2C34-A46E40CEAD56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1E085888-295A-37E3-623E-802ACE5F02D4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8F822C2-4FED-F8B7-913B-673906620D46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0FD701A2-7E7C-99B0-9E99-381E033CF1E6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66445202-4CD2-FAD9-30CF-411B87B518D3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300226F-5187-E717-F5C1-4AEF49820AFB}"/>
              </a:ext>
            </a:extLst>
          </p:cNvPr>
          <p:cNvSpPr/>
          <p:nvPr/>
        </p:nvSpPr>
        <p:spPr>
          <a:xfrm>
            <a:off x="722166" y="642236"/>
            <a:ext cx="2024979" cy="304959"/>
          </a:xfrm>
          <a:prstGeom prst="roundRect">
            <a:avLst>
              <a:gd name="adj" fmla="val 50000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ADHD</a:t>
            </a: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领域到底在研究什么？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874A83C5-5AE3-CB80-D06F-1143E97517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343" y="1044386"/>
            <a:ext cx="2697059" cy="1840829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9F20180A-9DE9-7B1D-6705-7F43E78FF8C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619" y="1054401"/>
            <a:ext cx="3050725" cy="1728744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667F45EB-3DA0-4536-7A04-7F5FD2CCB7D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37" y="998274"/>
            <a:ext cx="2816004" cy="193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345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49AD6-1E27-0419-7E7D-1623080C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D1A70239-96DE-2337-C717-16C3858441BA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9DB90A0-BCAE-DC72-2369-C04DB5CFA890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A66C02FA-6215-4D6B-55D7-9996F69824E5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5F2B16B-9B1B-83F8-CCA2-7EEAEFA0E143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65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K-Means</a:t>
              </a: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聚类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D2DFE31-CB45-2013-C0D5-FC0F9912C32D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091E9280-43CD-C13F-40AD-93C7848DF4F9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A8895E3F-A389-476D-BB82-A40F6F572460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CA94FCC7-3C8A-64AA-EE69-06D63E21EDFF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A1377AD6-9C3E-EF57-DC84-FAE9C88466CC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ABC77F23-3DB1-2F24-9EAB-6A892F23FCF0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639BE488-3D52-EAEF-DA33-EDD34BE76092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A1722C2C-D098-D561-5C77-45BE75754635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F06F75A-387A-6BBB-3F11-F387B96CCD4E}"/>
              </a:ext>
            </a:extLst>
          </p:cNvPr>
          <p:cNvSpPr/>
          <p:nvPr/>
        </p:nvSpPr>
        <p:spPr>
          <a:xfrm>
            <a:off x="722166" y="642236"/>
            <a:ext cx="2024979" cy="304959"/>
          </a:xfrm>
          <a:prstGeom prst="roundRect">
            <a:avLst>
              <a:gd name="adj" fmla="val 50000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ADHD</a:t>
            </a: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领域到底在研究什么？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271439B1-A6EE-980A-7B1C-93ECF406D8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0" y="1322948"/>
            <a:ext cx="3816466" cy="3180138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25C1E90D-761D-592D-70F2-F7CAC3A2DAA0}"/>
              </a:ext>
            </a:extLst>
          </p:cNvPr>
          <p:cNvGrpSpPr/>
          <p:nvPr/>
        </p:nvGrpSpPr>
        <p:grpSpPr>
          <a:xfrm>
            <a:off x="3996728" y="1284874"/>
            <a:ext cx="5222655" cy="3850382"/>
            <a:chOff x="3345336" y="1349559"/>
            <a:chExt cx="5222655" cy="3850382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3FF65AE4-343E-D7FC-A966-1B66452C70C6}"/>
                </a:ext>
              </a:extLst>
            </p:cNvPr>
            <p:cNvGrpSpPr/>
            <p:nvPr/>
          </p:nvGrpSpPr>
          <p:grpSpPr>
            <a:xfrm>
              <a:off x="3345336" y="1349559"/>
              <a:ext cx="5222655" cy="3850382"/>
              <a:chOff x="3345336" y="1349559"/>
              <a:chExt cx="5222655" cy="3850382"/>
            </a:xfrm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4A8098E-5C17-3EC8-6144-C286620CF50C}"/>
                  </a:ext>
                </a:extLst>
              </p:cNvPr>
              <p:cNvGrpSpPr/>
              <p:nvPr/>
            </p:nvGrpSpPr>
            <p:grpSpPr>
              <a:xfrm>
                <a:off x="3345337" y="1349559"/>
                <a:ext cx="5222654" cy="1911579"/>
                <a:chOff x="2756940" y="1906151"/>
                <a:chExt cx="4256899" cy="1911579"/>
              </a:xfrm>
            </p:grpSpPr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755B33D2-CB7E-697B-5B88-DD2C89EC6581}"/>
                    </a:ext>
                  </a:extLst>
                </p:cNvPr>
                <p:cNvSpPr txBox="1"/>
                <p:nvPr/>
              </p:nvSpPr>
              <p:spPr>
                <a:xfrm>
                  <a:off x="2756940" y="2389001"/>
                  <a:ext cx="1891763" cy="12516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40000"/>
                    </a:lnSpc>
                  </a:pP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该领域</a:t>
                  </a:r>
                  <a:r>
                    <a:rPr lang="zh-CN" altLang="en-US" sz="1100" b="1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核心基础研究方向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，聚焦 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ADHD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患者的认知功能、行为特征、神经心理机制与儿童学业发展影响，发文体量稳居领域第二，是 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ADHD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临床诊疗体系的核心理论支撑方向。</a:t>
                  </a:r>
                </a:p>
              </p:txBody>
            </p:sp>
            <p:sp>
              <p:nvSpPr>
                <p:cNvPr id="50" name="矩形: 圆角 49">
                  <a:extLst>
                    <a:ext uri="{FF2B5EF4-FFF2-40B4-BE49-F238E27FC236}">
                      <a16:creationId xmlns:a16="http://schemas.microsoft.com/office/drawing/2014/main" id="{42756E66-5084-C356-E74C-2734728F87EB}"/>
                    </a:ext>
                  </a:extLst>
                </p:cNvPr>
                <p:cNvSpPr/>
                <p:nvPr/>
              </p:nvSpPr>
              <p:spPr>
                <a:xfrm>
                  <a:off x="2756940" y="1939873"/>
                  <a:ext cx="1891763" cy="3892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070FF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</a:rPr>
                    <a:t>Cluster0</a:t>
                  </a:r>
                  <a:r>
                    <a:rPr kumimoji="0" lang="zh-CN" altLang="en-US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</a:rPr>
                    <a:t>认知行为与神经心理学基础</a:t>
                  </a:r>
                </a:p>
              </p:txBody>
            </p: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41CA9971-9DAC-335E-8831-2350712CAF61}"/>
                    </a:ext>
                  </a:extLst>
                </p:cNvPr>
                <p:cNvSpPr txBox="1"/>
                <p:nvPr/>
              </p:nvSpPr>
              <p:spPr>
                <a:xfrm>
                  <a:off x="4784811" y="2329117"/>
                  <a:ext cx="2229028" cy="14886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40000"/>
                    </a:lnSpc>
                  </a:pP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目前该领域</a:t>
                  </a:r>
                  <a:r>
                    <a:rPr lang="zh-CN" altLang="en-US" sz="1100" b="1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前沿交叉热点方向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，聚焦 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ADHD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与躯体疾病共病机制、长期健康风险、药物治疗安全性与遗传病因学研究，高被引论文与国际合作占比全领域最高，是当前 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ADHD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领域最具创新力与学术影响力的前沿研究方向。</a:t>
                  </a:r>
                </a:p>
              </p:txBody>
            </p:sp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A6D85667-6432-FEDF-139A-A081751C8996}"/>
                    </a:ext>
                  </a:extLst>
                </p:cNvPr>
                <p:cNvSpPr/>
                <p:nvPr/>
              </p:nvSpPr>
              <p:spPr>
                <a:xfrm>
                  <a:off x="4823460" y="1906151"/>
                  <a:ext cx="2025367" cy="3892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3D6D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cs"/>
                    </a:rPr>
                    <a:t>Cluster1</a:t>
                  </a:r>
                  <a:r>
                    <a:rPr kumimoji="0" lang="zh-CN" altLang="en-US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cs"/>
                    </a:rPr>
                    <a:t>共病与长期健康风险前沿交叉研究</a:t>
                  </a:r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0F5A5633-37F8-A82C-B073-173EA6FE6CB8}"/>
                  </a:ext>
                </a:extLst>
              </p:cNvPr>
              <p:cNvGrpSpPr/>
              <p:nvPr/>
            </p:nvGrpSpPr>
            <p:grpSpPr>
              <a:xfrm>
                <a:off x="3345336" y="3203538"/>
                <a:ext cx="5147270" cy="1996403"/>
                <a:chOff x="2756939" y="1906151"/>
                <a:chExt cx="4195455" cy="1996403"/>
              </a:xfrm>
            </p:grpSpPr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095643D6-86B1-2AF8-8B6F-B7B172478C12}"/>
                    </a:ext>
                  </a:extLst>
                </p:cNvPr>
                <p:cNvSpPr txBox="1"/>
                <p:nvPr/>
              </p:nvSpPr>
              <p:spPr>
                <a:xfrm>
                  <a:off x="2756939" y="2389001"/>
                  <a:ext cx="1959519" cy="14886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40000"/>
                    </a:lnSpc>
                  </a:pP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该领域</a:t>
                  </a:r>
                  <a:r>
                    <a:rPr lang="zh-CN" altLang="en-US" sz="1100" b="1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主流核心研究方向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，聚焦 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ADHD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临床药物治疗优化、女性 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ADHD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诊疗支持、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AI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辅助诊断技术与临床干预方案评估，发文量占比近半数，是当前 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ADHD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领域最核心的临床研究与成果转化阵地。</a:t>
                  </a:r>
                </a:p>
              </p:txBody>
            </p:sp>
            <p:sp>
              <p:nvSpPr>
                <p:cNvPr id="46" name="矩形: 圆角 45">
                  <a:extLst>
                    <a:ext uri="{FF2B5EF4-FFF2-40B4-BE49-F238E27FC236}">
                      <a16:creationId xmlns:a16="http://schemas.microsoft.com/office/drawing/2014/main" id="{5DADFAAC-3DB7-EE0C-577A-A9F24309AABD}"/>
                    </a:ext>
                  </a:extLst>
                </p:cNvPr>
                <p:cNvSpPr/>
                <p:nvPr/>
              </p:nvSpPr>
              <p:spPr>
                <a:xfrm>
                  <a:off x="2756940" y="1939873"/>
                  <a:ext cx="1841793" cy="3892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3D6AD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cs"/>
                    </a:rPr>
                    <a:t>Cluster2</a:t>
                  </a:r>
                  <a:r>
                    <a:rPr kumimoji="0" lang="zh-CN" altLang="en-US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cs"/>
                    </a:rPr>
                    <a:t> 临床诊疗与技术应用核心方向</a:t>
                  </a:r>
                </a:p>
              </p:txBody>
            </p:sp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7F7EF60B-D103-F1A7-AEB8-59E8D70995FB}"/>
                    </a:ext>
                  </a:extLst>
                </p:cNvPr>
                <p:cNvSpPr txBox="1"/>
                <p:nvPr/>
              </p:nvSpPr>
              <p:spPr>
                <a:xfrm>
                  <a:off x="4911268" y="2413941"/>
                  <a:ext cx="1959008" cy="14886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40000"/>
                    </a:lnSpc>
                  </a:pP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该领域</a:t>
                  </a:r>
                  <a:r>
                    <a:rPr lang="zh-CN" altLang="en-US" sz="1100" b="1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新兴研究方向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，聚焦 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ADHD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患者睡眠问题的发生机制、临床干预与 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AI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可穿戴技术应用，发文年份全领域最新，贴合 </a:t>
                  </a:r>
                  <a:r>
                    <a:rPr lang="en-US" altLang="zh-CN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ADHD </a:t>
                  </a:r>
                  <a:r>
                    <a:rPr lang="zh-CN" altLang="en-US" sz="1100" dirty="0">
                      <a:latin typeface="思源宋体 CN Light" panose="02020300000000000000" pitchFamily="18" charset="-122"/>
                      <a:ea typeface="思源宋体 CN Light" panose="02020300000000000000" pitchFamily="18" charset="-122"/>
                      <a:sym typeface="+mn-ea"/>
                    </a:rPr>
                    <a:t>全生命周期健康管理的研究趋势，是领域最具增长潜力的新兴研究方向。</a:t>
                  </a:r>
                </a:p>
              </p:txBody>
            </p:sp>
            <p:sp>
              <p:nvSpPr>
                <p:cNvPr id="48" name="矩形: 圆角 47">
                  <a:extLst>
                    <a:ext uri="{FF2B5EF4-FFF2-40B4-BE49-F238E27FC236}">
                      <a16:creationId xmlns:a16="http://schemas.microsoft.com/office/drawing/2014/main" id="{DFC4FE13-6FB6-043D-393C-8625B90F6173}"/>
                    </a:ext>
                  </a:extLst>
                </p:cNvPr>
                <p:cNvSpPr/>
                <p:nvPr/>
              </p:nvSpPr>
              <p:spPr>
                <a:xfrm>
                  <a:off x="4823459" y="1906151"/>
                  <a:ext cx="2128935" cy="3892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C164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8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cs"/>
                    </a:rPr>
                    <a:t>Cluster3</a:t>
                  </a:r>
                  <a:r>
                    <a:rPr kumimoji="0" lang="en-US" altLang="zh-CN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cs"/>
                    </a:rPr>
                    <a:t>ADHD </a:t>
                  </a:r>
                  <a:r>
                    <a:rPr kumimoji="0" lang="zh-CN" altLang="en-US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思源宋体 CN Heavy" panose="02020900000000000000" pitchFamily="18" charset="-122"/>
                      <a:ea typeface="思源宋体 CN Heavy" panose="02020900000000000000" pitchFamily="18" charset="-122"/>
                      <a:cs typeface="+mn-cs"/>
                    </a:rPr>
                    <a:t>与睡眠问题新兴细分研究</a:t>
                  </a:r>
                </a:p>
              </p:txBody>
            </p:sp>
          </p:grpSp>
        </p:grpSp>
        <p:cxnSp>
          <p:nvCxnSpPr>
            <p:cNvPr id="34" name="直接连接符 49">
              <a:extLst>
                <a:ext uri="{FF2B5EF4-FFF2-40B4-BE49-F238E27FC236}">
                  <a16:creationId xmlns:a16="http://schemas.microsoft.com/office/drawing/2014/main" id="{C88A6AA1-CD6A-E27C-8C38-19723EB8551F}"/>
                </a:ext>
              </a:extLst>
            </p:cNvPr>
            <p:cNvCxnSpPr>
              <a:cxnSpLocks/>
            </p:cNvCxnSpPr>
            <p:nvPr/>
          </p:nvCxnSpPr>
          <p:spPr>
            <a:xfrm>
              <a:off x="3436937" y="2847110"/>
              <a:ext cx="4792663" cy="0"/>
            </a:xfrm>
            <a:prstGeom prst="line">
              <a:avLst/>
            </a:prstGeom>
            <a:ln>
              <a:solidFill>
                <a:srgbClr val="DBE8F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4823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FA6C-77FD-8DA4-605F-04907EB4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DFDA887-AFC5-7477-9203-BC8CD1B79160}"/>
              </a:ext>
            </a:extLst>
          </p:cNvPr>
          <p:cNvGrpSpPr/>
          <p:nvPr/>
        </p:nvGrpSpPr>
        <p:grpSpPr>
          <a:xfrm>
            <a:off x="0" y="1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21DE97A-6ADB-CB97-63E7-C841CC615D77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EA0E4403-A7FF-048B-DCCF-1738D0AD5678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CCBAEC1-61E3-9A7E-6AFD-2E1370864666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42"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主题关联规则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9920636-7697-5C3F-DD1D-EB010CC9B78B}"/>
              </a:ext>
            </a:extLst>
          </p:cNvPr>
          <p:cNvGrpSpPr/>
          <p:nvPr/>
        </p:nvGrpSpPr>
        <p:grpSpPr>
          <a:xfrm>
            <a:off x="241829" y="3243506"/>
            <a:ext cx="5954987" cy="1633268"/>
            <a:chOff x="774997" y="4269627"/>
            <a:chExt cx="7655588" cy="209968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AE3F932-1BB2-8DD7-3DBF-720E5962D8E1}"/>
                </a:ext>
              </a:extLst>
            </p:cNvPr>
            <p:cNvGrpSpPr/>
            <p:nvPr/>
          </p:nvGrpSpPr>
          <p:grpSpPr>
            <a:xfrm>
              <a:off x="774997" y="4269627"/>
              <a:ext cx="3896530" cy="2099689"/>
              <a:chOff x="1154684" y="4116314"/>
              <a:chExt cx="3896530" cy="2099689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6E4BE8A-3B63-CB71-9E9C-88E866F26A41}"/>
                  </a:ext>
                </a:extLst>
              </p:cNvPr>
              <p:cNvSpPr txBox="1"/>
              <p:nvPr/>
            </p:nvSpPr>
            <p:spPr>
              <a:xfrm>
                <a:off x="1154684" y="4911611"/>
                <a:ext cx="3896530" cy="1304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40000"/>
                  </a:lnSpc>
                </a:pP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以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Mendelian randomization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、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Genetic variants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、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Genotype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为核心的遗传学群组高度共现，与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COVID-19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相关概念形成另一独立群组，反映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ADHD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研究的两大热点方向。</a:t>
                </a:r>
                <a:endParaRPr lang="zh-CN" altLang="en-US" sz="11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0" name="矩形: 圆角 19">
                <a:extLst>
                  <a:ext uri="{FF2B5EF4-FFF2-40B4-BE49-F238E27FC236}">
                    <a16:creationId xmlns:a16="http://schemas.microsoft.com/office/drawing/2014/main" id="{1D8B2222-70A4-21F8-E186-137362EDFDC9}"/>
                  </a:ext>
                </a:extLst>
              </p:cNvPr>
              <p:cNvSpPr/>
              <p:nvPr/>
            </p:nvSpPr>
            <p:spPr>
              <a:xfrm>
                <a:off x="1955170" y="4116314"/>
                <a:ext cx="2480543" cy="500403"/>
              </a:xfrm>
              <a:prstGeom prst="roundRect">
                <a:avLst>
                  <a:gd name="adj" fmla="val 50000"/>
                </a:avLst>
              </a:prstGeom>
              <a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378">
                  <a:defRPr/>
                </a:pPr>
                <a:r>
                  <a:rPr lang="zh-CN" altLang="en-US" sz="1350" b="1" kern="0" dirty="0">
                    <a:solidFill>
                      <a:srgbClr val="FFFFFF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概念关联规则网络图</a:t>
                </a: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459464B-34EA-C9B4-607A-34F86378B54F}"/>
                </a:ext>
              </a:extLst>
            </p:cNvPr>
            <p:cNvGrpSpPr/>
            <p:nvPr/>
          </p:nvGrpSpPr>
          <p:grpSpPr>
            <a:xfrm>
              <a:off x="4790107" y="4285234"/>
              <a:ext cx="3640478" cy="1788698"/>
              <a:chOff x="2454321" y="4131921"/>
              <a:chExt cx="3640478" cy="1788698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2139B488-E9DF-ACA1-1212-0F67D2E71BE0}"/>
                  </a:ext>
                </a:extLst>
              </p:cNvPr>
              <p:cNvSpPr txBox="1"/>
              <p:nvPr/>
            </p:nvSpPr>
            <p:spPr>
              <a:xfrm>
                <a:off x="2454321" y="4920892"/>
                <a:ext cx="3640478" cy="999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40000"/>
                  </a:lnSpc>
                </a:pP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颜色越深代表关联强度越高。遗传学概念间的交叉共现最为显著，部分规则提升度接近</a:t>
                </a:r>
                <a:r>
                  <a:rPr lang="en-US" altLang="zh-CN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100</a:t>
                </a:r>
                <a:r>
                  <a:rPr lang="zh-CN" altLang="en-US" sz="1100" dirty="0">
                    <a:latin typeface="思源宋体 CN Light" panose="02020300000000000000" pitchFamily="18" charset="-122"/>
                    <a:ea typeface="思源宋体 CN Light" panose="02020300000000000000" pitchFamily="18" charset="-122"/>
                    <a:sym typeface="+mn-ea"/>
                  </a:rPr>
                  <a:t>，远超随机共现预期。</a:t>
                </a:r>
                <a:endParaRPr lang="zh-CN" altLang="en-US" sz="11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3F8F6232-0173-EA91-EE38-CD7CC95E3610}"/>
                  </a:ext>
                </a:extLst>
              </p:cNvPr>
              <p:cNvSpPr/>
              <p:nvPr/>
            </p:nvSpPr>
            <p:spPr>
              <a:xfrm>
                <a:off x="2850726" y="4131921"/>
                <a:ext cx="2847669" cy="500403"/>
              </a:xfrm>
              <a:prstGeom prst="roundRect">
                <a:avLst>
                  <a:gd name="adj" fmla="val 50000"/>
                </a:avLst>
              </a:prstGeom>
              <a:blipFill>
                <a:blip r:embed="rId3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378">
                  <a:defRPr/>
                </a:pPr>
                <a:r>
                  <a:rPr lang="zh-CN" altLang="en-US" sz="1350" b="1" kern="0" dirty="0">
                    <a:solidFill>
                      <a:srgbClr val="FFFFFF"/>
                    </a:solidFill>
                    <a:latin typeface="思源宋体 CN Heavy" panose="02020900000000000000" pitchFamily="18" charset="-122"/>
                    <a:ea typeface="思源宋体 CN Heavy" panose="02020900000000000000" pitchFamily="18" charset="-122"/>
                  </a:rPr>
                  <a:t>主题关联规则矩阵热图</a:t>
                </a:r>
              </a:p>
            </p:txBody>
          </p:sp>
        </p:grp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37D0565-CD8A-A907-F0E2-46B66C3F84FD}"/>
              </a:ext>
            </a:extLst>
          </p:cNvPr>
          <p:cNvGrpSpPr/>
          <p:nvPr/>
        </p:nvGrpSpPr>
        <p:grpSpPr>
          <a:xfrm>
            <a:off x="3154671" y="233231"/>
            <a:ext cx="5848654" cy="409006"/>
            <a:chOff x="3154670" y="233230"/>
            <a:chExt cx="5848654" cy="409006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61B063FF-CC6F-25B4-5C89-3604E5B19FAE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0DC21AB-6710-CC9F-2D61-594F4515522D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10B896A-13F3-D12F-4AC9-7593659B3BFD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660D48A-C3E7-B0BD-4C5A-EA85DAE6D6EB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FD9A18B-DB19-C0D3-113A-46455634CA6B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3942D02B-0762-201E-FEC2-69FDD665EBAC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94E3843A-EDD4-20AB-CD93-96F943CE896B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33" name="图片 32">
            <a:extLst>
              <a:ext uri="{FF2B5EF4-FFF2-40B4-BE49-F238E27FC236}">
                <a16:creationId xmlns:a16="http://schemas.microsoft.com/office/drawing/2014/main" id="{981FCD91-76C6-3F14-D05F-C33FB7B4AD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4669" y="737754"/>
            <a:ext cx="2760221" cy="2437757"/>
          </a:xfrm>
          <a:prstGeom prst="rect">
            <a:avLst/>
          </a:prstGeom>
        </p:spPr>
      </p:pic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0BE43162-B1BE-7F84-90CC-63F23FA4E2A2}"/>
              </a:ext>
            </a:extLst>
          </p:cNvPr>
          <p:cNvGraphicFramePr>
            <a:graphicFrameLocks noGrp="1"/>
          </p:cNvGraphicFramePr>
          <p:nvPr/>
        </p:nvGraphicFramePr>
        <p:xfrm>
          <a:off x="6185629" y="813523"/>
          <a:ext cx="2710721" cy="214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885">
                  <a:extLst>
                    <a:ext uri="{9D8B030D-6E8A-4147-A177-3AD203B41FA5}">
                      <a16:colId xmlns:a16="http://schemas.microsoft.com/office/drawing/2014/main" val="108701488"/>
                    </a:ext>
                  </a:extLst>
                </a:gridCol>
                <a:gridCol w="722667">
                  <a:extLst>
                    <a:ext uri="{9D8B030D-6E8A-4147-A177-3AD203B41FA5}">
                      <a16:colId xmlns:a16="http://schemas.microsoft.com/office/drawing/2014/main" val="2944881373"/>
                    </a:ext>
                  </a:extLst>
                </a:gridCol>
                <a:gridCol w="467041">
                  <a:extLst>
                    <a:ext uri="{9D8B030D-6E8A-4147-A177-3AD203B41FA5}">
                      <a16:colId xmlns:a16="http://schemas.microsoft.com/office/drawing/2014/main" val="2920314757"/>
                    </a:ext>
                  </a:extLst>
                </a:gridCol>
                <a:gridCol w="395503">
                  <a:extLst>
                    <a:ext uri="{9D8B030D-6E8A-4147-A177-3AD203B41FA5}">
                      <a16:colId xmlns:a16="http://schemas.microsoft.com/office/drawing/2014/main" val="2827642993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717713051"/>
                    </a:ext>
                  </a:extLst>
                </a:gridCol>
              </a:tblGrid>
              <a:tr h="2152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antecedents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consequents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support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confidence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+mn-cs"/>
                        </a:rPr>
                        <a:t>lift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75552101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Genetic variants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Mendelian randomization; Genotype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0.009311555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0.884058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94.942029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764190567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Mendelian randomization; Genotype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Genetic variants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0.009311555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94.942029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72830605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Genetic variants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Mendelian randomization; Gene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0.009311555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0.884058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91.9279963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223697994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Mendelian randomization; Gene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Genetic variants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0.009311555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0.968254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91.9279963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733421374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Mendelian randomization; Biology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Genetic variants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0.008243016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0.9642857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91.5512422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666014608"/>
                  </a:ext>
                </a:extLst>
              </a:tr>
              <a:tr h="32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Genetic variants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Mendelian randomization; Biology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0.008243016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0.7826087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zh-CN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91.5512422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322431541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AEBF49A0-5189-6A83-BA05-E101A5972F58}"/>
              </a:ext>
            </a:extLst>
          </p:cNvPr>
          <p:cNvSpPr txBox="1"/>
          <p:nvPr/>
        </p:nvSpPr>
        <p:spPr>
          <a:xfrm>
            <a:off x="6381550" y="3862137"/>
            <a:ext cx="2842931" cy="1014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典型规则示例（前</a:t>
            </a:r>
            <a:r>
              <a:rPr lang="en-US" altLang="zh-CN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6</a:t>
            </a:r>
            <a:r>
              <a:rPr lang="zh-CN" altLang="en-US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条）：如“</a:t>
            </a:r>
            <a:r>
              <a:rPr lang="en-US" altLang="zh-CN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Mendelian randomization + Genotype → Genetic variants”</a:t>
            </a:r>
            <a:r>
              <a:rPr lang="zh-CN" altLang="en-US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（提升度</a:t>
            </a:r>
            <a:r>
              <a:rPr lang="en-US" altLang="zh-CN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94.9</a:t>
            </a:r>
            <a:r>
              <a:rPr lang="zh-CN" altLang="en-US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），验证了孟德尔随机化在</a:t>
            </a:r>
            <a:r>
              <a:rPr lang="en-US" altLang="zh-CN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ADHD</a:t>
            </a:r>
            <a:r>
              <a:rPr lang="zh-CN" altLang="en-US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rPr>
              <a:t>遗传研究中的核心地位。</a:t>
            </a:r>
            <a:endParaRPr lang="zh-CN" altLang="en-US" sz="1100" kern="0" dirty="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752E4C3-7F1E-7526-3736-32A1964B229A}"/>
              </a:ext>
            </a:extLst>
          </p:cNvPr>
          <p:cNvSpPr/>
          <p:nvPr/>
        </p:nvSpPr>
        <p:spPr>
          <a:xfrm>
            <a:off x="6829918" y="3270177"/>
            <a:ext cx="1758167" cy="389245"/>
          </a:xfrm>
          <a:prstGeom prst="roundRect">
            <a:avLst>
              <a:gd name="adj" fmla="val 50000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zh-CN" altLang="en-US" sz="1350" b="1" kern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核心关联规则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2BF3792-F8A9-CDDA-263A-DD8B388067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5" y="798349"/>
            <a:ext cx="3067154" cy="229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34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FA6C-77FD-8DA4-605F-04907EB4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DFDA887-AFC5-7477-9203-BC8CD1B79160}"/>
              </a:ext>
            </a:extLst>
          </p:cNvPr>
          <p:cNvGrpSpPr/>
          <p:nvPr/>
        </p:nvGrpSpPr>
        <p:grpSpPr>
          <a:xfrm>
            <a:off x="0" y="1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21DE97A-6ADB-CB97-63E7-C841CC615D77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EA0E4403-A7FF-048B-DCCF-1738D0AD5678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CCBAEC1-61E3-9A7E-6AFD-2E1370864666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42">
                <a:defRPr/>
              </a:pPr>
              <a:r>
                <a:rPr lang="zh-CN" altLang="en-US" sz="2400" kern="0" dirty="0"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主题关联规则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9920636-7697-5C3F-DD1D-EB010CC9B78B}"/>
              </a:ext>
            </a:extLst>
          </p:cNvPr>
          <p:cNvGrpSpPr/>
          <p:nvPr/>
        </p:nvGrpSpPr>
        <p:grpSpPr>
          <a:xfrm>
            <a:off x="544467" y="1522693"/>
            <a:ext cx="7945838" cy="3444387"/>
            <a:chOff x="925598" y="2087480"/>
            <a:chExt cx="10214977" cy="4428019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DC6E3E4-4B29-25AC-B465-1DFE9C3CBF8E}"/>
                </a:ext>
              </a:extLst>
            </p:cNvPr>
            <p:cNvGrpSpPr/>
            <p:nvPr/>
          </p:nvGrpSpPr>
          <p:grpSpPr>
            <a:xfrm>
              <a:off x="925598" y="2087480"/>
              <a:ext cx="2301954" cy="3176336"/>
              <a:chOff x="4139288" y="1482616"/>
              <a:chExt cx="3846540" cy="5307623"/>
            </a:xfrm>
          </p:grpSpPr>
          <p:sp>
            <p:nvSpPr>
              <p:cNvPr id="15" name="平行四边形 14">
                <a:extLst>
                  <a:ext uri="{FF2B5EF4-FFF2-40B4-BE49-F238E27FC236}">
                    <a16:creationId xmlns:a16="http://schemas.microsoft.com/office/drawing/2014/main" id="{7FA46303-9EAA-AE1C-9307-CCC57044F65E}"/>
                  </a:ext>
                </a:extLst>
              </p:cNvPr>
              <p:cNvSpPr/>
              <p:nvPr/>
            </p:nvSpPr>
            <p:spPr>
              <a:xfrm>
                <a:off x="6757986" y="5106193"/>
                <a:ext cx="1227842" cy="1684046"/>
              </a:xfrm>
              <a:prstGeom prst="parallelogram">
                <a:avLst>
                  <a:gd name="adj" fmla="val 35343"/>
                </a:avLst>
              </a:pr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541871">
                  <a:defRPr/>
                </a:pPr>
                <a:endParaRPr lang="zh-CN" altLang="en-US" sz="1100" kern="0" dirty="0">
                  <a:solidFill>
                    <a:srgbClr val="40404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6" name="平行四边形 15">
                <a:extLst>
                  <a:ext uri="{FF2B5EF4-FFF2-40B4-BE49-F238E27FC236}">
                    <a16:creationId xmlns:a16="http://schemas.microsoft.com/office/drawing/2014/main" id="{9395720D-0DFD-1AE0-E430-69F11A1C54FF}"/>
                  </a:ext>
                </a:extLst>
              </p:cNvPr>
              <p:cNvSpPr/>
              <p:nvPr/>
            </p:nvSpPr>
            <p:spPr>
              <a:xfrm>
                <a:off x="4139286" y="1482617"/>
                <a:ext cx="1111358" cy="1498961"/>
              </a:xfrm>
              <a:prstGeom prst="parallelogram">
                <a:avLst>
                  <a:gd name="adj" fmla="val 37245"/>
                </a:avLst>
              </a:pr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541871">
                  <a:defRPr/>
                </a:pPr>
                <a:endParaRPr lang="zh-CN" altLang="en-US" sz="1100" kern="0" dirty="0">
                  <a:solidFill>
                    <a:srgbClr val="40404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CD612EC-08CA-3872-707B-97AC52B85F59}"/>
                </a:ext>
              </a:extLst>
            </p:cNvPr>
            <p:cNvSpPr txBox="1"/>
            <p:nvPr/>
          </p:nvSpPr>
          <p:spPr>
            <a:xfrm>
              <a:off x="1982498" y="5515773"/>
              <a:ext cx="9158077" cy="999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本次挖掘得到 </a:t>
              </a:r>
              <a:r>
                <a:rPr lang="en-US" altLang="zh-CN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4273 </a:t>
              </a: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条 </a:t>
              </a:r>
              <a:r>
                <a:rPr lang="en-US" altLang="zh-CN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ADHD </a:t>
              </a: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领域关联规则，其中以两项概念组合规则为主，占比 </a:t>
              </a:r>
              <a:r>
                <a:rPr lang="en-US" altLang="zh-CN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67.5%</a:t>
              </a: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。组合规则具有更高的置信度，关联更稳定；单一概念规则则具有更强的提升度，关联性更具特异性。整体反映出 </a:t>
              </a:r>
              <a:r>
                <a:rPr lang="en-US" altLang="zh-CN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ADHD </a:t>
              </a: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研究以多主题交叉共现为主流特征。</a:t>
              </a:r>
              <a:endParaRPr lang="zh-CN" altLang="en-US" sz="1100" kern="0" dirty="0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37D0565-CD8A-A907-F0E2-46B66C3F84FD}"/>
              </a:ext>
            </a:extLst>
          </p:cNvPr>
          <p:cNvGrpSpPr/>
          <p:nvPr/>
        </p:nvGrpSpPr>
        <p:grpSpPr>
          <a:xfrm>
            <a:off x="3154671" y="233231"/>
            <a:ext cx="5848654" cy="409006"/>
            <a:chOff x="3154670" y="233230"/>
            <a:chExt cx="5848654" cy="409006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61B063FF-CC6F-25B4-5C89-3604E5B19FAE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30DC21AB-6710-CC9F-2D61-594F4515522D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C10B896A-13F3-D12F-4AC9-7593659B3BFD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660D48A-C3E7-B0BD-4C5A-EA85DAE6D6EB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FD9A18B-DB19-C0D3-113A-46455634CA6B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3942D02B-0762-201E-FEC2-69FDD665EBAC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94E3843A-EDD4-20AB-CD93-96F943CE896B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81B5FC19-6D39-0790-181E-B35F1B3F8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608" y="1090384"/>
            <a:ext cx="6360181" cy="290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660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FE71-DDD9-CE42-8498-37DCDC9BA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D5D1B301-15B7-A933-D62D-0AD4A7C4FA67}"/>
              </a:ext>
            </a:extLst>
          </p:cNvPr>
          <p:cNvGrpSpPr/>
          <p:nvPr/>
        </p:nvGrpSpPr>
        <p:grpSpPr>
          <a:xfrm>
            <a:off x="0" y="1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F2E3C2F-5192-79DA-7D3B-92D4327DED30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85800"/>
              <a:endParaRPr lang="zh-CN" altLang="en-US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DCEF21AA-95AC-207F-32FB-6176636E50FD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685800"/>
              <a:endParaRPr>
                <a:solidFill>
                  <a:prstClr val="black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D8A5BB7-19CD-A87F-19BB-1CCD26DBCF90}"/>
                </a:ext>
              </a:extLst>
            </p:cNvPr>
            <p:cNvSpPr txBox="1"/>
            <p:nvPr/>
          </p:nvSpPr>
          <p:spPr>
            <a:xfrm>
              <a:off x="140675" y="199390"/>
              <a:ext cx="2912626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42">
                <a:defRPr/>
              </a:pPr>
              <a:r>
                <a:rPr lang="zh-CN" altLang="en-US" sz="2400" kern="0" dirty="0">
                  <a:solidFill>
                    <a:prstClr val="black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高影响力论文预测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2A44140-5D43-9808-2D59-DB6531EAF543}"/>
              </a:ext>
            </a:extLst>
          </p:cNvPr>
          <p:cNvGrpSpPr/>
          <p:nvPr/>
        </p:nvGrpSpPr>
        <p:grpSpPr>
          <a:xfrm>
            <a:off x="3154671" y="233231"/>
            <a:ext cx="5848654" cy="409006"/>
            <a:chOff x="3154670" y="233230"/>
            <a:chExt cx="5848654" cy="409006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5F9D2E81-6855-C68A-A12C-48DB690CF036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C68D0F9-7797-83C3-4A53-7BA800CA5A8D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16FFF4B9-C481-71BC-C7F0-27B6DB1E4A82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A6C5B7EE-1856-D0C7-057D-09DCF03ED3D4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C2F7A18E-38A2-FBB0-61CA-5411C44AB59C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prstClr val="black"/>
                  </a:solidFill>
                  <a:latin typeface="Calibri"/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79AD4F57-6CDD-3006-0BBA-4EF751424929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9CCBD869-EA00-D03E-D9BC-E1088F5850EA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5103795-96ED-65C8-6BC8-AEB36A689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418" b="5701"/>
          <a:stretch>
            <a:fillRect/>
          </a:stretch>
        </p:blipFill>
        <p:spPr>
          <a:xfrm>
            <a:off x="726948" y="893930"/>
            <a:ext cx="3808788" cy="357978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A16CCB7-0286-3FFE-A24C-6EE699C50156}"/>
              </a:ext>
            </a:extLst>
          </p:cNvPr>
          <p:cNvSpPr txBox="1"/>
          <p:nvPr/>
        </p:nvSpPr>
        <p:spPr>
          <a:xfrm>
            <a:off x="4750308" y="1037579"/>
            <a:ext cx="410565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  <a:latin typeface="Calibri"/>
                <a:ea typeface="微软雅黑" panose="020B0503020204020204" pitchFamily="34" charset="-122"/>
              </a:rPr>
              <a:t>数据集：6,551 篇 ADHD 研究论文，其中高被引论文 778 篇（占 11.9%），普通论文 5,773 篇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6C4204C-CEC3-6A26-9B1F-668A88B58D60}"/>
              </a:ext>
            </a:extLst>
          </p:cNvPr>
          <p:cNvSpPr txBox="1"/>
          <p:nvPr/>
        </p:nvSpPr>
        <p:spPr>
          <a:xfrm>
            <a:off x="4765869" y="1794934"/>
            <a:ext cx="39026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思源宋体 CN Light" panose="02020300000000000000"/>
              </a:rPr>
              <a:t>特征（输入）：论文发表时可获得的数值信息，例如：</a:t>
            </a: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思源宋体 CN Light" panose="02020300000000000000"/>
              </a:rPr>
              <a:t>发表年份、论文年龄</a:t>
            </a: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思源宋体 CN Light" panose="02020300000000000000"/>
              </a:rPr>
              <a:t>作者数量、机构数量、国家数量</a:t>
            </a: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思源宋体 CN Light" panose="02020300000000000000"/>
              </a:rPr>
              <a:t>是否国际合作、是否多机构合作</a:t>
            </a: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思源宋体 CN Light" panose="02020300000000000000"/>
              </a:rPr>
              <a:t>参考文献数量、参考文献密度</a:t>
            </a: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思源宋体 CN Light" panose="02020300000000000000"/>
              </a:rPr>
              <a:t>标题长度、摘要长度</a:t>
            </a: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思源宋体 CN Light" panose="02020300000000000000"/>
              </a:rPr>
              <a:t>概念数量、主题数量</a:t>
            </a:r>
          </a:p>
          <a:p>
            <a:pPr defTabSz="685800"/>
            <a:endParaRPr lang="en-US" altLang="zh-CN" sz="1200" dirty="0">
              <a:solidFill>
                <a:prstClr val="black"/>
              </a:solidFill>
              <a:latin typeface="宋体" panose="02010600030101010101" pitchFamily="2" charset="-122"/>
              <a:ea typeface="思源宋体 CN Light" panose="02020300000000000000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思源宋体 CN Light" panose="02020300000000000000"/>
              </a:rPr>
              <a:t>标签（输出）：is_highly_cited（1=高被引，0=普通）</a:t>
            </a: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宋体" panose="02010600030101010101" pitchFamily="2" charset="-122"/>
                <a:ea typeface="思源宋体 CN Light" panose="02020300000000000000"/>
              </a:rPr>
              <a:t>我们刻意排除了论文的被引用次数（cited_by_count 等），因为这些数据在论文刚发表时无法获得，我们要做的是真正的“预测”。</a:t>
            </a:r>
          </a:p>
        </p:txBody>
      </p:sp>
    </p:spTree>
    <p:extLst>
      <p:ext uri="{BB962C8B-B14F-4D97-AF65-F5344CB8AC3E}">
        <p14:creationId xmlns:p14="http://schemas.microsoft.com/office/powerpoint/2010/main" val="2118234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E0FBB-8037-7C14-19AE-1CA572AB6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A78B9FF-8906-8BBF-2E90-F430552F171D}"/>
              </a:ext>
            </a:extLst>
          </p:cNvPr>
          <p:cNvGrpSpPr/>
          <p:nvPr/>
        </p:nvGrpSpPr>
        <p:grpSpPr>
          <a:xfrm>
            <a:off x="0" y="1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6D1C21C-3C35-7822-6C62-764D28E0DEE4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685800"/>
              <a:endParaRPr lang="zh-CN" altLang="en-US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DD21BEF3-E401-1F87-4C51-2C7D1623AA54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685800"/>
              <a:endParaRPr>
                <a:solidFill>
                  <a:prstClr val="black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D7944487-FAD5-14D2-5696-E5789E784FB7}"/>
                </a:ext>
              </a:extLst>
            </p:cNvPr>
            <p:cNvSpPr txBox="1"/>
            <p:nvPr/>
          </p:nvSpPr>
          <p:spPr>
            <a:xfrm>
              <a:off x="140675" y="199390"/>
              <a:ext cx="2912626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42">
                <a:defRPr/>
              </a:pPr>
              <a:r>
                <a:rPr lang="zh-CN" altLang="en-US" sz="2400" kern="0" dirty="0">
                  <a:solidFill>
                    <a:prstClr val="black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高影响力论文预测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69564C8-6F0C-569A-8C72-C462743A3580}"/>
              </a:ext>
            </a:extLst>
          </p:cNvPr>
          <p:cNvGrpSpPr/>
          <p:nvPr/>
        </p:nvGrpSpPr>
        <p:grpSpPr>
          <a:xfrm>
            <a:off x="3154671" y="233231"/>
            <a:ext cx="5848654" cy="409006"/>
            <a:chOff x="3154670" y="233230"/>
            <a:chExt cx="5848654" cy="409006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D351F0EA-2DB9-24B2-6BEE-FFFCE9922F61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FD3D868B-2965-E019-7465-EF15D3FFA6E8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0E890D97-953B-FEF6-29CF-921A84B20CC8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405B193D-11D6-91E7-56C3-220072B5B8A0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58A1E3C0-E4AE-AC29-9A95-99B876EC2219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prstClr val="black"/>
                  </a:solidFill>
                  <a:latin typeface="Calibri"/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BC5E3224-0FC3-F94E-7F92-9F9C1348A9E9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F8AC0B6D-7578-1D81-24AA-EDEA7882A510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A46ECB-F09E-BD1B-760B-4A18410686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15" t="-4736" r="1415" b="4736"/>
          <a:stretch>
            <a:fillRect/>
          </a:stretch>
        </p:blipFill>
        <p:spPr>
          <a:xfrm>
            <a:off x="4448857" y="829402"/>
            <a:ext cx="3584147" cy="374920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5C4B65C-E55E-987F-B956-10D6B3B27A9B}"/>
              </a:ext>
            </a:extLst>
          </p:cNvPr>
          <p:cNvSpPr txBox="1"/>
          <p:nvPr/>
        </p:nvSpPr>
        <p:spPr>
          <a:xfrm>
            <a:off x="502270" y="1216751"/>
            <a:ext cx="370397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 defTabSz="6858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数据划分：60% 训练，20% 验证（调阈值），20% 测试（最终评估）</a:t>
            </a:r>
            <a:endParaRPr lang="en-US" altLang="zh-CN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marL="214313" indent="-214313" defTabSz="685800"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marL="214313" indent="-214313" defTabSz="6858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预处理：中位数填补缺失值 + StandardScaler 标准化</a:t>
            </a:r>
            <a:endParaRPr lang="en-US" altLang="zh-CN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marL="214313" indent="-214313" defTabSz="685800"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marL="214313" indent="-214313" defTabSz="6858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特征选择：SelectKBest 保留 20 个最相关特征</a:t>
            </a:r>
            <a:endParaRPr lang="en-US" altLang="zh-CN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marL="214313" indent="-214313" defTabSz="685800"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marL="214313" indent="-214313" defTabSz="6858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类别不平衡处理：使用 SMOTE 过采样，合成新的高被引论文样本，使训练集正负样本平衡（从 3,930 增至 6,926）</a:t>
            </a:r>
            <a:endParaRPr lang="en-US" altLang="zh-CN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marL="214313" indent="-214313" defTabSz="685800"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marL="214313" indent="-214313" defTabSz="6858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模型：随机森林、XGBoost、LightGBM、逻辑回归（四种主流分类器）</a:t>
            </a:r>
            <a:endParaRPr lang="en-US" altLang="zh-CN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marL="214313" indent="-214313" defTabSz="685800">
              <a:buFont typeface="Arial" panose="020B0604020202020204" pitchFamily="34" charset="0"/>
              <a:buChar char="•"/>
            </a:pPr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marL="214313" indent="-214313" defTabSz="6858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阈值优化：在验证集上最大化 F1 分数，自动找到最佳分类阈值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F2C8897-EB88-AC4F-9920-5752BFA77773}"/>
              </a:ext>
            </a:extLst>
          </p:cNvPr>
          <p:cNvSpPr/>
          <p:nvPr/>
        </p:nvSpPr>
        <p:spPr>
          <a:xfrm>
            <a:off x="961503" y="644964"/>
            <a:ext cx="1518734" cy="228719"/>
          </a:xfrm>
          <a:prstGeom prst="roundRect">
            <a:avLst>
              <a:gd name="adj" fmla="val 50000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zh-CN" altLang="en-US" sz="750" b="1" kern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机器学习预测模型构建流程</a:t>
            </a:r>
          </a:p>
        </p:txBody>
      </p:sp>
    </p:spTree>
    <p:extLst>
      <p:ext uri="{BB962C8B-B14F-4D97-AF65-F5344CB8AC3E}">
        <p14:creationId xmlns:p14="http://schemas.microsoft.com/office/powerpoint/2010/main" val="2951522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AA0B9A-ACC5-0EBC-27CA-ED3448621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A303BEA6-C252-7B09-6F95-67174AA51E47}"/>
              </a:ext>
            </a:extLst>
          </p:cNvPr>
          <p:cNvGrpSpPr/>
          <p:nvPr/>
        </p:nvGrpSpPr>
        <p:grpSpPr>
          <a:xfrm>
            <a:off x="-5818" y="0"/>
            <a:ext cx="9149818" cy="5150873"/>
            <a:chOff x="-5818" y="0"/>
            <a:chExt cx="9149818" cy="515087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5B95ADE-3B7C-BFBC-8482-9A69D9C33E29}"/>
                </a:ext>
              </a:extLst>
            </p:cNvPr>
            <p:cNvGrpSpPr/>
            <p:nvPr/>
          </p:nvGrpSpPr>
          <p:grpSpPr>
            <a:xfrm flipH="1">
              <a:off x="-5818" y="0"/>
              <a:ext cx="9149818" cy="5150873"/>
              <a:chOff x="-5818" y="0"/>
              <a:chExt cx="9149818" cy="5150873"/>
            </a:xfrm>
          </p:grpSpPr>
          <p:sp>
            <p:nvSpPr>
              <p:cNvPr id="12" name="Google Shape;58;p3">
                <a:extLst>
                  <a:ext uri="{FF2B5EF4-FFF2-40B4-BE49-F238E27FC236}">
                    <a16:creationId xmlns:a16="http://schemas.microsoft.com/office/drawing/2014/main" id="{C76431B2-D0AF-F37C-E5E0-90DB954C0233}"/>
                  </a:ext>
                </a:extLst>
              </p:cNvPr>
              <p:cNvSpPr/>
              <p:nvPr/>
            </p:nvSpPr>
            <p:spPr>
              <a:xfrm rot="10800000">
                <a:off x="5518762" y="2132527"/>
                <a:ext cx="3625238" cy="3018346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6" name="Google Shape;58;p3">
                <a:extLst>
                  <a:ext uri="{FF2B5EF4-FFF2-40B4-BE49-F238E27FC236}">
                    <a16:creationId xmlns:a16="http://schemas.microsoft.com/office/drawing/2014/main" id="{8BF9F5DA-D401-DA7D-2AF6-D84457F8C6B9}"/>
                  </a:ext>
                </a:extLst>
              </p:cNvPr>
              <p:cNvSpPr/>
              <p:nvPr/>
            </p:nvSpPr>
            <p:spPr>
              <a:xfrm rot="10800000" flipH="1" flipV="1">
                <a:off x="-5818" y="0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EA63B3CA-F2F2-6CD1-98FD-9DFD2C59E5E2}"/>
                  </a:ext>
                </a:extLst>
              </p:cNvPr>
              <p:cNvSpPr/>
              <p:nvPr/>
            </p:nvSpPr>
            <p:spPr>
              <a:xfrm rot="19800000">
                <a:off x="7300743" y="284091"/>
                <a:ext cx="1370002" cy="137000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58EC22CB-17CE-A1BB-182B-4BBE4A3EE88E}"/>
                  </a:ext>
                </a:extLst>
              </p:cNvPr>
              <p:cNvSpPr/>
              <p:nvPr/>
            </p:nvSpPr>
            <p:spPr>
              <a:xfrm rot="19800000">
                <a:off x="5203840" y="3777489"/>
                <a:ext cx="587982" cy="58798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1" name="Google Shape;58;p3">
                <a:extLst>
                  <a:ext uri="{FF2B5EF4-FFF2-40B4-BE49-F238E27FC236}">
                    <a16:creationId xmlns:a16="http://schemas.microsoft.com/office/drawing/2014/main" id="{145977D7-3474-FFA8-61F2-039D37D6FED1}"/>
                  </a:ext>
                </a:extLst>
              </p:cNvPr>
              <p:cNvSpPr/>
              <p:nvPr/>
            </p:nvSpPr>
            <p:spPr>
              <a:xfrm rot="10800000" flipH="1">
                <a:off x="0" y="4071481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2" name="任意多边形 7">
                <a:extLst>
                  <a:ext uri="{FF2B5EF4-FFF2-40B4-BE49-F238E27FC236}">
                    <a16:creationId xmlns:a16="http://schemas.microsoft.com/office/drawing/2014/main" id="{7D55A3B9-EEE7-F42B-4E85-3C5ACB14D27F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5087031" y="783440"/>
                <a:ext cx="702010" cy="371304"/>
              </a:xfrm>
              <a:custGeom>
                <a:avLst/>
                <a:gdLst>
                  <a:gd name="idx" fmla="cos wd2 2700000"/>
                  <a:gd name="idy" fmla="sin hd2 2700000"/>
                  <a:gd name="il" fmla="+- hc 0 idx"/>
                  <a:gd name="ir" fmla="+- hc idx 0"/>
                  <a:gd name="it" fmla="+- vc 0 idy"/>
                  <a:gd name="ib" fmla="+- vc idy 0"/>
                </a:gdLst>
                <a:ahLst/>
                <a:cxnLst>
                  <a:cxn ang="3">
                    <a:pos x="hc" y="t"/>
                  </a:cxn>
                  <a:cxn ang="3">
                    <a:pos x="il" y="it"/>
                  </a:cxn>
                  <a:cxn ang="cd2">
                    <a:pos x="l" y="vc"/>
                  </a:cxn>
                  <a:cxn ang="cd4">
                    <a:pos x="il" y="ib"/>
                  </a:cxn>
                  <a:cxn ang="cd4">
                    <a:pos x="hc" y="b"/>
                  </a:cxn>
                  <a:cxn ang="cd4">
                    <a:pos x="ir" y="ib"/>
                  </a:cxn>
                  <a:cxn ang="0">
                    <a:pos x="r" y="vc"/>
                  </a:cxn>
                  <a:cxn ang="3">
                    <a:pos x="ir" y="it"/>
                  </a:cxn>
                </a:cxnLst>
                <a:rect l="l" t="t" r="r" b="b"/>
                <a:pathLst>
                  <a:path w="1647" h="922">
                    <a:moveTo>
                      <a:pt x="0" y="61"/>
                    </a:moveTo>
                    <a:cubicBezTo>
                      <a:pt x="0" y="27"/>
                      <a:pt x="26" y="0"/>
                      <a:pt x="58" y="0"/>
                    </a:cubicBezTo>
                    <a:cubicBezTo>
                      <a:pt x="89" y="0"/>
                      <a:pt x="115" y="27"/>
                      <a:pt x="115" y="61"/>
                    </a:cubicBezTo>
                    <a:cubicBezTo>
                      <a:pt x="115" y="94"/>
                      <a:pt x="89" y="121"/>
                      <a:pt x="58" y="121"/>
                    </a:cubicBezTo>
                    <a:cubicBezTo>
                      <a:pt x="26" y="121"/>
                      <a:pt x="0" y="94"/>
                      <a:pt x="0" y="61"/>
                    </a:cubicBezTo>
                    <a:close/>
                    <a:moveTo>
                      <a:pt x="383" y="61"/>
                    </a:moveTo>
                    <a:cubicBezTo>
                      <a:pt x="383" y="27"/>
                      <a:pt x="409" y="0"/>
                      <a:pt x="441" y="0"/>
                    </a:cubicBezTo>
                    <a:cubicBezTo>
                      <a:pt x="472" y="0"/>
                      <a:pt x="498" y="27"/>
                      <a:pt x="498" y="61"/>
                    </a:cubicBezTo>
                    <a:cubicBezTo>
                      <a:pt x="498" y="94"/>
                      <a:pt x="472" y="121"/>
                      <a:pt x="441" y="121"/>
                    </a:cubicBezTo>
                    <a:cubicBezTo>
                      <a:pt x="409" y="121"/>
                      <a:pt x="383" y="94"/>
                      <a:pt x="383" y="61"/>
                    </a:cubicBezTo>
                    <a:close/>
                    <a:moveTo>
                      <a:pt x="766" y="61"/>
                    </a:moveTo>
                    <a:cubicBezTo>
                      <a:pt x="766" y="27"/>
                      <a:pt x="792" y="0"/>
                      <a:pt x="824" y="0"/>
                    </a:cubicBezTo>
                    <a:cubicBezTo>
                      <a:pt x="855" y="0"/>
                      <a:pt x="881" y="27"/>
                      <a:pt x="881" y="61"/>
                    </a:cubicBezTo>
                    <a:cubicBezTo>
                      <a:pt x="881" y="94"/>
                      <a:pt x="855" y="121"/>
                      <a:pt x="824" y="121"/>
                    </a:cubicBezTo>
                    <a:cubicBezTo>
                      <a:pt x="792" y="121"/>
                      <a:pt x="766" y="94"/>
                      <a:pt x="766" y="61"/>
                    </a:cubicBezTo>
                    <a:close/>
                    <a:moveTo>
                      <a:pt x="1149" y="61"/>
                    </a:moveTo>
                    <a:cubicBezTo>
                      <a:pt x="1149" y="27"/>
                      <a:pt x="1175" y="0"/>
                      <a:pt x="1207" y="0"/>
                    </a:cubicBezTo>
                    <a:cubicBezTo>
                      <a:pt x="1238" y="0"/>
                      <a:pt x="1264" y="27"/>
                      <a:pt x="1264" y="61"/>
                    </a:cubicBezTo>
                    <a:cubicBezTo>
                      <a:pt x="1264" y="94"/>
                      <a:pt x="1238" y="121"/>
                      <a:pt x="1207" y="121"/>
                    </a:cubicBezTo>
                    <a:cubicBezTo>
                      <a:pt x="1175" y="121"/>
                      <a:pt x="1149" y="94"/>
                      <a:pt x="1149" y="61"/>
                    </a:cubicBezTo>
                    <a:close/>
                    <a:moveTo>
                      <a:pt x="1532" y="61"/>
                    </a:moveTo>
                    <a:cubicBezTo>
                      <a:pt x="1532" y="27"/>
                      <a:pt x="1558" y="0"/>
                      <a:pt x="1590" y="0"/>
                    </a:cubicBezTo>
                    <a:cubicBezTo>
                      <a:pt x="1621" y="0"/>
                      <a:pt x="1647" y="27"/>
                      <a:pt x="1647" y="61"/>
                    </a:cubicBezTo>
                    <a:cubicBezTo>
                      <a:pt x="1647" y="94"/>
                      <a:pt x="1621" y="121"/>
                      <a:pt x="1590" y="121"/>
                    </a:cubicBezTo>
                    <a:cubicBezTo>
                      <a:pt x="1558" y="121"/>
                      <a:pt x="1532" y="94"/>
                      <a:pt x="1532" y="61"/>
                    </a:cubicBezTo>
                    <a:close/>
                    <a:moveTo>
                      <a:pt x="0" y="328"/>
                    </a:moveTo>
                    <a:cubicBezTo>
                      <a:pt x="0" y="294"/>
                      <a:pt x="26" y="267"/>
                      <a:pt x="58" y="267"/>
                    </a:cubicBezTo>
                    <a:cubicBezTo>
                      <a:pt x="89" y="267"/>
                      <a:pt x="115" y="294"/>
                      <a:pt x="115" y="328"/>
                    </a:cubicBezTo>
                    <a:cubicBezTo>
                      <a:pt x="115" y="361"/>
                      <a:pt x="89" y="388"/>
                      <a:pt x="58" y="388"/>
                    </a:cubicBezTo>
                    <a:cubicBezTo>
                      <a:pt x="26" y="388"/>
                      <a:pt x="0" y="361"/>
                      <a:pt x="0" y="328"/>
                    </a:cubicBezTo>
                    <a:close/>
                    <a:moveTo>
                      <a:pt x="383" y="328"/>
                    </a:moveTo>
                    <a:cubicBezTo>
                      <a:pt x="383" y="294"/>
                      <a:pt x="409" y="267"/>
                      <a:pt x="441" y="267"/>
                    </a:cubicBezTo>
                    <a:cubicBezTo>
                      <a:pt x="472" y="267"/>
                      <a:pt x="498" y="294"/>
                      <a:pt x="498" y="328"/>
                    </a:cubicBezTo>
                    <a:cubicBezTo>
                      <a:pt x="498" y="361"/>
                      <a:pt x="472" y="388"/>
                      <a:pt x="441" y="388"/>
                    </a:cubicBezTo>
                    <a:cubicBezTo>
                      <a:pt x="409" y="388"/>
                      <a:pt x="383" y="361"/>
                      <a:pt x="383" y="328"/>
                    </a:cubicBezTo>
                    <a:close/>
                    <a:moveTo>
                      <a:pt x="766" y="328"/>
                    </a:moveTo>
                    <a:cubicBezTo>
                      <a:pt x="766" y="294"/>
                      <a:pt x="792" y="267"/>
                      <a:pt x="824" y="267"/>
                    </a:cubicBezTo>
                    <a:cubicBezTo>
                      <a:pt x="855" y="267"/>
                      <a:pt x="881" y="294"/>
                      <a:pt x="881" y="328"/>
                    </a:cubicBezTo>
                    <a:cubicBezTo>
                      <a:pt x="881" y="361"/>
                      <a:pt x="855" y="388"/>
                      <a:pt x="824" y="388"/>
                    </a:cubicBezTo>
                    <a:cubicBezTo>
                      <a:pt x="792" y="388"/>
                      <a:pt x="766" y="361"/>
                      <a:pt x="766" y="328"/>
                    </a:cubicBezTo>
                    <a:close/>
                    <a:moveTo>
                      <a:pt x="1149" y="328"/>
                    </a:moveTo>
                    <a:cubicBezTo>
                      <a:pt x="1149" y="294"/>
                      <a:pt x="1175" y="267"/>
                      <a:pt x="1207" y="267"/>
                    </a:cubicBezTo>
                    <a:cubicBezTo>
                      <a:pt x="1238" y="267"/>
                      <a:pt x="1264" y="294"/>
                      <a:pt x="1264" y="328"/>
                    </a:cubicBezTo>
                    <a:cubicBezTo>
                      <a:pt x="1264" y="361"/>
                      <a:pt x="1238" y="388"/>
                      <a:pt x="1207" y="388"/>
                    </a:cubicBezTo>
                    <a:cubicBezTo>
                      <a:pt x="1175" y="388"/>
                      <a:pt x="1149" y="361"/>
                      <a:pt x="1149" y="328"/>
                    </a:cubicBezTo>
                    <a:close/>
                    <a:moveTo>
                      <a:pt x="1532" y="328"/>
                    </a:moveTo>
                    <a:cubicBezTo>
                      <a:pt x="1532" y="294"/>
                      <a:pt x="1558" y="267"/>
                      <a:pt x="1590" y="267"/>
                    </a:cubicBezTo>
                    <a:cubicBezTo>
                      <a:pt x="1621" y="267"/>
                      <a:pt x="1647" y="294"/>
                      <a:pt x="1647" y="328"/>
                    </a:cubicBezTo>
                    <a:cubicBezTo>
                      <a:pt x="1647" y="361"/>
                      <a:pt x="1621" y="388"/>
                      <a:pt x="1590" y="388"/>
                    </a:cubicBezTo>
                    <a:cubicBezTo>
                      <a:pt x="1558" y="388"/>
                      <a:pt x="1532" y="361"/>
                      <a:pt x="1532" y="328"/>
                    </a:cubicBezTo>
                    <a:close/>
                    <a:moveTo>
                      <a:pt x="0" y="595"/>
                    </a:moveTo>
                    <a:cubicBezTo>
                      <a:pt x="0" y="561"/>
                      <a:pt x="26" y="534"/>
                      <a:pt x="58" y="534"/>
                    </a:cubicBezTo>
                    <a:cubicBezTo>
                      <a:pt x="89" y="534"/>
                      <a:pt x="115" y="561"/>
                      <a:pt x="115" y="595"/>
                    </a:cubicBezTo>
                    <a:cubicBezTo>
                      <a:pt x="115" y="628"/>
                      <a:pt x="89" y="655"/>
                      <a:pt x="58" y="655"/>
                    </a:cubicBezTo>
                    <a:cubicBezTo>
                      <a:pt x="26" y="655"/>
                      <a:pt x="0" y="628"/>
                      <a:pt x="0" y="595"/>
                    </a:cubicBezTo>
                    <a:close/>
                    <a:moveTo>
                      <a:pt x="383" y="595"/>
                    </a:moveTo>
                    <a:cubicBezTo>
                      <a:pt x="383" y="561"/>
                      <a:pt x="409" y="534"/>
                      <a:pt x="441" y="534"/>
                    </a:cubicBezTo>
                    <a:cubicBezTo>
                      <a:pt x="472" y="534"/>
                      <a:pt x="498" y="561"/>
                      <a:pt x="498" y="595"/>
                    </a:cubicBezTo>
                    <a:cubicBezTo>
                      <a:pt x="498" y="628"/>
                      <a:pt x="472" y="655"/>
                      <a:pt x="441" y="655"/>
                    </a:cubicBezTo>
                    <a:cubicBezTo>
                      <a:pt x="409" y="655"/>
                      <a:pt x="383" y="628"/>
                      <a:pt x="383" y="595"/>
                    </a:cubicBezTo>
                    <a:close/>
                    <a:moveTo>
                      <a:pt x="766" y="595"/>
                    </a:moveTo>
                    <a:cubicBezTo>
                      <a:pt x="766" y="561"/>
                      <a:pt x="792" y="534"/>
                      <a:pt x="824" y="534"/>
                    </a:cubicBezTo>
                    <a:cubicBezTo>
                      <a:pt x="855" y="534"/>
                      <a:pt x="881" y="561"/>
                      <a:pt x="881" y="595"/>
                    </a:cubicBezTo>
                    <a:cubicBezTo>
                      <a:pt x="881" y="628"/>
                      <a:pt x="855" y="655"/>
                      <a:pt x="824" y="655"/>
                    </a:cubicBezTo>
                    <a:cubicBezTo>
                      <a:pt x="792" y="655"/>
                      <a:pt x="766" y="628"/>
                      <a:pt x="766" y="595"/>
                    </a:cubicBezTo>
                    <a:close/>
                    <a:moveTo>
                      <a:pt x="1149" y="595"/>
                    </a:moveTo>
                    <a:cubicBezTo>
                      <a:pt x="1149" y="561"/>
                      <a:pt x="1175" y="534"/>
                      <a:pt x="1207" y="534"/>
                    </a:cubicBezTo>
                    <a:cubicBezTo>
                      <a:pt x="1238" y="534"/>
                      <a:pt x="1264" y="561"/>
                      <a:pt x="1264" y="595"/>
                    </a:cubicBezTo>
                    <a:cubicBezTo>
                      <a:pt x="1264" y="628"/>
                      <a:pt x="1238" y="655"/>
                      <a:pt x="1207" y="655"/>
                    </a:cubicBezTo>
                    <a:cubicBezTo>
                      <a:pt x="1175" y="655"/>
                      <a:pt x="1149" y="628"/>
                      <a:pt x="1149" y="595"/>
                    </a:cubicBezTo>
                    <a:close/>
                    <a:moveTo>
                      <a:pt x="1532" y="595"/>
                    </a:moveTo>
                    <a:cubicBezTo>
                      <a:pt x="1532" y="561"/>
                      <a:pt x="1558" y="534"/>
                      <a:pt x="1590" y="534"/>
                    </a:cubicBezTo>
                    <a:cubicBezTo>
                      <a:pt x="1621" y="534"/>
                      <a:pt x="1647" y="561"/>
                      <a:pt x="1647" y="595"/>
                    </a:cubicBezTo>
                    <a:cubicBezTo>
                      <a:pt x="1647" y="628"/>
                      <a:pt x="1621" y="655"/>
                      <a:pt x="1590" y="655"/>
                    </a:cubicBezTo>
                    <a:cubicBezTo>
                      <a:pt x="1558" y="655"/>
                      <a:pt x="1532" y="628"/>
                      <a:pt x="1532" y="595"/>
                    </a:cubicBezTo>
                    <a:close/>
                    <a:moveTo>
                      <a:pt x="0" y="862"/>
                    </a:moveTo>
                    <a:cubicBezTo>
                      <a:pt x="0" y="828"/>
                      <a:pt x="26" y="801"/>
                      <a:pt x="58" y="801"/>
                    </a:cubicBezTo>
                    <a:cubicBezTo>
                      <a:pt x="89" y="801"/>
                      <a:pt x="115" y="828"/>
                      <a:pt x="115" y="862"/>
                    </a:cubicBezTo>
                    <a:cubicBezTo>
                      <a:pt x="115" y="895"/>
                      <a:pt x="89" y="922"/>
                      <a:pt x="58" y="922"/>
                    </a:cubicBezTo>
                    <a:cubicBezTo>
                      <a:pt x="26" y="922"/>
                      <a:pt x="0" y="895"/>
                      <a:pt x="0" y="862"/>
                    </a:cubicBezTo>
                    <a:close/>
                    <a:moveTo>
                      <a:pt x="383" y="862"/>
                    </a:moveTo>
                    <a:cubicBezTo>
                      <a:pt x="383" y="828"/>
                      <a:pt x="409" y="801"/>
                      <a:pt x="441" y="801"/>
                    </a:cubicBezTo>
                    <a:cubicBezTo>
                      <a:pt x="472" y="801"/>
                      <a:pt x="498" y="828"/>
                      <a:pt x="498" y="862"/>
                    </a:cubicBezTo>
                    <a:cubicBezTo>
                      <a:pt x="498" y="895"/>
                      <a:pt x="472" y="922"/>
                      <a:pt x="441" y="922"/>
                    </a:cubicBezTo>
                    <a:cubicBezTo>
                      <a:pt x="409" y="922"/>
                      <a:pt x="383" y="895"/>
                      <a:pt x="383" y="862"/>
                    </a:cubicBezTo>
                    <a:close/>
                    <a:moveTo>
                      <a:pt x="766" y="862"/>
                    </a:moveTo>
                    <a:cubicBezTo>
                      <a:pt x="766" y="828"/>
                      <a:pt x="792" y="801"/>
                      <a:pt x="824" y="801"/>
                    </a:cubicBezTo>
                    <a:cubicBezTo>
                      <a:pt x="855" y="801"/>
                      <a:pt x="881" y="828"/>
                      <a:pt x="881" y="862"/>
                    </a:cubicBezTo>
                    <a:cubicBezTo>
                      <a:pt x="881" y="895"/>
                      <a:pt x="855" y="922"/>
                      <a:pt x="824" y="922"/>
                    </a:cubicBezTo>
                    <a:cubicBezTo>
                      <a:pt x="792" y="922"/>
                      <a:pt x="766" y="895"/>
                      <a:pt x="766" y="862"/>
                    </a:cubicBezTo>
                    <a:close/>
                    <a:moveTo>
                      <a:pt x="1149" y="862"/>
                    </a:moveTo>
                    <a:cubicBezTo>
                      <a:pt x="1149" y="828"/>
                      <a:pt x="1175" y="801"/>
                      <a:pt x="1207" y="801"/>
                    </a:cubicBezTo>
                    <a:cubicBezTo>
                      <a:pt x="1238" y="801"/>
                      <a:pt x="1264" y="828"/>
                      <a:pt x="1264" y="862"/>
                    </a:cubicBezTo>
                    <a:cubicBezTo>
                      <a:pt x="1264" y="895"/>
                      <a:pt x="1238" y="922"/>
                      <a:pt x="1207" y="922"/>
                    </a:cubicBezTo>
                    <a:cubicBezTo>
                      <a:pt x="1175" y="922"/>
                      <a:pt x="1149" y="895"/>
                      <a:pt x="1149" y="862"/>
                    </a:cubicBezTo>
                    <a:close/>
                    <a:moveTo>
                      <a:pt x="1532" y="862"/>
                    </a:moveTo>
                    <a:cubicBezTo>
                      <a:pt x="1532" y="828"/>
                      <a:pt x="1558" y="801"/>
                      <a:pt x="1590" y="801"/>
                    </a:cubicBezTo>
                    <a:cubicBezTo>
                      <a:pt x="1621" y="801"/>
                      <a:pt x="1647" y="828"/>
                      <a:pt x="1647" y="862"/>
                    </a:cubicBezTo>
                    <a:cubicBezTo>
                      <a:pt x="1647" y="895"/>
                      <a:pt x="1621" y="922"/>
                      <a:pt x="1590" y="922"/>
                    </a:cubicBezTo>
                    <a:cubicBezTo>
                      <a:pt x="1558" y="922"/>
                      <a:pt x="1532" y="895"/>
                      <a:pt x="1532" y="862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思源黑体 CN Light" panose="020B0300000000000000" charset="-122"/>
                </a:endParaRPr>
              </a:p>
            </p:txBody>
          </p:sp>
        </p:grp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DFBFEA0-ADD3-0444-61C6-E2F07D6D3029}"/>
                </a:ext>
              </a:extLst>
            </p:cNvPr>
            <p:cNvSpPr/>
            <p:nvPr/>
          </p:nvSpPr>
          <p:spPr>
            <a:xfrm>
              <a:off x="555898" y="1904821"/>
              <a:ext cx="2821557" cy="2821557"/>
            </a:xfrm>
            <a:prstGeom prst="ellipse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0E3CC1DA-3DFF-A7E9-D60A-983ED6F29C1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181137" y="2107526"/>
            <a:ext cx="3841731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913765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kern="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rPr>
              <a:t>模型的评估</a:t>
            </a:r>
          </a:p>
        </p:txBody>
      </p:sp>
      <p:sp>
        <p:nvSpPr>
          <p:cNvPr id="41" name="圆角矩形 20">
            <a:extLst>
              <a:ext uri="{FF2B5EF4-FFF2-40B4-BE49-F238E27FC236}">
                <a16:creationId xmlns:a16="http://schemas.microsoft.com/office/drawing/2014/main" id="{8DA477C2-1D07-AF8E-7E9C-B403F743002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85911" y="1481551"/>
            <a:ext cx="1532102" cy="434074"/>
          </a:xfrm>
          <a:prstGeom prst="roundRect">
            <a:avLst>
              <a:gd name="adj" fmla="val 50000"/>
            </a:avLst>
          </a:pr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PART 05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85A1000-EBBF-9027-47BF-F3F376D369D6}"/>
              </a:ext>
            </a:extLst>
          </p:cNvPr>
          <p:cNvSpPr txBox="1"/>
          <p:nvPr/>
        </p:nvSpPr>
        <p:spPr>
          <a:xfrm>
            <a:off x="5768726" y="1236275"/>
            <a:ext cx="2435811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5400">
                <a:gradFill>
                  <a:gsLst>
                    <a:gs pos="84000">
                      <a:srgbClr val="0960E5">
                        <a:alpha val="32000"/>
                      </a:srgb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PART</a:t>
            </a:r>
            <a:endParaRPr lang="zh-CN" altLang="en-US" sz="5400"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Bold" panose="020B0800000000000000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9A9C281-88B9-2834-01CF-9E39003B4D27}"/>
              </a:ext>
            </a:extLst>
          </p:cNvPr>
          <p:cNvGrpSpPr/>
          <p:nvPr/>
        </p:nvGrpSpPr>
        <p:grpSpPr>
          <a:xfrm>
            <a:off x="4185912" y="2081786"/>
            <a:ext cx="3710903" cy="865115"/>
            <a:chOff x="5852478" y="2100373"/>
            <a:chExt cx="5315585" cy="1330921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270AA4CB-02FC-7CB0-676E-15C7D1AD63A5}"/>
                </a:ext>
              </a:extLst>
            </p:cNvPr>
            <p:cNvCxnSpPr/>
            <p:nvPr/>
          </p:nvCxnSpPr>
          <p:spPr>
            <a:xfrm>
              <a:off x="5852478" y="3431294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9A510078-62AB-8EED-017D-3902CAD499B8}"/>
                </a:ext>
              </a:extLst>
            </p:cNvPr>
            <p:cNvCxnSpPr/>
            <p:nvPr/>
          </p:nvCxnSpPr>
          <p:spPr>
            <a:xfrm>
              <a:off x="5875973" y="2100373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241241AA-5004-EA1E-366D-4B3B485E88A7}"/>
              </a:ext>
            </a:extLst>
          </p:cNvPr>
          <p:cNvSpPr/>
          <p:nvPr/>
        </p:nvSpPr>
        <p:spPr>
          <a:xfrm>
            <a:off x="4292689" y="3472731"/>
            <a:ext cx="659273" cy="47822"/>
          </a:xfrm>
          <a:custGeom>
            <a:avLst/>
            <a:gdLst>
              <a:gd name="connsiteX0" fmla="*/ 881551 w 914727"/>
              <a:gd name="connsiteY0" fmla="*/ 0 h 66352"/>
              <a:gd name="connsiteX1" fmla="*/ 914727 w 914727"/>
              <a:gd name="connsiteY1" fmla="*/ 33176 h 66352"/>
              <a:gd name="connsiteX2" fmla="*/ 881551 w 914727"/>
              <a:gd name="connsiteY2" fmla="*/ 66352 h 66352"/>
              <a:gd name="connsiteX3" fmla="*/ 848375 w 914727"/>
              <a:gd name="connsiteY3" fmla="*/ 33176 h 66352"/>
              <a:gd name="connsiteX4" fmla="*/ 881551 w 914727"/>
              <a:gd name="connsiteY4" fmla="*/ 0 h 66352"/>
              <a:gd name="connsiteX5" fmla="*/ 669458 w 914727"/>
              <a:gd name="connsiteY5" fmla="*/ 0 h 66352"/>
              <a:gd name="connsiteX6" fmla="*/ 702634 w 914727"/>
              <a:gd name="connsiteY6" fmla="*/ 33176 h 66352"/>
              <a:gd name="connsiteX7" fmla="*/ 669458 w 914727"/>
              <a:gd name="connsiteY7" fmla="*/ 66352 h 66352"/>
              <a:gd name="connsiteX8" fmla="*/ 636282 w 914727"/>
              <a:gd name="connsiteY8" fmla="*/ 33176 h 66352"/>
              <a:gd name="connsiteX9" fmla="*/ 669458 w 914727"/>
              <a:gd name="connsiteY9" fmla="*/ 0 h 66352"/>
              <a:gd name="connsiteX10" fmla="*/ 457364 w 914727"/>
              <a:gd name="connsiteY10" fmla="*/ 0 h 66352"/>
              <a:gd name="connsiteX11" fmla="*/ 490540 w 914727"/>
              <a:gd name="connsiteY11" fmla="*/ 33176 h 66352"/>
              <a:gd name="connsiteX12" fmla="*/ 457364 w 914727"/>
              <a:gd name="connsiteY12" fmla="*/ 66352 h 66352"/>
              <a:gd name="connsiteX13" fmla="*/ 424188 w 914727"/>
              <a:gd name="connsiteY13" fmla="*/ 33176 h 66352"/>
              <a:gd name="connsiteX14" fmla="*/ 457364 w 914727"/>
              <a:gd name="connsiteY14" fmla="*/ 0 h 66352"/>
              <a:gd name="connsiteX15" fmla="*/ 245270 w 914727"/>
              <a:gd name="connsiteY15" fmla="*/ 0 h 66352"/>
              <a:gd name="connsiteX16" fmla="*/ 278446 w 914727"/>
              <a:gd name="connsiteY16" fmla="*/ 33176 h 66352"/>
              <a:gd name="connsiteX17" fmla="*/ 245270 w 914727"/>
              <a:gd name="connsiteY17" fmla="*/ 66352 h 66352"/>
              <a:gd name="connsiteX18" fmla="*/ 212094 w 914727"/>
              <a:gd name="connsiteY18" fmla="*/ 33176 h 66352"/>
              <a:gd name="connsiteX19" fmla="*/ 245270 w 914727"/>
              <a:gd name="connsiteY19" fmla="*/ 0 h 66352"/>
              <a:gd name="connsiteX20" fmla="*/ 33176 w 914727"/>
              <a:gd name="connsiteY20" fmla="*/ 0 h 66352"/>
              <a:gd name="connsiteX21" fmla="*/ 66352 w 914727"/>
              <a:gd name="connsiteY21" fmla="*/ 33176 h 66352"/>
              <a:gd name="connsiteX22" fmla="*/ 33176 w 914727"/>
              <a:gd name="connsiteY22" fmla="*/ 66352 h 66352"/>
              <a:gd name="connsiteX23" fmla="*/ 0 w 914727"/>
              <a:gd name="connsiteY23" fmla="*/ 33176 h 66352"/>
              <a:gd name="connsiteX24" fmla="*/ 33176 w 914727"/>
              <a:gd name="connsiteY24" fmla="*/ 0 h 6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14727" h="66352">
                <a:moveTo>
                  <a:pt x="881551" y="0"/>
                </a:moveTo>
                <a:cubicBezTo>
                  <a:pt x="899874" y="0"/>
                  <a:pt x="914727" y="14853"/>
                  <a:pt x="914727" y="33176"/>
                </a:cubicBezTo>
                <a:cubicBezTo>
                  <a:pt x="914727" y="51499"/>
                  <a:pt x="899874" y="66352"/>
                  <a:pt x="881551" y="66352"/>
                </a:cubicBezTo>
                <a:cubicBezTo>
                  <a:pt x="863228" y="66352"/>
                  <a:pt x="848375" y="51499"/>
                  <a:pt x="848375" y="33176"/>
                </a:cubicBezTo>
                <a:cubicBezTo>
                  <a:pt x="848375" y="14853"/>
                  <a:pt x="863228" y="0"/>
                  <a:pt x="881551" y="0"/>
                </a:cubicBezTo>
                <a:close/>
                <a:moveTo>
                  <a:pt x="669458" y="0"/>
                </a:moveTo>
                <a:cubicBezTo>
                  <a:pt x="687781" y="0"/>
                  <a:pt x="702634" y="14853"/>
                  <a:pt x="702634" y="33176"/>
                </a:cubicBezTo>
                <a:cubicBezTo>
                  <a:pt x="702634" y="51499"/>
                  <a:pt x="687781" y="66352"/>
                  <a:pt x="669458" y="66352"/>
                </a:cubicBezTo>
                <a:cubicBezTo>
                  <a:pt x="651135" y="66352"/>
                  <a:pt x="636282" y="51499"/>
                  <a:pt x="636282" y="33176"/>
                </a:cubicBezTo>
                <a:cubicBezTo>
                  <a:pt x="636282" y="14853"/>
                  <a:pt x="651135" y="0"/>
                  <a:pt x="669458" y="0"/>
                </a:cubicBezTo>
                <a:close/>
                <a:moveTo>
                  <a:pt x="457364" y="0"/>
                </a:moveTo>
                <a:cubicBezTo>
                  <a:pt x="475687" y="0"/>
                  <a:pt x="490540" y="14853"/>
                  <a:pt x="490540" y="33176"/>
                </a:cubicBezTo>
                <a:cubicBezTo>
                  <a:pt x="490540" y="51499"/>
                  <a:pt x="475687" y="66352"/>
                  <a:pt x="457364" y="66352"/>
                </a:cubicBezTo>
                <a:cubicBezTo>
                  <a:pt x="439041" y="66352"/>
                  <a:pt x="424188" y="51499"/>
                  <a:pt x="424188" y="33176"/>
                </a:cubicBezTo>
                <a:cubicBezTo>
                  <a:pt x="424188" y="14853"/>
                  <a:pt x="439041" y="0"/>
                  <a:pt x="457364" y="0"/>
                </a:cubicBezTo>
                <a:close/>
                <a:moveTo>
                  <a:pt x="245270" y="0"/>
                </a:moveTo>
                <a:cubicBezTo>
                  <a:pt x="263593" y="0"/>
                  <a:pt x="278446" y="14853"/>
                  <a:pt x="278446" y="33176"/>
                </a:cubicBezTo>
                <a:cubicBezTo>
                  <a:pt x="278446" y="51499"/>
                  <a:pt x="263593" y="66352"/>
                  <a:pt x="245270" y="66352"/>
                </a:cubicBezTo>
                <a:cubicBezTo>
                  <a:pt x="226947" y="66352"/>
                  <a:pt x="212094" y="51499"/>
                  <a:pt x="212094" y="33176"/>
                </a:cubicBezTo>
                <a:cubicBezTo>
                  <a:pt x="212094" y="14853"/>
                  <a:pt x="226947" y="0"/>
                  <a:pt x="245270" y="0"/>
                </a:cubicBezTo>
                <a:close/>
                <a:moveTo>
                  <a:pt x="33176" y="0"/>
                </a:moveTo>
                <a:cubicBezTo>
                  <a:pt x="51499" y="0"/>
                  <a:pt x="66352" y="14853"/>
                  <a:pt x="66352" y="33176"/>
                </a:cubicBezTo>
                <a:cubicBezTo>
                  <a:pt x="66352" y="51499"/>
                  <a:pt x="51499" y="66352"/>
                  <a:pt x="33176" y="66352"/>
                </a:cubicBezTo>
                <a:cubicBezTo>
                  <a:pt x="14853" y="66352"/>
                  <a:pt x="0" y="51499"/>
                  <a:pt x="0" y="33176"/>
                </a:cubicBez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4B6ECA6-DBAB-E7CF-ADF5-51F59B7BB250}"/>
              </a:ext>
            </a:extLst>
          </p:cNvPr>
          <p:cNvSpPr/>
          <p:nvPr/>
        </p:nvSpPr>
        <p:spPr>
          <a:xfrm>
            <a:off x="4181136" y="3172191"/>
            <a:ext cx="4173268" cy="146594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0960E5"/>
              </a:gs>
              <a:gs pos="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7729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6130-3122-EE85-5B05-F2D19DEE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FC36937C-0007-D0F3-E51F-EEAFDFDC5931}"/>
              </a:ext>
            </a:extLst>
          </p:cNvPr>
          <p:cNvGrpSpPr/>
          <p:nvPr/>
        </p:nvGrpSpPr>
        <p:grpSpPr>
          <a:xfrm>
            <a:off x="0" y="1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7888A0D-6451-4E40-B390-70045CDC9B94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378">
                <a:defRPr/>
              </a:pPr>
              <a:endParaRPr lang="zh-CN" altLang="en-US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9C85E888-CA92-1F7D-BA2B-8DB3F83BC671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8">
                <a:defRPr/>
              </a:pPr>
              <a:endParaRPr>
                <a:solidFill>
                  <a:prstClr val="black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043E47C-1E98-0C68-3FB6-E18193B903B4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42">
                <a:defRPr/>
              </a:pPr>
              <a:r>
                <a:rPr lang="zh-CN" altLang="en-US" sz="2400" kern="0" dirty="0">
                  <a:solidFill>
                    <a:prstClr val="black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模型的评估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47BFF4F-5DE2-574E-228E-87C422361F49}"/>
              </a:ext>
            </a:extLst>
          </p:cNvPr>
          <p:cNvGrpSpPr/>
          <p:nvPr/>
        </p:nvGrpSpPr>
        <p:grpSpPr>
          <a:xfrm>
            <a:off x="3154671" y="233231"/>
            <a:ext cx="5848654" cy="409006"/>
            <a:chOff x="3154670" y="233230"/>
            <a:chExt cx="5848654" cy="409006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B28CB1E9-D721-C38D-D817-0F736D275220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AD4AE425-954E-B279-6D73-37E036F2BA09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4D8F24E1-4B40-5ED1-3DC3-C1FADE518051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24CEE6F5-F4BD-263D-D519-01D8B72C3840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695FAA30-B4B9-621F-AF9B-76B39F4E7391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B5864DF8-D0FB-1820-7ED7-D6046D383F6C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prstClr val="black"/>
                  </a:solidFill>
                  <a:latin typeface="Calibri"/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3E6BEA81-26D6-C882-580A-DD24D60D29D8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0946E432-0764-3922-E11F-5FFDE920F1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36" y="1042416"/>
            <a:ext cx="4550906" cy="227545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04C6327-BD4F-CD5E-8A5F-54E4EA68ADB1}"/>
              </a:ext>
            </a:extLst>
          </p:cNvPr>
          <p:cNvSpPr txBox="1"/>
          <p:nvPr/>
        </p:nvSpPr>
        <p:spPr>
          <a:xfrm>
            <a:off x="1266444" y="3529585"/>
            <a:ext cx="68651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Heavy" panose="02020900000000000000"/>
              </a:rPr>
              <a:t>由于本研究更关注高影响力论文识别能力，因此重点关注</a:t>
            </a:r>
            <a:r>
              <a:rPr lang="en-US" altLang="zh-CN" sz="1200" dirty="0">
                <a:solidFill>
                  <a:prstClr val="black"/>
                </a:solidFill>
                <a:latin typeface="Calibri"/>
                <a:ea typeface="思源宋体 CN Heavy" panose="02020900000000000000"/>
              </a:rPr>
              <a:t>Recall</a:t>
            </a: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Heavy" panose="02020900000000000000"/>
              </a:rPr>
              <a:t>与</a:t>
            </a:r>
            <a:r>
              <a:rPr lang="en-US" altLang="zh-CN" sz="1200" dirty="0">
                <a:solidFill>
                  <a:prstClr val="black"/>
                </a:solidFill>
                <a:latin typeface="Calibri"/>
                <a:ea typeface="思源宋体 CN Heavy" panose="02020900000000000000"/>
              </a:rPr>
              <a:t>F1-score</a:t>
            </a: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Heavy" panose="02020900000000000000"/>
              </a:rPr>
              <a:t>指标。</a:t>
            </a:r>
            <a:endParaRPr lang="en-US" altLang="zh-CN" sz="1200" dirty="0">
              <a:solidFill>
                <a:prstClr val="black"/>
              </a:solidFill>
              <a:latin typeface="Calibri"/>
              <a:ea typeface="思源宋体 CN Heavy" panose="02020900000000000000"/>
            </a:endParaRPr>
          </a:p>
          <a:p>
            <a:pPr defTabSz="685800"/>
            <a:endParaRPr lang="en-US" altLang="zh-CN" sz="1200" dirty="0">
              <a:solidFill>
                <a:prstClr val="black"/>
              </a:solidFill>
              <a:latin typeface="Calibri"/>
              <a:ea typeface="思源宋体 CN Heavy" panose="02020900000000000000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Heavy" panose="02020900000000000000"/>
              </a:rPr>
              <a:t>LightGBM 综合表现最佳（F1=0.5137，召回率最高 78.2%）</a:t>
            </a:r>
            <a:endParaRPr lang="en-US" altLang="zh-CN" sz="1200" dirty="0">
              <a:solidFill>
                <a:prstClr val="black"/>
              </a:solidFill>
              <a:latin typeface="Calibri"/>
              <a:ea typeface="思源宋体 CN Heavy" panose="02020900000000000000"/>
            </a:endParaRPr>
          </a:p>
          <a:p>
            <a:pPr defTabSz="685800"/>
            <a:endParaRPr lang="zh-CN" altLang="en-US" sz="1200" dirty="0">
              <a:solidFill>
                <a:prstClr val="black"/>
              </a:solidFill>
              <a:latin typeface="Calibri"/>
              <a:ea typeface="思源宋体 CN Heavy" panose="02020900000000000000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Heavy" panose="02020900000000000000"/>
              </a:rPr>
              <a:t>所有模型 AUC 均在 0.88~0.89 之间，说明区分能力良好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2384DC3-057F-FD98-44FF-D170DD507B7A}"/>
              </a:ext>
            </a:extLst>
          </p:cNvPr>
          <p:cNvGraphicFramePr>
            <a:graphicFrameLocks noGrp="1"/>
          </p:cNvGraphicFramePr>
          <p:nvPr/>
        </p:nvGraphicFramePr>
        <p:xfrm>
          <a:off x="4951476" y="1202437"/>
          <a:ext cx="4062987" cy="198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767">
                  <a:extLst>
                    <a:ext uri="{9D8B030D-6E8A-4147-A177-3AD203B41FA5}">
                      <a16:colId xmlns:a16="http://schemas.microsoft.com/office/drawing/2014/main" val="3406920989"/>
                    </a:ext>
                  </a:extLst>
                </a:gridCol>
                <a:gridCol w="675644">
                  <a:extLst>
                    <a:ext uri="{9D8B030D-6E8A-4147-A177-3AD203B41FA5}">
                      <a16:colId xmlns:a16="http://schemas.microsoft.com/office/drawing/2014/main" val="3564286082"/>
                    </a:ext>
                  </a:extLst>
                </a:gridCol>
                <a:gridCol w="675644">
                  <a:extLst>
                    <a:ext uri="{9D8B030D-6E8A-4147-A177-3AD203B41FA5}">
                      <a16:colId xmlns:a16="http://schemas.microsoft.com/office/drawing/2014/main" val="2409887311"/>
                    </a:ext>
                  </a:extLst>
                </a:gridCol>
                <a:gridCol w="675644">
                  <a:extLst>
                    <a:ext uri="{9D8B030D-6E8A-4147-A177-3AD203B41FA5}">
                      <a16:colId xmlns:a16="http://schemas.microsoft.com/office/drawing/2014/main" val="4269508615"/>
                    </a:ext>
                  </a:extLst>
                </a:gridCol>
                <a:gridCol w="675644">
                  <a:extLst>
                    <a:ext uri="{9D8B030D-6E8A-4147-A177-3AD203B41FA5}">
                      <a16:colId xmlns:a16="http://schemas.microsoft.com/office/drawing/2014/main" val="4288378670"/>
                    </a:ext>
                  </a:extLst>
                </a:gridCol>
                <a:gridCol w="675644">
                  <a:extLst>
                    <a:ext uri="{9D8B030D-6E8A-4147-A177-3AD203B41FA5}">
                      <a16:colId xmlns:a16="http://schemas.microsoft.com/office/drawing/2014/main" val="4110441562"/>
                    </a:ext>
                  </a:extLst>
                </a:gridCol>
              </a:tblGrid>
              <a:tr h="493062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模型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最优阈值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精确率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召回率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F1分数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AUC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99838457"/>
                  </a:ext>
                </a:extLst>
              </a:tr>
              <a:tr h="339041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随机森林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0.6502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0.4366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0.5962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0.5041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0.8877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5756829"/>
                  </a:ext>
                </a:extLst>
              </a:tr>
              <a:tr h="281750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XGBoost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0.3784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0.3867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0.6346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0.4806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0.8824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54470294"/>
                  </a:ext>
                </a:extLst>
              </a:tr>
              <a:tr h="276035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LightGBM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0.2556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0.3824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0.7821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0.5137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0.8804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123095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lang="zh-CN" altLang="en-US" sz="1100" dirty="0"/>
                        <a:t>逻辑回归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0.8022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0.5000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0.5000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0.5000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0.8923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8419255"/>
                  </a:ext>
                </a:extLst>
              </a:tr>
            </a:tbl>
          </a:graphicData>
        </a:graphic>
      </p:graphicFrame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B8D529F-6CC7-F941-FE38-AD79189C0E5B}"/>
              </a:ext>
            </a:extLst>
          </p:cNvPr>
          <p:cNvSpPr/>
          <p:nvPr/>
        </p:nvSpPr>
        <p:spPr>
          <a:xfrm>
            <a:off x="930245" y="691990"/>
            <a:ext cx="1518734" cy="228719"/>
          </a:xfrm>
          <a:prstGeom prst="roundRect">
            <a:avLst>
              <a:gd name="adj" fmla="val 50000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/>
            <a:r>
              <a:rPr lang="zh-CN" altLang="en-US" sz="900" dirty="0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rPr>
              <a:t>模型性能对比分析</a:t>
            </a:r>
          </a:p>
        </p:txBody>
      </p:sp>
    </p:spTree>
    <p:extLst>
      <p:ext uri="{BB962C8B-B14F-4D97-AF65-F5344CB8AC3E}">
        <p14:creationId xmlns:p14="http://schemas.microsoft.com/office/powerpoint/2010/main" val="3001468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88111-B045-6948-136A-AC52BEFAF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7DBD31A-4A86-2034-5ECD-08DF477FC161}"/>
              </a:ext>
            </a:extLst>
          </p:cNvPr>
          <p:cNvGrpSpPr/>
          <p:nvPr/>
        </p:nvGrpSpPr>
        <p:grpSpPr>
          <a:xfrm>
            <a:off x="0" y="1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A2DD77B-7975-7B28-F142-F0BA01857F57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378">
                <a:defRPr/>
              </a:pPr>
              <a:endParaRPr lang="zh-CN" altLang="en-US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1344233D-B08E-95BA-3440-BDA53FFB067D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8">
                <a:defRPr/>
              </a:pPr>
              <a:endParaRPr>
                <a:solidFill>
                  <a:prstClr val="black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5FE721D-4FCC-2B8A-DC91-8C78F3B3FF05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42">
                <a:defRPr/>
              </a:pPr>
              <a:r>
                <a:rPr lang="zh-CN" altLang="en-US" sz="2400" kern="0" dirty="0">
                  <a:solidFill>
                    <a:prstClr val="black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模型的评估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45571A2-5021-FE5F-FC0C-A5074E18A071}"/>
              </a:ext>
            </a:extLst>
          </p:cNvPr>
          <p:cNvGrpSpPr/>
          <p:nvPr/>
        </p:nvGrpSpPr>
        <p:grpSpPr>
          <a:xfrm>
            <a:off x="3154671" y="233231"/>
            <a:ext cx="5848654" cy="409006"/>
            <a:chOff x="3154670" y="233230"/>
            <a:chExt cx="5848654" cy="409006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B6A45B38-FD6E-1EC1-DA4B-96C12BF5C353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A24A4B32-5A77-112C-A1B8-67EE9555FDB9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CE785F7D-0951-C46F-1981-8C990607A9A4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54C4EBDB-9653-7A4D-7C94-0524C15A64C2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36A897C6-0045-AB4A-1E6A-6DCEC15212C8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50E9A952-C849-E032-0030-5BB64171466A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prstClr val="black"/>
                  </a:solidFill>
                  <a:latin typeface="Calibri"/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7CDED36-00D9-6200-3433-1D1D5E23F7EE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25E05B5E-BA7A-5D95-8DA2-391D75EBD5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77" y="954406"/>
            <a:ext cx="3573779" cy="26803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58BE6C-5200-DD75-7F9A-C30856701A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276" y="984123"/>
            <a:ext cx="3430525" cy="257289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2ADAD4B-AA7E-1846-0588-8324488FB396}"/>
              </a:ext>
            </a:extLst>
          </p:cNvPr>
          <p:cNvSpPr txBox="1"/>
          <p:nvPr/>
        </p:nvSpPr>
        <p:spPr>
          <a:xfrm>
            <a:off x="1425814" y="3600424"/>
            <a:ext cx="2474102" cy="132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ROC 曲线</a:t>
            </a:r>
          </a:p>
          <a:p>
            <a:pPr defTabSz="685800"/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四种模型的曲线均靠近左上角，AUC≈0.88</a:t>
            </a:r>
          </a:p>
          <a:p>
            <a:pPr defTabSz="685800"/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说明模型区分正负类的能力良好。</a:t>
            </a:r>
          </a:p>
          <a:p>
            <a:pPr defTabSz="685800"/>
            <a:endParaRPr lang="zh-CN" altLang="en-US" sz="788" dirty="0">
              <a:solidFill>
                <a:prstClr val="black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187EF8-96BF-8232-6B14-6BFD641D9789}"/>
              </a:ext>
            </a:extLst>
          </p:cNvPr>
          <p:cNvSpPr txBox="1"/>
          <p:nvPr/>
        </p:nvSpPr>
        <p:spPr>
          <a:xfrm>
            <a:off x="4932045" y="3629383"/>
            <a:ext cx="30975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微软雅黑" panose="020B0503020204020204" pitchFamily="34" charset="-122"/>
              </a:rPr>
              <a:t>PR 曲线</a:t>
            </a:r>
          </a:p>
          <a:p>
            <a:pPr defTabSz="685800"/>
            <a:endParaRPr lang="zh-CN" altLang="en-US" sz="1200" dirty="0">
              <a:solidFill>
                <a:prstClr val="black"/>
              </a:solidFill>
              <a:latin typeface="Calibri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微软雅黑" panose="020B0503020204020204" pitchFamily="34" charset="-122"/>
              </a:rPr>
              <a:t>展示精确率与召回率的权衡</a:t>
            </a:r>
          </a:p>
          <a:p>
            <a:pPr defTabSz="685800"/>
            <a:endParaRPr lang="zh-CN" altLang="en-US" sz="1200" dirty="0">
              <a:solidFill>
                <a:prstClr val="black"/>
              </a:solidFill>
              <a:latin typeface="Calibri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微软雅黑" panose="020B0503020204020204" pitchFamily="34" charset="-122"/>
              </a:rPr>
              <a:t>LightGBM 在召回率较高时仍能保持一定的精确率。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1B0E8B9C-136A-DFA0-D666-1D80DA6985D5}"/>
              </a:ext>
            </a:extLst>
          </p:cNvPr>
          <p:cNvSpPr/>
          <p:nvPr/>
        </p:nvSpPr>
        <p:spPr>
          <a:xfrm>
            <a:off x="961503" y="644964"/>
            <a:ext cx="1518734" cy="228719"/>
          </a:xfrm>
          <a:prstGeom prst="roundRect">
            <a:avLst>
              <a:gd name="adj" fmla="val 50000"/>
            </a:avLst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zh-CN" altLang="en-US" sz="750" b="1" kern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模型分类能力分析</a:t>
            </a:r>
          </a:p>
        </p:txBody>
      </p:sp>
    </p:spTree>
    <p:extLst>
      <p:ext uri="{BB962C8B-B14F-4D97-AF65-F5344CB8AC3E}">
        <p14:creationId xmlns:p14="http://schemas.microsoft.com/office/powerpoint/2010/main" val="3325231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2F64D-C98E-5DFE-DF4E-41229F47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D796D1EB-C79F-0F4E-72EC-877ED20F56FC}"/>
              </a:ext>
            </a:extLst>
          </p:cNvPr>
          <p:cNvGrpSpPr/>
          <p:nvPr/>
        </p:nvGrpSpPr>
        <p:grpSpPr>
          <a:xfrm>
            <a:off x="0" y="1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9104E7F-A053-DC11-E566-B33864ABBAAB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378">
                <a:defRPr/>
              </a:pPr>
              <a:endParaRPr lang="zh-CN" altLang="en-US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E3E40ACF-A56A-7F18-7482-FA4F6B4BEC21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8">
                <a:defRPr/>
              </a:pPr>
              <a:endParaRPr>
                <a:solidFill>
                  <a:prstClr val="black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4D01ED4-CD36-9AE4-0A2D-A504B5ABC5F4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42">
                <a:defRPr/>
              </a:pPr>
              <a:r>
                <a:rPr lang="zh-CN" altLang="en-US" sz="2400" kern="0" dirty="0">
                  <a:solidFill>
                    <a:prstClr val="black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模型的评估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ABB6CE-1014-CE20-D08E-20FEA3BEE21A}"/>
              </a:ext>
            </a:extLst>
          </p:cNvPr>
          <p:cNvGrpSpPr/>
          <p:nvPr/>
        </p:nvGrpSpPr>
        <p:grpSpPr>
          <a:xfrm>
            <a:off x="3154671" y="233231"/>
            <a:ext cx="5848654" cy="409006"/>
            <a:chOff x="3154670" y="233230"/>
            <a:chExt cx="5848654" cy="409006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EA16BC32-4A4E-2AD3-A4BA-DC21D9B10520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D0EE3B48-E7DD-2C98-CC64-0902A8BBD703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43A8EC1F-E81C-F75B-4F5B-85A740C797DA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B76043DE-8A2E-456A-0AE6-73896D2D1298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C58ECAA0-81E7-4999-B458-C77F7F4BAC70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880D1EB-3247-512E-1D32-B2F8B94EE167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prstClr val="black"/>
                  </a:solidFill>
                  <a:latin typeface="Calibri"/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7F15AE0-EDD2-C1E4-2E0E-84C7E81BF2BE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38" name="图片 37">
            <a:extLst>
              <a:ext uri="{FF2B5EF4-FFF2-40B4-BE49-F238E27FC236}">
                <a16:creationId xmlns:a16="http://schemas.microsoft.com/office/drawing/2014/main" id="{7E3BCC91-79F3-4B30-6820-070FB783F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951" y="909607"/>
            <a:ext cx="6951626" cy="2780650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A91369B9-E4F0-29C1-9EE5-E5547E4BD037}"/>
              </a:ext>
            </a:extLst>
          </p:cNvPr>
          <p:cNvSpPr txBox="1"/>
          <p:nvPr/>
        </p:nvSpPr>
        <p:spPr>
          <a:xfrm>
            <a:off x="1310951" y="3425275"/>
            <a:ext cx="7395669" cy="178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endParaRPr lang="zh-CN" altLang="en-US" sz="788" dirty="0">
              <a:solidFill>
                <a:prstClr val="black"/>
              </a:solidFill>
              <a:latin typeface="Calibri"/>
              <a:ea typeface="微软雅黑" panose="020B0503020204020204" pitchFamily="34" charset="-122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精确率 38.2%：模型预测为高被引的论文中，约 38% 确实是高被引</a:t>
            </a:r>
          </a:p>
          <a:p>
            <a:pPr defTabSz="685800"/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召回率 78.2%：真正的高被引论文中，约 78% 被模型成功识别</a:t>
            </a:r>
          </a:p>
          <a:p>
            <a:pPr defTabSz="685800"/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F1 分数 0.514：精确率与召回率的调和平均，综合性能</a:t>
            </a:r>
          </a:p>
          <a:p>
            <a:pPr defTabSz="685800"/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AUC 0.880：模型对正负样本的排序能力较强（接近 0.9）</a:t>
            </a:r>
          </a:p>
          <a:p>
            <a:pPr defTabSz="685800"/>
            <a:endParaRPr lang="zh-CN" altLang="en-US" sz="1050" dirty="0">
              <a:solidFill>
                <a:prstClr val="black"/>
              </a:solidFill>
              <a:latin typeface="Calibri"/>
              <a:ea typeface="微软雅黑" panose="020B0503020204020204" pitchFamily="34" charset="-122"/>
            </a:endParaRPr>
          </a:p>
          <a:p>
            <a:pPr defTabSz="685800"/>
            <a:endParaRPr lang="zh-CN" altLang="en-US" sz="788" dirty="0">
              <a:solidFill>
                <a:prstClr val="black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87DA6027-777D-B0B5-9B05-0B537B17BFBD}"/>
              </a:ext>
            </a:extLst>
          </p:cNvPr>
          <p:cNvSpPr/>
          <p:nvPr/>
        </p:nvSpPr>
        <p:spPr>
          <a:xfrm>
            <a:off x="868197" y="668290"/>
            <a:ext cx="1597530" cy="228719"/>
          </a:xfrm>
          <a:prstGeom prst="roundRect">
            <a:avLst>
              <a:gd name="adj" fmla="val 50000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en-US" altLang="zh-CN" sz="750" b="1" kern="0" dirty="0" err="1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LightGBM</a:t>
            </a:r>
            <a:r>
              <a:rPr lang="en-US" altLang="zh-CN" sz="750" b="1" kern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 </a:t>
            </a:r>
            <a:r>
              <a:rPr lang="zh-CN" altLang="en-US" sz="750" b="1" kern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模型混淆矩阵分析</a:t>
            </a:r>
          </a:p>
        </p:txBody>
      </p:sp>
    </p:spTree>
    <p:extLst>
      <p:ext uri="{BB962C8B-B14F-4D97-AF65-F5344CB8AC3E}">
        <p14:creationId xmlns:p14="http://schemas.microsoft.com/office/powerpoint/2010/main" val="1487043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BFC85-2883-B804-F387-13D1121D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629F11F-C3EA-B10E-839A-590DF38D8662}"/>
              </a:ext>
            </a:extLst>
          </p:cNvPr>
          <p:cNvGrpSpPr/>
          <p:nvPr/>
        </p:nvGrpSpPr>
        <p:grpSpPr>
          <a:xfrm>
            <a:off x="0" y="1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BBB3C28-5ED8-F451-2D5F-27889B75BADF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378">
                <a:defRPr/>
              </a:pPr>
              <a:endParaRPr lang="zh-CN" altLang="en-US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9CD08429-0CA0-E5D8-A5FB-97FF99E4FBE7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8">
                <a:defRPr/>
              </a:pPr>
              <a:endParaRPr>
                <a:solidFill>
                  <a:prstClr val="black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46243EC-3BFA-8BAD-CE0B-58796293D909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42">
                <a:defRPr/>
              </a:pPr>
              <a:r>
                <a:rPr lang="zh-CN" altLang="en-US" sz="2400" kern="0" dirty="0">
                  <a:solidFill>
                    <a:prstClr val="black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模型的评估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D214461-7B80-51B8-1CFC-DCED8D28A97C}"/>
              </a:ext>
            </a:extLst>
          </p:cNvPr>
          <p:cNvGrpSpPr/>
          <p:nvPr/>
        </p:nvGrpSpPr>
        <p:grpSpPr>
          <a:xfrm>
            <a:off x="3154671" y="233231"/>
            <a:ext cx="5848654" cy="409006"/>
            <a:chOff x="3154670" y="233230"/>
            <a:chExt cx="5848654" cy="409006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96DF3264-87CE-9282-44EB-1C49F053D70C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E761FE00-0FA9-A40B-CB91-F696426B3CBF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C22ED6AE-C138-7356-6C62-2899F052FDC8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417142FF-3D9A-D1B8-551D-E95F88CE420C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EACA98E0-90F5-AC76-0620-EB61253B3443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2E5A9B33-3495-EB61-C2C2-C88A9AF40EE6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prstClr val="black"/>
                  </a:solidFill>
                  <a:latin typeface="Calibri"/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EC5CC351-EF77-FFE7-ADB4-405226974644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模型部署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BBCDA5C0-5FF5-881E-DA6D-2CBE32C280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599" y="1102995"/>
            <a:ext cx="5000342" cy="300020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F719FF2-0D24-AF64-F0C3-4ECD8A0CA1EC}"/>
              </a:ext>
            </a:extLst>
          </p:cNvPr>
          <p:cNvSpPr txBox="1"/>
          <p:nvPr/>
        </p:nvSpPr>
        <p:spPr>
          <a:xfrm>
            <a:off x="636313" y="1697435"/>
            <a:ext cx="28784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实验结果表明：</a:t>
            </a:r>
            <a:b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</a:br>
            <a:b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</a:b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发表年份、论文年龄、</a:t>
            </a:r>
            <a:b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</a:b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参考文献数量等特征对高影响力论文预测具有重要作用。</a:t>
            </a:r>
            <a:b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</a:br>
            <a:b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</a:b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说明说明具有较长传播时间、</a:t>
            </a:r>
            <a:b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</a:b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更充分文献积累的论文，</a:t>
            </a:r>
            <a:b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</a:b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更容易形成较高学术影响力。</a:t>
            </a:r>
            <a:b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</a:br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AD469D0-E6AA-F521-75B2-B67DA64F8901}"/>
              </a:ext>
            </a:extLst>
          </p:cNvPr>
          <p:cNvSpPr/>
          <p:nvPr/>
        </p:nvSpPr>
        <p:spPr>
          <a:xfrm>
            <a:off x="868197" y="668290"/>
            <a:ext cx="1518734" cy="228719"/>
          </a:xfrm>
          <a:prstGeom prst="roundRect">
            <a:avLst>
              <a:gd name="adj" fmla="val 50000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zh-CN" altLang="en-US" sz="750" b="1" kern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影响高影响力论文的关键因素</a:t>
            </a:r>
          </a:p>
        </p:txBody>
      </p:sp>
    </p:spTree>
    <p:extLst>
      <p:ext uri="{BB962C8B-B14F-4D97-AF65-F5344CB8AC3E}">
        <p14:creationId xmlns:p14="http://schemas.microsoft.com/office/powerpoint/2010/main" val="1401294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8DF1A7-A087-0423-BE5B-B252373C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777E32C4-8C57-1D8F-94EE-5E611AC78239}"/>
              </a:ext>
            </a:extLst>
          </p:cNvPr>
          <p:cNvGrpSpPr/>
          <p:nvPr/>
        </p:nvGrpSpPr>
        <p:grpSpPr>
          <a:xfrm>
            <a:off x="-5818" y="0"/>
            <a:ext cx="9149818" cy="5150873"/>
            <a:chOff x="-5818" y="0"/>
            <a:chExt cx="9149818" cy="5150873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A04E47A-DD29-7DAC-F837-BF9A259D1D34}"/>
                </a:ext>
              </a:extLst>
            </p:cNvPr>
            <p:cNvGrpSpPr/>
            <p:nvPr/>
          </p:nvGrpSpPr>
          <p:grpSpPr>
            <a:xfrm flipH="1">
              <a:off x="-5818" y="0"/>
              <a:ext cx="9149818" cy="5150873"/>
              <a:chOff x="-5818" y="0"/>
              <a:chExt cx="9149818" cy="5150873"/>
            </a:xfrm>
          </p:grpSpPr>
          <p:sp>
            <p:nvSpPr>
              <p:cNvPr id="12" name="Google Shape;58;p3">
                <a:extLst>
                  <a:ext uri="{FF2B5EF4-FFF2-40B4-BE49-F238E27FC236}">
                    <a16:creationId xmlns:a16="http://schemas.microsoft.com/office/drawing/2014/main" id="{164CFD99-BFAA-692D-B5D6-C6C5369A268D}"/>
                  </a:ext>
                </a:extLst>
              </p:cNvPr>
              <p:cNvSpPr/>
              <p:nvPr/>
            </p:nvSpPr>
            <p:spPr>
              <a:xfrm rot="10800000">
                <a:off x="5518762" y="2132527"/>
                <a:ext cx="3625238" cy="3018346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6" name="Google Shape;58;p3">
                <a:extLst>
                  <a:ext uri="{FF2B5EF4-FFF2-40B4-BE49-F238E27FC236}">
                    <a16:creationId xmlns:a16="http://schemas.microsoft.com/office/drawing/2014/main" id="{A41ECB5B-51A4-91F4-C8A8-321A62D461F6}"/>
                  </a:ext>
                </a:extLst>
              </p:cNvPr>
              <p:cNvSpPr/>
              <p:nvPr/>
            </p:nvSpPr>
            <p:spPr>
              <a:xfrm rot="10800000" flipH="1" flipV="1">
                <a:off x="-5818" y="0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79535D4A-BE2E-5605-64D2-02599EF8CB4A}"/>
                  </a:ext>
                </a:extLst>
              </p:cNvPr>
              <p:cNvSpPr/>
              <p:nvPr/>
            </p:nvSpPr>
            <p:spPr>
              <a:xfrm rot="19800000">
                <a:off x="7300743" y="284091"/>
                <a:ext cx="1370002" cy="137000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0" name="任意多边形: 形状 19">
                <a:extLst>
                  <a:ext uri="{FF2B5EF4-FFF2-40B4-BE49-F238E27FC236}">
                    <a16:creationId xmlns:a16="http://schemas.microsoft.com/office/drawing/2014/main" id="{EFA00BF6-CDD3-C19C-C133-B2F3113A0DB6}"/>
                  </a:ext>
                </a:extLst>
              </p:cNvPr>
              <p:cNvSpPr/>
              <p:nvPr/>
            </p:nvSpPr>
            <p:spPr>
              <a:xfrm rot="19800000">
                <a:off x="5203840" y="3777489"/>
                <a:ext cx="587982" cy="587982"/>
              </a:xfrm>
              <a:custGeom>
                <a:avLst/>
                <a:gdLst>
                  <a:gd name="connsiteX0" fmla="*/ 265144 w 1370002"/>
                  <a:gd name="connsiteY0" fmla="*/ 1222597 h 1370002"/>
                  <a:gd name="connsiteX1" fmla="*/ 1104858 w 1370002"/>
                  <a:gd name="connsiteY1" fmla="*/ 1222597 h 1370002"/>
                  <a:gd name="connsiteX2" fmla="*/ 1067992 w 1370002"/>
                  <a:gd name="connsiteY2" fmla="*/ 1253015 h 1370002"/>
                  <a:gd name="connsiteX3" fmla="*/ 685001 w 1370002"/>
                  <a:gd name="connsiteY3" fmla="*/ 1370002 h 1370002"/>
                  <a:gd name="connsiteX4" fmla="*/ 302011 w 1370002"/>
                  <a:gd name="connsiteY4" fmla="*/ 1253015 h 1370002"/>
                  <a:gd name="connsiteX5" fmla="*/ 118807 w 1370002"/>
                  <a:gd name="connsiteY5" fmla="*/ 1070197 h 1370002"/>
                  <a:gd name="connsiteX6" fmla="*/ 1251195 w 1370002"/>
                  <a:gd name="connsiteY6" fmla="*/ 1070197 h 1370002"/>
                  <a:gd name="connsiteX7" fmla="*/ 1169370 w 1370002"/>
                  <a:gd name="connsiteY7" fmla="*/ 1169370 h 1370002"/>
                  <a:gd name="connsiteX8" fmla="*/ 1160270 w 1370002"/>
                  <a:gd name="connsiteY8" fmla="*/ 1176878 h 1370002"/>
                  <a:gd name="connsiteX9" fmla="*/ 209732 w 1370002"/>
                  <a:gd name="connsiteY9" fmla="*/ 1176878 h 1370002"/>
                  <a:gd name="connsiteX10" fmla="*/ 200632 w 1370002"/>
                  <a:gd name="connsiteY10" fmla="*/ 1169370 h 1370002"/>
                  <a:gd name="connsiteX11" fmla="*/ 43327 w 1370002"/>
                  <a:gd name="connsiteY11" fmla="*/ 917797 h 1370002"/>
                  <a:gd name="connsiteX12" fmla="*/ 1326675 w 1370002"/>
                  <a:gd name="connsiteY12" fmla="*/ 917797 h 1370002"/>
                  <a:gd name="connsiteX13" fmla="*/ 1316171 w 1370002"/>
                  <a:gd name="connsiteY13" fmla="*/ 951635 h 1370002"/>
                  <a:gd name="connsiteX14" fmla="*/ 1276633 w 1370002"/>
                  <a:gd name="connsiteY14" fmla="*/ 1024478 h 1370002"/>
                  <a:gd name="connsiteX15" fmla="*/ 93369 w 1370002"/>
                  <a:gd name="connsiteY15" fmla="*/ 1024478 h 1370002"/>
                  <a:gd name="connsiteX16" fmla="*/ 53831 w 1370002"/>
                  <a:gd name="connsiteY16" fmla="*/ 951635 h 1370002"/>
                  <a:gd name="connsiteX17" fmla="*/ 8105 w 1370002"/>
                  <a:gd name="connsiteY17" fmla="*/ 765397 h 1370002"/>
                  <a:gd name="connsiteX18" fmla="*/ 1361897 w 1370002"/>
                  <a:gd name="connsiteY18" fmla="*/ 765397 h 1370002"/>
                  <a:gd name="connsiteX19" fmla="*/ 1356085 w 1370002"/>
                  <a:gd name="connsiteY19" fmla="*/ 823053 h 1370002"/>
                  <a:gd name="connsiteX20" fmla="*/ 1340867 w 1370002"/>
                  <a:gd name="connsiteY20" fmla="*/ 872078 h 1370002"/>
                  <a:gd name="connsiteX21" fmla="*/ 29135 w 1370002"/>
                  <a:gd name="connsiteY21" fmla="*/ 872078 h 1370002"/>
                  <a:gd name="connsiteX22" fmla="*/ 13917 w 1370002"/>
                  <a:gd name="connsiteY22" fmla="*/ 823053 h 1370002"/>
                  <a:gd name="connsiteX23" fmla="*/ 7259 w 1370002"/>
                  <a:gd name="connsiteY23" fmla="*/ 612997 h 1370002"/>
                  <a:gd name="connsiteX24" fmla="*/ 1362743 w 1370002"/>
                  <a:gd name="connsiteY24" fmla="*/ 612997 h 1370002"/>
                  <a:gd name="connsiteX25" fmla="*/ 1370002 w 1370002"/>
                  <a:gd name="connsiteY25" fmla="*/ 685001 h 1370002"/>
                  <a:gd name="connsiteX26" fmla="*/ 1366506 w 1370002"/>
                  <a:gd name="connsiteY26" fmla="*/ 719678 h 1370002"/>
                  <a:gd name="connsiteX27" fmla="*/ 3496 w 1370002"/>
                  <a:gd name="connsiteY27" fmla="*/ 719678 h 1370002"/>
                  <a:gd name="connsiteX28" fmla="*/ 0 w 1370002"/>
                  <a:gd name="connsiteY28" fmla="*/ 685001 h 1370002"/>
                  <a:gd name="connsiteX29" fmla="*/ 40722 w 1370002"/>
                  <a:gd name="connsiteY29" fmla="*/ 460597 h 1370002"/>
                  <a:gd name="connsiteX30" fmla="*/ 1329280 w 1370002"/>
                  <a:gd name="connsiteY30" fmla="*/ 460597 h 1370002"/>
                  <a:gd name="connsiteX31" fmla="*/ 1356085 w 1370002"/>
                  <a:gd name="connsiteY31" fmla="*/ 546949 h 1370002"/>
                  <a:gd name="connsiteX32" fmla="*/ 1358135 w 1370002"/>
                  <a:gd name="connsiteY32" fmla="*/ 567278 h 1370002"/>
                  <a:gd name="connsiteX33" fmla="*/ 11868 w 1370002"/>
                  <a:gd name="connsiteY33" fmla="*/ 567278 h 1370002"/>
                  <a:gd name="connsiteX34" fmla="*/ 13917 w 1370002"/>
                  <a:gd name="connsiteY34" fmla="*/ 546949 h 1370002"/>
                  <a:gd name="connsiteX35" fmla="*/ 113630 w 1370002"/>
                  <a:gd name="connsiteY35" fmla="*/ 308197 h 1370002"/>
                  <a:gd name="connsiteX36" fmla="*/ 1256373 w 1370002"/>
                  <a:gd name="connsiteY36" fmla="*/ 308197 h 1370002"/>
                  <a:gd name="connsiteX37" fmla="*/ 1314277 w 1370002"/>
                  <a:gd name="connsiteY37" fmla="*/ 414878 h 1370002"/>
                  <a:gd name="connsiteX38" fmla="*/ 55725 w 1370002"/>
                  <a:gd name="connsiteY38" fmla="*/ 414878 h 1370002"/>
                  <a:gd name="connsiteX39" fmla="*/ 254973 w 1370002"/>
                  <a:gd name="connsiteY39" fmla="*/ 155797 h 1370002"/>
                  <a:gd name="connsiteX40" fmla="*/ 1115030 w 1370002"/>
                  <a:gd name="connsiteY40" fmla="*/ 155797 h 1370002"/>
                  <a:gd name="connsiteX41" fmla="*/ 1169370 w 1370002"/>
                  <a:gd name="connsiteY41" fmla="*/ 200632 h 1370002"/>
                  <a:gd name="connsiteX42" fmla="*/ 1220398 w 1370002"/>
                  <a:gd name="connsiteY42" fmla="*/ 262478 h 1370002"/>
                  <a:gd name="connsiteX43" fmla="*/ 149605 w 1370002"/>
                  <a:gd name="connsiteY43" fmla="*/ 262478 h 1370002"/>
                  <a:gd name="connsiteX44" fmla="*/ 200632 w 1370002"/>
                  <a:gd name="connsiteY44" fmla="*/ 200632 h 1370002"/>
                  <a:gd name="connsiteX45" fmla="*/ 685001 w 1370002"/>
                  <a:gd name="connsiteY45" fmla="*/ 0 h 1370002"/>
                  <a:gd name="connsiteX46" fmla="*/ 951635 w 1370002"/>
                  <a:gd name="connsiteY46" fmla="*/ 53831 h 1370002"/>
                  <a:gd name="connsiteX47" fmla="*/ 1055263 w 1370002"/>
                  <a:gd name="connsiteY47" fmla="*/ 110078 h 1370002"/>
                  <a:gd name="connsiteX48" fmla="*/ 314740 w 1370002"/>
                  <a:gd name="connsiteY48" fmla="*/ 110078 h 1370002"/>
                  <a:gd name="connsiteX49" fmla="*/ 418368 w 1370002"/>
                  <a:gd name="connsiteY49" fmla="*/ 53831 h 1370002"/>
                  <a:gd name="connsiteX50" fmla="*/ 685001 w 1370002"/>
                  <a:gd name="connsiteY50" fmla="*/ 0 h 1370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70002" h="1370002">
                    <a:moveTo>
                      <a:pt x="265144" y="1222597"/>
                    </a:moveTo>
                    <a:lnTo>
                      <a:pt x="1104858" y="1222597"/>
                    </a:lnTo>
                    <a:lnTo>
                      <a:pt x="1067992" y="1253015"/>
                    </a:lnTo>
                    <a:cubicBezTo>
                      <a:pt x="958665" y="1326874"/>
                      <a:pt x="826870" y="1370002"/>
                      <a:pt x="685001" y="1370002"/>
                    </a:cubicBezTo>
                    <a:cubicBezTo>
                      <a:pt x="543133" y="1370002"/>
                      <a:pt x="411337" y="1326874"/>
                      <a:pt x="302011" y="1253015"/>
                    </a:cubicBezTo>
                    <a:close/>
                    <a:moveTo>
                      <a:pt x="118807" y="1070197"/>
                    </a:moveTo>
                    <a:lnTo>
                      <a:pt x="1251195" y="1070197"/>
                    </a:lnTo>
                    <a:lnTo>
                      <a:pt x="1169370" y="1169370"/>
                    </a:lnTo>
                    <a:lnTo>
                      <a:pt x="1160270" y="1176878"/>
                    </a:lnTo>
                    <a:lnTo>
                      <a:pt x="209732" y="1176878"/>
                    </a:lnTo>
                    <a:lnTo>
                      <a:pt x="200632" y="1169370"/>
                    </a:lnTo>
                    <a:close/>
                    <a:moveTo>
                      <a:pt x="43327" y="917797"/>
                    </a:moveTo>
                    <a:lnTo>
                      <a:pt x="1326675" y="917797"/>
                    </a:lnTo>
                    <a:lnTo>
                      <a:pt x="1316171" y="951635"/>
                    </a:lnTo>
                    <a:lnTo>
                      <a:pt x="1276633" y="1024478"/>
                    </a:lnTo>
                    <a:lnTo>
                      <a:pt x="93369" y="1024478"/>
                    </a:lnTo>
                    <a:lnTo>
                      <a:pt x="53831" y="951635"/>
                    </a:lnTo>
                    <a:close/>
                    <a:moveTo>
                      <a:pt x="8105" y="765397"/>
                    </a:moveTo>
                    <a:lnTo>
                      <a:pt x="1361897" y="765397"/>
                    </a:lnTo>
                    <a:lnTo>
                      <a:pt x="1356085" y="823053"/>
                    </a:lnTo>
                    <a:lnTo>
                      <a:pt x="1340867" y="872078"/>
                    </a:lnTo>
                    <a:lnTo>
                      <a:pt x="29135" y="872078"/>
                    </a:lnTo>
                    <a:lnTo>
                      <a:pt x="13917" y="823053"/>
                    </a:lnTo>
                    <a:close/>
                    <a:moveTo>
                      <a:pt x="7259" y="612997"/>
                    </a:moveTo>
                    <a:lnTo>
                      <a:pt x="1362743" y="612997"/>
                    </a:lnTo>
                    <a:lnTo>
                      <a:pt x="1370002" y="685001"/>
                    </a:lnTo>
                    <a:lnTo>
                      <a:pt x="1366506" y="719678"/>
                    </a:lnTo>
                    <a:lnTo>
                      <a:pt x="3496" y="719678"/>
                    </a:lnTo>
                    <a:lnTo>
                      <a:pt x="0" y="685001"/>
                    </a:lnTo>
                    <a:close/>
                    <a:moveTo>
                      <a:pt x="40722" y="460597"/>
                    </a:moveTo>
                    <a:lnTo>
                      <a:pt x="1329280" y="460597"/>
                    </a:lnTo>
                    <a:lnTo>
                      <a:pt x="1356085" y="546949"/>
                    </a:lnTo>
                    <a:lnTo>
                      <a:pt x="1358135" y="567278"/>
                    </a:lnTo>
                    <a:lnTo>
                      <a:pt x="11868" y="567278"/>
                    </a:lnTo>
                    <a:lnTo>
                      <a:pt x="13917" y="546949"/>
                    </a:lnTo>
                    <a:close/>
                    <a:moveTo>
                      <a:pt x="113630" y="308197"/>
                    </a:moveTo>
                    <a:lnTo>
                      <a:pt x="1256373" y="308197"/>
                    </a:lnTo>
                    <a:lnTo>
                      <a:pt x="1314277" y="414878"/>
                    </a:lnTo>
                    <a:lnTo>
                      <a:pt x="55725" y="414878"/>
                    </a:lnTo>
                    <a:close/>
                    <a:moveTo>
                      <a:pt x="254973" y="155797"/>
                    </a:moveTo>
                    <a:lnTo>
                      <a:pt x="1115030" y="155797"/>
                    </a:lnTo>
                    <a:lnTo>
                      <a:pt x="1169370" y="200632"/>
                    </a:lnTo>
                    <a:lnTo>
                      <a:pt x="1220398" y="262478"/>
                    </a:lnTo>
                    <a:lnTo>
                      <a:pt x="149605" y="262478"/>
                    </a:lnTo>
                    <a:lnTo>
                      <a:pt x="200632" y="200632"/>
                    </a:lnTo>
                    <a:close/>
                    <a:moveTo>
                      <a:pt x="685001" y="0"/>
                    </a:moveTo>
                    <a:cubicBezTo>
                      <a:pt x="779580" y="0"/>
                      <a:pt x="869682" y="19168"/>
                      <a:pt x="951635" y="53831"/>
                    </a:cubicBezTo>
                    <a:lnTo>
                      <a:pt x="1055263" y="110078"/>
                    </a:lnTo>
                    <a:lnTo>
                      <a:pt x="314740" y="110078"/>
                    </a:lnTo>
                    <a:lnTo>
                      <a:pt x="418368" y="53831"/>
                    </a:lnTo>
                    <a:cubicBezTo>
                      <a:pt x="500320" y="19168"/>
                      <a:pt x="590422" y="0"/>
                      <a:pt x="685001" y="0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1" name="Google Shape;58;p3">
                <a:extLst>
                  <a:ext uri="{FF2B5EF4-FFF2-40B4-BE49-F238E27FC236}">
                    <a16:creationId xmlns:a16="http://schemas.microsoft.com/office/drawing/2014/main" id="{41ABD67C-3016-5CE5-B921-5287EC059DFF}"/>
                  </a:ext>
                </a:extLst>
              </p:cNvPr>
              <p:cNvSpPr/>
              <p:nvPr/>
            </p:nvSpPr>
            <p:spPr>
              <a:xfrm rot="10800000" flipH="1">
                <a:off x="0" y="4071481"/>
                <a:ext cx="1246222" cy="1072019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60603" extrusionOk="0">
                    <a:moveTo>
                      <a:pt x="227" y="0"/>
                    </a:moveTo>
                    <a:lnTo>
                      <a:pt x="1" y="60222"/>
                    </a:lnTo>
                    <a:cubicBezTo>
                      <a:pt x="592" y="60484"/>
                      <a:pt x="1209" y="60603"/>
                      <a:pt x="1830" y="60603"/>
                    </a:cubicBezTo>
                    <a:cubicBezTo>
                      <a:pt x="3974" y="60603"/>
                      <a:pt x="6155" y="59182"/>
                      <a:pt x="7383" y="57317"/>
                    </a:cubicBezTo>
                    <a:cubicBezTo>
                      <a:pt x="8966" y="54912"/>
                      <a:pt x="9407" y="51959"/>
                      <a:pt x="10026" y="49149"/>
                    </a:cubicBezTo>
                    <a:cubicBezTo>
                      <a:pt x="10645" y="46339"/>
                      <a:pt x="11597" y="43398"/>
                      <a:pt x="13836" y="41588"/>
                    </a:cubicBezTo>
                    <a:cubicBezTo>
                      <a:pt x="18253" y="38040"/>
                      <a:pt x="25694" y="40350"/>
                      <a:pt x="29671" y="36314"/>
                    </a:cubicBezTo>
                    <a:cubicBezTo>
                      <a:pt x="32148" y="33802"/>
                      <a:pt x="32219" y="29837"/>
                      <a:pt x="33684" y="26634"/>
                    </a:cubicBezTo>
                    <a:cubicBezTo>
                      <a:pt x="35898" y="21753"/>
                      <a:pt x="41173" y="19026"/>
                      <a:pt x="46316" y="17526"/>
                    </a:cubicBezTo>
                    <a:cubicBezTo>
                      <a:pt x="51460" y="16026"/>
                      <a:pt x="56913" y="15347"/>
                      <a:pt x="61663" y="12883"/>
                    </a:cubicBezTo>
                    <a:cubicBezTo>
                      <a:pt x="66414" y="10406"/>
                      <a:pt x="70450" y="5394"/>
                      <a:pt x="69593" y="107"/>
                    </a:cubicBezTo>
                    <a:lnTo>
                      <a:pt x="227" y="0"/>
                    </a:ln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22" name="任意多边形 7">
                <a:extLst>
                  <a:ext uri="{FF2B5EF4-FFF2-40B4-BE49-F238E27FC236}">
                    <a16:creationId xmlns:a16="http://schemas.microsoft.com/office/drawing/2014/main" id="{E0B7875A-81DB-50DE-A4F0-E6F7FB10FDEA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5087031" y="783440"/>
                <a:ext cx="702010" cy="371304"/>
              </a:xfrm>
              <a:custGeom>
                <a:avLst/>
                <a:gdLst>
                  <a:gd name="idx" fmla="cos wd2 2700000"/>
                  <a:gd name="idy" fmla="sin hd2 2700000"/>
                  <a:gd name="il" fmla="+- hc 0 idx"/>
                  <a:gd name="ir" fmla="+- hc idx 0"/>
                  <a:gd name="it" fmla="+- vc 0 idy"/>
                  <a:gd name="ib" fmla="+- vc idy 0"/>
                </a:gdLst>
                <a:ahLst/>
                <a:cxnLst>
                  <a:cxn ang="3">
                    <a:pos x="hc" y="t"/>
                  </a:cxn>
                  <a:cxn ang="3">
                    <a:pos x="il" y="it"/>
                  </a:cxn>
                  <a:cxn ang="cd2">
                    <a:pos x="l" y="vc"/>
                  </a:cxn>
                  <a:cxn ang="cd4">
                    <a:pos x="il" y="ib"/>
                  </a:cxn>
                  <a:cxn ang="cd4">
                    <a:pos x="hc" y="b"/>
                  </a:cxn>
                  <a:cxn ang="cd4">
                    <a:pos x="ir" y="ib"/>
                  </a:cxn>
                  <a:cxn ang="0">
                    <a:pos x="r" y="vc"/>
                  </a:cxn>
                  <a:cxn ang="3">
                    <a:pos x="ir" y="it"/>
                  </a:cxn>
                </a:cxnLst>
                <a:rect l="l" t="t" r="r" b="b"/>
                <a:pathLst>
                  <a:path w="1647" h="922">
                    <a:moveTo>
                      <a:pt x="0" y="61"/>
                    </a:moveTo>
                    <a:cubicBezTo>
                      <a:pt x="0" y="27"/>
                      <a:pt x="26" y="0"/>
                      <a:pt x="58" y="0"/>
                    </a:cubicBezTo>
                    <a:cubicBezTo>
                      <a:pt x="89" y="0"/>
                      <a:pt x="115" y="27"/>
                      <a:pt x="115" y="61"/>
                    </a:cubicBezTo>
                    <a:cubicBezTo>
                      <a:pt x="115" y="94"/>
                      <a:pt x="89" y="121"/>
                      <a:pt x="58" y="121"/>
                    </a:cubicBezTo>
                    <a:cubicBezTo>
                      <a:pt x="26" y="121"/>
                      <a:pt x="0" y="94"/>
                      <a:pt x="0" y="61"/>
                    </a:cubicBezTo>
                    <a:close/>
                    <a:moveTo>
                      <a:pt x="383" y="61"/>
                    </a:moveTo>
                    <a:cubicBezTo>
                      <a:pt x="383" y="27"/>
                      <a:pt x="409" y="0"/>
                      <a:pt x="441" y="0"/>
                    </a:cubicBezTo>
                    <a:cubicBezTo>
                      <a:pt x="472" y="0"/>
                      <a:pt x="498" y="27"/>
                      <a:pt x="498" y="61"/>
                    </a:cubicBezTo>
                    <a:cubicBezTo>
                      <a:pt x="498" y="94"/>
                      <a:pt x="472" y="121"/>
                      <a:pt x="441" y="121"/>
                    </a:cubicBezTo>
                    <a:cubicBezTo>
                      <a:pt x="409" y="121"/>
                      <a:pt x="383" y="94"/>
                      <a:pt x="383" y="61"/>
                    </a:cubicBezTo>
                    <a:close/>
                    <a:moveTo>
                      <a:pt x="766" y="61"/>
                    </a:moveTo>
                    <a:cubicBezTo>
                      <a:pt x="766" y="27"/>
                      <a:pt x="792" y="0"/>
                      <a:pt x="824" y="0"/>
                    </a:cubicBezTo>
                    <a:cubicBezTo>
                      <a:pt x="855" y="0"/>
                      <a:pt x="881" y="27"/>
                      <a:pt x="881" y="61"/>
                    </a:cubicBezTo>
                    <a:cubicBezTo>
                      <a:pt x="881" y="94"/>
                      <a:pt x="855" y="121"/>
                      <a:pt x="824" y="121"/>
                    </a:cubicBezTo>
                    <a:cubicBezTo>
                      <a:pt x="792" y="121"/>
                      <a:pt x="766" y="94"/>
                      <a:pt x="766" y="61"/>
                    </a:cubicBezTo>
                    <a:close/>
                    <a:moveTo>
                      <a:pt x="1149" y="61"/>
                    </a:moveTo>
                    <a:cubicBezTo>
                      <a:pt x="1149" y="27"/>
                      <a:pt x="1175" y="0"/>
                      <a:pt x="1207" y="0"/>
                    </a:cubicBezTo>
                    <a:cubicBezTo>
                      <a:pt x="1238" y="0"/>
                      <a:pt x="1264" y="27"/>
                      <a:pt x="1264" y="61"/>
                    </a:cubicBezTo>
                    <a:cubicBezTo>
                      <a:pt x="1264" y="94"/>
                      <a:pt x="1238" y="121"/>
                      <a:pt x="1207" y="121"/>
                    </a:cubicBezTo>
                    <a:cubicBezTo>
                      <a:pt x="1175" y="121"/>
                      <a:pt x="1149" y="94"/>
                      <a:pt x="1149" y="61"/>
                    </a:cubicBezTo>
                    <a:close/>
                    <a:moveTo>
                      <a:pt x="1532" y="61"/>
                    </a:moveTo>
                    <a:cubicBezTo>
                      <a:pt x="1532" y="27"/>
                      <a:pt x="1558" y="0"/>
                      <a:pt x="1590" y="0"/>
                    </a:cubicBezTo>
                    <a:cubicBezTo>
                      <a:pt x="1621" y="0"/>
                      <a:pt x="1647" y="27"/>
                      <a:pt x="1647" y="61"/>
                    </a:cubicBezTo>
                    <a:cubicBezTo>
                      <a:pt x="1647" y="94"/>
                      <a:pt x="1621" y="121"/>
                      <a:pt x="1590" y="121"/>
                    </a:cubicBezTo>
                    <a:cubicBezTo>
                      <a:pt x="1558" y="121"/>
                      <a:pt x="1532" y="94"/>
                      <a:pt x="1532" y="61"/>
                    </a:cubicBezTo>
                    <a:close/>
                    <a:moveTo>
                      <a:pt x="0" y="328"/>
                    </a:moveTo>
                    <a:cubicBezTo>
                      <a:pt x="0" y="294"/>
                      <a:pt x="26" y="267"/>
                      <a:pt x="58" y="267"/>
                    </a:cubicBezTo>
                    <a:cubicBezTo>
                      <a:pt x="89" y="267"/>
                      <a:pt x="115" y="294"/>
                      <a:pt x="115" y="328"/>
                    </a:cubicBezTo>
                    <a:cubicBezTo>
                      <a:pt x="115" y="361"/>
                      <a:pt x="89" y="388"/>
                      <a:pt x="58" y="388"/>
                    </a:cubicBezTo>
                    <a:cubicBezTo>
                      <a:pt x="26" y="388"/>
                      <a:pt x="0" y="361"/>
                      <a:pt x="0" y="328"/>
                    </a:cubicBezTo>
                    <a:close/>
                    <a:moveTo>
                      <a:pt x="383" y="328"/>
                    </a:moveTo>
                    <a:cubicBezTo>
                      <a:pt x="383" y="294"/>
                      <a:pt x="409" y="267"/>
                      <a:pt x="441" y="267"/>
                    </a:cubicBezTo>
                    <a:cubicBezTo>
                      <a:pt x="472" y="267"/>
                      <a:pt x="498" y="294"/>
                      <a:pt x="498" y="328"/>
                    </a:cubicBezTo>
                    <a:cubicBezTo>
                      <a:pt x="498" y="361"/>
                      <a:pt x="472" y="388"/>
                      <a:pt x="441" y="388"/>
                    </a:cubicBezTo>
                    <a:cubicBezTo>
                      <a:pt x="409" y="388"/>
                      <a:pt x="383" y="361"/>
                      <a:pt x="383" y="328"/>
                    </a:cubicBezTo>
                    <a:close/>
                    <a:moveTo>
                      <a:pt x="766" y="328"/>
                    </a:moveTo>
                    <a:cubicBezTo>
                      <a:pt x="766" y="294"/>
                      <a:pt x="792" y="267"/>
                      <a:pt x="824" y="267"/>
                    </a:cubicBezTo>
                    <a:cubicBezTo>
                      <a:pt x="855" y="267"/>
                      <a:pt x="881" y="294"/>
                      <a:pt x="881" y="328"/>
                    </a:cubicBezTo>
                    <a:cubicBezTo>
                      <a:pt x="881" y="361"/>
                      <a:pt x="855" y="388"/>
                      <a:pt x="824" y="388"/>
                    </a:cubicBezTo>
                    <a:cubicBezTo>
                      <a:pt x="792" y="388"/>
                      <a:pt x="766" y="361"/>
                      <a:pt x="766" y="328"/>
                    </a:cubicBezTo>
                    <a:close/>
                    <a:moveTo>
                      <a:pt x="1149" y="328"/>
                    </a:moveTo>
                    <a:cubicBezTo>
                      <a:pt x="1149" y="294"/>
                      <a:pt x="1175" y="267"/>
                      <a:pt x="1207" y="267"/>
                    </a:cubicBezTo>
                    <a:cubicBezTo>
                      <a:pt x="1238" y="267"/>
                      <a:pt x="1264" y="294"/>
                      <a:pt x="1264" y="328"/>
                    </a:cubicBezTo>
                    <a:cubicBezTo>
                      <a:pt x="1264" y="361"/>
                      <a:pt x="1238" y="388"/>
                      <a:pt x="1207" y="388"/>
                    </a:cubicBezTo>
                    <a:cubicBezTo>
                      <a:pt x="1175" y="388"/>
                      <a:pt x="1149" y="361"/>
                      <a:pt x="1149" y="328"/>
                    </a:cubicBezTo>
                    <a:close/>
                    <a:moveTo>
                      <a:pt x="1532" y="328"/>
                    </a:moveTo>
                    <a:cubicBezTo>
                      <a:pt x="1532" y="294"/>
                      <a:pt x="1558" y="267"/>
                      <a:pt x="1590" y="267"/>
                    </a:cubicBezTo>
                    <a:cubicBezTo>
                      <a:pt x="1621" y="267"/>
                      <a:pt x="1647" y="294"/>
                      <a:pt x="1647" y="328"/>
                    </a:cubicBezTo>
                    <a:cubicBezTo>
                      <a:pt x="1647" y="361"/>
                      <a:pt x="1621" y="388"/>
                      <a:pt x="1590" y="388"/>
                    </a:cubicBezTo>
                    <a:cubicBezTo>
                      <a:pt x="1558" y="388"/>
                      <a:pt x="1532" y="361"/>
                      <a:pt x="1532" y="328"/>
                    </a:cubicBezTo>
                    <a:close/>
                    <a:moveTo>
                      <a:pt x="0" y="595"/>
                    </a:moveTo>
                    <a:cubicBezTo>
                      <a:pt x="0" y="561"/>
                      <a:pt x="26" y="534"/>
                      <a:pt x="58" y="534"/>
                    </a:cubicBezTo>
                    <a:cubicBezTo>
                      <a:pt x="89" y="534"/>
                      <a:pt x="115" y="561"/>
                      <a:pt x="115" y="595"/>
                    </a:cubicBezTo>
                    <a:cubicBezTo>
                      <a:pt x="115" y="628"/>
                      <a:pt x="89" y="655"/>
                      <a:pt x="58" y="655"/>
                    </a:cubicBezTo>
                    <a:cubicBezTo>
                      <a:pt x="26" y="655"/>
                      <a:pt x="0" y="628"/>
                      <a:pt x="0" y="595"/>
                    </a:cubicBezTo>
                    <a:close/>
                    <a:moveTo>
                      <a:pt x="383" y="595"/>
                    </a:moveTo>
                    <a:cubicBezTo>
                      <a:pt x="383" y="561"/>
                      <a:pt x="409" y="534"/>
                      <a:pt x="441" y="534"/>
                    </a:cubicBezTo>
                    <a:cubicBezTo>
                      <a:pt x="472" y="534"/>
                      <a:pt x="498" y="561"/>
                      <a:pt x="498" y="595"/>
                    </a:cubicBezTo>
                    <a:cubicBezTo>
                      <a:pt x="498" y="628"/>
                      <a:pt x="472" y="655"/>
                      <a:pt x="441" y="655"/>
                    </a:cubicBezTo>
                    <a:cubicBezTo>
                      <a:pt x="409" y="655"/>
                      <a:pt x="383" y="628"/>
                      <a:pt x="383" y="595"/>
                    </a:cubicBezTo>
                    <a:close/>
                    <a:moveTo>
                      <a:pt x="766" y="595"/>
                    </a:moveTo>
                    <a:cubicBezTo>
                      <a:pt x="766" y="561"/>
                      <a:pt x="792" y="534"/>
                      <a:pt x="824" y="534"/>
                    </a:cubicBezTo>
                    <a:cubicBezTo>
                      <a:pt x="855" y="534"/>
                      <a:pt x="881" y="561"/>
                      <a:pt x="881" y="595"/>
                    </a:cubicBezTo>
                    <a:cubicBezTo>
                      <a:pt x="881" y="628"/>
                      <a:pt x="855" y="655"/>
                      <a:pt x="824" y="655"/>
                    </a:cubicBezTo>
                    <a:cubicBezTo>
                      <a:pt x="792" y="655"/>
                      <a:pt x="766" y="628"/>
                      <a:pt x="766" y="595"/>
                    </a:cubicBezTo>
                    <a:close/>
                    <a:moveTo>
                      <a:pt x="1149" y="595"/>
                    </a:moveTo>
                    <a:cubicBezTo>
                      <a:pt x="1149" y="561"/>
                      <a:pt x="1175" y="534"/>
                      <a:pt x="1207" y="534"/>
                    </a:cubicBezTo>
                    <a:cubicBezTo>
                      <a:pt x="1238" y="534"/>
                      <a:pt x="1264" y="561"/>
                      <a:pt x="1264" y="595"/>
                    </a:cubicBezTo>
                    <a:cubicBezTo>
                      <a:pt x="1264" y="628"/>
                      <a:pt x="1238" y="655"/>
                      <a:pt x="1207" y="655"/>
                    </a:cubicBezTo>
                    <a:cubicBezTo>
                      <a:pt x="1175" y="655"/>
                      <a:pt x="1149" y="628"/>
                      <a:pt x="1149" y="595"/>
                    </a:cubicBezTo>
                    <a:close/>
                    <a:moveTo>
                      <a:pt x="1532" y="595"/>
                    </a:moveTo>
                    <a:cubicBezTo>
                      <a:pt x="1532" y="561"/>
                      <a:pt x="1558" y="534"/>
                      <a:pt x="1590" y="534"/>
                    </a:cubicBezTo>
                    <a:cubicBezTo>
                      <a:pt x="1621" y="534"/>
                      <a:pt x="1647" y="561"/>
                      <a:pt x="1647" y="595"/>
                    </a:cubicBezTo>
                    <a:cubicBezTo>
                      <a:pt x="1647" y="628"/>
                      <a:pt x="1621" y="655"/>
                      <a:pt x="1590" y="655"/>
                    </a:cubicBezTo>
                    <a:cubicBezTo>
                      <a:pt x="1558" y="655"/>
                      <a:pt x="1532" y="628"/>
                      <a:pt x="1532" y="595"/>
                    </a:cubicBezTo>
                    <a:close/>
                    <a:moveTo>
                      <a:pt x="0" y="862"/>
                    </a:moveTo>
                    <a:cubicBezTo>
                      <a:pt x="0" y="828"/>
                      <a:pt x="26" y="801"/>
                      <a:pt x="58" y="801"/>
                    </a:cubicBezTo>
                    <a:cubicBezTo>
                      <a:pt x="89" y="801"/>
                      <a:pt x="115" y="828"/>
                      <a:pt x="115" y="862"/>
                    </a:cubicBezTo>
                    <a:cubicBezTo>
                      <a:pt x="115" y="895"/>
                      <a:pt x="89" y="922"/>
                      <a:pt x="58" y="922"/>
                    </a:cubicBezTo>
                    <a:cubicBezTo>
                      <a:pt x="26" y="922"/>
                      <a:pt x="0" y="895"/>
                      <a:pt x="0" y="862"/>
                    </a:cubicBezTo>
                    <a:close/>
                    <a:moveTo>
                      <a:pt x="383" y="862"/>
                    </a:moveTo>
                    <a:cubicBezTo>
                      <a:pt x="383" y="828"/>
                      <a:pt x="409" y="801"/>
                      <a:pt x="441" y="801"/>
                    </a:cubicBezTo>
                    <a:cubicBezTo>
                      <a:pt x="472" y="801"/>
                      <a:pt x="498" y="828"/>
                      <a:pt x="498" y="862"/>
                    </a:cubicBezTo>
                    <a:cubicBezTo>
                      <a:pt x="498" y="895"/>
                      <a:pt x="472" y="922"/>
                      <a:pt x="441" y="922"/>
                    </a:cubicBezTo>
                    <a:cubicBezTo>
                      <a:pt x="409" y="922"/>
                      <a:pt x="383" y="895"/>
                      <a:pt x="383" y="862"/>
                    </a:cubicBezTo>
                    <a:close/>
                    <a:moveTo>
                      <a:pt x="766" y="862"/>
                    </a:moveTo>
                    <a:cubicBezTo>
                      <a:pt x="766" y="828"/>
                      <a:pt x="792" y="801"/>
                      <a:pt x="824" y="801"/>
                    </a:cubicBezTo>
                    <a:cubicBezTo>
                      <a:pt x="855" y="801"/>
                      <a:pt x="881" y="828"/>
                      <a:pt x="881" y="862"/>
                    </a:cubicBezTo>
                    <a:cubicBezTo>
                      <a:pt x="881" y="895"/>
                      <a:pt x="855" y="922"/>
                      <a:pt x="824" y="922"/>
                    </a:cubicBezTo>
                    <a:cubicBezTo>
                      <a:pt x="792" y="922"/>
                      <a:pt x="766" y="895"/>
                      <a:pt x="766" y="862"/>
                    </a:cubicBezTo>
                    <a:close/>
                    <a:moveTo>
                      <a:pt x="1149" y="862"/>
                    </a:moveTo>
                    <a:cubicBezTo>
                      <a:pt x="1149" y="828"/>
                      <a:pt x="1175" y="801"/>
                      <a:pt x="1207" y="801"/>
                    </a:cubicBezTo>
                    <a:cubicBezTo>
                      <a:pt x="1238" y="801"/>
                      <a:pt x="1264" y="828"/>
                      <a:pt x="1264" y="862"/>
                    </a:cubicBezTo>
                    <a:cubicBezTo>
                      <a:pt x="1264" y="895"/>
                      <a:pt x="1238" y="922"/>
                      <a:pt x="1207" y="922"/>
                    </a:cubicBezTo>
                    <a:cubicBezTo>
                      <a:pt x="1175" y="922"/>
                      <a:pt x="1149" y="895"/>
                      <a:pt x="1149" y="862"/>
                    </a:cubicBezTo>
                    <a:close/>
                    <a:moveTo>
                      <a:pt x="1532" y="862"/>
                    </a:moveTo>
                    <a:cubicBezTo>
                      <a:pt x="1532" y="828"/>
                      <a:pt x="1558" y="801"/>
                      <a:pt x="1590" y="801"/>
                    </a:cubicBezTo>
                    <a:cubicBezTo>
                      <a:pt x="1621" y="801"/>
                      <a:pt x="1647" y="828"/>
                      <a:pt x="1647" y="862"/>
                    </a:cubicBezTo>
                    <a:cubicBezTo>
                      <a:pt x="1647" y="895"/>
                      <a:pt x="1621" y="922"/>
                      <a:pt x="1590" y="922"/>
                    </a:cubicBezTo>
                    <a:cubicBezTo>
                      <a:pt x="1558" y="922"/>
                      <a:pt x="1532" y="895"/>
                      <a:pt x="1532" y="862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思源黑体 CN Light" panose="020B0300000000000000" charset="-122"/>
                </a:endParaRPr>
              </a:p>
            </p:txBody>
          </p:sp>
        </p:grp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7F415719-EC0F-7D3F-0C8A-9FAB49828092}"/>
                </a:ext>
              </a:extLst>
            </p:cNvPr>
            <p:cNvSpPr/>
            <p:nvPr/>
          </p:nvSpPr>
          <p:spPr>
            <a:xfrm>
              <a:off x="555898" y="1904821"/>
              <a:ext cx="2821557" cy="2821557"/>
            </a:xfrm>
            <a:prstGeom prst="ellipse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2CE00247-E4AD-075E-BFD1-5D0FD4070E8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181137" y="2107526"/>
            <a:ext cx="3841731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913765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kern="0" dirty="0"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rPr>
              <a:t>模型的部署</a:t>
            </a:r>
          </a:p>
        </p:txBody>
      </p:sp>
      <p:sp>
        <p:nvSpPr>
          <p:cNvPr id="41" name="圆角矩形 20">
            <a:extLst>
              <a:ext uri="{FF2B5EF4-FFF2-40B4-BE49-F238E27FC236}">
                <a16:creationId xmlns:a16="http://schemas.microsoft.com/office/drawing/2014/main" id="{492D3A0C-0E41-E830-7C74-EDD1FEBD5F6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85911" y="1481551"/>
            <a:ext cx="1532102" cy="434074"/>
          </a:xfrm>
          <a:prstGeom prst="roundRect">
            <a:avLst>
              <a:gd name="adj" fmla="val 50000"/>
            </a:avLst>
          </a:pr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PART 06</a:t>
            </a:r>
            <a:endParaRPr kumimoji="0" lang="zh-CN" altLang="en-US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47D79AA-EAA8-FA1C-0477-5695E5C582AB}"/>
              </a:ext>
            </a:extLst>
          </p:cNvPr>
          <p:cNvSpPr txBox="1"/>
          <p:nvPr/>
        </p:nvSpPr>
        <p:spPr>
          <a:xfrm>
            <a:off x="5768726" y="1236275"/>
            <a:ext cx="2435811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5400">
                <a:gradFill>
                  <a:gsLst>
                    <a:gs pos="84000">
                      <a:srgbClr val="0960E5">
                        <a:alpha val="32000"/>
                      </a:srgb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Bold" panose="020B0800000000000000" charset="-122"/>
              </a:rPr>
              <a:t>PART</a:t>
            </a:r>
            <a:endParaRPr lang="zh-CN" altLang="en-US" sz="5400">
              <a:gradFill>
                <a:gsLst>
                  <a:gs pos="84000">
                    <a:srgbClr val="0960E5">
                      <a:alpha val="32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lin ang="16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  <a:cs typeface="思源黑体 CN Bold" panose="020B0800000000000000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95CC100-A13D-5846-33AC-9FDAF52EB342}"/>
              </a:ext>
            </a:extLst>
          </p:cNvPr>
          <p:cNvGrpSpPr/>
          <p:nvPr/>
        </p:nvGrpSpPr>
        <p:grpSpPr>
          <a:xfrm>
            <a:off x="4185912" y="2081786"/>
            <a:ext cx="3710903" cy="865115"/>
            <a:chOff x="5852478" y="2100373"/>
            <a:chExt cx="5315585" cy="1330921"/>
          </a:xfrm>
        </p:grpSpPr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C2CD740-7E4A-1307-E8F2-82F46F207E03}"/>
                </a:ext>
              </a:extLst>
            </p:cNvPr>
            <p:cNvCxnSpPr/>
            <p:nvPr/>
          </p:nvCxnSpPr>
          <p:spPr>
            <a:xfrm>
              <a:off x="5852478" y="3431294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F8DC6585-6ACB-6660-2278-1881438C788F}"/>
                </a:ext>
              </a:extLst>
            </p:cNvPr>
            <p:cNvCxnSpPr/>
            <p:nvPr/>
          </p:nvCxnSpPr>
          <p:spPr>
            <a:xfrm>
              <a:off x="5875973" y="2100373"/>
              <a:ext cx="5292090" cy="0"/>
            </a:xfrm>
            <a:prstGeom prst="line">
              <a:avLst/>
            </a:prstGeom>
            <a:ln>
              <a:solidFill>
                <a:schemeClr val="bg1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4BC88625-A9A4-5194-F6E7-32C852FE962E}"/>
              </a:ext>
            </a:extLst>
          </p:cNvPr>
          <p:cNvSpPr/>
          <p:nvPr/>
        </p:nvSpPr>
        <p:spPr>
          <a:xfrm>
            <a:off x="4292689" y="3472731"/>
            <a:ext cx="659273" cy="47822"/>
          </a:xfrm>
          <a:custGeom>
            <a:avLst/>
            <a:gdLst>
              <a:gd name="connsiteX0" fmla="*/ 881551 w 914727"/>
              <a:gd name="connsiteY0" fmla="*/ 0 h 66352"/>
              <a:gd name="connsiteX1" fmla="*/ 914727 w 914727"/>
              <a:gd name="connsiteY1" fmla="*/ 33176 h 66352"/>
              <a:gd name="connsiteX2" fmla="*/ 881551 w 914727"/>
              <a:gd name="connsiteY2" fmla="*/ 66352 h 66352"/>
              <a:gd name="connsiteX3" fmla="*/ 848375 w 914727"/>
              <a:gd name="connsiteY3" fmla="*/ 33176 h 66352"/>
              <a:gd name="connsiteX4" fmla="*/ 881551 w 914727"/>
              <a:gd name="connsiteY4" fmla="*/ 0 h 66352"/>
              <a:gd name="connsiteX5" fmla="*/ 669458 w 914727"/>
              <a:gd name="connsiteY5" fmla="*/ 0 h 66352"/>
              <a:gd name="connsiteX6" fmla="*/ 702634 w 914727"/>
              <a:gd name="connsiteY6" fmla="*/ 33176 h 66352"/>
              <a:gd name="connsiteX7" fmla="*/ 669458 w 914727"/>
              <a:gd name="connsiteY7" fmla="*/ 66352 h 66352"/>
              <a:gd name="connsiteX8" fmla="*/ 636282 w 914727"/>
              <a:gd name="connsiteY8" fmla="*/ 33176 h 66352"/>
              <a:gd name="connsiteX9" fmla="*/ 669458 w 914727"/>
              <a:gd name="connsiteY9" fmla="*/ 0 h 66352"/>
              <a:gd name="connsiteX10" fmla="*/ 457364 w 914727"/>
              <a:gd name="connsiteY10" fmla="*/ 0 h 66352"/>
              <a:gd name="connsiteX11" fmla="*/ 490540 w 914727"/>
              <a:gd name="connsiteY11" fmla="*/ 33176 h 66352"/>
              <a:gd name="connsiteX12" fmla="*/ 457364 w 914727"/>
              <a:gd name="connsiteY12" fmla="*/ 66352 h 66352"/>
              <a:gd name="connsiteX13" fmla="*/ 424188 w 914727"/>
              <a:gd name="connsiteY13" fmla="*/ 33176 h 66352"/>
              <a:gd name="connsiteX14" fmla="*/ 457364 w 914727"/>
              <a:gd name="connsiteY14" fmla="*/ 0 h 66352"/>
              <a:gd name="connsiteX15" fmla="*/ 245270 w 914727"/>
              <a:gd name="connsiteY15" fmla="*/ 0 h 66352"/>
              <a:gd name="connsiteX16" fmla="*/ 278446 w 914727"/>
              <a:gd name="connsiteY16" fmla="*/ 33176 h 66352"/>
              <a:gd name="connsiteX17" fmla="*/ 245270 w 914727"/>
              <a:gd name="connsiteY17" fmla="*/ 66352 h 66352"/>
              <a:gd name="connsiteX18" fmla="*/ 212094 w 914727"/>
              <a:gd name="connsiteY18" fmla="*/ 33176 h 66352"/>
              <a:gd name="connsiteX19" fmla="*/ 245270 w 914727"/>
              <a:gd name="connsiteY19" fmla="*/ 0 h 66352"/>
              <a:gd name="connsiteX20" fmla="*/ 33176 w 914727"/>
              <a:gd name="connsiteY20" fmla="*/ 0 h 66352"/>
              <a:gd name="connsiteX21" fmla="*/ 66352 w 914727"/>
              <a:gd name="connsiteY21" fmla="*/ 33176 h 66352"/>
              <a:gd name="connsiteX22" fmla="*/ 33176 w 914727"/>
              <a:gd name="connsiteY22" fmla="*/ 66352 h 66352"/>
              <a:gd name="connsiteX23" fmla="*/ 0 w 914727"/>
              <a:gd name="connsiteY23" fmla="*/ 33176 h 66352"/>
              <a:gd name="connsiteX24" fmla="*/ 33176 w 914727"/>
              <a:gd name="connsiteY24" fmla="*/ 0 h 66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914727" h="66352">
                <a:moveTo>
                  <a:pt x="881551" y="0"/>
                </a:moveTo>
                <a:cubicBezTo>
                  <a:pt x="899874" y="0"/>
                  <a:pt x="914727" y="14853"/>
                  <a:pt x="914727" y="33176"/>
                </a:cubicBezTo>
                <a:cubicBezTo>
                  <a:pt x="914727" y="51499"/>
                  <a:pt x="899874" y="66352"/>
                  <a:pt x="881551" y="66352"/>
                </a:cubicBezTo>
                <a:cubicBezTo>
                  <a:pt x="863228" y="66352"/>
                  <a:pt x="848375" y="51499"/>
                  <a:pt x="848375" y="33176"/>
                </a:cubicBezTo>
                <a:cubicBezTo>
                  <a:pt x="848375" y="14853"/>
                  <a:pt x="863228" y="0"/>
                  <a:pt x="881551" y="0"/>
                </a:cubicBezTo>
                <a:close/>
                <a:moveTo>
                  <a:pt x="669458" y="0"/>
                </a:moveTo>
                <a:cubicBezTo>
                  <a:pt x="687781" y="0"/>
                  <a:pt x="702634" y="14853"/>
                  <a:pt x="702634" y="33176"/>
                </a:cubicBezTo>
                <a:cubicBezTo>
                  <a:pt x="702634" y="51499"/>
                  <a:pt x="687781" y="66352"/>
                  <a:pt x="669458" y="66352"/>
                </a:cubicBezTo>
                <a:cubicBezTo>
                  <a:pt x="651135" y="66352"/>
                  <a:pt x="636282" y="51499"/>
                  <a:pt x="636282" y="33176"/>
                </a:cubicBezTo>
                <a:cubicBezTo>
                  <a:pt x="636282" y="14853"/>
                  <a:pt x="651135" y="0"/>
                  <a:pt x="669458" y="0"/>
                </a:cubicBezTo>
                <a:close/>
                <a:moveTo>
                  <a:pt x="457364" y="0"/>
                </a:moveTo>
                <a:cubicBezTo>
                  <a:pt x="475687" y="0"/>
                  <a:pt x="490540" y="14853"/>
                  <a:pt x="490540" y="33176"/>
                </a:cubicBezTo>
                <a:cubicBezTo>
                  <a:pt x="490540" y="51499"/>
                  <a:pt x="475687" y="66352"/>
                  <a:pt x="457364" y="66352"/>
                </a:cubicBezTo>
                <a:cubicBezTo>
                  <a:pt x="439041" y="66352"/>
                  <a:pt x="424188" y="51499"/>
                  <a:pt x="424188" y="33176"/>
                </a:cubicBezTo>
                <a:cubicBezTo>
                  <a:pt x="424188" y="14853"/>
                  <a:pt x="439041" y="0"/>
                  <a:pt x="457364" y="0"/>
                </a:cubicBezTo>
                <a:close/>
                <a:moveTo>
                  <a:pt x="245270" y="0"/>
                </a:moveTo>
                <a:cubicBezTo>
                  <a:pt x="263593" y="0"/>
                  <a:pt x="278446" y="14853"/>
                  <a:pt x="278446" y="33176"/>
                </a:cubicBezTo>
                <a:cubicBezTo>
                  <a:pt x="278446" y="51499"/>
                  <a:pt x="263593" y="66352"/>
                  <a:pt x="245270" y="66352"/>
                </a:cubicBezTo>
                <a:cubicBezTo>
                  <a:pt x="226947" y="66352"/>
                  <a:pt x="212094" y="51499"/>
                  <a:pt x="212094" y="33176"/>
                </a:cubicBezTo>
                <a:cubicBezTo>
                  <a:pt x="212094" y="14853"/>
                  <a:pt x="226947" y="0"/>
                  <a:pt x="245270" y="0"/>
                </a:cubicBezTo>
                <a:close/>
                <a:moveTo>
                  <a:pt x="33176" y="0"/>
                </a:moveTo>
                <a:cubicBezTo>
                  <a:pt x="51499" y="0"/>
                  <a:pt x="66352" y="14853"/>
                  <a:pt x="66352" y="33176"/>
                </a:cubicBezTo>
                <a:cubicBezTo>
                  <a:pt x="66352" y="51499"/>
                  <a:pt x="51499" y="66352"/>
                  <a:pt x="33176" y="66352"/>
                </a:cubicBezTo>
                <a:cubicBezTo>
                  <a:pt x="14853" y="66352"/>
                  <a:pt x="0" y="51499"/>
                  <a:pt x="0" y="33176"/>
                </a:cubicBezTo>
                <a:cubicBezTo>
                  <a:pt x="0" y="14853"/>
                  <a:pt x="14853" y="0"/>
                  <a:pt x="33176" y="0"/>
                </a:cubicBezTo>
                <a:close/>
              </a:path>
            </a:pathLst>
          </a:custGeom>
          <a:gradFill>
            <a:gsLst>
              <a:gs pos="54000">
                <a:srgbClr val="0960E5"/>
              </a:gs>
              <a:gs pos="0">
                <a:srgbClr val="2091F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F2CC5BA-4299-3134-E918-13F938E345F9}"/>
              </a:ext>
            </a:extLst>
          </p:cNvPr>
          <p:cNvSpPr/>
          <p:nvPr/>
        </p:nvSpPr>
        <p:spPr>
          <a:xfrm>
            <a:off x="4181136" y="3172191"/>
            <a:ext cx="4173268" cy="146594"/>
          </a:xfrm>
          <a:prstGeom prst="roundRect">
            <a:avLst>
              <a:gd name="adj" fmla="val 50000"/>
            </a:avLst>
          </a:prstGeom>
          <a:gradFill>
            <a:gsLst>
              <a:gs pos="99000">
                <a:srgbClr val="0960E5"/>
              </a:gs>
              <a:gs pos="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6618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895AB-79C9-80C1-48E3-335C4A41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F33D5D3-B59F-9340-47BF-474BB4D40DB8}"/>
              </a:ext>
            </a:extLst>
          </p:cNvPr>
          <p:cNvGrpSpPr/>
          <p:nvPr/>
        </p:nvGrpSpPr>
        <p:grpSpPr>
          <a:xfrm>
            <a:off x="0" y="1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955312A-2F5C-A4BC-FDBF-422F9B55EB2D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378">
                <a:defRPr/>
              </a:pPr>
              <a:endParaRPr lang="zh-CN" altLang="en-US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793ED142-D8FA-66FC-2149-8402FEC3AD03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8">
                <a:defRPr/>
              </a:pPr>
              <a:endParaRPr>
                <a:solidFill>
                  <a:prstClr val="black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9882968-9444-5CB7-424F-6FFE5ADF97BA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42">
                <a:defRPr/>
              </a:pPr>
              <a:r>
                <a:rPr lang="zh-CN" altLang="en-US" sz="2400" kern="0" dirty="0">
                  <a:solidFill>
                    <a:prstClr val="black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模型的部署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C0046C5-29DF-513B-43E0-FC8F929F3E51}"/>
              </a:ext>
            </a:extLst>
          </p:cNvPr>
          <p:cNvGrpSpPr/>
          <p:nvPr/>
        </p:nvGrpSpPr>
        <p:grpSpPr>
          <a:xfrm>
            <a:off x="3154671" y="233231"/>
            <a:ext cx="5848654" cy="409006"/>
            <a:chOff x="3154670" y="233230"/>
            <a:chExt cx="5848654" cy="409006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2C1F5209-B958-9BF4-8073-7E953BF07551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AE87A17-7BF2-B9AF-A082-674AEA458B5D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453666D9-8C92-6C11-7B1F-F4DE8A1CE378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C15D70F3-0EFC-6A73-9D8E-E0C15C76DDE3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E08373EB-47FE-0CFA-191C-C6D756982343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DD0C58A-17F0-531F-09AD-FAFCAB5BE9DC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428A97DE-E500-0CCB-AC11-34FD348CBDBD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prstClr val="black"/>
                  </a:solidFill>
                  <a:latin typeface="Calibri"/>
                  <a:ea typeface="思源宋体 CN Light" panose="02020300000000000000"/>
                </a:rPr>
                <a:t>模型部署</a:t>
              </a:r>
            </a:p>
          </p:txBody>
        </p:sp>
      </p:grp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8FDB48A-5064-D613-8577-E4B77F4E575A}"/>
              </a:ext>
            </a:extLst>
          </p:cNvPr>
          <p:cNvSpPr/>
          <p:nvPr/>
        </p:nvSpPr>
        <p:spPr>
          <a:xfrm>
            <a:off x="868197" y="668290"/>
            <a:ext cx="1518734" cy="228719"/>
          </a:xfrm>
          <a:prstGeom prst="roundRect">
            <a:avLst>
              <a:gd name="adj" fmla="val 50000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zh-CN" altLang="en-US" sz="750" b="1" kern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如何让模型服务实际应用</a:t>
            </a:r>
          </a:p>
        </p:txBody>
      </p:sp>
      <p:graphicFrame>
        <p:nvGraphicFramePr>
          <p:cNvPr id="40" name="图示 39">
            <a:extLst>
              <a:ext uri="{FF2B5EF4-FFF2-40B4-BE49-F238E27FC236}">
                <a16:creationId xmlns:a16="http://schemas.microsoft.com/office/drawing/2014/main" id="{4EE6A5DD-C80F-B8BF-2FF0-CC1DA7FEA696}"/>
              </a:ext>
            </a:extLst>
          </p:cNvPr>
          <p:cNvGraphicFramePr/>
          <p:nvPr/>
        </p:nvGraphicFramePr>
        <p:xfrm>
          <a:off x="1480185" y="377190"/>
          <a:ext cx="6366510" cy="3489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2" name="文本框 41">
            <a:extLst>
              <a:ext uri="{FF2B5EF4-FFF2-40B4-BE49-F238E27FC236}">
                <a16:creationId xmlns:a16="http://schemas.microsoft.com/office/drawing/2014/main" id="{9AD4638C-54C6-175B-AB42-B15EDE879976}"/>
              </a:ext>
            </a:extLst>
          </p:cNvPr>
          <p:cNvSpPr txBox="1"/>
          <p:nvPr/>
        </p:nvSpPr>
        <p:spPr>
          <a:xfrm>
            <a:off x="611505" y="3384330"/>
            <a:ext cx="81667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① 保存模型：将 LightGBM 模型、标准化器、特征选择器、最优阈值（0.2556）等对象保存为文件（如 .pkl 格式），方便随时加载使用。</a:t>
            </a:r>
          </a:p>
          <a:p>
            <a:pPr defTabSz="685800"/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② 封装预测函数：写一个简单的函数，输入新论文的 20 个特征，内部完成预处理、特征筛选、模型预测，输出高被引概率（0~1）和最终分类（0/1）。</a:t>
            </a:r>
          </a:p>
          <a:p>
            <a:pPr defTabSz="685800"/>
            <a:endParaRPr lang="zh-CN" altLang="en-US" sz="1200" dirty="0">
              <a:solidFill>
                <a:prstClr val="black"/>
              </a:solidFill>
              <a:latin typeface="Calibri"/>
              <a:ea typeface="思源宋体 CN Light" panose="02020300000000000000"/>
            </a:endParaRP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③ 提供服务：将函数嵌入到 Web 服务（如投稿系统后端）、本地小软件或 Excel 插件中，让编辑或作者使用。</a:t>
            </a:r>
          </a:p>
        </p:txBody>
      </p:sp>
    </p:spTree>
    <p:extLst>
      <p:ext uri="{BB962C8B-B14F-4D97-AF65-F5344CB8AC3E}">
        <p14:creationId xmlns:p14="http://schemas.microsoft.com/office/powerpoint/2010/main" val="1091334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06EFB-8741-3341-5298-71BD88BBB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4248E6F-86B3-443F-8B42-FE0B36FE7A03}"/>
              </a:ext>
            </a:extLst>
          </p:cNvPr>
          <p:cNvSpPr/>
          <p:nvPr/>
        </p:nvSpPr>
        <p:spPr>
          <a:xfrm>
            <a:off x="4029075" y="3806190"/>
            <a:ext cx="2926080" cy="10744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350">
              <a:solidFill>
                <a:prstClr val="white"/>
              </a:solidFill>
              <a:latin typeface="Calibri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07F8070-C95D-F49C-5160-10153B8EBED8}"/>
              </a:ext>
            </a:extLst>
          </p:cNvPr>
          <p:cNvGrpSpPr/>
          <p:nvPr/>
        </p:nvGrpSpPr>
        <p:grpSpPr>
          <a:xfrm>
            <a:off x="0" y="1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ED0219E-D3F4-DDD6-642A-6C1EB8219772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378">
                <a:defRPr/>
              </a:pPr>
              <a:endParaRPr lang="zh-CN" altLang="en-US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A543F2A7-95DD-9398-9C12-68071240B60C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8">
                <a:defRPr/>
              </a:pPr>
              <a:endParaRPr>
                <a:solidFill>
                  <a:prstClr val="black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328B554-BC3B-39B0-8F38-57815168B200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913742">
                <a:defRPr/>
              </a:pPr>
              <a:r>
                <a:rPr lang="zh-CN" altLang="en-US" sz="2400" kern="0" dirty="0">
                  <a:solidFill>
                    <a:prstClr val="black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模型的部署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33C2F40-2594-7823-5550-9A11061E2E28}"/>
              </a:ext>
            </a:extLst>
          </p:cNvPr>
          <p:cNvGrpSpPr/>
          <p:nvPr/>
        </p:nvGrpSpPr>
        <p:grpSpPr>
          <a:xfrm>
            <a:off x="3154671" y="233231"/>
            <a:ext cx="5848654" cy="409006"/>
            <a:chOff x="3154670" y="233230"/>
            <a:chExt cx="5848654" cy="409006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D91DF73-2283-2976-DB87-DE55C928E31B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zh-CN" altLang="en-US">
                <a:solidFill>
                  <a:prstClr val="white"/>
                </a:solidFill>
                <a:latin typeface="Calibri"/>
                <a:ea typeface="微软雅黑" panose="020B0503020204020204" pitchFamily="34" charset="-122"/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7E0679E-EBA5-91C5-92F8-088E5F5051DD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672055A1-1B94-BB94-DBAF-5A93C7B6DC4D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67659C2E-94BC-20CC-477D-9C225FD1AD9E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B28712C1-4374-DC3C-85DB-0E3D3AB250B7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B08A96D-87AE-DB6D-6573-F3C0CC3C37CC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srgbClr val="E7E6E6">
                      <a:lumMod val="50000"/>
                    </a:srgbClr>
                  </a:solidFill>
                  <a:latin typeface="Calibri"/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9C7056F2-CA2C-B073-DF32-63C574D9E7D6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zh-CN" altLang="en-US" sz="1200" dirty="0">
                  <a:solidFill>
                    <a:prstClr val="black"/>
                  </a:solidFill>
                  <a:latin typeface="Calibri"/>
                  <a:ea typeface="思源宋体 CN Light" panose="02020300000000000000"/>
                </a:rPr>
                <a:t>模型部署</a:t>
              </a:r>
            </a:p>
          </p:txBody>
        </p:sp>
      </p:grp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21F7C4A-1A0F-3683-676F-121B86FBB521}"/>
              </a:ext>
            </a:extLst>
          </p:cNvPr>
          <p:cNvSpPr/>
          <p:nvPr/>
        </p:nvSpPr>
        <p:spPr>
          <a:xfrm>
            <a:off x="868197" y="668290"/>
            <a:ext cx="1518734" cy="228719"/>
          </a:xfrm>
          <a:prstGeom prst="roundRect">
            <a:avLst>
              <a:gd name="adj" fmla="val 50000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r>
              <a:rPr lang="zh-CN" altLang="en-US" sz="750" b="1" kern="0" dirty="0">
                <a:solidFill>
                  <a:srgbClr val="FFFFFF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预测示例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2FE3EA8-2CDB-CE23-63F2-4E7AFBDC9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48" b="9610"/>
          <a:stretch>
            <a:fillRect/>
          </a:stretch>
        </p:blipFill>
        <p:spPr>
          <a:xfrm>
            <a:off x="3577591" y="851535"/>
            <a:ext cx="4304381" cy="2611755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EC0FAA9-D5EA-8042-9333-B91D76A49619}"/>
              </a:ext>
            </a:extLst>
          </p:cNvPr>
          <p:cNvGraphicFramePr>
            <a:graphicFrameLocks noGrp="1"/>
          </p:cNvGraphicFramePr>
          <p:nvPr/>
        </p:nvGraphicFramePr>
        <p:xfrm>
          <a:off x="451485" y="1097281"/>
          <a:ext cx="2628900" cy="366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393">
                  <a:extLst>
                    <a:ext uri="{9D8B030D-6E8A-4147-A177-3AD203B41FA5}">
                      <a16:colId xmlns:a16="http://schemas.microsoft.com/office/drawing/2014/main" val="3371235471"/>
                    </a:ext>
                  </a:extLst>
                </a:gridCol>
                <a:gridCol w="582918">
                  <a:extLst>
                    <a:ext uri="{9D8B030D-6E8A-4147-A177-3AD203B41FA5}">
                      <a16:colId xmlns:a16="http://schemas.microsoft.com/office/drawing/2014/main" val="3893024906"/>
                    </a:ext>
                  </a:extLst>
                </a:gridCol>
                <a:gridCol w="1058589">
                  <a:extLst>
                    <a:ext uri="{9D8B030D-6E8A-4147-A177-3AD203B41FA5}">
                      <a16:colId xmlns:a16="http://schemas.microsoft.com/office/drawing/2014/main" val="85819161"/>
                    </a:ext>
                  </a:extLst>
                </a:gridCol>
              </a:tblGrid>
              <a:tr h="334975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特征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示例值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含义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60356982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发表年份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2024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新论文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30773073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作者数量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小团队合作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87902194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机构数量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三所高校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2840965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是否国际合作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1（是）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跨国合作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45001645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参考文献数量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68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引用较多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86921825"/>
                  </a:ext>
                </a:extLst>
              </a:tr>
              <a:tr h="654257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论文年龄（当前年份-发表年份）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ea typeface="思源宋体 CN Light" panose="02020300000000000000"/>
                        </a:rPr>
                        <a:t>2</a:t>
                      </a:r>
                      <a:endParaRPr lang="zh-CN" altLang="en-US" sz="1100" dirty="0">
                        <a:ea typeface="思源宋体 CN Light" panose="0202030000000000000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近年发表</a:t>
                      </a:r>
                      <a:endParaRPr lang="zh-CN" altLang="en-US" sz="1100" dirty="0">
                        <a:ea typeface="思源宋体 CN Light" panose="0202030000000000000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87685258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标题长度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110</a:t>
                      </a:r>
                      <a:endParaRPr lang="zh-CN" altLang="en-US" sz="1100" dirty="0">
                        <a:ea typeface="思源宋体 CN Light" panose="0202030000000000000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适中</a:t>
                      </a:r>
                      <a:endParaRPr lang="zh-CN" altLang="en-US" sz="1100" dirty="0">
                        <a:ea typeface="思源宋体 CN Light" panose="0202030000000000000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55830146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摘要长度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280</a:t>
                      </a:r>
                      <a:endParaRPr lang="zh-CN" altLang="en-US" sz="1100" dirty="0">
                        <a:ea typeface="思源宋体 CN Light" panose="0202030000000000000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内容充实</a:t>
                      </a:r>
                      <a:endParaRPr lang="zh-CN" altLang="en-US" sz="1100" dirty="0">
                        <a:ea typeface="思源宋体 CN Light" panose="0202030000000000000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93423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r>
                        <a:rPr lang="zh-CN" altLang="en-US" sz="1100" dirty="0">
                          <a:ea typeface="思源宋体 CN Light" panose="02020300000000000000"/>
                        </a:rPr>
                        <a:t>其余特征略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...</a:t>
                      </a:r>
                      <a:endParaRPr lang="zh-CN" altLang="en-US" sz="1100" dirty="0">
                        <a:ea typeface="思源宋体 CN Light" panose="0202030000000000000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1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...</a:t>
                      </a:r>
                      <a:endParaRPr lang="zh-CN" altLang="en-US" sz="1100" dirty="0">
                        <a:ea typeface="思源宋体 CN Light" panose="0202030000000000000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07517108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7B35DBA3-D2C0-17F1-85AB-AD4EA182948C}"/>
              </a:ext>
            </a:extLst>
          </p:cNvPr>
          <p:cNvSpPr txBox="1"/>
          <p:nvPr/>
        </p:nvSpPr>
        <p:spPr>
          <a:xfrm>
            <a:off x="4114800" y="3891268"/>
            <a:ext cx="2863215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/>
            <a:r>
              <a:rPr lang="zh-CN" altLang="en-US" sz="1350" dirty="0">
                <a:solidFill>
                  <a:prstClr val="black"/>
                </a:solidFill>
                <a:latin typeface="Calibri"/>
                <a:ea typeface="微软雅黑" panose="020B0503020204020204" pitchFamily="34" charset="-122"/>
              </a:rPr>
              <a:t>│  </a:t>
            </a:r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高被引概率：72%                 </a:t>
            </a: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│  预测类别：高被引论文 (1)        </a:t>
            </a: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│  建议：该论文有较大潜力成为高被引 </a:t>
            </a:r>
          </a:p>
          <a:p>
            <a:pPr defTabSz="685800"/>
            <a:r>
              <a:rPr lang="zh-CN" altLang="en-US" sz="1200" dirty="0">
                <a:solidFill>
                  <a:prstClr val="black"/>
                </a:solidFill>
                <a:latin typeface="Calibri"/>
                <a:ea typeface="思源宋体 CN Light" panose="02020300000000000000"/>
              </a:rPr>
              <a:t>│  建议重点关注或推荐顶刊     </a:t>
            </a:r>
          </a:p>
        </p:txBody>
      </p:sp>
      <p:sp>
        <p:nvSpPr>
          <p:cNvPr id="15" name="对角圆角矩形 10">
            <a:extLst>
              <a:ext uri="{FF2B5EF4-FFF2-40B4-BE49-F238E27FC236}">
                <a16:creationId xmlns:a16="http://schemas.microsoft.com/office/drawing/2014/main" id="{7D890C17-3A06-26F3-0421-EB98964EAE4A}"/>
              </a:ext>
            </a:extLst>
          </p:cNvPr>
          <p:cNvSpPr/>
          <p:nvPr/>
        </p:nvSpPr>
        <p:spPr>
          <a:xfrm>
            <a:off x="7182599" y="4086399"/>
            <a:ext cx="1134482" cy="436709"/>
          </a:xfrm>
          <a:prstGeom prst="round2Diag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zh-CN" altLang="en-US" sz="1200" dirty="0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输出结果示例</a:t>
            </a:r>
          </a:p>
        </p:txBody>
      </p:sp>
    </p:spTree>
    <p:extLst>
      <p:ext uri="{BB962C8B-B14F-4D97-AF65-F5344CB8AC3E}">
        <p14:creationId xmlns:p14="http://schemas.microsoft.com/office/powerpoint/2010/main" val="3503145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AB4C-8781-ED82-AF54-D11639055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6CE5E6ED-0426-C639-88EB-C8E6EC0F723F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802163B-A222-65B8-CC2D-793FDEAF63EB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BB380CD1-04E4-33F4-3305-FD5CADED0B32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DBAAC44-52BF-0E27-0813-BEC45F67B815}"/>
              </a:ext>
            </a:extLst>
          </p:cNvPr>
          <p:cNvGrpSpPr/>
          <p:nvPr/>
        </p:nvGrpSpPr>
        <p:grpSpPr>
          <a:xfrm>
            <a:off x="97519" y="1569328"/>
            <a:ext cx="6879823" cy="2596545"/>
            <a:chOff x="1286973" y="2313438"/>
            <a:chExt cx="7922910" cy="2990218"/>
          </a:xfrm>
        </p:grpSpPr>
        <p:sp>
          <p:nvSpPr>
            <p:cNvPr id="3" name="对角圆角矩形 6">
              <a:extLst>
                <a:ext uri="{FF2B5EF4-FFF2-40B4-BE49-F238E27FC236}">
                  <a16:creationId xmlns:a16="http://schemas.microsoft.com/office/drawing/2014/main" id="{885751C1-64B3-8D27-7ED4-86B5EA2B4A55}"/>
                </a:ext>
              </a:extLst>
            </p:cNvPr>
            <p:cNvSpPr/>
            <p:nvPr/>
          </p:nvSpPr>
          <p:spPr>
            <a:xfrm>
              <a:off x="1286973" y="2485894"/>
              <a:ext cx="1741982" cy="670560"/>
            </a:xfrm>
            <a:prstGeom prst="round2DiagRect">
              <a:avLst/>
            </a:pr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聚类</a:t>
              </a:r>
            </a:p>
          </p:txBody>
        </p:sp>
        <p:sp>
          <p:nvSpPr>
            <p:cNvPr id="4" name="对角圆角矩形 10">
              <a:extLst>
                <a:ext uri="{FF2B5EF4-FFF2-40B4-BE49-F238E27FC236}">
                  <a16:creationId xmlns:a16="http://schemas.microsoft.com/office/drawing/2014/main" id="{2A715A4D-884B-8B02-2777-5B3450FE817C}"/>
                </a:ext>
              </a:extLst>
            </p:cNvPr>
            <p:cNvSpPr/>
            <p:nvPr/>
          </p:nvSpPr>
          <p:spPr>
            <a:xfrm>
              <a:off x="1286973" y="4314925"/>
              <a:ext cx="1741982" cy="670560"/>
            </a:xfrm>
            <a:prstGeom prst="round2DiagRect">
              <a:avLst/>
            </a:pr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关联规则</a:t>
              </a:r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2B4EBA0F-B519-7DC8-0603-8833CC09463A}"/>
                </a:ext>
              </a:extLst>
            </p:cNvPr>
            <p:cNvSpPr/>
            <p:nvPr/>
          </p:nvSpPr>
          <p:spPr bwMode="auto">
            <a:xfrm rot="5400000">
              <a:off x="2934339" y="2647267"/>
              <a:ext cx="828675" cy="417195"/>
            </a:xfrm>
            <a:custGeom>
              <a:avLst/>
              <a:gdLst>
                <a:gd name="T0" fmla="*/ 663 w 803"/>
                <a:gd name="T1" fmla="*/ 0 h 404"/>
                <a:gd name="T2" fmla="*/ 401 w 803"/>
                <a:gd name="T3" fmla="*/ 262 h 404"/>
                <a:gd name="T4" fmla="*/ 141 w 803"/>
                <a:gd name="T5" fmla="*/ 0 h 404"/>
                <a:gd name="T6" fmla="*/ 0 w 803"/>
                <a:gd name="T7" fmla="*/ 0 h 404"/>
                <a:gd name="T8" fmla="*/ 401 w 803"/>
                <a:gd name="T9" fmla="*/ 404 h 404"/>
                <a:gd name="T10" fmla="*/ 803 w 803"/>
                <a:gd name="T11" fmla="*/ 0 h 404"/>
                <a:gd name="T12" fmla="*/ 663 w 803"/>
                <a:gd name="T1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3" h="404">
                  <a:moveTo>
                    <a:pt x="663" y="0"/>
                  </a:moveTo>
                  <a:lnTo>
                    <a:pt x="401" y="262"/>
                  </a:lnTo>
                  <a:lnTo>
                    <a:pt x="141" y="0"/>
                  </a:lnTo>
                  <a:lnTo>
                    <a:pt x="0" y="0"/>
                  </a:lnTo>
                  <a:lnTo>
                    <a:pt x="401" y="404"/>
                  </a:lnTo>
                  <a:lnTo>
                    <a:pt x="803" y="0"/>
                  </a:lnTo>
                  <a:lnTo>
                    <a:pt x="663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思源宋体 CN Light" panose="020203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  <p:cxnSp>
          <p:nvCxnSpPr>
            <p:cNvPr id="9" name="Straight Connector 7">
              <a:extLst>
                <a:ext uri="{FF2B5EF4-FFF2-40B4-BE49-F238E27FC236}">
                  <a16:creationId xmlns:a16="http://schemas.microsoft.com/office/drawing/2014/main" id="{61C01587-6388-0E67-8271-B9B20F0A20A4}"/>
                </a:ext>
              </a:extLst>
            </p:cNvPr>
            <p:cNvCxnSpPr/>
            <p:nvPr/>
          </p:nvCxnSpPr>
          <p:spPr>
            <a:xfrm flipH="1">
              <a:off x="3714754" y="2720668"/>
              <a:ext cx="768985" cy="1270"/>
            </a:xfrm>
            <a:prstGeom prst="line">
              <a:avLst/>
            </a:prstGeom>
            <a:ln w="0">
              <a:solidFill>
                <a:srgbClr val="DBE8FB"/>
              </a:solidFill>
              <a:prstDash val="dash"/>
              <a:headEnd type="oval"/>
              <a:tailEnd type="oval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7">
              <a:extLst>
                <a:ext uri="{FF2B5EF4-FFF2-40B4-BE49-F238E27FC236}">
                  <a16:creationId xmlns:a16="http://schemas.microsoft.com/office/drawing/2014/main" id="{27BA0B2E-CC76-97F7-A769-BB8E88A95F38}"/>
                </a:ext>
              </a:extLst>
            </p:cNvPr>
            <p:cNvCxnSpPr/>
            <p:nvPr/>
          </p:nvCxnSpPr>
          <p:spPr>
            <a:xfrm flipH="1">
              <a:off x="3714754" y="3390592"/>
              <a:ext cx="768985" cy="1270"/>
            </a:xfrm>
            <a:prstGeom prst="line">
              <a:avLst/>
            </a:prstGeom>
            <a:ln w="0">
              <a:solidFill>
                <a:srgbClr val="DBE8FB"/>
              </a:solidFill>
              <a:prstDash val="dash"/>
              <a:headEnd type="oval"/>
              <a:tailEnd type="oval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B19AEA12-4C3F-F19C-27BE-11AFBA32D759}"/>
                </a:ext>
              </a:extLst>
            </p:cNvPr>
            <p:cNvSpPr/>
            <p:nvPr/>
          </p:nvSpPr>
          <p:spPr bwMode="auto">
            <a:xfrm rot="5400000">
              <a:off x="2934339" y="4442560"/>
              <a:ext cx="828675" cy="417195"/>
            </a:xfrm>
            <a:custGeom>
              <a:avLst/>
              <a:gdLst>
                <a:gd name="T0" fmla="*/ 663 w 803"/>
                <a:gd name="T1" fmla="*/ 0 h 404"/>
                <a:gd name="T2" fmla="*/ 401 w 803"/>
                <a:gd name="T3" fmla="*/ 262 h 404"/>
                <a:gd name="T4" fmla="*/ 141 w 803"/>
                <a:gd name="T5" fmla="*/ 0 h 404"/>
                <a:gd name="T6" fmla="*/ 0 w 803"/>
                <a:gd name="T7" fmla="*/ 0 h 404"/>
                <a:gd name="T8" fmla="*/ 401 w 803"/>
                <a:gd name="T9" fmla="*/ 404 h 404"/>
                <a:gd name="T10" fmla="*/ 803 w 803"/>
                <a:gd name="T11" fmla="*/ 0 h 404"/>
                <a:gd name="T12" fmla="*/ 663 w 803"/>
                <a:gd name="T13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3" h="404">
                  <a:moveTo>
                    <a:pt x="663" y="0"/>
                  </a:moveTo>
                  <a:lnTo>
                    <a:pt x="401" y="262"/>
                  </a:lnTo>
                  <a:lnTo>
                    <a:pt x="141" y="0"/>
                  </a:lnTo>
                  <a:lnTo>
                    <a:pt x="0" y="0"/>
                  </a:lnTo>
                  <a:lnTo>
                    <a:pt x="401" y="404"/>
                  </a:lnTo>
                  <a:lnTo>
                    <a:pt x="803" y="0"/>
                  </a:lnTo>
                  <a:lnTo>
                    <a:pt x="663" y="0"/>
                  </a:lnTo>
                  <a:close/>
                </a:path>
              </a:pathLst>
            </a:custGeom>
            <a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  <a:effectLst/>
          </p:spPr>
          <p:txBody>
            <a:bodyPr anchor="ctr"/>
            <a:lstStyle/>
            <a:p>
              <a:pPr algn="ctr"/>
              <a:endParaRPr>
                <a:latin typeface="思源宋体 CN Light" panose="02020300000000000000" pitchFamily="18" charset="-122"/>
                <a:ea typeface="思源宋体 CN Light" panose="02020300000000000000" pitchFamily="18" charset="-122"/>
                <a:cs typeface="+mn-ea"/>
                <a:sym typeface="+mn-lt"/>
              </a:endParaRPr>
            </a:p>
          </p:txBody>
        </p:sp>
        <p:cxnSp>
          <p:nvCxnSpPr>
            <p:cNvPr id="12" name="Straight Connector 7">
              <a:extLst>
                <a:ext uri="{FF2B5EF4-FFF2-40B4-BE49-F238E27FC236}">
                  <a16:creationId xmlns:a16="http://schemas.microsoft.com/office/drawing/2014/main" id="{9929DFE8-CD8C-C2FC-E7CA-36A7C8E908E8}"/>
                </a:ext>
              </a:extLst>
            </p:cNvPr>
            <p:cNvCxnSpPr/>
            <p:nvPr/>
          </p:nvCxnSpPr>
          <p:spPr>
            <a:xfrm flipH="1">
              <a:off x="3714754" y="4477667"/>
              <a:ext cx="768985" cy="1270"/>
            </a:xfrm>
            <a:prstGeom prst="line">
              <a:avLst/>
            </a:prstGeom>
            <a:ln w="0">
              <a:solidFill>
                <a:srgbClr val="DBE8FB"/>
              </a:solidFill>
              <a:prstDash val="dash"/>
              <a:headEnd type="oval"/>
              <a:tailEnd type="oval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7">
              <a:extLst>
                <a:ext uri="{FF2B5EF4-FFF2-40B4-BE49-F238E27FC236}">
                  <a16:creationId xmlns:a16="http://schemas.microsoft.com/office/drawing/2014/main" id="{EB5EE575-F8D6-169A-B06C-4A8D7FF4C6AF}"/>
                </a:ext>
              </a:extLst>
            </p:cNvPr>
            <p:cNvCxnSpPr/>
            <p:nvPr/>
          </p:nvCxnSpPr>
          <p:spPr>
            <a:xfrm flipH="1">
              <a:off x="3714754" y="5147592"/>
              <a:ext cx="768985" cy="1270"/>
            </a:xfrm>
            <a:prstGeom prst="line">
              <a:avLst/>
            </a:prstGeom>
            <a:ln w="0">
              <a:solidFill>
                <a:srgbClr val="DBE8FB"/>
              </a:solidFill>
              <a:prstDash val="dash"/>
              <a:headEnd type="oval"/>
              <a:tailEnd type="oval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F3CAD65-18E8-32D2-C9F4-7808F7F55291}"/>
                </a:ext>
              </a:extLst>
            </p:cNvPr>
            <p:cNvSpPr/>
            <p:nvPr/>
          </p:nvSpPr>
          <p:spPr>
            <a:xfrm>
              <a:off x="4603754" y="2313438"/>
              <a:ext cx="4606129" cy="59213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ea typeface="思源宋体 CN Light" panose="02020300000000000000" pitchFamily="18" charset="-122"/>
                </a:rPr>
                <a:t>发现 </a:t>
              </a:r>
              <a:r>
                <a:rPr lang="en-US" altLang="zh-CN" sz="1100" dirty="0">
                  <a:ea typeface="思源宋体 CN Light" panose="02020300000000000000" pitchFamily="18" charset="-122"/>
                </a:rPr>
                <a:t>ADHD </a:t>
              </a:r>
              <a:r>
                <a:rPr lang="zh-CN" altLang="en-US" sz="1100" dirty="0">
                  <a:ea typeface="思源宋体 CN Light" panose="02020300000000000000" pitchFamily="18" charset="-122"/>
                </a:rPr>
                <a:t>领域当前研究热点 </a:t>
              </a:r>
              <a:endParaRPr lang="en-US" altLang="zh-CN" sz="1100" dirty="0">
                <a:ea typeface="思源宋体 CN Light" panose="02020300000000000000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100" dirty="0">
                  <a:ea typeface="思源宋体 CN Light" panose="02020300000000000000" pitchFamily="18" charset="-122"/>
                </a:rPr>
                <a:t>识别主题趋势与前沿方向 </a:t>
              </a:r>
              <a:endParaRPr lang="en-US" altLang="zh-CN" sz="1100" dirty="0">
                <a:ea typeface="思源宋体 CN Light" panose="02020300000000000000" pitchFamily="18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AE98315D-4D07-0174-8F3B-AB9EB50085FE}"/>
                </a:ext>
              </a:extLst>
            </p:cNvPr>
            <p:cNvSpPr/>
            <p:nvPr/>
          </p:nvSpPr>
          <p:spPr>
            <a:xfrm>
              <a:off x="4603754" y="2953440"/>
              <a:ext cx="4606129" cy="59139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ea typeface="思源宋体 CN Light" panose="02020300000000000000" pitchFamily="18" charset="-122"/>
                </a:rPr>
                <a:t>帮助该领域科研人员快速把握领域重点 </a:t>
              </a:r>
              <a:endParaRPr lang="en-US" altLang="zh-CN" sz="1100" dirty="0">
                <a:ea typeface="思源宋体 CN Light" panose="02020300000000000000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100" dirty="0">
                  <a:ea typeface="思源宋体 CN Light" panose="02020300000000000000" pitchFamily="18" charset="-122"/>
                </a:rPr>
                <a:t>为选题、立项、基金申报提供依据</a:t>
              </a:r>
              <a:endParaRPr lang="zh-CN" altLang="en-US" sz="1100" dirty="0">
                <a:ea typeface="思源宋体 CN Light" panose="02020300000000000000" pitchFamily="18" charset="-122"/>
                <a:sym typeface="+mn-ea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C116993-D87A-9586-26E2-D76AD51178F5}"/>
                </a:ext>
              </a:extLst>
            </p:cNvPr>
            <p:cNvSpPr/>
            <p:nvPr/>
          </p:nvSpPr>
          <p:spPr>
            <a:xfrm>
              <a:off x="4603754" y="4072994"/>
              <a:ext cx="4606129" cy="58851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识别跨学科、跨主题的潜在联系</a:t>
              </a:r>
              <a:endParaRPr lang="en-US" altLang="zh-CN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sym typeface="+mn-ea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100" dirty="0">
                  <a:latin typeface="思源宋体 CN Light" panose="02020300000000000000" pitchFamily="18" charset="-122"/>
                  <a:ea typeface="思源宋体 CN Light" panose="02020300000000000000" pitchFamily="18" charset="-122"/>
                  <a:sym typeface="+mn-ea"/>
                </a:rPr>
                <a:t>推荐新兴、交叉、高潜力研究方向</a:t>
              </a:r>
              <a:endParaRPr lang="zh-CN" altLang="en-US" sz="1100" dirty="0">
                <a:latin typeface="思源宋体 CN Light" panose="02020300000000000000" pitchFamily="18" charset="-122"/>
                <a:ea typeface="思源宋体 CN Light" panose="02020300000000000000" pitchFamily="18" charset="-122"/>
                <a:cs typeface="+mn-ea"/>
                <a:sym typeface="+mn-ea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A4DCBE7-330F-6A89-A07E-0A5A4495EA6F}"/>
                </a:ext>
              </a:extLst>
            </p:cNvPr>
            <p:cNvSpPr/>
            <p:nvPr/>
          </p:nvSpPr>
          <p:spPr>
            <a:xfrm>
              <a:off x="4603754" y="4712257"/>
              <a:ext cx="4606129" cy="59139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6350"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100" dirty="0">
                  <a:ea typeface="思源宋体 CN Light" panose="02020300000000000000" pitchFamily="18" charset="-122"/>
                </a:rPr>
                <a:t>辅助科研人员拓展研究边界</a:t>
              </a:r>
              <a:endParaRPr lang="en-US" altLang="zh-CN" sz="1100" dirty="0">
                <a:ea typeface="思源宋体 CN Light" panose="02020300000000000000" pitchFamily="18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sz="1100" dirty="0">
                  <a:ea typeface="思源宋体 CN Light" panose="02020300000000000000" pitchFamily="18" charset="-122"/>
                </a:rPr>
                <a:t>为机构合作、学科交叉提供依据</a:t>
              </a:r>
              <a:endParaRPr lang="zh-CN" altLang="en-US" sz="1100" dirty="0">
                <a:ea typeface="思源宋体 CN Light" panose="02020300000000000000" pitchFamily="18" charset="-122"/>
                <a:sym typeface="+mn-ea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A2345F89-8981-404B-B312-A236AEFF67C9}"/>
              </a:ext>
            </a:extLst>
          </p:cNvPr>
          <p:cNvSpPr txBox="1"/>
          <p:nvPr/>
        </p:nvSpPr>
        <p:spPr>
          <a:xfrm>
            <a:off x="2143696" y="162605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核心功能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E7F871-BA9A-4C94-821C-FF530A6E53E0}"/>
              </a:ext>
            </a:extLst>
          </p:cNvPr>
          <p:cNvSpPr txBox="1"/>
          <p:nvPr/>
        </p:nvSpPr>
        <p:spPr>
          <a:xfrm>
            <a:off x="2139434" y="226034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应用价值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B917036-A52B-FC9F-6D4B-9DB1B4430B8A}"/>
              </a:ext>
            </a:extLst>
          </p:cNvPr>
          <p:cNvSpPr txBox="1"/>
          <p:nvPr/>
        </p:nvSpPr>
        <p:spPr>
          <a:xfrm>
            <a:off x="2133612" y="316881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核心功能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1DA254-219A-CA75-5383-D8596010A687}"/>
              </a:ext>
            </a:extLst>
          </p:cNvPr>
          <p:cNvSpPr txBox="1"/>
          <p:nvPr/>
        </p:nvSpPr>
        <p:spPr>
          <a:xfrm>
            <a:off x="2129350" y="380309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应用价值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AEACED9-ED00-DB43-9AFE-F6BEB4E17394}"/>
              </a:ext>
            </a:extLst>
          </p:cNvPr>
          <p:cNvGrpSpPr/>
          <p:nvPr/>
        </p:nvGrpSpPr>
        <p:grpSpPr>
          <a:xfrm>
            <a:off x="3154670" y="233230"/>
            <a:ext cx="5848654" cy="409006"/>
            <a:chOff x="3154670" y="233230"/>
            <a:chExt cx="5848654" cy="409006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E8AFFAC9-B487-9E38-D1F7-0D02DCDB9ABD}"/>
                </a:ext>
              </a:extLst>
            </p:cNvPr>
            <p:cNvSpPr/>
            <p:nvPr/>
          </p:nvSpPr>
          <p:spPr>
            <a:xfrm>
              <a:off x="3154670" y="233230"/>
              <a:ext cx="5848654" cy="409006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1B87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D6D93DC0-8A3E-E4D6-1175-A6A8E3F0FAF1}"/>
                </a:ext>
              </a:extLst>
            </p:cNvPr>
            <p:cNvSpPr/>
            <p:nvPr/>
          </p:nvSpPr>
          <p:spPr>
            <a:xfrm>
              <a:off x="3216452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latin typeface="宋体" panose="02010600030101010101" pitchFamily="2" charset="-122"/>
                  <a:ea typeface="思源宋体 CN Light" panose="02020300000000000000"/>
                </a:rPr>
                <a:t>挖掘目标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F38633D-BD54-BA9D-18B3-E27585969E72}"/>
                </a:ext>
              </a:extLst>
            </p:cNvPr>
            <p:cNvSpPr/>
            <p:nvPr/>
          </p:nvSpPr>
          <p:spPr>
            <a:xfrm>
              <a:off x="4175774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数据准备</a:t>
              </a: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37CA2DE-DABA-0C92-C04B-E1724E203511}"/>
                </a:ext>
              </a:extLst>
            </p:cNvPr>
            <p:cNvSpPr/>
            <p:nvPr/>
          </p:nvSpPr>
          <p:spPr>
            <a:xfrm>
              <a:off x="5145255" y="278726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数据探索</a:t>
              </a:r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86A06D2F-B1E4-11F2-5083-9ACEAFCD8570}"/>
                </a:ext>
              </a:extLst>
            </p:cNvPr>
            <p:cNvSpPr/>
            <p:nvPr/>
          </p:nvSpPr>
          <p:spPr>
            <a:xfrm>
              <a:off x="6104577" y="278725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模型建立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E6F29F8D-E512-4625-0F73-BFAFDE7132E4}"/>
                </a:ext>
              </a:extLst>
            </p:cNvPr>
            <p:cNvSpPr/>
            <p:nvPr/>
          </p:nvSpPr>
          <p:spPr>
            <a:xfrm>
              <a:off x="7074058" y="277713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bg2">
                      <a:lumMod val="50000"/>
                    </a:schemeClr>
                  </a:solidFill>
                  <a:ea typeface="思源宋体 CN Light" panose="02020300000000000000"/>
                </a:rPr>
                <a:t>模型评估</a:t>
              </a: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143132A6-941D-D0E9-729C-678E6B21B35A}"/>
                </a:ext>
              </a:extLst>
            </p:cNvPr>
            <p:cNvSpPr/>
            <p:nvPr/>
          </p:nvSpPr>
          <p:spPr>
            <a:xfrm>
              <a:off x="8033380" y="277712"/>
              <a:ext cx="913849" cy="306423"/>
            </a:xfrm>
            <a:prstGeom prst="roundRect">
              <a:avLst>
                <a:gd name="adj" fmla="val 50000"/>
              </a:avLst>
            </a:prstGeom>
            <a:solidFill>
              <a:srgbClr val="1B87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ea typeface="思源宋体 CN Light" panose="02020300000000000000"/>
                </a:rPr>
                <a:t>模型部署</a:t>
              </a: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6F515778-0E51-E36E-5379-3748B82E9582}"/>
              </a:ext>
            </a:extLst>
          </p:cNvPr>
          <p:cNvSpPr txBox="1"/>
          <p:nvPr/>
        </p:nvSpPr>
        <p:spPr>
          <a:xfrm>
            <a:off x="467127" y="199390"/>
            <a:ext cx="2586174" cy="4090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思源黑体 CN Light" panose="020B0300000000000000" charset="-122"/>
                <a:sym typeface="+mn-lt"/>
              </a:rPr>
              <a:t>模型的部署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15AF68B-00F6-6962-6A27-DE0D0BD939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576" y="1391599"/>
            <a:ext cx="3498209" cy="277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28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17E6765-6001-F9AB-83CC-D4D69D622F8C}"/>
              </a:ext>
            </a:extLst>
          </p:cNvPr>
          <p:cNvGrpSpPr/>
          <p:nvPr/>
        </p:nvGrpSpPr>
        <p:grpSpPr>
          <a:xfrm>
            <a:off x="0" y="0"/>
            <a:ext cx="3087360" cy="702830"/>
            <a:chOff x="0" y="0"/>
            <a:chExt cx="3087360" cy="70283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8C3EDF5-BC51-E166-181F-C01DAB13A3E1}"/>
                </a:ext>
              </a:extLst>
            </p:cNvPr>
            <p:cNvSpPr/>
            <p:nvPr/>
          </p:nvSpPr>
          <p:spPr>
            <a:xfrm rot="1800000" flipH="1">
              <a:off x="2719580" y="302664"/>
              <a:ext cx="367780" cy="367780"/>
            </a:xfrm>
            <a:prstGeom prst="ellipse">
              <a:avLst/>
            </a:prstGeom>
            <a:gradFill>
              <a:gsLst>
                <a:gs pos="100000">
                  <a:srgbClr val="0960E5">
                    <a:alpha val="64000"/>
                  </a:srgbClr>
                </a:gs>
                <a:gs pos="0">
                  <a:srgbClr val="2091FB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2" name="Google Shape;58;p3">
              <a:extLst>
                <a:ext uri="{FF2B5EF4-FFF2-40B4-BE49-F238E27FC236}">
                  <a16:creationId xmlns:a16="http://schemas.microsoft.com/office/drawing/2014/main" id="{D3C2412F-7DB0-F871-745A-A339B7412871}"/>
                </a:ext>
              </a:extLst>
            </p:cNvPr>
            <p:cNvSpPr/>
            <p:nvPr/>
          </p:nvSpPr>
          <p:spPr>
            <a:xfrm rot="10800000" flipH="1" flipV="1">
              <a:off x="0" y="0"/>
              <a:ext cx="817040" cy="702830"/>
            </a:xfrm>
            <a:custGeom>
              <a:avLst/>
              <a:gdLst/>
              <a:ahLst/>
              <a:cxnLst/>
              <a:rect l="l" t="t" r="r" b="b"/>
              <a:pathLst>
                <a:path w="70451" h="60603" extrusionOk="0">
                  <a:moveTo>
                    <a:pt x="227" y="0"/>
                  </a:moveTo>
                  <a:lnTo>
                    <a:pt x="1" y="60222"/>
                  </a:lnTo>
                  <a:cubicBezTo>
                    <a:pt x="592" y="60484"/>
                    <a:pt x="1209" y="60603"/>
                    <a:pt x="1830" y="60603"/>
                  </a:cubicBezTo>
                  <a:cubicBezTo>
                    <a:pt x="3974" y="60603"/>
                    <a:pt x="6155" y="59182"/>
                    <a:pt x="7383" y="57317"/>
                  </a:cubicBezTo>
                  <a:cubicBezTo>
                    <a:pt x="8966" y="54912"/>
                    <a:pt x="9407" y="51959"/>
                    <a:pt x="10026" y="49149"/>
                  </a:cubicBezTo>
                  <a:cubicBezTo>
                    <a:pt x="10645" y="46339"/>
                    <a:pt x="11597" y="43398"/>
                    <a:pt x="13836" y="41588"/>
                  </a:cubicBezTo>
                  <a:cubicBezTo>
                    <a:pt x="18253" y="38040"/>
                    <a:pt x="25694" y="40350"/>
                    <a:pt x="29671" y="36314"/>
                  </a:cubicBezTo>
                  <a:cubicBezTo>
                    <a:pt x="32148" y="33802"/>
                    <a:pt x="32219" y="29837"/>
                    <a:pt x="33684" y="26634"/>
                  </a:cubicBezTo>
                  <a:cubicBezTo>
                    <a:pt x="35898" y="21753"/>
                    <a:pt x="41173" y="19026"/>
                    <a:pt x="46316" y="17526"/>
                  </a:cubicBezTo>
                  <a:cubicBezTo>
                    <a:pt x="51460" y="16026"/>
                    <a:pt x="56913" y="15347"/>
                    <a:pt x="61663" y="12883"/>
                  </a:cubicBezTo>
                  <a:cubicBezTo>
                    <a:pt x="66414" y="10406"/>
                    <a:pt x="70450" y="5394"/>
                    <a:pt x="69593" y="107"/>
                  </a:cubicBezTo>
                  <a:lnTo>
                    <a:pt x="227" y="0"/>
                  </a:lnTo>
                  <a:close/>
                </a:path>
              </a:pathLst>
            </a:cu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1FB119B-511A-69A4-FF4A-174B469CE557}"/>
                </a:ext>
              </a:extLst>
            </p:cNvPr>
            <p:cNvSpPr txBox="1"/>
            <p:nvPr/>
          </p:nvSpPr>
          <p:spPr>
            <a:xfrm>
              <a:off x="467127" y="199390"/>
              <a:ext cx="2586174" cy="4090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dist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思源黑体 CN Light" panose="020B0300000000000000" charset="-122"/>
                  <a:sym typeface="+mn-lt"/>
                </a:rPr>
                <a:t>项目研究意义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25C46D-71C3-1B6B-72C2-1599DFA34DBF}"/>
              </a:ext>
            </a:extLst>
          </p:cNvPr>
          <p:cNvGrpSpPr/>
          <p:nvPr/>
        </p:nvGrpSpPr>
        <p:grpSpPr>
          <a:xfrm>
            <a:off x="608107" y="1137172"/>
            <a:ext cx="8129273" cy="3275696"/>
            <a:chOff x="608107" y="1137172"/>
            <a:chExt cx="8129273" cy="3275696"/>
          </a:xfrm>
        </p:grpSpPr>
        <p:grpSp>
          <p:nvGrpSpPr>
            <p:cNvPr id="4" name="品派设计">
              <a:extLst>
                <a:ext uri="{FF2B5EF4-FFF2-40B4-BE49-F238E27FC236}">
                  <a16:creationId xmlns:a16="http://schemas.microsoft.com/office/drawing/2014/main" id="{1A048824-D09D-2969-DDFA-AFE50970D5F3}"/>
                </a:ext>
              </a:extLst>
            </p:cNvPr>
            <p:cNvGrpSpPr/>
            <p:nvPr/>
          </p:nvGrpSpPr>
          <p:grpSpPr>
            <a:xfrm>
              <a:off x="608107" y="1137172"/>
              <a:ext cx="8129273" cy="3275696"/>
              <a:chOff x="1592" y="2907"/>
              <a:chExt cx="15997" cy="6446"/>
            </a:xfrm>
          </p:grpSpPr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BAA62B1B-FC44-7EEE-31D2-7A681BFCFE4C}"/>
                  </a:ext>
                </a:extLst>
              </p:cNvPr>
              <p:cNvSpPr/>
              <p:nvPr/>
            </p:nvSpPr>
            <p:spPr>
              <a:xfrm>
                <a:off x="8941" y="2907"/>
                <a:ext cx="1319" cy="1319"/>
              </a:xfrm>
              <a:prstGeom prst="ellipse">
                <a:avLst/>
              </a:prstGeom>
              <a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1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50A4C6"/>
                      </a:gs>
                      <a:gs pos="47000">
                        <a:srgbClr val="6EB6C6"/>
                      </a:gs>
                      <a:gs pos="100000">
                        <a:srgbClr val="97CEC3"/>
                      </a:gs>
                    </a:gsLst>
                    <a:lin ang="16200000" scaled="1"/>
                  </a:gra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C23FC7B5-78EE-8394-24ED-7078ED2A48AE}"/>
                  </a:ext>
                </a:extLst>
              </p:cNvPr>
              <p:cNvGrpSpPr/>
              <p:nvPr/>
            </p:nvGrpSpPr>
            <p:grpSpPr>
              <a:xfrm>
                <a:off x="1592" y="4226"/>
                <a:ext cx="15997" cy="5127"/>
                <a:chOff x="1065" y="3590"/>
                <a:chExt cx="17066" cy="5470"/>
              </a:xfrm>
            </p:grpSpPr>
            <p:sp>
              <p:nvSpPr>
                <p:cNvPr id="20" name="任意多边形 7">
                  <a:extLst>
                    <a:ext uri="{FF2B5EF4-FFF2-40B4-BE49-F238E27FC236}">
                      <a16:creationId xmlns:a16="http://schemas.microsoft.com/office/drawing/2014/main" id="{F4B8C648-8C8E-563D-9843-698D8514ED5B}"/>
                    </a:ext>
                  </a:extLst>
                </p:cNvPr>
                <p:cNvSpPr/>
                <p:nvPr/>
              </p:nvSpPr>
              <p:spPr>
                <a:xfrm>
                  <a:off x="3521" y="3907"/>
                  <a:ext cx="12159" cy="863"/>
                </a:xfrm>
                <a:custGeom>
                  <a:avLst/>
                  <a:gdLst>
                    <a:gd name="connsiteX0" fmla="*/ 0 w 12568"/>
                    <a:gd name="connsiteY0" fmla="*/ 863 h 863"/>
                    <a:gd name="connsiteX1" fmla="*/ 0 w 12568"/>
                    <a:gd name="connsiteY1" fmla="*/ 288 h 863"/>
                    <a:gd name="connsiteX2" fmla="*/ 288 w 12568"/>
                    <a:gd name="connsiteY2" fmla="*/ 0 h 863"/>
                    <a:gd name="connsiteX3" fmla="*/ 12280 w 12568"/>
                    <a:gd name="connsiteY3" fmla="*/ 0 h 863"/>
                    <a:gd name="connsiteX4" fmla="*/ 12568 w 12568"/>
                    <a:gd name="connsiteY4" fmla="*/ 288 h 863"/>
                    <a:gd name="connsiteX5" fmla="*/ 12568 w 12568"/>
                    <a:gd name="connsiteY5" fmla="*/ 863 h 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568" h="863">
                      <a:moveTo>
                        <a:pt x="0" y="863"/>
                      </a:moveTo>
                      <a:lnTo>
                        <a:pt x="0" y="288"/>
                      </a:lnTo>
                      <a:cubicBezTo>
                        <a:pt x="0" y="129"/>
                        <a:pt x="129" y="0"/>
                        <a:pt x="288" y="0"/>
                      </a:cubicBezTo>
                      <a:lnTo>
                        <a:pt x="12280" y="0"/>
                      </a:lnTo>
                      <a:cubicBezTo>
                        <a:pt x="12439" y="0"/>
                        <a:pt x="12568" y="129"/>
                        <a:pt x="12568" y="288"/>
                      </a:cubicBezTo>
                      <a:lnTo>
                        <a:pt x="12568" y="863"/>
                      </a:lnTo>
                    </a:path>
                  </a:pathLst>
                </a:custGeom>
                <a:noFill/>
                <a:ln w="25400">
                  <a:solidFill>
                    <a:srgbClr val="DBE8F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cxnSp>
              <p:nvCxnSpPr>
                <p:cNvPr id="21" name="直接连接符 21">
                  <a:extLst>
                    <a:ext uri="{FF2B5EF4-FFF2-40B4-BE49-F238E27FC236}">
                      <a16:creationId xmlns:a16="http://schemas.microsoft.com/office/drawing/2014/main" id="{0C36BD5E-BD0F-E4B4-869C-FF858A7A4BF5}"/>
                    </a:ext>
                  </a:extLst>
                </p:cNvPr>
                <p:cNvCxnSpPr/>
                <p:nvPr/>
              </p:nvCxnSpPr>
              <p:spPr>
                <a:xfrm>
                  <a:off x="9600" y="3590"/>
                  <a:ext cx="0" cy="1180"/>
                </a:xfrm>
                <a:prstGeom prst="line">
                  <a:avLst/>
                </a:prstGeom>
                <a:noFill/>
                <a:ln w="25400">
                  <a:solidFill>
                    <a:srgbClr val="DBE8F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2" name="圆角矩形 11">
                  <a:extLst>
                    <a:ext uri="{FF2B5EF4-FFF2-40B4-BE49-F238E27FC236}">
                      <a16:creationId xmlns:a16="http://schemas.microsoft.com/office/drawing/2014/main" id="{0C96EF04-B082-6C83-64DD-9F408D05B153}"/>
                    </a:ext>
                  </a:extLst>
                </p:cNvPr>
                <p:cNvSpPr/>
                <p:nvPr/>
              </p:nvSpPr>
              <p:spPr>
                <a:xfrm>
                  <a:off x="1065" y="4770"/>
                  <a:ext cx="4887" cy="4290"/>
                </a:xfrm>
                <a:prstGeom prst="roundRect">
                  <a:avLst>
                    <a:gd name="adj" fmla="val 7599"/>
                  </a:avLst>
                </a:prstGeom>
                <a:gradFill>
                  <a:gsLst>
                    <a:gs pos="0">
                      <a:srgbClr val="0960E5">
                        <a:alpha val="32000"/>
                      </a:srgbClr>
                    </a:gs>
                    <a:gs pos="39000">
                      <a:schemeClr val="bg1">
                        <a:alpha val="0"/>
                      </a:schemeClr>
                    </a:gs>
                  </a:gsLst>
                  <a:lin ang="16800000" scaled="0"/>
                </a:gradFill>
                <a:ln w="254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圆角矩形 14">
                  <a:extLst>
                    <a:ext uri="{FF2B5EF4-FFF2-40B4-BE49-F238E27FC236}">
                      <a16:creationId xmlns:a16="http://schemas.microsoft.com/office/drawing/2014/main" id="{BD1B6907-1988-C608-6E73-DC3A4EC7E00A}"/>
                    </a:ext>
                  </a:extLst>
                </p:cNvPr>
                <p:cNvSpPr/>
                <p:nvPr/>
              </p:nvSpPr>
              <p:spPr>
                <a:xfrm>
                  <a:off x="7157" y="4770"/>
                  <a:ext cx="4887" cy="4290"/>
                </a:xfrm>
                <a:prstGeom prst="roundRect">
                  <a:avLst>
                    <a:gd name="adj" fmla="val 7599"/>
                  </a:avLst>
                </a:prstGeom>
                <a:gradFill>
                  <a:gsLst>
                    <a:gs pos="0">
                      <a:srgbClr val="0960E5">
                        <a:alpha val="32000"/>
                      </a:srgbClr>
                    </a:gs>
                    <a:gs pos="39000">
                      <a:schemeClr val="bg1">
                        <a:alpha val="0"/>
                      </a:schemeClr>
                    </a:gs>
                  </a:gsLst>
                  <a:lin ang="16800000" scaled="0"/>
                </a:gradFill>
                <a:ln w="254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圆角矩形 15">
                  <a:extLst>
                    <a:ext uri="{FF2B5EF4-FFF2-40B4-BE49-F238E27FC236}">
                      <a16:creationId xmlns:a16="http://schemas.microsoft.com/office/drawing/2014/main" id="{52F4BD84-748F-C2DE-22C5-FE7A7775D6C0}"/>
                    </a:ext>
                  </a:extLst>
                </p:cNvPr>
                <p:cNvSpPr/>
                <p:nvPr/>
              </p:nvSpPr>
              <p:spPr>
                <a:xfrm>
                  <a:off x="13244" y="4770"/>
                  <a:ext cx="4887" cy="4290"/>
                </a:xfrm>
                <a:prstGeom prst="roundRect">
                  <a:avLst>
                    <a:gd name="adj" fmla="val 7599"/>
                  </a:avLst>
                </a:prstGeom>
                <a:gradFill>
                  <a:gsLst>
                    <a:gs pos="0">
                      <a:srgbClr val="0960E5">
                        <a:alpha val="32000"/>
                      </a:srgbClr>
                    </a:gs>
                    <a:gs pos="39000">
                      <a:schemeClr val="bg1">
                        <a:alpha val="0"/>
                      </a:schemeClr>
                    </a:gs>
                  </a:gsLst>
                  <a:lin ang="16800000" scaled="0"/>
                </a:gradFill>
                <a:ln w="254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3EF8323A-D83F-8DCB-52F0-9142BAB5E7FE}"/>
                  </a:ext>
                </a:extLst>
              </p:cNvPr>
              <p:cNvSpPr/>
              <p:nvPr/>
            </p:nvSpPr>
            <p:spPr>
              <a:xfrm>
                <a:off x="14817" y="4933"/>
                <a:ext cx="934" cy="934"/>
              </a:xfrm>
              <a:prstGeom prst="ellipse">
                <a:avLst/>
              </a:prstGeom>
              <a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3</a:t>
                </a: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DAF0133-1B2D-229E-337B-8248E4A6EA9F}"/>
                  </a:ext>
                </a:extLst>
              </p:cNvPr>
              <p:cNvSpPr/>
              <p:nvPr/>
            </p:nvSpPr>
            <p:spPr>
              <a:xfrm>
                <a:off x="9135" y="4933"/>
                <a:ext cx="934" cy="934"/>
              </a:xfrm>
              <a:prstGeom prst="ellipse">
                <a:avLst/>
              </a:prstGeom>
              <a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2</a:t>
                </a: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3C0B35F0-272F-20FB-703C-5CDA191FD3E8}"/>
                  </a:ext>
                </a:extLst>
              </p:cNvPr>
              <p:cNvSpPr/>
              <p:nvPr/>
            </p:nvSpPr>
            <p:spPr>
              <a:xfrm>
                <a:off x="3430" y="4933"/>
                <a:ext cx="934" cy="934"/>
              </a:xfrm>
              <a:prstGeom prst="ellipse">
                <a:avLst/>
              </a:prstGeom>
              <a:blipFill>
                <a:blip r:embed="rId4" cstate="email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4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ea"/>
                    <a:sym typeface="+mn-lt"/>
                  </a:rPr>
                  <a:t>1</a:t>
                </a: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Rectangle 60">
                <a:extLst>
                  <a:ext uri="{FF2B5EF4-FFF2-40B4-BE49-F238E27FC236}">
                    <a16:creationId xmlns:a16="http://schemas.microsoft.com/office/drawing/2014/main" id="{513194A8-A4BD-FF7B-9F67-2D20CDE4E3E7}"/>
                  </a:ext>
                </a:extLst>
              </p:cNvPr>
              <p:cNvSpPr/>
              <p:nvPr/>
            </p:nvSpPr>
            <p:spPr>
              <a:xfrm>
                <a:off x="8313" y="6065"/>
                <a:ext cx="2497" cy="48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黑体 CN Bold" panose="020B0800000000000000" charset="-122"/>
                    <a:sym typeface="+mn-ea"/>
                  </a:rPr>
                  <a:t>对科研机构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Arial" panose="020B0604020202020204" pitchFamily="34" charset="0"/>
                  <a:sym typeface="思源黑体 CN Bold" panose="020B0800000000000000" charset="-122"/>
                </a:endParaRPr>
              </a:p>
            </p:txBody>
          </p:sp>
          <p:sp>
            <p:nvSpPr>
              <p:cNvPr id="15" name="TextBox 59">
                <a:extLst>
                  <a:ext uri="{FF2B5EF4-FFF2-40B4-BE49-F238E27FC236}">
                    <a16:creationId xmlns:a16="http://schemas.microsoft.com/office/drawing/2014/main" id="{A5D73CB7-4CF9-0390-A0F1-19B8B640A435}"/>
                  </a:ext>
                </a:extLst>
              </p:cNvPr>
              <p:cNvSpPr txBox="1"/>
              <p:nvPr/>
            </p:nvSpPr>
            <p:spPr>
              <a:xfrm>
                <a:off x="7938" y="6651"/>
                <a:ext cx="3280" cy="24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cs"/>
                    <a:sym typeface="+mn-ea"/>
                  </a:rPr>
                  <a:t>通过优化团队布局、指导跨机构或者跨国合作、提高科研产出质量。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n-ea"/>
                  <a:sym typeface="+mn-ea"/>
                </a:endParaRPr>
              </a:p>
            </p:txBody>
          </p:sp>
          <p:sp>
            <p:nvSpPr>
              <p:cNvPr id="16" name="Rectangle 60">
                <a:extLst>
                  <a:ext uri="{FF2B5EF4-FFF2-40B4-BE49-F238E27FC236}">
                    <a16:creationId xmlns:a16="http://schemas.microsoft.com/office/drawing/2014/main" id="{ECFE182A-4E46-6706-1044-8A482B96EFFD}"/>
                  </a:ext>
                </a:extLst>
              </p:cNvPr>
              <p:cNvSpPr/>
              <p:nvPr/>
            </p:nvSpPr>
            <p:spPr>
              <a:xfrm>
                <a:off x="14044" y="6065"/>
                <a:ext cx="2497" cy="48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黑体 CN Bold" panose="020B0800000000000000" charset="-122"/>
                    <a:sym typeface="+mn-ea"/>
                  </a:rPr>
                  <a:t>对领域发展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Arial" panose="020B0604020202020204" pitchFamily="34" charset="0"/>
                  <a:sym typeface="思源黑体 CN Bold" panose="020B0800000000000000" charset="-122"/>
                </a:endParaRPr>
              </a:p>
            </p:txBody>
          </p:sp>
          <p:sp>
            <p:nvSpPr>
              <p:cNvPr id="17" name="TextBox 59">
                <a:extLst>
                  <a:ext uri="{FF2B5EF4-FFF2-40B4-BE49-F238E27FC236}">
                    <a16:creationId xmlns:a16="http://schemas.microsoft.com/office/drawing/2014/main" id="{D15929A7-7BC2-134D-BB27-1C1BD8238A5E}"/>
                  </a:ext>
                </a:extLst>
              </p:cNvPr>
              <p:cNvSpPr txBox="1"/>
              <p:nvPr/>
            </p:nvSpPr>
            <p:spPr>
              <a:xfrm>
                <a:off x="13747" y="6651"/>
                <a:ext cx="3280" cy="26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cs"/>
                    <a:sym typeface="+mn-ea"/>
                  </a:rPr>
                  <a:t>实现 </a:t>
                </a: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cs"/>
                    <a:sym typeface="+mn-ea"/>
                  </a:rPr>
                  <a:t>ADHD 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cs"/>
                    <a:sym typeface="+mn-ea"/>
                  </a:rPr>
                  <a:t>领域研究的数据化、科学化，推进该领域进一步发展。使其更加普及，不再出现“</a:t>
                </a:r>
                <a:r>
                  <a: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cs"/>
                    <a:sym typeface="+mn-ea"/>
                  </a:rPr>
                  <a:t>人人确诊</a:t>
                </a:r>
                <a:r>
                  <a: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cs"/>
                    <a:sym typeface="+mn-ea"/>
                  </a:rPr>
                  <a:t>ADHD</a:t>
                </a: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cs"/>
                    <a:sym typeface="+mn-ea"/>
                  </a:rPr>
                  <a:t>”。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n-ea"/>
                  <a:sym typeface="+mn-ea"/>
                </a:endParaRPr>
              </a:p>
            </p:txBody>
          </p:sp>
          <p:sp>
            <p:nvSpPr>
              <p:cNvPr id="18" name="Rectangle 60">
                <a:extLst>
                  <a:ext uri="{FF2B5EF4-FFF2-40B4-BE49-F238E27FC236}">
                    <a16:creationId xmlns:a16="http://schemas.microsoft.com/office/drawing/2014/main" id="{2F273D4C-16B8-19A2-B449-76C5AACD14CD}"/>
                  </a:ext>
                </a:extLst>
              </p:cNvPr>
              <p:cNvSpPr/>
              <p:nvPr/>
            </p:nvSpPr>
            <p:spPr>
              <a:xfrm>
                <a:off x="2619" y="6065"/>
                <a:ext cx="2497" cy="485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思源黑体 CN Bold" panose="020B0800000000000000" charset="-122"/>
                    <a:sym typeface="+mn-ea"/>
                  </a:rPr>
                  <a:t>对研究者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Arial" panose="020B0604020202020204" pitchFamily="34" charset="0"/>
                  <a:sym typeface="思源黑体 CN Bold" panose="020B0800000000000000" charset="-122"/>
                </a:endParaRPr>
              </a:p>
            </p:txBody>
          </p:sp>
          <p:sp>
            <p:nvSpPr>
              <p:cNvPr id="19" name="TextBox 59">
                <a:extLst>
                  <a:ext uri="{FF2B5EF4-FFF2-40B4-BE49-F238E27FC236}">
                    <a16:creationId xmlns:a16="http://schemas.microsoft.com/office/drawing/2014/main" id="{E69865BB-4ED0-7B90-32CE-26E5EC7F89C6}"/>
                  </a:ext>
                </a:extLst>
              </p:cNvPr>
              <p:cNvSpPr txBox="1"/>
              <p:nvPr/>
            </p:nvSpPr>
            <p:spPr>
              <a:xfrm>
                <a:off x="2244" y="6651"/>
                <a:ext cx="3280" cy="18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思源宋体 CN Light" panose="02020300000000000000" pitchFamily="18" charset="-122"/>
                    <a:ea typeface="思源宋体 CN Light" panose="02020300000000000000" pitchFamily="18" charset="-122"/>
                    <a:cs typeface="+mn-cs"/>
                    <a:sym typeface="+mn-ea"/>
                  </a:rPr>
                  <a:t>能够快速定位热点主题、找到创新方向、提升论文影响力。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思源宋体 CN Light" panose="02020300000000000000" pitchFamily="18" charset="-122"/>
                  <a:ea typeface="思源宋体 CN Light" panose="02020300000000000000" pitchFamily="18" charset="-122"/>
                  <a:cs typeface="+mn-ea"/>
                  <a:sym typeface="+mn-ea"/>
                </a:endParaRPr>
              </a:p>
            </p:txBody>
          </p:sp>
        </p:grp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751E90DF-A597-6A04-B699-6A488CA9597F}"/>
                </a:ext>
              </a:extLst>
            </p:cNvPr>
            <p:cNvSpPr>
              <a:spLocks noEditPoints="1"/>
            </p:cNvSpPr>
            <p:nvPr>
              <p:custDataLst>
                <p:tags r:id="rId1"/>
              </p:custDataLst>
            </p:nvPr>
          </p:nvSpPr>
          <p:spPr bwMode="auto">
            <a:xfrm>
              <a:off x="4530174" y="1294644"/>
              <a:ext cx="287043" cy="337087"/>
            </a:xfrm>
            <a:custGeom>
              <a:avLst/>
              <a:gdLst>
                <a:gd name="T0" fmla="*/ 90 w 641"/>
                <a:gd name="T1" fmla="*/ 424 h 748"/>
                <a:gd name="T2" fmla="*/ 158 w 641"/>
                <a:gd name="T3" fmla="*/ 424 h 748"/>
                <a:gd name="T4" fmla="*/ 205 w 641"/>
                <a:gd name="T5" fmla="*/ 408 h 748"/>
                <a:gd name="T6" fmla="*/ 291 w 641"/>
                <a:gd name="T7" fmla="*/ 588 h 748"/>
                <a:gd name="T8" fmla="*/ 312 w 641"/>
                <a:gd name="T9" fmla="*/ 475 h 748"/>
                <a:gd name="T10" fmla="*/ 297 w 641"/>
                <a:gd name="T11" fmla="*/ 468 h 748"/>
                <a:gd name="T12" fmla="*/ 298 w 641"/>
                <a:gd name="T13" fmla="*/ 452 h 748"/>
                <a:gd name="T14" fmla="*/ 360 w 641"/>
                <a:gd name="T15" fmla="*/ 452 h 748"/>
                <a:gd name="T16" fmla="*/ 360 w 641"/>
                <a:gd name="T17" fmla="*/ 468 h 748"/>
                <a:gd name="T18" fmla="*/ 346 w 641"/>
                <a:gd name="T19" fmla="*/ 475 h 748"/>
                <a:gd name="T20" fmla="*/ 365 w 641"/>
                <a:gd name="T21" fmla="*/ 583 h 748"/>
                <a:gd name="T22" fmla="*/ 439 w 641"/>
                <a:gd name="T23" fmla="*/ 415 h 748"/>
                <a:gd name="T24" fmla="*/ 482 w 641"/>
                <a:gd name="T25" fmla="*/ 420 h 748"/>
                <a:gd name="T26" fmla="*/ 545 w 641"/>
                <a:gd name="T27" fmla="*/ 420 h 748"/>
                <a:gd name="T28" fmla="*/ 632 w 641"/>
                <a:gd name="T29" fmla="*/ 691 h 748"/>
                <a:gd name="T30" fmla="*/ 544 w 641"/>
                <a:gd name="T31" fmla="*/ 722 h 748"/>
                <a:gd name="T32" fmla="*/ 532 w 641"/>
                <a:gd name="T33" fmla="*/ 681 h 748"/>
                <a:gd name="T34" fmla="*/ 504 w 641"/>
                <a:gd name="T35" fmla="*/ 729 h 748"/>
                <a:gd name="T36" fmla="*/ 123 w 641"/>
                <a:gd name="T37" fmla="*/ 731 h 748"/>
                <a:gd name="T38" fmla="*/ 94 w 641"/>
                <a:gd name="T39" fmla="*/ 681 h 748"/>
                <a:gd name="T40" fmla="*/ 81 w 641"/>
                <a:gd name="T41" fmla="*/ 724 h 748"/>
                <a:gd name="T42" fmla="*/ 0 w 641"/>
                <a:gd name="T43" fmla="*/ 691 h 748"/>
                <a:gd name="T44" fmla="*/ 90 w 641"/>
                <a:gd name="T45" fmla="*/ 424 h 748"/>
                <a:gd name="T46" fmla="*/ 185 w 641"/>
                <a:gd name="T47" fmla="*/ 289 h 748"/>
                <a:gd name="T48" fmla="*/ 185 w 641"/>
                <a:gd name="T49" fmla="*/ 289 h 748"/>
                <a:gd name="T50" fmla="*/ 163 w 641"/>
                <a:gd name="T51" fmla="*/ 264 h 748"/>
                <a:gd name="T52" fmla="*/ 155 w 641"/>
                <a:gd name="T53" fmla="*/ 214 h 748"/>
                <a:gd name="T54" fmla="*/ 155 w 641"/>
                <a:gd name="T55" fmla="*/ 207 h 748"/>
                <a:gd name="T56" fmla="*/ 160 w 641"/>
                <a:gd name="T57" fmla="*/ 204 h 748"/>
                <a:gd name="T58" fmla="*/ 164 w 641"/>
                <a:gd name="T59" fmla="*/ 202 h 748"/>
                <a:gd name="T60" fmla="*/ 199 w 641"/>
                <a:gd name="T61" fmla="*/ 47 h 748"/>
                <a:gd name="T62" fmla="*/ 423 w 641"/>
                <a:gd name="T63" fmla="*/ 43 h 748"/>
                <a:gd name="T64" fmla="*/ 466 w 641"/>
                <a:gd name="T65" fmla="*/ 200 h 748"/>
                <a:gd name="T66" fmla="*/ 472 w 641"/>
                <a:gd name="T67" fmla="*/ 204 h 748"/>
                <a:gd name="T68" fmla="*/ 478 w 641"/>
                <a:gd name="T69" fmla="*/ 207 h 748"/>
                <a:gd name="T70" fmla="*/ 478 w 641"/>
                <a:gd name="T71" fmla="*/ 214 h 748"/>
                <a:gd name="T72" fmla="*/ 471 w 641"/>
                <a:gd name="T73" fmla="*/ 263 h 748"/>
                <a:gd name="T74" fmla="*/ 449 w 641"/>
                <a:gd name="T75" fmla="*/ 288 h 748"/>
                <a:gd name="T76" fmla="*/ 328 w 641"/>
                <a:gd name="T77" fmla="*/ 397 h 748"/>
                <a:gd name="T78" fmla="*/ 299 w 641"/>
                <a:gd name="T79" fmla="*/ 395 h 748"/>
                <a:gd name="T80" fmla="*/ 185 w 641"/>
                <a:gd name="T81" fmla="*/ 289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41" h="748">
                  <a:moveTo>
                    <a:pt x="90" y="424"/>
                  </a:moveTo>
                  <a:cubicBezTo>
                    <a:pt x="114" y="424"/>
                    <a:pt x="137" y="424"/>
                    <a:pt x="158" y="424"/>
                  </a:cubicBezTo>
                  <a:cubicBezTo>
                    <a:pt x="178" y="425"/>
                    <a:pt x="194" y="421"/>
                    <a:pt x="205" y="408"/>
                  </a:cubicBezTo>
                  <a:lnTo>
                    <a:pt x="291" y="588"/>
                  </a:lnTo>
                  <a:lnTo>
                    <a:pt x="312" y="475"/>
                  </a:lnTo>
                  <a:lnTo>
                    <a:pt x="297" y="468"/>
                  </a:lnTo>
                  <a:lnTo>
                    <a:pt x="298" y="452"/>
                  </a:lnTo>
                  <a:lnTo>
                    <a:pt x="360" y="452"/>
                  </a:lnTo>
                  <a:lnTo>
                    <a:pt x="360" y="468"/>
                  </a:lnTo>
                  <a:lnTo>
                    <a:pt x="346" y="475"/>
                  </a:lnTo>
                  <a:lnTo>
                    <a:pt x="365" y="583"/>
                  </a:lnTo>
                  <a:lnTo>
                    <a:pt x="439" y="415"/>
                  </a:lnTo>
                  <a:cubicBezTo>
                    <a:pt x="450" y="420"/>
                    <a:pt x="464" y="422"/>
                    <a:pt x="482" y="420"/>
                  </a:cubicBezTo>
                  <a:cubicBezTo>
                    <a:pt x="502" y="420"/>
                    <a:pt x="523" y="420"/>
                    <a:pt x="545" y="420"/>
                  </a:cubicBezTo>
                  <a:cubicBezTo>
                    <a:pt x="604" y="475"/>
                    <a:pt x="641" y="606"/>
                    <a:pt x="632" y="691"/>
                  </a:cubicBezTo>
                  <a:cubicBezTo>
                    <a:pt x="614" y="704"/>
                    <a:pt x="583" y="714"/>
                    <a:pt x="544" y="722"/>
                  </a:cubicBezTo>
                  <a:lnTo>
                    <a:pt x="532" y="681"/>
                  </a:lnTo>
                  <a:lnTo>
                    <a:pt x="504" y="729"/>
                  </a:lnTo>
                  <a:cubicBezTo>
                    <a:pt x="390" y="746"/>
                    <a:pt x="233" y="748"/>
                    <a:pt x="123" y="731"/>
                  </a:cubicBezTo>
                  <a:lnTo>
                    <a:pt x="94" y="681"/>
                  </a:lnTo>
                  <a:lnTo>
                    <a:pt x="81" y="724"/>
                  </a:lnTo>
                  <a:cubicBezTo>
                    <a:pt x="43" y="716"/>
                    <a:pt x="14" y="705"/>
                    <a:pt x="0" y="691"/>
                  </a:cubicBezTo>
                  <a:cubicBezTo>
                    <a:pt x="1" y="616"/>
                    <a:pt x="15" y="489"/>
                    <a:pt x="90" y="424"/>
                  </a:cubicBezTo>
                  <a:close/>
                  <a:moveTo>
                    <a:pt x="185" y="289"/>
                  </a:moveTo>
                  <a:lnTo>
                    <a:pt x="185" y="289"/>
                  </a:lnTo>
                  <a:cubicBezTo>
                    <a:pt x="175" y="284"/>
                    <a:pt x="168" y="275"/>
                    <a:pt x="163" y="264"/>
                  </a:cubicBezTo>
                  <a:cubicBezTo>
                    <a:pt x="157" y="251"/>
                    <a:pt x="155" y="234"/>
                    <a:pt x="155" y="214"/>
                  </a:cubicBezTo>
                  <a:lnTo>
                    <a:pt x="155" y="207"/>
                  </a:lnTo>
                  <a:lnTo>
                    <a:pt x="160" y="204"/>
                  </a:lnTo>
                  <a:cubicBezTo>
                    <a:pt x="162" y="203"/>
                    <a:pt x="163" y="202"/>
                    <a:pt x="164" y="202"/>
                  </a:cubicBezTo>
                  <a:cubicBezTo>
                    <a:pt x="152" y="117"/>
                    <a:pt x="162" y="78"/>
                    <a:pt x="199" y="47"/>
                  </a:cubicBezTo>
                  <a:cubicBezTo>
                    <a:pt x="256" y="0"/>
                    <a:pt x="365" y="0"/>
                    <a:pt x="423" y="43"/>
                  </a:cubicBezTo>
                  <a:cubicBezTo>
                    <a:pt x="463" y="72"/>
                    <a:pt x="477" y="123"/>
                    <a:pt x="466" y="200"/>
                  </a:cubicBezTo>
                  <a:cubicBezTo>
                    <a:pt x="468" y="201"/>
                    <a:pt x="470" y="202"/>
                    <a:pt x="472" y="204"/>
                  </a:cubicBezTo>
                  <a:lnTo>
                    <a:pt x="478" y="207"/>
                  </a:lnTo>
                  <a:lnTo>
                    <a:pt x="478" y="214"/>
                  </a:lnTo>
                  <a:cubicBezTo>
                    <a:pt x="478" y="233"/>
                    <a:pt x="476" y="250"/>
                    <a:pt x="471" y="263"/>
                  </a:cubicBezTo>
                  <a:cubicBezTo>
                    <a:pt x="466" y="275"/>
                    <a:pt x="459" y="283"/>
                    <a:pt x="449" y="288"/>
                  </a:cubicBezTo>
                  <a:cubicBezTo>
                    <a:pt x="434" y="338"/>
                    <a:pt x="381" y="392"/>
                    <a:pt x="328" y="397"/>
                  </a:cubicBezTo>
                  <a:cubicBezTo>
                    <a:pt x="319" y="398"/>
                    <a:pt x="308" y="398"/>
                    <a:pt x="299" y="395"/>
                  </a:cubicBezTo>
                  <a:cubicBezTo>
                    <a:pt x="241" y="374"/>
                    <a:pt x="203" y="350"/>
                    <a:pt x="185" y="2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Light" panose="02020300000000000000" pitchFamily="18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193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;p3">
            <a:extLst>
              <a:ext uri="{FF2B5EF4-FFF2-40B4-BE49-F238E27FC236}">
                <a16:creationId xmlns:a16="http://schemas.microsoft.com/office/drawing/2014/main" id="{9AD3FB53-64F2-BC76-EB33-EFDB4518EF1F}"/>
              </a:ext>
            </a:extLst>
          </p:cNvPr>
          <p:cNvSpPr/>
          <p:nvPr/>
        </p:nvSpPr>
        <p:spPr>
          <a:xfrm rot="10800000">
            <a:off x="5518762" y="2125153"/>
            <a:ext cx="3625238" cy="3018346"/>
          </a:xfrm>
          <a:custGeom>
            <a:avLst/>
            <a:gdLst/>
            <a:ahLst/>
            <a:cxnLst/>
            <a:rect l="l" t="t" r="r" b="b"/>
            <a:pathLst>
              <a:path w="70451" h="60603" extrusionOk="0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8" name="Google Shape;58;p3">
            <a:extLst>
              <a:ext uri="{FF2B5EF4-FFF2-40B4-BE49-F238E27FC236}">
                <a16:creationId xmlns:a16="http://schemas.microsoft.com/office/drawing/2014/main" id="{0EC34596-2897-2EC2-BAAF-01BA149AD2B4}"/>
              </a:ext>
            </a:extLst>
          </p:cNvPr>
          <p:cNvSpPr/>
          <p:nvPr/>
        </p:nvSpPr>
        <p:spPr>
          <a:xfrm rot="10800000" flipH="1" flipV="1">
            <a:off x="-5818" y="0"/>
            <a:ext cx="1246222" cy="1072019"/>
          </a:xfrm>
          <a:custGeom>
            <a:avLst/>
            <a:gdLst/>
            <a:ahLst/>
            <a:cxnLst/>
            <a:rect l="l" t="t" r="r" b="b"/>
            <a:pathLst>
              <a:path w="70451" h="60603" extrusionOk="0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86738806-A6C2-6206-B513-417CB5216069}"/>
              </a:ext>
            </a:extLst>
          </p:cNvPr>
          <p:cNvSpPr/>
          <p:nvPr/>
        </p:nvSpPr>
        <p:spPr>
          <a:xfrm rot="19800000">
            <a:off x="7300743" y="284091"/>
            <a:ext cx="1370002" cy="1370002"/>
          </a:xfrm>
          <a:custGeom>
            <a:avLst/>
            <a:gdLst>
              <a:gd name="connsiteX0" fmla="*/ 265144 w 1370002"/>
              <a:gd name="connsiteY0" fmla="*/ 1222597 h 1370002"/>
              <a:gd name="connsiteX1" fmla="*/ 1104858 w 1370002"/>
              <a:gd name="connsiteY1" fmla="*/ 1222597 h 1370002"/>
              <a:gd name="connsiteX2" fmla="*/ 1067992 w 1370002"/>
              <a:gd name="connsiteY2" fmla="*/ 1253015 h 1370002"/>
              <a:gd name="connsiteX3" fmla="*/ 685001 w 1370002"/>
              <a:gd name="connsiteY3" fmla="*/ 1370002 h 1370002"/>
              <a:gd name="connsiteX4" fmla="*/ 302011 w 1370002"/>
              <a:gd name="connsiteY4" fmla="*/ 1253015 h 1370002"/>
              <a:gd name="connsiteX5" fmla="*/ 118807 w 1370002"/>
              <a:gd name="connsiteY5" fmla="*/ 1070197 h 1370002"/>
              <a:gd name="connsiteX6" fmla="*/ 1251195 w 1370002"/>
              <a:gd name="connsiteY6" fmla="*/ 1070197 h 1370002"/>
              <a:gd name="connsiteX7" fmla="*/ 1169370 w 1370002"/>
              <a:gd name="connsiteY7" fmla="*/ 1169370 h 1370002"/>
              <a:gd name="connsiteX8" fmla="*/ 1160270 w 1370002"/>
              <a:gd name="connsiteY8" fmla="*/ 1176878 h 1370002"/>
              <a:gd name="connsiteX9" fmla="*/ 209732 w 1370002"/>
              <a:gd name="connsiteY9" fmla="*/ 1176878 h 1370002"/>
              <a:gd name="connsiteX10" fmla="*/ 200632 w 1370002"/>
              <a:gd name="connsiteY10" fmla="*/ 1169370 h 1370002"/>
              <a:gd name="connsiteX11" fmla="*/ 43327 w 1370002"/>
              <a:gd name="connsiteY11" fmla="*/ 917797 h 1370002"/>
              <a:gd name="connsiteX12" fmla="*/ 1326675 w 1370002"/>
              <a:gd name="connsiteY12" fmla="*/ 917797 h 1370002"/>
              <a:gd name="connsiteX13" fmla="*/ 1316171 w 1370002"/>
              <a:gd name="connsiteY13" fmla="*/ 951635 h 1370002"/>
              <a:gd name="connsiteX14" fmla="*/ 1276633 w 1370002"/>
              <a:gd name="connsiteY14" fmla="*/ 1024478 h 1370002"/>
              <a:gd name="connsiteX15" fmla="*/ 93369 w 1370002"/>
              <a:gd name="connsiteY15" fmla="*/ 1024478 h 1370002"/>
              <a:gd name="connsiteX16" fmla="*/ 53831 w 1370002"/>
              <a:gd name="connsiteY16" fmla="*/ 951635 h 1370002"/>
              <a:gd name="connsiteX17" fmla="*/ 8105 w 1370002"/>
              <a:gd name="connsiteY17" fmla="*/ 765397 h 1370002"/>
              <a:gd name="connsiteX18" fmla="*/ 1361897 w 1370002"/>
              <a:gd name="connsiteY18" fmla="*/ 765397 h 1370002"/>
              <a:gd name="connsiteX19" fmla="*/ 1356085 w 1370002"/>
              <a:gd name="connsiteY19" fmla="*/ 823053 h 1370002"/>
              <a:gd name="connsiteX20" fmla="*/ 1340867 w 1370002"/>
              <a:gd name="connsiteY20" fmla="*/ 872078 h 1370002"/>
              <a:gd name="connsiteX21" fmla="*/ 29135 w 1370002"/>
              <a:gd name="connsiteY21" fmla="*/ 872078 h 1370002"/>
              <a:gd name="connsiteX22" fmla="*/ 13917 w 1370002"/>
              <a:gd name="connsiteY22" fmla="*/ 823053 h 1370002"/>
              <a:gd name="connsiteX23" fmla="*/ 7259 w 1370002"/>
              <a:gd name="connsiteY23" fmla="*/ 612997 h 1370002"/>
              <a:gd name="connsiteX24" fmla="*/ 1362743 w 1370002"/>
              <a:gd name="connsiteY24" fmla="*/ 612997 h 1370002"/>
              <a:gd name="connsiteX25" fmla="*/ 1370002 w 1370002"/>
              <a:gd name="connsiteY25" fmla="*/ 685001 h 1370002"/>
              <a:gd name="connsiteX26" fmla="*/ 1366506 w 1370002"/>
              <a:gd name="connsiteY26" fmla="*/ 719678 h 1370002"/>
              <a:gd name="connsiteX27" fmla="*/ 3496 w 1370002"/>
              <a:gd name="connsiteY27" fmla="*/ 719678 h 1370002"/>
              <a:gd name="connsiteX28" fmla="*/ 0 w 1370002"/>
              <a:gd name="connsiteY28" fmla="*/ 685001 h 1370002"/>
              <a:gd name="connsiteX29" fmla="*/ 40722 w 1370002"/>
              <a:gd name="connsiteY29" fmla="*/ 460597 h 1370002"/>
              <a:gd name="connsiteX30" fmla="*/ 1329280 w 1370002"/>
              <a:gd name="connsiteY30" fmla="*/ 460597 h 1370002"/>
              <a:gd name="connsiteX31" fmla="*/ 1356085 w 1370002"/>
              <a:gd name="connsiteY31" fmla="*/ 546949 h 1370002"/>
              <a:gd name="connsiteX32" fmla="*/ 1358135 w 1370002"/>
              <a:gd name="connsiteY32" fmla="*/ 567278 h 1370002"/>
              <a:gd name="connsiteX33" fmla="*/ 11868 w 1370002"/>
              <a:gd name="connsiteY33" fmla="*/ 567278 h 1370002"/>
              <a:gd name="connsiteX34" fmla="*/ 13917 w 1370002"/>
              <a:gd name="connsiteY34" fmla="*/ 546949 h 1370002"/>
              <a:gd name="connsiteX35" fmla="*/ 113630 w 1370002"/>
              <a:gd name="connsiteY35" fmla="*/ 308197 h 1370002"/>
              <a:gd name="connsiteX36" fmla="*/ 1256373 w 1370002"/>
              <a:gd name="connsiteY36" fmla="*/ 308197 h 1370002"/>
              <a:gd name="connsiteX37" fmla="*/ 1314277 w 1370002"/>
              <a:gd name="connsiteY37" fmla="*/ 414878 h 1370002"/>
              <a:gd name="connsiteX38" fmla="*/ 55725 w 1370002"/>
              <a:gd name="connsiteY38" fmla="*/ 414878 h 1370002"/>
              <a:gd name="connsiteX39" fmla="*/ 254973 w 1370002"/>
              <a:gd name="connsiteY39" fmla="*/ 155797 h 1370002"/>
              <a:gd name="connsiteX40" fmla="*/ 1115030 w 1370002"/>
              <a:gd name="connsiteY40" fmla="*/ 155797 h 1370002"/>
              <a:gd name="connsiteX41" fmla="*/ 1169370 w 1370002"/>
              <a:gd name="connsiteY41" fmla="*/ 200632 h 1370002"/>
              <a:gd name="connsiteX42" fmla="*/ 1220398 w 1370002"/>
              <a:gd name="connsiteY42" fmla="*/ 262478 h 1370002"/>
              <a:gd name="connsiteX43" fmla="*/ 149605 w 1370002"/>
              <a:gd name="connsiteY43" fmla="*/ 262478 h 1370002"/>
              <a:gd name="connsiteX44" fmla="*/ 200632 w 1370002"/>
              <a:gd name="connsiteY44" fmla="*/ 200632 h 1370002"/>
              <a:gd name="connsiteX45" fmla="*/ 685001 w 1370002"/>
              <a:gd name="connsiteY45" fmla="*/ 0 h 1370002"/>
              <a:gd name="connsiteX46" fmla="*/ 951635 w 1370002"/>
              <a:gd name="connsiteY46" fmla="*/ 53831 h 1370002"/>
              <a:gd name="connsiteX47" fmla="*/ 1055263 w 1370002"/>
              <a:gd name="connsiteY47" fmla="*/ 110078 h 1370002"/>
              <a:gd name="connsiteX48" fmla="*/ 314740 w 1370002"/>
              <a:gd name="connsiteY48" fmla="*/ 110078 h 1370002"/>
              <a:gd name="connsiteX49" fmla="*/ 418368 w 1370002"/>
              <a:gd name="connsiteY49" fmla="*/ 53831 h 1370002"/>
              <a:gd name="connsiteX50" fmla="*/ 685001 w 1370002"/>
              <a:gd name="connsiteY50" fmla="*/ 0 h 137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370002" h="1370002">
                <a:moveTo>
                  <a:pt x="265144" y="1222597"/>
                </a:moveTo>
                <a:lnTo>
                  <a:pt x="1104858" y="1222597"/>
                </a:lnTo>
                <a:lnTo>
                  <a:pt x="1067992" y="1253015"/>
                </a:lnTo>
                <a:cubicBezTo>
                  <a:pt x="958665" y="1326874"/>
                  <a:pt x="826870" y="1370002"/>
                  <a:pt x="685001" y="1370002"/>
                </a:cubicBezTo>
                <a:cubicBezTo>
                  <a:pt x="543133" y="1370002"/>
                  <a:pt x="411337" y="1326874"/>
                  <a:pt x="302011" y="1253015"/>
                </a:cubicBezTo>
                <a:close/>
                <a:moveTo>
                  <a:pt x="118807" y="1070197"/>
                </a:moveTo>
                <a:lnTo>
                  <a:pt x="1251195" y="1070197"/>
                </a:lnTo>
                <a:lnTo>
                  <a:pt x="1169370" y="1169370"/>
                </a:lnTo>
                <a:lnTo>
                  <a:pt x="1160270" y="1176878"/>
                </a:lnTo>
                <a:lnTo>
                  <a:pt x="209732" y="1176878"/>
                </a:lnTo>
                <a:lnTo>
                  <a:pt x="200632" y="1169370"/>
                </a:lnTo>
                <a:close/>
                <a:moveTo>
                  <a:pt x="43327" y="917797"/>
                </a:moveTo>
                <a:lnTo>
                  <a:pt x="1326675" y="917797"/>
                </a:lnTo>
                <a:lnTo>
                  <a:pt x="1316171" y="951635"/>
                </a:lnTo>
                <a:lnTo>
                  <a:pt x="1276633" y="1024478"/>
                </a:lnTo>
                <a:lnTo>
                  <a:pt x="93369" y="1024478"/>
                </a:lnTo>
                <a:lnTo>
                  <a:pt x="53831" y="951635"/>
                </a:lnTo>
                <a:close/>
                <a:moveTo>
                  <a:pt x="8105" y="765397"/>
                </a:moveTo>
                <a:lnTo>
                  <a:pt x="1361897" y="765397"/>
                </a:lnTo>
                <a:lnTo>
                  <a:pt x="1356085" y="823053"/>
                </a:lnTo>
                <a:lnTo>
                  <a:pt x="1340867" y="872078"/>
                </a:lnTo>
                <a:lnTo>
                  <a:pt x="29135" y="872078"/>
                </a:lnTo>
                <a:lnTo>
                  <a:pt x="13917" y="823053"/>
                </a:lnTo>
                <a:close/>
                <a:moveTo>
                  <a:pt x="7259" y="612997"/>
                </a:moveTo>
                <a:lnTo>
                  <a:pt x="1362743" y="612997"/>
                </a:lnTo>
                <a:lnTo>
                  <a:pt x="1370002" y="685001"/>
                </a:lnTo>
                <a:lnTo>
                  <a:pt x="1366506" y="719678"/>
                </a:lnTo>
                <a:lnTo>
                  <a:pt x="3496" y="719678"/>
                </a:lnTo>
                <a:lnTo>
                  <a:pt x="0" y="685001"/>
                </a:lnTo>
                <a:close/>
                <a:moveTo>
                  <a:pt x="40722" y="460597"/>
                </a:moveTo>
                <a:lnTo>
                  <a:pt x="1329280" y="460597"/>
                </a:lnTo>
                <a:lnTo>
                  <a:pt x="1356085" y="546949"/>
                </a:lnTo>
                <a:lnTo>
                  <a:pt x="1358135" y="567278"/>
                </a:lnTo>
                <a:lnTo>
                  <a:pt x="11868" y="567278"/>
                </a:lnTo>
                <a:lnTo>
                  <a:pt x="13917" y="546949"/>
                </a:lnTo>
                <a:close/>
                <a:moveTo>
                  <a:pt x="113630" y="308197"/>
                </a:moveTo>
                <a:lnTo>
                  <a:pt x="1256373" y="308197"/>
                </a:lnTo>
                <a:lnTo>
                  <a:pt x="1314277" y="414878"/>
                </a:lnTo>
                <a:lnTo>
                  <a:pt x="55725" y="414878"/>
                </a:lnTo>
                <a:close/>
                <a:moveTo>
                  <a:pt x="254973" y="155797"/>
                </a:moveTo>
                <a:lnTo>
                  <a:pt x="1115030" y="155797"/>
                </a:lnTo>
                <a:lnTo>
                  <a:pt x="1169370" y="200632"/>
                </a:lnTo>
                <a:lnTo>
                  <a:pt x="1220398" y="262478"/>
                </a:lnTo>
                <a:lnTo>
                  <a:pt x="149605" y="262478"/>
                </a:lnTo>
                <a:lnTo>
                  <a:pt x="200632" y="200632"/>
                </a:lnTo>
                <a:close/>
                <a:moveTo>
                  <a:pt x="685001" y="0"/>
                </a:moveTo>
                <a:cubicBezTo>
                  <a:pt x="779580" y="0"/>
                  <a:pt x="869682" y="19168"/>
                  <a:pt x="951635" y="53831"/>
                </a:cubicBezTo>
                <a:lnTo>
                  <a:pt x="1055263" y="110078"/>
                </a:lnTo>
                <a:lnTo>
                  <a:pt x="314740" y="110078"/>
                </a:lnTo>
                <a:lnTo>
                  <a:pt x="418368" y="53831"/>
                </a:lnTo>
                <a:cubicBezTo>
                  <a:pt x="500320" y="19168"/>
                  <a:pt x="590422" y="0"/>
                  <a:pt x="685001" y="0"/>
                </a:cubicBez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2B11C8F-8AB9-1F23-3096-376F98A29BB7}"/>
              </a:ext>
            </a:extLst>
          </p:cNvPr>
          <p:cNvSpPr/>
          <p:nvPr/>
        </p:nvSpPr>
        <p:spPr>
          <a:xfrm rot="19800000">
            <a:off x="4793040" y="3549042"/>
            <a:ext cx="587982" cy="587982"/>
          </a:xfrm>
          <a:custGeom>
            <a:avLst/>
            <a:gdLst>
              <a:gd name="connsiteX0" fmla="*/ 265144 w 1370002"/>
              <a:gd name="connsiteY0" fmla="*/ 1222597 h 1370002"/>
              <a:gd name="connsiteX1" fmla="*/ 1104858 w 1370002"/>
              <a:gd name="connsiteY1" fmla="*/ 1222597 h 1370002"/>
              <a:gd name="connsiteX2" fmla="*/ 1067992 w 1370002"/>
              <a:gd name="connsiteY2" fmla="*/ 1253015 h 1370002"/>
              <a:gd name="connsiteX3" fmla="*/ 685001 w 1370002"/>
              <a:gd name="connsiteY3" fmla="*/ 1370002 h 1370002"/>
              <a:gd name="connsiteX4" fmla="*/ 302011 w 1370002"/>
              <a:gd name="connsiteY4" fmla="*/ 1253015 h 1370002"/>
              <a:gd name="connsiteX5" fmla="*/ 118807 w 1370002"/>
              <a:gd name="connsiteY5" fmla="*/ 1070197 h 1370002"/>
              <a:gd name="connsiteX6" fmla="*/ 1251195 w 1370002"/>
              <a:gd name="connsiteY6" fmla="*/ 1070197 h 1370002"/>
              <a:gd name="connsiteX7" fmla="*/ 1169370 w 1370002"/>
              <a:gd name="connsiteY7" fmla="*/ 1169370 h 1370002"/>
              <a:gd name="connsiteX8" fmla="*/ 1160270 w 1370002"/>
              <a:gd name="connsiteY8" fmla="*/ 1176878 h 1370002"/>
              <a:gd name="connsiteX9" fmla="*/ 209732 w 1370002"/>
              <a:gd name="connsiteY9" fmla="*/ 1176878 h 1370002"/>
              <a:gd name="connsiteX10" fmla="*/ 200632 w 1370002"/>
              <a:gd name="connsiteY10" fmla="*/ 1169370 h 1370002"/>
              <a:gd name="connsiteX11" fmla="*/ 43327 w 1370002"/>
              <a:gd name="connsiteY11" fmla="*/ 917797 h 1370002"/>
              <a:gd name="connsiteX12" fmla="*/ 1326675 w 1370002"/>
              <a:gd name="connsiteY12" fmla="*/ 917797 h 1370002"/>
              <a:gd name="connsiteX13" fmla="*/ 1316171 w 1370002"/>
              <a:gd name="connsiteY13" fmla="*/ 951635 h 1370002"/>
              <a:gd name="connsiteX14" fmla="*/ 1276633 w 1370002"/>
              <a:gd name="connsiteY14" fmla="*/ 1024478 h 1370002"/>
              <a:gd name="connsiteX15" fmla="*/ 93369 w 1370002"/>
              <a:gd name="connsiteY15" fmla="*/ 1024478 h 1370002"/>
              <a:gd name="connsiteX16" fmla="*/ 53831 w 1370002"/>
              <a:gd name="connsiteY16" fmla="*/ 951635 h 1370002"/>
              <a:gd name="connsiteX17" fmla="*/ 8105 w 1370002"/>
              <a:gd name="connsiteY17" fmla="*/ 765397 h 1370002"/>
              <a:gd name="connsiteX18" fmla="*/ 1361897 w 1370002"/>
              <a:gd name="connsiteY18" fmla="*/ 765397 h 1370002"/>
              <a:gd name="connsiteX19" fmla="*/ 1356085 w 1370002"/>
              <a:gd name="connsiteY19" fmla="*/ 823053 h 1370002"/>
              <a:gd name="connsiteX20" fmla="*/ 1340867 w 1370002"/>
              <a:gd name="connsiteY20" fmla="*/ 872078 h 1370002"/>
              <a:gd name="connsiteX21" fmla="*/ 29135 w 1370002"/>
              <a:gd name="connsiteY21" fmla="*/ 872078 h 1370002"/>
              <a:gd name="connsiteX22" fmla="*/ 13917 w 1370002"/>
              <a:gd name="connsiteY22" fmla="*/ 823053 h 1370002"/>
              <a:gd name="connsiteX23" fmla="*/ 7259 w 1370002"/>
              <a:gd name="connsiteY23" fmla="*/ 612997 h 1370002"/>
              <a:gd name="connsiteX24" fmla="*/ 1362743 w 1370002"/>
              <a:gd name="connsiteY24" fmla="*/ 612997 h 1370002"/>
              <a:gd name="connsiteX25" fmla="*/ 1370002 w 1370002"/>
              <a:gd name="connsiteY25" fmla="*/ 685001 h 1370002"/>
              <a:gd name="connsiteX26" fmla="*/ 1366506 w 1370002"/>
              <a:gd name="connsiteY26" fmla="*/ 719678 h 1370002"/>
              <a:gd name="connsiteX27" fmla="*/ 3496 w 1370002"/>
              <a:gd name="connsiteY27" fmla="*/ 719678 h 1370002"/>
              <a:gd name="connsiteX28" fmla="*/ 0 w 1370002"/>
              <a:gd name="connsiteY28" fmla="*/ 685001 h 1370002"/>
              <a:gd name="connsiteX29" fmla="*/ 40722 w 1370002"/>
              <a:gd name="connsiteY29" fmla="*/ 460597 h 1370002"/>
              <a:gd name="connsiteX30" fmla="*/ 1329280 w 1370002"/>
              <a:gd name="connsiteY30" fmla="*/ 460597 h 1370002"/>
              <a:gd name="connsiteX31" fmla="*/ 1356085 w 1370002"/>
              <a:gd name="connsiteY31" fmla="*/ 546949 h 1370002"/>
              <a:gd name="connsiteX32" fmla="*/ 1358135 w 1370002"/>
              <a:gd name="connsiteY32" fmla="*/ 567278 h 1370002"/>
              <a:gd name="connsiteX33" fmla="*/ 11868 w 1370002"/>
              <a:gd name="connsiteY33" fmla="*/ 567278 h 1370002"/>
              <a:gd name="connsiteX34" fmla="*/ 13917 w 1370002"/>
              <a:gd name="connsiteY34" fmla="*/ 546949 h 1370002"/>
              <a:gd name="connsiteX35" fmla="*/ 113630 w 1370002"/>
              <a:gd name="connsiteY35" fmla="*/ 308197 h 1370002"/>
              <a:gd name="connsiteX36" fmla="*/ 1256373 w 1370002"/>
              <a:gd name="connsiteY36" fmla="*/ 308197 h 1370002"/>
              <a:gd name="connsiteX37" fmla="*/ 1314277 w 1370002"/>
              <a:gd name="connsiteY37" fmla="*/ 414878 h 1370002"/>
              <a:gd name="connsiteX38" fmla="*/ 55725 w 1370002"/>
              <a:gd name="connsiteY38" fmla="*/ 414878 h 1370002"/>
              <a:gd name="connsiteX39" fmla="*/ 254973 w 1370002"/>
              <a:gd name="connsiteY39" fmla="*/ 155797 h 1370002"/>
              <a:gd name="connsiteX40" fmla="*/ 1115030 w 1370002"/>
              <a:gd name="connsiteY40" fmla="*/ 155797 h 1370002"/>
              <a:gd name="connsiteX41" fmla="*/ 1169370 w 1370002"/>
              <a:gd name="connsiteY41" fmla="*/ 200632 h 1370002"/>
              <a:gd name="connsiteX42" fmla="*/ 1220398 w 1370002"/>
              <a:gd name="connsiteY42" fmla="*/ 262478 h 1370002"/>
              <a:gd name="connsiteX43" fmla="*/ 149605 w 1370002"/>
              <a:gd name="connsiteY43" fmla="*/ 262478 h 1370002"/>
              <a:gd name="connsiteX44" fmla="*/ 200632 w 1370002"/>
              <a:gd name="connsiteY44" fmla="*/ 200632 h 1370002"/>
              <a:gd name="connsiteX45" fmla="*/ 685001 w 1370002"/>
              <a:gd name="connsiteY45" fmla="*/ 0 h 1370002"/>
              <a:gd name="connsiteX46" fmla="*/ 951635 w 1370002"/>
              <a:gd name="connsiteY46" fmla="*/ 53831 h 1370002"/>
              <a:gd name="connsiteX47" fmla="*/ 1055263 w 1370002"/>
              <a:gd name="connsiteY47" fmla="*/ 110078 h 1370002"/>
              <a:gd name="connsiteX48" fmla="*/ 314740 w 1370002"/>
              <a:gd name="connsiteY48" fmla="*/ 110078 h 1370002"/>
              <a:gd name="connsiteX49" fmla="*/ 418368 w 1370002"/>
              <a:gd name="connsiteY49" fmla="*/ 53831 h 1370002"/>
              <a:gd name="connsiteX50" fmla="*/ 685001 w 1370002"/>
              <a:gd name="connsiteY50" fmla="*/ 0 h 137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370002" h="1370002">
                <a:moveTo>
                  <a:pt x="265144" y="1222597"/>
                </a:moveTo>
                <a:lnTo>
                  <a:pt x="1104858" y="1222597"/>
                </a:lnTo>
                <a:lnTo>
                  <a:pt x="1067992" y="1253015"/>
                </a:lnTo>
                <a:cubicBezTo>
                  <a:pt x="958665" y="1326874"/>
                  <a:pt x="826870" y="1370002"/>
                  <a:pt x="685001" y="1370002"/>
                </a:cubicBezTo>
                <a:cubicBezTo>
                  <a:pt x="543133" y="1370002"/>
                  <a:pt x="411337" y="1326874"/>
                  <a:pt x="302011" y="1253015"/>
                </a:cubicBezTo>
                <a:close/>
                <a:moveTo>
                  <a:pt x="118807" y="1070197"/>
                </a:moveTo>
                <a:lnTo>
                  <a:pt x="1251195" y="1070197"/>
                </a:lnTo>
                <a:lnTo>
                  <a:pt x="1169370" y="1169370"/>
                </a:lnTo>
                <a:lnTo>
                  <a:pt x="1160270" y="1176878"/>
                </a:lnTo>
                <a:lnTo>
                  <a:pt x="209732" y="1176878"/>
                </a:lnTo>
                <a:lnTo>
                  <a:pt x="200632" y="1169370"/>
                </a:lnTo>
                <a:close/>
                <a:moveTo>
                  <a:pt x="43327" y="917797"/>
                </a:moveTo>
                <a:lnTo>
                  <a:pt x="1326675" y="917797"/>
                </a:lnTo>
                <a:lnTo>
                  <a:pt x="1316171" y="951635"/>
                </a:lnTo>
                <a:lnTo>
                  <a:pt x="1276633" y="1024478"/>
                </a:lnTo>
                <a:lnTo>
                  <a:pt x="93369" y="1024478"/>
                </a:lnTo>
                <a:lnTo>
                  <a:pt x="53831" y="951635"/>
                </a:lnTo>
                <a:close/>
                <a:moveTo>
                  <a:pt x="8105" y="765397"/>
                </a:moveTo>
                <a:lnTo>
                  <a:pt x="1361897" y="765397"/>
                </a:lnTo>
                <a:lnTo>
                  <a:pt x="1356085" y="823053"/>
                </a:lnTo>
                <a:lnTo>
                  <a:pt x="1340867" y="872078"/>
                </a:lnTo>
                <a:lnTo>
                  <a:pt x="29135" y="872078"/>
                </a:lnTo>
                <a:lnTo>
                  <a:pt x="13917" y="823053"/>
                </a:lnTo>
                <a:close/>
                <a:moveTo>
                  <a:pt x="7259" y="612997"/>
                </a:moveTo>
                <a:lnTo>
                  <a:pt x="1362743" y="612997"/>
                </a:lnTo>
                <a:lnTo>
                  <a:pt x="1370002" y="685001"/>
                </a:lnTo>
                <a:lnTo>
                  <a:pt x="1366506" y="719678"/>
                </a:lnTo>
                <a:lnTo>
                  <a:pt x="3496" y="719678"/>
                </a:lnTo>
                <a:lnTo>
                  <a:pt x="0" y="685001"/>
                </a:lnTo>
                <a:close/>
                <a:moveTo>
                  <a:pt x="40722" y="460597"/>
                </a:moveTo>
                <a:lnTo>
                  <a:pt x="1329280" y="460597"/>
                </a:lnTo>
                <a:lnTo>
                  <a:pt x="1356085" y="546949"/>
                </a:lnTo>
                <a:lnTo>
                  <a:pt x="1358135" y="567278"/>
                </a:lnTo>
                <a:lnTo>
                  <a:pt x="11868" y="567278"/>
                </a:lnTo>
                <a:lnTo>
                  <a:pt x="13917" y="546949"/>
                </a:lnTo>
                <a:close/>
                <a:moveTo>
                  <a:pt x="113630" y="308197"/>
                </a:moveTo>
                <a:lnTo>
                  <a:pt x="1256373" y="308197"/>
                </a:lnTo>
                <a:lnTo>
                  <a:pt x="1314277" y="414878"/>
                </a:lnTo>
                <a:lnTo>
                  <a:pt x="55725" y="414878"/>
                </a:lnTo>
                <a:close/>
                <a:moveTo>
                  <a:pt x="254973" y="155797"/>
                </a:moveTo>
                <a:lnTo>
                  <a:pt x="1115030" y="155797"/>
                </a:lnTo>
                <a:lnTo>
                  <a:pt x="1169370" y="200632"/>
                </a:lnTo>
                <a:lnTo>
                  <a:pt x="1220398" y="262478"/>
                </a:lnTo>
                <a:lnTo>
                  <a:pt x="149605" y="262478"/>
                </a:lnTo>
                <a:lnTo>
                  <a:pt x="200632" y="200632"/>
                </a:lnTo>
                <a:close/>
                <a:moveTo>
                  <a:pt x="685001" y="0"/>
                </a:moveTo>
                <a:cubicBezTo>
                  <a:pt x="779580" y="0"/>
                  <a:pt x="869682" y="19168"/>
                  <a:pt x="951635" y="53831"/>
                </a:cubicBezTo>
                <a:lnTo>
                  <a:pt x="1055263" y="110078"/>
                </a:lnTo>
                <a:lnTo>
                  <a:pt x="314740" y="110078"/>
                </a:lnTo>
                <a:lnTo>
                  <a:pt x="418368" y="53831"/>
                </a:lnTo>
                <a:cubicBezTo>
                  <a:pt x="500320" y="19168"/>
                  <a:pt x="590422" y="0"/>
                  <a:pt x="685001" y="0"/>
                </a:cubicBez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13" name="Google Shape;58;p3">
            <a:extLst>
              <a:ext uri="{FF2B5EF4-FFF2-40B4-BE49-F238E27FC236}">
                <a16:creationId xmlns:a16="http://schemas.microsoft.com/office/drawing/2014/main" id="{B712AA17-9E0E-4F00-AF94-7E475CED39B5}"/>
              </a:ext>
            </a:extLst>
          </p:cNvPr>
          <p:cNvSpPr/>
          <p:nvPr/>
        </p:nvSpPr>
        <p:spPr>
          <a:xfrm rot="10800000" flipH="1">
            <a:off x="0" y="4071481"/>
            <a:ext cx="1246222" cy="1072019"/>
          </a:xfrm>
          <a:custGeom>
            <a:avLst/>
            <a:gdLst/>
            <a:ahLst/>
            <a:cxnLst/>
            <a:rect l="l" t="t" r="r" b="b"/>
            <a:pathLst>
              <a:path w="70451" h="60603" extrusionOk="0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4D54941-09E9-0EEB-F846-147B1F5122D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330015" y="2014904"/>
            <a:ext cx="4601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Thank You!</a:t>
            </a:r>
            <a:endParaRPr lang="zh-CN" altLang="en-US" sz="5400" dirty="0">
              <a:solidFill>
                <a:schemeClr val="tx1">
                  <a:lumMod val="85000"/>
                  <a:lumOff val="1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2CB71B65-B061-D9C4-31EC-280CE03AC208}"/>
              </a:ext>
            </a:extLst>
          </p:cNvPr>
          <p:cNvGrpSpPr/>
          <p:nvPr/>
        </p:nvGrpSpPr>
        <p:grpSpPr>
          <a:xfrm>
            <a:off x="465144" y="1296039"/>
            <a:ext cx="2590925" cy="612121"/>
            <a:chOff x="4026348" y="725823"/>
            <a:chExt cx="2590925" cy="612121"/>
          </a:xfrm>
          <a:solidFill>
            <a:srgbClr val="0EAB26"/>
          </a:solidFill>
          <a:effectLst>
            <a:reflection blurRad="6350" stA="50000" endA="300" endPos="23000" dir="5400000" sy="-100000" algn="bl" rotWithShape="0"/>
          </a:effectLst>
        </p:grpSpPr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DA1BDC66-DE80-E502-6F7E-F8DD9BC5D5CD}"/>
                </a:ext>
              </a:extLst>
            </p:cNvPr>
            <p:cNvSpPr/>
            <p:nvPr/>
          </p:nvSpPr>
          <p:spPr>
            <a:xfrm>
              <a:off x="4026348" y="725823"/>
              <a:ext cx="612121" cy="612121"/>
            </a:xfrm>
            <a:prstGeom prst="ellipse">
              <a:avLst/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A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D239195-8721-9AEF-D59B-E1DC2324DB63}"/>
                </a:ext>
              </a:extLst>
            </p:cNvPr>
            <p:cNvSpPr/>
            <p:nvPr/>
          </p:nvSpPr>
          <p:spPr>
            <a:xfrm>
              <a:off x="4685949" y="725823"/>
              <a:ext cx="612121" cy="612121"/>
            </a:xfrm>
            <a:prstGeom prst="ellipse">
              <a:avLst/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D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C48C3516-7903-0AE2-1231-BFF44F4F9EB4}"/>
                </a:ext>
              </a:extLst>
            </p:cNvPr>
            <p:cNvSpPr/>
            <p:nvPr/>
          </p:nvSpPr>
          <p:spPr>
            <a:xfrm>
              <a:off x="5345550" y="725823"/>
              <a:ext cx="612121" cy="612121"/>
            </a:xfrm>
            <a:prstGeom prst="ellipse">
              <a:avLst/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H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304E3672-FFF9-A5BD-DE97-D215C6E5B0B9}"/>
                </a:ext>
              </a:extLst>
            </p:cNvPr>
            <p:cNvSpPr/>
            <p:nvPr/>
          </p:nvSpPr>
          <p:spPr>
            <a:xfrm>
              <a:off x="6005152" y="725823"/>
              <a:ext cx="612121" cy="612121"/>
            </a:xfrm>
            <a:prstGeom prst="ellipse">
              <a:avLst/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D</a:t>
              </a:r>
              <a:endParaRPr lang="zh-CN" altLang="en-US" sz="2400" dirty="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57" name="任意多边形 7">
            <a:extLst>
              <a:ext uri="{FF2B5EF4-FFF2-40B4-BE49-F238E27FC236}">
                <a16:creationId xmlns:a16="http://schemas.microsoft.com/office/drawing/2014/main" id="{6D01BEAA-0275-E276-AC09-8B58419DFF1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642172" y="754925"/>
            <a:ext cx="702010" cy="37130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1647" h="922">
                <a:moveTo>
                  <a:pt x="0" y="61"/>
                </a:moveTo>
                <a:cubicBezTo>
                  <a:pt x="0" y="27"/>
                  <a:pt x="26" y="0"/>
                  <a:pt x="58" y="0"/>
                </a:cubicBezTo>
                <a:cubicBezTo>
                  <a:pt x="89" y="0"/>
                  <a:pt x="115" y="27"/>
                  <a:pt x="115" y="61"/>
                </a:cubicBezTo>
                <a:cubicBezTo>
                  <a:pt x="115" y="94"/>
                  <a:pt x="89" y="121"/>
                  <a:pt x="58" y="121"/>
                </a:cubicBezTo>
                <a:cubicBezTo>
                  <a:pt x="26" y="121"/>
                  <a:pt x="0" y="94"/>
                  <a:pt x="0" y="61"/>
                </a:cubicBezTo>
                <a:close/>
                <a:moveTo>
                  <a:pt x="383" y="61"/>
                </a:moveTo>
                <a:cubicBezTo>
                  <a:pt x="383" y="27"/>
                  <a:pt x="409" y="0"/>
                  <a:pt x="441" y="0"/>
                </a:cubicBezTo>
                <a:cubicBezTo>
                  <a:pt x="472" y="0"/>
                  <a:pt x="498" y="27"/>
                  <a:pt x="498" y="61"/>
                </a:cubicBezTo>
                <a:cubicBezTo>
                  <a:pt x="498" y="94"/>
                  <a:pt x="472" y="121"/>
                  <a:pt x="441" y="121"/>
                </a:cubicBezTo>
                <a:cubicBezTo>
                  <a:pt x="409" y="121"/>
                  <a:pt x="383" y="94"/>
                  <a:pt x="383" y="61"/>
                </a:cubicBezTo>
                <a:close/>
                <a:moveTo>
                  <a:pt x="766" y="61"/>
                </a:moveTo>
                <a:cubicBezTo>
                  <a:pt x="766" y="27"/>
                  <a:pt x="792" y="0"/>
                  <a:pt x="824" y="0"/>
                </a:cubicBezTo>
                <a:cubicBezTo>
                  <a:pt x="855" y="0"/>
                  <a:pt x="881" y="27"/>
                  <a:pt x="881" y="61"/>
                </a:cubicBezTo>
                <a:cubicBezTo>
                  <a:pt x="881" y="94"/>
                  <a:pt x="855" y="121"/>
                  <a:pt x="824" y="121"/>
                </a:cubicBezTo>
                <a:cubicBezTo>
                  <a:pt x="792" y="121"/>
                  <a:pt x="766" y="94"/>
                  <a:pt x="766" y="61"/>
                </a:cubicBezTo>
                <a:close/>
                <a:moveTo>
                  <a:pt x="1149" y="61"/>
                </a:moveTo>
                <a:cubicBezTo>
                  <a:pt x="1149" y="27"/>
                  <a:pt x="1175" y="0"/>
                  <a:pt x="1207" y="0"/>
                </a:cubicBezTo>
                <a:cubicBezTo>
                  <a:pt x="1238" y="0"/>
                  <a:pt x="1264" y="27"/>
                  <a:pt x="1264" y="61"/>
                </a:cubicBezTo>
                <a:cubicBezTo>
                  <a:pt x="1264" y="94"/>
                  <a:pt x="1238" y="121"/>
                  <a:pt x="1207" y="121"/>
                </a:cubicBezTo>
                <a:cubicBezTo>
                  <a:pt x="1175" y="121"/>
                  <a:pt x="1149" y="94"/>
                  <a:pt x="1149" y="61"/>
                </a:cubicBezTo>
                <a:close/>
                <a:moveTo>
                  <a:pt x="1532" y="61"/>
                </a:moveTo>
                <a:cubicBezTo>
                  <a:pt x="1532" y="27"/>
                  <a:pt x="1558" y="0"/>
                  <a:pt x="1590" y="0"/>
                </a:cubicBezTo>
                <a:cubicBezTo>
                  <a:pt x="1621" y="0"/>
                  <a:pt x="1647" y="27"/>
                  <a:pt x="1647" y="61"/>
                </a:cubicBezTo>
                <a:cubicBezTo>
                  <a:pt x="1647" y="94"/>
                  <a:pt x="1621" y="121"/>
                  <a:pt x="1590" y="121"/>
                </a:cubicBezTo>
                <a:cubicBezTo>
                  <a:pt x="1558" y="121"/>
                  <a:pt x="1532" y="94"/>
                  <a:pt x="1532" y="61"/>
                </a:cubicBezTo>
                <a:close/>
                <a:moveTo>
                  <a:pt x="0" y="328"/>
                </a:moveTo>
                <a:cubicBezTo>
                  <a:pt x="0" y="294"/>
                  <a:pt x="26" y="267"/>
                  <a:pt x="58" y="267"/>
                </a:cubicBezTo>
                <a:cubicBezTo>
                  <a:pt x="89" y="267"/>
                  <a:pt x="115" y="294"/>
                  <a:pt x="115" y="328"/>
                </a:cubicBezTo>
                <a:cubicBezTo>
                  <a:pt x="115" y="361"/>
                  <a:pt x="89" y="388"/>
                  <a:pt x="58" y="388"/>
                </a:cubicBezTo>
                <a:cubicBezTo>
                  <a:pt x="26" y="388"/>
                  <a:pt x="0" y="361"/>
                  <a:pt x="0" y="328"/>
                </a:cubicBezTo>
                <a:close/>
                <a:moveTo>
                  <a:pt x="383" y="328"/>
                </a:moveTo>
                <a:cubicBezTo>
                  <a:pt x="383" y="294"/>
                  <a:pt x="409" y="267"/>
                  <a:pt x="441" y="267"/>
                </a:cubicBezTo>
                <a:cubicBezTo>
                  <a:pt x="472" y="267"/>
                  <a:pt x="498" y="294"/>
                  <a:pt x="498" y="328"/>
                </a:cubicBezTo>
                <a:cubicBezTo>
                  <a:pt x="498" y="361"/>
                  <a:pt x="472" y="388"/>
                  <a:pt x="441" y="388"/>
                </a:cubicBezTo>
                <a:cubicBezTo>
                  <a:pt x="409" y="388"/>
                  <a:pt x="383" y="361"/>
                  <a:pt x="383" y="328"/>
                </a:cubicBezTo>
                <a:close/>
                <a:moveTo>
                  <a:pt x="766" y="328"/>
                </a:moveTo>
                <a:cubicBezTo>
                  <a:pt x="766" y="294"/>
                  <a:pt x="792" y="267"/>
                  <a:pt x="824" y="267"/>
                </a:cubicBezTo>
                <a:cubicBezTo>
                  <a:pt x="855" y="267"/>
                  <a:pt x="881" y="294"/>
                  <a:pt x="881" y="328"/>
                </a:cubicBezTo>
                <a:cubicBezTo>
                  <a:pt x="881" y="361"/>
                  <a:pt x="855" y="388"/>
                  <a:pt x="824" y="388"/>
                </a:cubicBezTo>
                <a:cubicBezTo>
                  <a:pt x="792" y="388"/>
                  <a:pt x="766" y="361"/>
                  <a:pt x="766" y="328"/>
                </a:cubicBezTo>
                <a:close/>
                <a:moveTo>
                  <a:pt x="1149" y="328"/>
                </a:moveTo>
                <a:cubicBezTo>
                  <a:pt x="1149" y="294"/>
                  <a:pt x="1175" y="267"/>
                  <a:pt x="1207" y="267"/>
                </a:cubicBezTo>
                <a:cubicBezTo>
                  <a:pt x="1238" y="267"/>
                  <a:pt x="1264" y="294"/>
                  <a:pt x="1264" y="328"/>
                </a:cubicBezTo>
                <a:cubicBezTo>
                  <a:pt x="1264" y="361"/>
                  <a:pt x="1238" y="388"/>
                  <a:pt x="1207" y="388"/>
                </a:cubicBezTo>
                <a:cubicBezTo>
                  <a:pt x="1175" y="388"/>
                  <a:pt x="1149" y="361"/>
                  <a:pt x="1149" y="328"/>
                </a:cubicBezTo>
                <a:close/>
                <a:moveTo>
                  <a:pt x="1532" y="328"/>
                </a:moveTo>
                <a:cubicBezTo>
                  <a:pt x="1532" y="294"/>
                  <a:pt x="1558" y="267"/>
                  <a:pt x="1590" y="267"/>
                </a:cubicBezTo>
                <a:cubicBezTo>
                  <a:pt x="1621" y="267"/>
                  <a:pt x="1647" y="294"/>
                  <a:pt x="1647" y="328"/>
                </a:cubicBezTo>
                <a:cubicBezTo>
                  <a:pt x="1647" y="361"/>
                  <a:pt x="1621" y="388"/>
                  <a:pt x="1590" y="388"/>
                </a:cubicBezTo>
                <a:cubicBezTo>
                  <a:pt x="1558" y="388"/>
                  <a:pt x="1532" y="361"/>
                  <a:pt x="1532" y="328"/>
                </a:cubicBezTo>
                <a:close/>
                <a:moveTo>
                  <a:pt x="0" y="595"/>
                </a:moveTo>
                <a:cubicBezTo>
                  <a:pt x="0" y="561"/>
                  <a:pt x="26" y="534"/>
                  <a:pt x="58" y="534"/>
                </a:cubicBezTo>
                <a:cubicBezTo>
                  <a:pt x="89" y="534"/>
                  <a:pt x="115" y="561"/>
                  <a:pt x="115" y="595"/>
                </a:cubicBezTo>
                <a:cubicBezTo>
                  <a:pt x="115" y="628"/>
                  <a:pt x="89" y="655"/>
                  <a:pt x="58" y="655"/>
                </a:cubicBezTo>
                <a:cubicBezTo>
                  <a:pt x="26" y="655"/>
                  <a:pt x="0" y="628"/>
                  <a:pt x="0" y="595"/>
                </a:cubicBezTo>
                <a:close/>
                <a:moveTo>
                  <a:pt x="383" y="595"/>
                </a:moveTo>
                <a:cubicBezTo>
                  <a:pt x="383" y="561"/>
                  <a:pt x="409" y="534"/>
                  <a:pt x="441" y="534"/>
                </a:cubicBezTo>
                <a:cubicBezTo>
                  <a:pt x="472" y="534"/>
                  <a:pt x="498" y="561"/>
                  <a:pt x="498" y="595"/>
                </a:cubicBezTo>
                <a:cubicBezTo>
                  <a:pt x="498" y="628"/>
                  <a:pt x="472" y="655"/>
                  <a:pt x="441" y="655"/>
                </a:cubicBezTo>
                <a:cubicBezTo>
                  <a:pt x="409" y="655"/>
                  <a:pt x="383" y="628"/>
                  <a:pt x="383" y="595"/>
                </a:cubicBezTo>
                <a:close/>
                <a:moveTo>
                  <a:pt x="766" y="595"/>
                </a:moveTo>
                <a:cubicBezTo>
                  <a:pt x="766" y="561"/>
                  <a:pt x="792" y="534"/>
                  <a:pt x="824" y="534"/>
                </a:cubicBezTo>
                <a:cubicBezTo>
                  <a:pt x="855" y="534"/>
                  <a:pt x="881" y="561"/>
                  <a:pt x="881" y="595"/>
                </a:cubicBezTo>
                <a:cubicBezTo>
                  <a:pt x="881" y="628"/>
                  <a:pt x="855" y="655"/>
                  <a:pt x="824" y="655"/>
                </a:cubicBezTo>
                <a:cubicBezTo>
                  <a:pt x="792" y="655"/>
                  <a:pt x="766" y="628"/>
                  <a:pt x="766" y="595"/>
                </a:cubicBezTo>
                <a:close/>
                <a:moveTo>
                  <a:pt x="1149" y="595"/>
                </a:moveTo>
                <a:cubicBezTo>
                  <a:pt x="1149" y="561"/>
                  <a:pt x="1175" y="534"/>
                  <a:pt x="1207" y="534"/>
                </a:cubicBezTo>
                <a:cubicBezTo>
                  <a:pt x="1238" y="534"/>
                  <a:pt x="1264" y="561"/>
                  <a:pt x="1264" y="595"/>
                </a:cubicBezTo>
                <a:cubicBezTo>
                  <a:pt x="1264" y="628"/>
                  <a:pt x="1238" y="655"/>
                  <a:pt x="1207" y="655"/>
                </a:cubicBezTo>
                <a:cubicBezTo>
                  <a:pt x="1175" y="655"/>
                  <a:pt x="1149" y="628"/>
                  <a:pt x="1149" y="595"/>
                </a:cubicBezTo>
                <a:close/>
                <a:moveTo>
                  <a:pt x="1532" y="595"/>
                </a:moveTo>
                <a:cubicBezTo>
                  <a:pt x="1532" y="561"/>
                  <a:pt x="1558" y="534"/>
                  <a:pt x="1590" y="534"/>
                </a:cubicBezTo>
                <a:cubicBezTo>
                  <a:pt x="1621" y="534"/>
                  <a:pt x="1647" y="561"/>
                  <a:pt x="1647" y="595"/>
                </a:cubicBezTo>
                <a:cubicBezTo>
                  <a:pt x="1647" y="628"/>
                  <a:pt x="1621" y="655"/>
                  <a:pt x="1590" y="655"/>
                </a:cubicBezTo>
                <a:cubicBezTo>
                  <a:pt x="1558" y="655"/>
                  <a:pt x="1532" y="628"/>
                  <a:pt x="1532" y="595"/>
                </a:cubicBezTo>
                <a:close/>
                <a:moveTo>
                  <a:pt x="0" y="862"/>
                </a:moveTo>
                <a:cubicBezTo>
                  <a:pt x="0" y="828"/>
                  <a:pt x="26" y="801"/>
                  <a:pt x="58" y="801"/>
                </a:cubicBezTo>
                <a:cubicBezTo>
                  <a:pt x="89" y="801"/>
                  <a:pt x="115" y="828"/>
                  <a:pt x="115" y="862"/>
                </a:cubicBezTo>
                <a:cubicBezTo>
                  <a:pt x="115" y="895"/>
                  <a:pt x="89" y="922"/>
                  <a:pt x="58" y="922"/>
                </a:cubicBezTo>
                <a:cubicBezTo>
                  <a:pt x="26" y="922"/>
                  <a:pt x="0" y="895"/>
                  <a:pt x="0" y="862"/>
                </a:cubicBezTo>
                <a:close/>
                <a:moveTo>
                  <a:pt x="383" y="862"/>
                </a:moveTo>
                <a:cubicBezTo>
                  <a:pt x="383" y="828"/>
                  <a:pt x="409" y="801"/>
                  <a:pt x="441" y="801"/>
                </a:cubicBezTo>
                <a:cubicBezTo>
                  <a:pt x="472" y="801"/>
                  <a:pt x="498" y="828"/>
                  <a:pt x="498" y="862"/>
                </a:cubicBezTo>
                <a:cubicBezTo>
                  <a:pt x="498" y="895"/>
                  <a:pt x="472" y="922"/>
                  <a:pt x="441" y="922"/>
                </a:cubicBezTo>
                <a:cubicBezTo>
                  <a:pt x="409" y="922"/>
                  <a:pt x="383" y="895"/>
                  <a:pt x="383" y="862"/>
                </a:cubicBezTo>
                <a:close/>
                <a:moveTo>
                  <a:pt x="766" y="862"/>
                </a:moveTo>
                <a:cubicBezTo>
                  <a:pt x="766" y="828"/>
                  <a:pt x="792" y="801"/>
                  <a:pt x="824" y="801"/>
                </a:cubicBezTo>
                <a:cubicBezTo>
                  <a:pt x="855" y="801"/>
                  <a:pt x="881" y="828"/>
                  <a:pt x="881" y="862"/>
                </a:cubicBezTo>
                <a:cubicBezTo>
                  <a:pt x="881" y="895"/>
                  <a:pt x="855" y="922"/>
                  <a:pt x="824" y="922"/>
                </a:cubicBezTo>
                <a:cubicBezTo>
                  <a:pt x="792" y="922"/>
                  <a:pt x="766" y="895"/>
                  <a:pt x="766" y="862"/>
                </a:cubicBezTo>
                <a:close/>
                <a:moveTo>
                  <a:pt x="1149" y="862"/>
                </a:moveTo>
                <a:cubicBezTo>
                  <a:pt x="1149" y="828"/>
                  <a:pt x="1175" y="801"/>
                  <a:pt x="1207" y="801"/>
                </a:cubicBezTo>
                <a:cubicBezTo>
                  <a:pt x="1238" y="801"/>
                  <a:pt x="1264" y="828"/>
                  <a:pt x="1264" y="862"/>
                </a:cubicBezTo>
                <a:cubicBezTo>
                  <a:pt x="1264" y="895"/>
                  <a:pt x="1238" y="922"/>
                  <a:pt x="1207" y="922"/>
                </a:cubicBezTo>
                <a:cubicBezTo>
                  <a:pt x="1175" y="922"/>
                  <a:pt x="1149" y="895"/>
                  <a:pt x="1149" y="862"/>
                </a:cubicBezTo>
                <a:close/>
                <a:moveTo>
                  <a:pt x="1532" y="862"/>
                </a:moveTo>
                <a:cubicBezTo>
                  <a:pt x="1532" y="828"/>
                  <a:pt x="1558" y="801"/>
                  <a:pt x="1590" y="801"/>
                </a:cubicBezTo>
                <a:cubicBezTo>
                  <a:pt x="1621" y="801"/>
                  <a:pt x="1647" y="828"/>
                  <a:pt x="1647" y="862"/>
                </a:cubicBezTo>
                <a:cubicBezTo>
                  <a:pt x="1647" y="895"/>
                  <a:pt x="1621" y="922"/>
                  <a:pt x="1590" y="922"/>
                </a:cubicBezTo>
                <a:cubicBezTo>
                  <a:pt x="1558" y="922"/>
                  <a:pt x="1532" y="895"/>
                  <a:pt x="1532" y="862"/>
                </a:cubicBezTo>
                <a:close/>
              </a:path>
            </a:pathLst>
          </a:custGeom>
          <a:gradFill>
            <a:gsLst>
              <a:gs pos="84000">
                <a:srgbClr val="0960E5">
                  <a:alpha val="32000"/>
                </a:srgbClr>
              </a:gs>
              <a:gs pos="0">
                <a:schemeClr val="bg1"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思源宋体 CN Light" panose="02020300000000000000" pitchFamily="18" charset="-122"/>
              <a:ea typeface="思源宋体 CN Light" panose="02020300000000000000" pitchFamily="18" charset="-122"/>
              <a:cs typeface="思源黑体 CN Light" panose="020B03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5A2326-875C-CA80-0FDE-6262AB5ABE74}"/>
              </a:ext>
            </a:extLst>
          </p:cNvPr>
          <p:cNvGrpSpPr/>
          <p:nvPr/>
        </p:nvGrpSpPr>
        <p:grpSpPr>
          <a:xfrm>
            <a:off x="512163" y="2998476"/>
            <a:ext cx="4173268" cy="382844"/>
            <a:chOff x="546813" y="2402625"/>
            <a:chExt cx="4727985" cy="40434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D055F0EA-FC13-0BC7-F28C-7DE52D2D5444}"/>
                </a:ext>
              </a:extLst>
            </p:cNvPr>
            <p:cNvSpPr/>
            <p:nvPr/>
          </p:nvSpPr>
          <p:spPr>
            <a:xfrm>
              <a:off x="546813" y="2605320"/>
              <a:ext cx="4727985" cy="154825"/>
            </a:xfrm>
            <a:prstGeom prst="roundRect">
              <a:avLst>
                <a:gd name="adj" fmla="val 50000"/>
              </a:avLst>
            </a:prstGeom>
            <a:gradFill>
              <a:gsLst>
                <a:gs pos="99000">
                  <a:srgbClr val="0960E5"/>
                </a:gs>
                <a:gs pos="0">
                  <a:schemeClr val="bg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B0803B18-1E65-2E45-6500-631C70D1FFEB}"/>
                </a:ext>
              </a:extLst>
            </p:cNvPr>
            <p:cNvSpPr/>
            <p:nvPr/>
          </p:nvSpPr>
          <p:spPr>
            <a:xfrm>
              <a:off x="576997" y="2402625"/>
              <a:ext cx="4626885" cy="404341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dist"/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[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张苏芯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冯世欣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|</a:t>
              </a: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程一娇</a:t>
              </a: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]</a:t>
              </a:r>
            </a:p>
          </p:txBody>
        </p:sp>
      </p:grpSp>
      <p:sp>
        <p:nvSpPr>
          <p:cNvPr id="14" name="文本框 13" hidden="1">
            <a:extLst>
              <a:ext uri="{FF2B5EF4-FFF2-40B4-BE49-F238E27FC236}">
                <a16:creationId xmlns:a16="http://schemas.microsoft.com/office/drawing/2014/main" id="{3E658CD6-08F1-F34C-F889-160711EDDE36}"/>
              </a:ext>
            </a:extLst>
          </p:cNvPr>
          <p:cNvSpPr txBox="1"/>
          <p:nvPr/>
        </p:nvSpPr>
        <p:spPr>
          <a:xfrm rot="5400000">
            <a:off x="5509579" y="1071750"/>
            <a:ext cx="3133540" cy="2974307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6535376"/>
              </a:avLst>
            </a:prstTxWarp>
            <a:spAutoFit/>
          </a:bodyPr>
          <a:lstStyle/>
          <a:p>
            <a:pPr algn="ctr"/>
            <a:r>
              <a:rPr lang="en-US" altLang="zh-CN" sz="1200" dirty="0">
                <a:gradFill>
                  <a:gsLst>
                    <a:gs pos="54000">
                      <a:srgbClr val="0960E5"/>
                    </a:gs>
                    <a:gs pos="0">
                      <a:srgbClr val="2091FB"/>
                    </a:gs>
                  </a:gsLst>
                  <a:lin ang="10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A                       D                    H                   D</a:t>
            </a:r>
            <a:endParaRPr lang="zh-CN" altLang="en-US" sz="1200" dirty="0"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3D2D6EC-0D78-1639-3F56-232C7BEE99EB}"/>
              </a:ext>
            </a:extLst>
          </p:cNvPr>
          <p:cNvGrpSpPr/>
          <p:nvPr/>
        </p:nvGrpSpPr>
        <p:grpSpPr>
          <a:xfrm>
            <a:off x="5300932" y="1003819"/>
            <a:ext cx="3414971" cy="3414971"/>
            <a:chOff x="5148532" y="851419"/>
            <a:chExt cx="3414971" cy="3414971"/>
          </a:xfrm>
        </p:grpSpPr>
        <p:sp>
          <p:nvSpPr>
            <p:cNvPr id="16" name="不完整圆 15">
              <a:extLst>
                <a:ext uri="{FF2B5EF4-FFF2-40B4-BE49-F238E27FC236}">
                  <a16:creationId xmlns:a16="http://schemas.microsoft.com/office/drawing/2014/main" id="{CD3B870E-71E7-551A-CD4A-2DA0102CFE3A}"/>
                </a:ext>
              </a:extLst>
            </p:cNvPr>
            <p:cNvSpPr/>
            <p:nvPr/>
          </p:nvSpPr>
          <p:spPr>
            <a:xfrm>
              <a:off x="5148532" y="851419"/>
              <a:ext cx="3414971" cy="3414971"/>
            </a:xfrm>
            <a:prstGeom prst="pie">
              <a:avLst>
                <a:gd name="adj1" fmla="val 5357718"/>
                <a:gd name="adj2" fmla="val 16200000"/>
              </a:avLst>
            </a:prstGeom>
            <a:gradFill>
              <a:gsLst>
                <a:gs pos="54000">
                  <a:srgbClr val="0960E5"/>
                </a:gs>
                <a:gs pos="0">
                  <a:srgbClr val="2091FB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6160A77C-B3BD-7A80-0547-6E970DA03B96}"/>
                </a:ext>
              </a:extLst>
            </p:cNvPr>
            <p:cNvSpPr/>
            <p:nvPr/>
          </p:nvSpPr>
          <p:spPr>
            <a:xfrm>
              <a:off x="5488631" y="1148125"/>
              <a:ext cx="2821557" cy="2821557"/>
            </a:xfrm>
            <a:prstGeom prst="ellipse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5817A6D9-A57C-A425-ADAA-07A57BBEFEAE}"/>
              </a:ext>
            </a:extLst>
          </p:cNvPr>
          <p:cNvSpPr txBox="1"/>
          <p:nvPr/>
        </p:nvSpPr>
        <p:spPr>
          <a:xfrm rot="5400000">
            <a:off x="5661979" y="1224150"/>
            <a:ext cx="3133540" cy="2974307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6535376"/>
              </a:avLst>
            </a:prstTxWarp>
            <a:spAutoFit/>
          </a:bodyPr>
          <a:lstStyle/>
          <a:p>
            <a:pPr algn="ctr"/>
            <a:r>
              <a:rPr lang="en-US" altLang="zh-CN" sz="1200" dirty="0">
                <a:gradFill>
                  <a:gsLst>
                    <a:gs pos="54000">
                      <a:srgbClr val="0960E5"/>
                    </a:gs>
                    <a:gs pos="0">
                      <a:srgbClr val="2091FB"/>
                    </a:gs>
                  </a:gsLst>
                  <a:lin ang="108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A                       D                    H                   D</a:t>
            </a:r>
            <a:endParaRPr lang="zh-CN" altLang="en-US" sz="1200" dirty="0">
              <a:gradFill>
                <a:gsLst>
                  <a:gs pos="54000">
                    <a:srgbClr val="0960E5"/>
                  </a:gs>
                  <a:gs pos="0">
                    <a:srgbClr val="2091FB"/>
                  </a:gs>
                </a:gsLst>
                <a:lin ang="108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541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KSO_WPP_MARK_KEY" val="d3993d14-962d-4784-b23a-6fda51e1fd89"/>
  <p:tag name="COMMONDATA" val="eyJoZGlkIjoiNTM2NjQwMTVmNDUxODBmMDc5ODRiMDk0MjUwMjIxZj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Bold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思源黑体 CN Bold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思源黑体 CN Bold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Bold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思源黑体 CN Bold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思源黑体 CN Bold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Bold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思源黑体 CN Bold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思源黑体 CN Bold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3740</Words>
  <Application>Microsoft Office PowerPoint</Application>
  <PresentationFormat>全屏显示(16:9)</PresentationFormat>
  <Paragraphs>681</Paragraphs>
  <Slides>35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9" baseType="lpstr">
      <vt:lpstr>quote-cjk-patch</vt:lpstr>
      <vt:lpstr>等线</vt:lpstr>
      <vt:lpstr>黑体</vt:lpstr>
      <vt:lpstr>思源宋体</vt:lpstr>
      <vt:lpstr>思源宋体 CN Heavy</vt:lpstr>
      <vt:lpstr>思源宋体 CN Light</vt:lpstr>
      <vt:lpstr>宋体</vt:lpstr>
      <vt:lpstr>微软雅黑</vt:lpstr>
      <vt:lpstr>Arial</vt:lpstr>
      <vt:lpstr>Calibri</vt:lpstr>
      <vt:lpstr>Wingdings</vt:lpstr>
      <vt:lpstr>第一PPT，www.1ppt.com</vt:lpstr>
      <vt:lpstr>自定义设计方案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工作总结汇报</dc:title>
  <dc:creator>第一PPT，www.1ppt.com</dc:creator>
  <cp:keywords>www.1ppt.com</cp:keywords>
  <dc:description>第一PPT</dc:description>
  <cp:lastModifiedBy>苏欣 张</cp:lastModifiedBy>
  <cp:revision>100</cp:revision>
  <dcterms:created xsi:type="dcterms:W3CDTF">2021-05-06T01:11:00Z</dcterms:created>
  <dcterms:modified xsi:type="dcterms:W3CDTF">2026-06-05T10:46:47Z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4BCE4449E95E4750A6C040876D49C844</vt:lpwstr>
  </property>
</Properties>
</file>